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handoutMasterIdLst>
    <p:handoutMasterId r:id="rId52"/>
  </p:handoutMasterIdLst>
  <p:sldIdLst>
    <p:sldId id="1553" r:id="rId2"/>
    <p:sldId id="761" r:id="rId3"/>
    <p:sldId id="1496" r:id="rId4"/>
    <p:sldId id="1427" r:id="rId5"/>
    <p:sldId id="1497" r:id="rId6"/>
    <p:sldId id="1461" r:id="rId7"/>
    <p:sldId id="1462" r:id="rId8"/>
    <p:sldId id="1428" r:id="rId9"/>
    <p:sldId id="1463" r:id="rId10"/>
    <p:sldId id="1465" r:id="rId11"/>
    <p:sldId id="1467" r:id="rId12"/>
    <p:sldId id="1498" r:id="rId13"/>
    <p:sldId id="1466" r:id="rId14"/>
    <p:sldId id="1499" r:id="rId15"/>
    <p:sldId id="1468" r:id="rId16"/>
    <p:sldId id="1470" r:id="rId17"/>
    <p:sldId id="1469" r:id="rId18"/>
    <p:sldId id="1471" r:id="rId19"/>
    <p:sldId id="1473" r:id="rId20"/>
    <p:sldId id="1472" r:id="rId21"/>
    <p:sldId id="1474" r:id="rId22"/>
    <p:sldId id="1475" r:id="rId23"/>
    <p:sldId id="1477" r:id="rId24"/>
    <p:sldId id="1552" r:id="rId25"/>
    <p:sldId id="1478" r:id="rId26"/>
    <p:sldId id="1480" r:id="rId27"/>
    <p:sldId id="1533" r:id="rId28"/>
    <p:sldId id="1534" r:id="rId29"/>
    <p:sldId id="1535" r:id="rId30"/>
    <p:sldId id="1536" r:id="rId31"/>
    <p:sldId id="1537" r:id="rId32"/>
    <p:sldId id="1538" r:id="rId33"/>
    <p:sldId id="1493" r:id="rId34"/>
    <p:sldId id="1539" r:id="rId35"/>
    <p:sldId id="1492" r:id="rId36"/>
    <p:sldId id="1494" r:id="rId37"/>
    <p:sldId id="1540" r:id="rId38"/>
    <p:sldId id="1541" r:id="rId39"/>
    <p:sldId id="1489" r:id="rId40"/>
    <p:sldId id="1542" r:id="rId41"/>
    <p:sldId id="1545" r:id="rId42"/>
    <p:sldId id="1556" r:id="rId43"/>
    <p:sldId id="1546" r:id="rId44"/>
    <p:sldId id="1555" r:id="rId45"/>
    <p:sldId id="1501" r:id="rId46"/>
    <p:sldId id="1549" r:id="rId47"/>
    <p:sldId id="1554" r:id="rId48"/>
    <p:sldId id="1530" r:id="rId49"/>
    <p:sldId id="1531"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ajp99@126.com" initials="j" lastIdx="1" clrIdx="0">
    <p:extLst>
      <p:ext uri="{19B8F6BF-5375-455C-9EA6-DF929625EA0E}">
        <p15:presenceInfo xmlns:p15="http://schemas.microsoft.com/office/powerpoint/2012/main" userId="e55687fcb66d4a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000099"/>
    <a:srgbClr val="00FFFF"/>
    <a:srgbClr val="0033CC"/>
    <a:srgbClr val="FFFFCC"/>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5" autoAdjust="0"/>
    <p:restoredTop sz="93724" autoAdjust="0"/>
  </p:normalViewPr>
  <p:slideViewPr>
    <p:cSldViewPr snapToGrid="0">
      <p:cViewPr varScale="1">
        <p:scale>
          <a:sx n="59" d="100"/>
          <a:sy n="59" d="100"/>
        </p:scale>
        <p:origin x="704" y="44"/>
      </p:cViewPr>
      <p:guideLst/>
    </p:cSldViewPr>
  </p:slideViewPr>
  <p:outlineViewPr>
    <p:cViewPr>
      <p:scale>
        <a:sx n="33" d="100"/>
        <a:sy n="33" d="100"/>
      </p:scale>
      <p:origin x="0" y="-3664"/>
    </p:cViewPr>
  </p:outlineViewPr>
  <p:notesTextViewPr>
    <p:cViewPr>
      <p:scale>
        <a:sx n="1" d="1"/>
        <a:sy n="1" d="1"/>
      </p:scale>
      <p:origin x="0" y="0"/>
    </p:cViewPr>
  </p:notesTextViewPr>
  <p:sorterViewPr>
    <p:cViewPr varScale="1">
      <p:scale>
        <a:sx n="100" d="100"/>
        <a:sy n="100" d="100"/>
      </p:scale>
      <p:origin x="0" y="-8328"/>
    </p:cViewPr>
  </p:sorterViewPr>
  <p:notesViewPr>
    <p:cSldViewPr snapToGrid="0">
      <p:cViewPr varScale="1">
        <p:scale>
          <a:sx n="48" d="100"/>
          <a:sy n="48" d="100"/>
        </p:scale>
        <p:origin x="2460" y="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33D8307-C3BE-3060-9FFA-92404A7D2E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A9341750-E618-DA1E-536B-9C387946458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2BD0DE-8DC6-407B-AA8A-564F94737227}" type="datetimeFigureOut">
              <a:rPr lang="zh-CN" altLang="en-US" smtClean="0"/>
              <a:t>2025/12/7</a:t>
            </a:fld>
            <a:endParaRPr lang="zh-CN" altLang="en-US"/>
          </a:p>
        </p:txBody>
      </p:sp>
      <p:sp>
        <p:nvSpPr>
          <p:cNvPr id="4" name="页脚占位符 3">
            <a:extLst>
              <a:ext uri="{FF2B5EF4-FFF2-40B4-BE49-F238E27FC236}">
                <a16:creationId xmlns:a16="http://schemas.microsoft.com/office/drawing/2014/main" id="{46EAB9B5-7488-6CF0-23A3-AD9CA5BDB2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0E67E507-4140-6A8B-8480-E1CE6D787E5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791613B-B888-4951-8D24-F86C91199C71}" type="slidenum">
              <a:rPr lang="zh-CN" altLang="en-US" smtClean="0"/>
              <a:t>‹#›</a:t>
            </a:fld>
            <a:endParaRPr lang="zh-CN" altLang="en-US"/>
          </a:p>
        </p:txBody>
      </p:sp>
    </p:spTree>
    <p:extLst>
      <p:ext uri="{BB962C8B-B14F-4D97-AF65-F5344CB8AC3E}">
        <p14:creationId xmlns:p14="http://schemas.microsoft.com/office/powerpoint/2010/main" val="2592869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54936-C32E-4B5F-9C00-DE18EC293E6D}" type="datetimeFigureOut">
              <a:rPr lang="zh-CN" altLang="en-US" smtClean="0"/>
              <a:t>2025/12/7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30304E-243D-4FB6-884F-3E6061F00E76}" type="slidenum">
              <a:rPr lang="zh-CN" altLang="en-US" smtClean="0"/>
              <a:t>‹#›</a:t>
            </a:fld>
            <a:endParaRPr lang="zh-CN" altLang="en-US"/>
          </a:p>
        </p:txBody>
      </p:sp>
    </p:spTree>
    <p:extLst>
      <p:ext uri="{BB962C8B-B14F-4D97-AF65-F5344CB8AC3E}">
        <p14:creationId xmlns:p14="http://schemas.microsoft.com/office/powerpoint/2010/main" val="146368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a:t>
            </a:fld>
            <a:endParaRPr lang="zh-CN" altLang="en-US"/>
          </a:p>
        </p:txBody>
      </p:sp>
    </p:spTree>
    <p:extLst>
      <p:ext uri="{BB962C8B-B14F-4D97-AF65-F5344CB8AC3E}">
        <p14:creationId xmlns:p14="http://schemas.microsoft.com/office/powerpoint/2010/main" val="2452015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fld id="{56C0ED60-2263-4EAE-A32E-1C3FDB03FC51}" type="slidenum">
              <a:rPr lang="en-US" altLang="zh-CN" b="0" smtClean="0"/>
              <a:pPr eaLnBrk="1" hangingPunct="1"/>
              <a:t>49</a:t>
            </a:fld>
            <a:endParaRPr lang="en-US" altLang="zh-CN" b="0" dirty="0"/>
          </a:p>
        </p:txBody>
      </p:sp>
      <p:sp>
        <p:nvSpPr>
          <p:cNvPr id="47107" name="Rectangle 2"/>
          <p:cNvSpPr>
            <a:spLocks noGrp="1" noChangeArrowheads="1"/>
          </p:cNvSpPr>
          <p:nvPr>
            <p:ph type="body" idx="1"/>
          </p:nvPr>
        </p:nvSpPr>
        <p:spPr>
          <a:xfrm>
            <a:off x="914400" y="3276600"/>
            <a:ext cx="5029200" cy="51816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eaLnBrk="1" hangingPunct="1"/>
            <a:endParaRPr lang="zh-CN" altLang="zh-CN"/>
          </a:p>
        </p:txBody>
      </p:sp>
      <p:sp>
        <p:nvSpPr>
          <p:cNvPr id="47108" name="Rectangle 3"/>
          <p:cNvSpPr>
            <a:spLocks noGrp="1" noRot="1" noChangeAspect="1" noChangeArrowheads="1" noTextEdit="1"/>
          </p:cNvSpPr>
          <p:nvPr>
            <p:ph type="sldImg"/>
          </p:nvPr>
        </p:nvSpPr>
        <p:spPr>
          <a:xfrm>
            <a:off x="1409700" y="692150"/>
            <a:ext cx="4038600" cy="2273300"/>
          </a:xfrm>
          <a:ln w="12700" cap="flat">
            <a:solidFill>
              <a:schemeClr val="tx1"/>
            </a:solidFill>
          </a:ln>
        </p:spPr>
      </p:sp>
    </p:spTree>
    <p:extLst>
      <p:ext uri="{BB962C8B-B14F-4D97-AF65-F5344CB8AC3E}">
        <p14:creationId xmlns:p14="http://schemas.microsoft.com/office/powerpoint/2010/main" val="487881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503911-1325-4990-9323-67866A3DA824}"/>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2D08E5B-80E4-4FD0-9CDA-5500B9FC9A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3511376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933017-8E63-40AD-BA89-BBB2DF064723}"/>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541B9A-6066-437C-A37E-12AA3A77CB8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4B60100-748D-4E91-93CA-D72E09123083}"/>
              </a:ext>
            </a:extLst>
          </p:cNvPr>
          <p:cNvSpPr>
            <a:spLocks noGrp="1"/>
          </p:cNvSpPr>
          <p:nvPr>
            <p:ph type="dt" sz="half" idx="10"/>
          </p:nvPr>
        </p:nvSpPr>
        <p:spPr>
          <a:xfrm>
            <a:off x="649359" y="6356350"/>
            <a:ext cx="2743200" cy="365125"/>
          </a:xfrm>
          <a:prstGeom prst="rect">
            <a:avLst/>
          </a:prstGeom>
        </p:spPr>
        <p:txBody>
          <a:bodyPr/>
          <a:lstStyle/>
          <a:p>
            <a:fld id="{C1B5C0A2-AE1A-4240-B327-42A20908623E}" type="datetime1">
              <a:rPr lang="zh-CN" altLang="en-US" smtClean="0"/>
              <a:t>2025/12/7</a:t>
            </a:fld>
            <a:endParaRPr lang="zh-CN" altLang="en-US"/>
          </a:p>
        </p:txBody>
      </p:sp>
      <p:sp>
        <p:nvSpPr>
          <p:cNvPr id="5" name="页脚占位符 4">
            <a:extLst>
              <a:ext uri="{FF2B5EF4-FFF2-40B4-BE49-F238E27FC236}">
                <a16:creationId xmlns:a16="http://schemas.microsoft.com/office/drawing/2014/main" id="{42C4AB81-A6C4-44EF-926A-6AA9872FC72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02AF1667-2E90-4C92-8C58-6F859444EEE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485921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41E1B-492C-44FB-9CA3-2420D12815D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6ED9EAE-AE6C-44FA-9A23-7CBD630885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90415E1-0EE9-494C-87CA-A87BAD08F018}"/>
              </a:ext>
            </a:extLst>
          </p:cNvPr>
          <p:cNvSpPr>
            <a:spLocks noGrp="1"/>
          </p:cNvSpPr>
          <p:nvPr>
            <p:ph type="dt" sz="half" idx="10"/>
          </p:nvPr>
        </p:nvSpPr>
        <p:spPr>
          <a:xfrm>
            <a:off x="649359" y="6356350"/>
            <a:ext cx="2743200" cy="365125"/>
          </a:xfrm>
          <a:prstGeom prst="rect">
            <a:avLst/>
          </a:prstGeom>
        </p:spPr>
        <p:txBody>
          <a:bodyPr/>
          <a:lstStyle/>
          <a:p>
            <a:fld id="{408CFB45-BD77-42C2-B43B-9CCE57C43804}" type="datetime1">
              <a:rPr lang="zh-CN" altLang="en-US" smtClean="0"/>
              <a:t>2025/12/7</a:t>
            </a:fld>
            <a:endParaRPr lang="zh-CN" altLang="en-US"/>
          </a:p>
        </p:txBody>
      </p:sp>
      <p:sp>
        <p:nvSpPr>
          <p:cNvPr id="5" name="页脚占位符 4">
            <a:extLst>
              <a:ext uri="{FF2B5EF4-FFF2-40B4-BE49-F238E27FC236}">
                <a16:creationId xmlns:a16="http://schemas.microsoft.com/office/drawing/2014/main" id="{6AEED9C1-6D6B-43B1-88E7-CF357750F94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59F2E4E-68A6-44F0-89F1-9069558E0052}"/>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204769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6DCF85-EA79-4E15-B212-198BA5E0A644}"/>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3D22BAC-4316-4B37-83C8-3CFFCFEE965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757768D-8B1B-4A40-8A1B-0AC0323E33F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533FB19-A5D7-478C-8B7B-8299F44454D8}"/>
              </a:ext>
            </a:extLst>
          </p:cNvPr>
          <p:cNvSpPr>
            <a:spLocks noGrp="1"/>
          </p:cNvSpPr>
          <p:nvPr>
            <p:ph type="dt" sz="half" idx="10"/>
          </p:nvPr>
        </p:nvSpPr>
        <p:spPr>
          <a:xfrm>
            <a:off x="649359" y="6356350"/>
            <a:ext cx="2743200" cy="365125"/>
          </a:xfrm>
          <a:prstGeom prst="rect">
            <a:avLst/>
          </a:prstGeom>
        </p:spPr>
        <p:txBody>
          <a:bodyPr/>
          <a:lstStyle/>
          <a:p>
            <a:fld id="{EAAE7C0A-51A3-489C-9A57-4ED5AAA198D8}" type="datetime1">
              <a:rPr lang="zh-CN" altLang="en-US" smtClean="0"/>
              <a:t>2025/12/7</a:t>
            </a:fld>
            <a:endParaRPr lang="zh-CN" altLang="en-US"/>
          </a:p>
        </p:txBody>
      </p:sp>
      <p:sp>
        <p:nvSpPr>
          <p:cNvPr id="6" name="页脚占位符 5">
            <a:extLst>
              <a:ext uri="{FF2B5EF4-FFF2-40B4-BE49-F238E27FC236}">
                <a16:creationId xmlns:a16="http://schemas.microsoft.com/office/drawing/2014/main" id="{17CED81C-AAD8-40C0-A43F-9D9FB9351E3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98C24794-BF6C-4771-8DBA-AAC07BC3C2A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32011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DD335-5E95-437F-8BB9-A5F5CC0208B2}"/>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A1372A5-726C-4D76-98A6-013BEE0035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CA37AF2-BF75-4C37-A2FE-D332194D347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7FA0C6B-D138-4ACC-9E98-4920C2EAF1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1BCEC55-53FB-427F-A3DA-B4D5A728B8C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E999D13-5648-462B-A233-9E2CB0C7FF60}"/>
              </a:ext>
            </a:extLst>
          </p:cNvPr>
          <p:cNvSpPr>
            <a:spLocks noGrp="1"/>
          </p:cNvSpPr>
          <p:nvPr>
            <p:ph type="dt" sz="half" idx="10"/>
          </p:nvPr>
        </p:nvSpPr>
        <p:spPr>
          <a:xfrm>
            <a:off x="649359" y="6356350"/>
            <a:ext cx="2743200" cy="365125"/>
          </a:xfrm>
          <a:prstGeom prst="rect">
            <a:avLst/>
          </a:prstGeom>
        </p:spPr>
        <p:txBody>
          <a:bodyPr/>
          <a:lstStyle/>
          <a:p>
            <a:fld id="{2D763D98-5F04-4BA9-AB85-97856237DB98}" type="datetime1">
              <a:rPr lang="zh-CN" altLang="en-US" smtClean="0"/>
              <a:t>2025/12/7</a:t>
            </a:fld>
            <a:endParaRPr lang="zh-CN" altLang="en-US"/>
          </a:p>
        </p:txBody>
      </p:sp>
      <p:sp>
        <p:nvSpPr>
          <p:cNvPr id="8" name="页脚占位符 7">
            <a:extLst>
              <a:ext uri="{FF2B5EF4-FFF2-40B4-BE49-F238E27FC236}">
                <a16:creationId xmlns:a16="http://schemas.microsoft.com/office/drawing/2014/main" id="{C3BD894E-170B-492B-B70A-EDD9A7FB4C6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5115CA6A-9FA6-4365-870E-2DA48DC4A39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25746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CBF246-4037-441C-876F-777CC926DCCA}"/>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AFFBA47-D15B-4A7D-90C5-3FF2B94B5B55}"/>
              </a:ext>
            </a:extLst>
          </p:cNvPr>
          <p:cNvSpPr>
            <a:spLocks noGrp="1"/>
          </p:cNvSpPr>
          <p:nvPr>
            <p:ph type="dt" sz="half" idx="10"/>
          </p:nvPr>
        </p:nvSpPr>
        <p:spPr>
          <a:xfrm>
            <a:off x="649359" y="6356350"/>
            <a:ext cx="2743200" cy="365125"/>
          </a:xfrm>
          <a:prstGeom prst="rect">
            <a:avLst/>
          </a:prstGeom>
        </p:spPr>
        <p:txBody>
          <a:bodyPr/>
          <a:lstStyle/>
          <a:p>
            <a:fld id="{9E233C68-0546-46EF-826F-31AB21D0E22F}" type="datetime1">
              <a:rPr lang="zh-CN" altLang="en-US" smtClean="0"/>
              <a:t>2025/12/7</a:t>
            </a:fld>
            <a:endParaRPr lang="zh-CN" altLang="en-US"/>
          </a:p>
        </p:txBody>
      </p:sp>
      <p:sp>
        <p:nvSpPr>
          <p:cNvPr id="4" name="页脚占位符 3">
            <a:extLst>
              <a:ext uri="{FF2B5EF4-FFF2-40B4-BE49-F238E27FC236}">
                <a16:creationId xmlns:a16="http://schemas.microsoft.com/office/drawing/2014/main" id="{2F7BC1F9-EF67-4B0A-96D1-EF168C9E48E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D9AE28D9-605D-4CD2-B34B-BF76CDF03FF6}"/>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978637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F4973FC-C444-49AD-8778-F5595432A35C}"/>
              </a:ext>
            </a:extLst>
          </p:cNvPr>
          <p:cNvSpPr>
            <a:spLocks noGrp="1"/>
          </p:cNvSpPr>
          <p:nvPr>
            <p:ph type="dt" sz="half" idx="10"/>
          </p:nvPr>
        </p:nvSpPr>
        <p:spPr>
          <a:xfrm>
            <a:off x="649359" y="6356350"/>
            <a:ext cx="2743200" cy="365125"/>
          </a:xfrm>
          <a:prstGeom prst="rect">
            <a:avLst/>
          </a:prstGeom>
        </p:spPr>
        <p:txBody>
          <a:bodyPr/>
          <a:lstStyle/>
          <a:p>
            <a:fld id="{59C15AE0-43B3-4320-AFBE-87214D5BB912}" type="datetime1">
              <a:rPr lang="zh-CN" altLang="en-US" smtClean="0"/>
              <a:t>2025/12/7</a:t>
            </a:fld>
            <a:endParaRPr lang="zh-CN" altLang="en-US"/>
          </a:p>
        </p:txBody>
      </p:sp>
      <p:sp>
        <p:nvSpPr>
          <p:cNvPr id="3" name="页脚占位符 2">
            <a:extLst>
              <a:ext uri="{FF2B5EF4-FFF2-40B4-BE49-F238E27FC236}">
                <a16:creationId xmlns:a16="http://schemas.microsoft.com/office/drawing/2014/main" id="{0BEC1063-A3F0-4172-BCFB-CD827E2B660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9FAC6608-BFA7-48AD-A590-0E85E9BF9860}"/>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78749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93C89A-E0B7-4981-8F0B-4A7A37DFE7C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5C0E238-74BD-4EA3-996E-32B10590B8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D769AF6-4E84-4D70-98D9-479DF698C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AD74493-971D-42F5-91FF-A5917C2D234D}"/>
              </a:ext>
            </a:extLst>
          </p:cNvPr>
          <p:cNvSpPr>
            <a:spLocks noGrp="1"/>
          </p:cNvSpPr>
          <p:nvPr>
            <p:ph type="dt" sz="half" idx="10"/>
          </p:nvPr>
        </p:nvSpPr>
        <p:spPr>
          <a:xfrm>
            <a:off x="649359" y="6356350"/>
            <a:ext cx="2743200" cy="365125"/>
          </a:xfrm>
          <a:prstGeom prst="rect">
            <a:avLst/>
          </a:prstGeom>
        </p:spPr>
        <p:txBody>
          <a:bodyPr/>
          <a:lstStyle/>
          <a:p>
            <a:fld id="{76331374-E5A2-4981-B795-16EF6DE65827}" type="datetime1">
              <a:rPr lang="zh-CN" altLang="en-US" smtClean="0"/>
              <a:t>2025/12/7</a:t>
            </a:fld>
            <a:endParaRPr lang="zh-CN" altLang="en-US"/>
          </a:p>
        </p:txBody>
      </p:sp>
      <p:sp>
        <p:nvSpPr>
          <p:cNvPr id="6" name="页脚占位符 5">
            <a:extLst>
              <a:ext uri="{FF2B5EF4-FFF2-40B4-BE49-F238E27FC236}">
                <a16:creationId xmlns:a16="http://schemas.microsoft.com/office/drawing/2014/main" id="{B4CDA75E-D89E-4AE1-8D91-7605D574EEC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DF8901A-E4E6-4A7D-8E8C-9057C44E14FA}"/>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438032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84D86-098B-45E7-8693-7E2DE798470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728C271-481B-4D73-8474-75D6D49B18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54DE7F4-849E-4963-9100-C8B9B0A081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75913C3-07E4-4E81-AC28-DB4080626D75}"/>
              </a:ext>
            </a:extLst>
          </p:cNvPr>
          <p:cNvSpPr>
            <a:spLocks noGrp="1"/>
          </p:cNvSpPr>
          <p:nvPr>
            <p:ph type="dt" sz="half" idx="10"/>
          </p:nvPr>
        </p:nvSpPr>
        <p:spPr>
          <a:xfrm>
            <a:off x="649359" y="6356350"/>
            <a:ext cx="2743200" cy="365125"/>
          </a:xfrm>
          <a:prstGeom prst="rect">
            <a:avLst/>
          </a:prstGeom>
        </p:spPr>
        <p:txBody>
          <a:bodyPr/>
          <a:lstStyle/>
          <a:p>
            <a:fld id="{C7EF558D-81CA-4B76-8F12-A95764433413}" type="datetime1">
              <a:rPr lang="zh-CN" altLang="en-US" smtClean="0"/>
              <a:t>2025/12/7</a:t>
            </a:fld>
            <a:endParaRPr lang="zh-CN" altLang="en-US"/>
          </a:p>
        </p:txBody>
      </p:sp>
      <p:sp>
        <p:nvSpPr>
          <p:cNvPr id="6" name="页脚占位符 5">
            <a:extLst>
              <a:ext uri="{FF2B5EF4-FFF2-40B4-BE49-F238E27FC236}">
                <a16:creationId xmlns:a16="http://schemas.microsoft.com/office/drawing/2014/main" id="{3FF2ECCF-DF52-4A0B-9088-6CD8439B447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5079631-3376-40BB-8D99-D13069AD4F8C}"/>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805345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B782D-E973-4A4C-9768-5AF63655E35E}"/>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67AED1F-4B71-4171-BEF5-E90CF2DBB74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3CF74F-5A81-42A8-BFDE-9DF8D20D7C32}"/>
              </a:ext>
            </a:extLst>
          </p:cNvPr>
          <p:cNvSpPr>
            <a:spLocks noGrp="1"/>
          </p:cNvSpPr>
          <p:nvPr>
            <p:ph type="dt" sz="half" idx="10"/>
          </p:nvPr>
        </p:nvSpPr>
        <p:spPr>
          <a:xfrm>
            <a:off x="649359" y="6356350"/>
            <a:ext cx="2743200" cy="365125"/>
          </a:xfrm>
          <a:prstGeom prst="rect">
            <a:avLst/>
          </a:prstGeom>
        </p:spPr>
        <p:txBody>
          <a:bodyPr/>
          <a:lstStyle/>
          <a:p>
            <a:fld id="{FA0449A0-A72F-4DFF-AC68-836BF414A89D}" type="datetime1">
              <a:rPr lang="zh-CN" altLang="en-US" smtClean="0"/>
              <a:t>2025/12/7</a:t>
            </a:fld>
            <a:endParaRPr lang="zh-CN" altLang="en-US"/>
          </a:p>
        </p:txBody>
      </p:sp>
      <p:sp>
        <p:nvSpPr>
          <p:cNvPr id="5" name="页脚占位符 4">
            <a:extLst>
              <a:ext uri="{FF2B5EF4-FFF2-40B4-BE49-F238E27FC236}">
                <a16:creationId xmlns:a16="http://schemas.microsoft.com/office/drawing/2014/main" id="{D25E0F45-E0D1-46EA-B198-5F3003E2E7F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BFA175A-B4E7-4A78-94E6-0A03CE8065E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964477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53B2054-169E-46FC-87FF-00644348A8AD}"/>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E503AE-1314-4E68-BF61-5DAB31ED9DF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64084A-FB51-4F63-B403-370B4F13DC58}"/>
              </a:ext>
            </a:extLst>
          </p:cNvPr>
          <p:cNvSpPr>
            <a:spLocks noGrp="1"/>
          </p:cNvSpPr>
          <p:nvPr>
            <p:ph type="dt" sz="half" idx="10"/>
          </p:nvPr>
        </p:nvSpPr>
        <p:spPr>
          <a:xfrm>
            <a:off x="649359" y="6356350"/>
            <a:ext cx="2743200" cy="365125"/>
          </a:xfrm>
          <a:prstGeom prst="rect">
            <a:avLst/>
          </a:prstGeom>
        </p:spPr>
        <p:txBody>
          <a:bodyPr/>
          <a:lstStyle/>
          <a:p>
            <a:fld id="{C9D7C6E1-5A4D-4ECE-B124-9762BAA7798B}" type="datetime1">
              <a:rPr lang="zh-CN" altLang="en-US" smtClean="0"/>
              <a:t>2025/12/7</a:t>
            </a:fld>
            <a:endParaRPr lang="zh-CN" altLang="en-US"/>
          </a:p>
        </p:txBody>
      </p:sp>
      <p:sp>
        <p:nvSpPr>
          <p:cNvPr id="5" name="页脚占位符 4">
            <a:extLst>
              <a:ext uri="{FF2B5EF4-FFF2-40B4-BE49-F238E27FC236}">
                <a16:creationId xmlns:a16="http://schemas.microsoft.com/office/drawing/2014/main" id="{33699ED0-3608-4FCB-96BE-FFB5DD2CD30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590F967E-32DE-45B6-9C75-1157F0E4927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736170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C0A8E599-11FD-B4F7-312A-779174787C8B}"/>
              </a:ext>
            </a:extLst>
          </p:cNvPr>
          <p:cNvSpPr txBox="1">
            <a:spLocks noChangeArrowheads="1"/>
          </p:cNvSpPr>
          <p:nvPr userDrawn="1"/>
        </p:nvSpPr>
        <p:spPr>
          <a:xfrm>
            <a:off x="1285460" y="9940"/>
            <a:ext cx="10896605" cy="1017622"/>
          </a:xfrm>
          <a:prstGeom prst="rect">
            <a:avLst/>
          </a:prstGeom>
          <a:solidFill>
            <a:schemeClr val="bg1">
              <a:lumMod val="95000"/>
            </a:schemeClr>
          </a:solidFill>
          <a:ln>
            <a:noFill/>
          </a:ln>
          <a:effectLst/>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defRPr/>
            </a:pPr>
            <a:endParaRPr lang="zh-CN" altLang="en-US" sz="3200" b="1" dirty="0">
              <a:solidFill>
                <a:srgbClr val="002060"/>
              </a:solidFill>
              <a:latin typeface="华文细黑" panose="02010600040101010101" pitchFamily="2" charset="-122"/>
              <a:ea typeface="华文细黑" panose="02010600040101010101" pitchFamily="2" charset="-122"/>
            </a:endParaRPr>
          </a:p>
        </p:txBody>
      </p:sp>
      <p:sp>
        <p:nvSpPr>
          <p:cNvPr id="3" name="文本占位符 2">
            <a:extLst>
              <a:ext uri="{FF2B5EF4-FFF2-40B4-BE49-F238E27FC236}">
                <a16:creationId xmlns:a16="http://schemas.microsoft.com/office/drawing/2014/main" id="{8A7BBF2C-F801-4650-BCBF-3E6A2B1F447C}"/>
              </a:ext>
            </a:extLst>
          </p:cNvPr>
          <p:cNvSpPr>
            <a:spLocks noGrp="1"/>
          </p:cNvSpPr>
          <p:nvPr>
            <p:ph type="body" idx="1"/>
          </p:nvPr>
        </p:nvSpPr>
        <p:spPr>
          <a:xfrm>
            <a:off x="629480" y="1672313"/>
            <a:ext cx="10959546" cy="450465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矩形 6">
            <a:extLst>
              <a:ext uri="{FF2B5EF4-FFF2-40B4-BE49-F238E27FC236}">
                <a16:creationId xmlns:a16="http://schemas.microsoft.com/office/drawing/2014/main" id="{1205F5E1-C922-4E5A-89F4-6F2B58D16289}"/>
              </a:ext>
            </a:extLst>
          </p:cNvPr>
          <p:cNvSpPr/>
          <p:nvPr userDrawn="1"/>
        </p:nvSpPr>
        <p:spPr>
          <a:xfrm>
            <a:off x="9935" y="1"/>
            <a:ext cx="1275525" cy="1053548"/>
          </a:xfrm>
          <a:prstGeom prst="rect">
            <a:avLst/>
          </a:prstGeom>
          <a:solidFill>
            <a:srgbClr val="0070C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 </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endPar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endParaRPr lang="en-US" altLang="zh-CN" sz="1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1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展示数据分布</a:t>
            </a:r>
          </a:p>
        </p:txBody>
      </p:sp>
      <p:cxnSp>
        <p:nvCxnSpPr>
          <p:cNvPr id="10" name="直接连接符 9">
            <a:extLst>
              <a:ext uri="{FF2B5EF4-FFF2-40B4-BE49-F238E27FC236}">
                <a16:creationId xmlns:a16="http://schemas.microsoft.com/office/drawing/2014/main" id="{AADC6794-BAC4-49B1-8B9A-A91B2A78D5FE}"/>
              </a:ext>
            </a:extLst>
          </p:cNvPr>
          <p:cNvCxnSpPr>
            <a:cxnSpLocks/>
          </p:cNvCxnSpPr>
          <p:nvPr userDrawn="1"/>
        </p:nvCxnSpPr>
        <p:spPr>
          <a:xfrm flipV="1">
            <a:off x="1470992" y="1043609"/>
            <a:ext cx="10721008" cy="2"/>
          </a:xfrm>
          <a:prstGeom prst="line">
            <a:avLst/>
          </a:prstGeom>
          <a:ln w="28575">
            <a:solidFill>
              <a:srgbClr val="0070C0"/>
            </a:solidFill>
          </a:ln>
        </p:spPr>
        <p:style>
          <a:lnRef idx="3">
            <a:schemeClr val="accent1"/>
          </a:lnRef>
          <a:fillRef idx="0">
            <a:schemeClr val="accent1"/>
          </a:fillRef>
          <a:effectRef idx="2">
            <a:schemeClr val="accent1"/>
          </a:effectRef>
          <a:fontRef idx="minor">
            <a:schemeClr val="tx1"/>
          </a:fontRef>
        </p:style>
      </p:cxnSp>
      <p:sp>
        <p:nvSpPr>
          <p:cNvPr id="8" name="矩形 7">
            <a:extLst>
              <a:ext uri="{FF2B5EF4-FFF2-40B4-BE49-F238E27FC236}">
                <a16:creationId xmlns:a16="http://schemas.microsoft.com/office/drawing/2014/main" id="{D5EAEA1C-2B82-4DF5-B721-B18A8CF883DD}"/>
              </a:ext>
            </a:extLst>
          </p:cNvPr>
          <p:cNvSpPr/>
          <p:nvPr userDrawn="1"/>
        </p:nvSpPr>
        <p:spPr>
          <a:xfrm>
            <a:off x="1441171" y="1"/>
            <a:ext cx="238540" cy="1053548"/>
          </a:xfrm>
          <a:prstGeom prst="rect">
            <a:avLst/>
          </a:prstGeom>
          <a:solidFill>
            <a:srgbClr val="0070C0"/>
          </a:solidFill>
          <a:ln>
            <a:solidFill>
              <a:srgbClr val="0070C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3">
            <a:extLst>
              <a:ext uri="{FF2B5EF4-FFF2-40B4-BE49-F238E27FC236}">
                <a16:creationId xmlns:a16="http://schemas.microsoft.com/office/drawing/2014/main" id="{8B230C6B-BACC-4B1C-9DFC-332C0E60FE19}"/>
              </a:ext>
            </a:extLst>
          </p:cNvPr>
          <p:cNvSpPr txBox="1">
            <a:spLocks noChangeArrowheads="1"/>
          </p:cNvSpPr>
          <p:nvPr userDrawn="1"/>
        </p:nvSpPr>
        <p:spPr>
          <a:xfrm>
            <a:off x="0" y="1059044"/>
            <a:ext cx="12192000" cy="503940"/>
          </a:xfrm>
          <a:prstGeom prst="rect">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5400000" scaled="1"/>
            <a:tileRect/>
          </a:grad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endParaRPr lang="en-US" altLang="zh-CN" sz="2600" b="1" dirty="0">
              <a:solidFill>
                <a:schemeClr val="bg1"/>
              </a:solidFill>
              <a:effectLst>
                <a:outerShdw blurRad="38100" dist="38100" dir="2700000" algn="tl">
                  <a:srgbClr val="000000">
                    <a:alpha val="43137"/>
                  </a:srgbClr>
                </a:outerShdw>
              </a:effectLst>
              <a:ea typeface="华文细黑" panose="02010600040101010101" pitchFamily="2" charset="-122"/>
            </a:endParaRPr>
          </a:p>
        </p:txBody>
      </p:sp>
      <p:sp>
        <p:nvSpPr>
          <p:cNvPr id="2" name="副标题 2">
            <a:extLst>
              <a:ext uri="{FF2B5EF4-FFF2-40B4-BE49-F238E27FC236}">
                <a16:creationId xmlns:a16="http://schemas.microsoft.com/office/drawing/2014/main" id="{DA016738-2555-AD99-9671-04208F466B8B}"/>
              </a:ext>
            </a:extLst>
          </p:cNvPr>
          <p:cNvSpPr txBox="1">
            <a:spLocks/>
          </p:cNvSpPr>
          <p:nvPr userDrawn="1"/>
        </p:nvSpPr>
        <p:spPr>
          <a:xfrm>
            <a:off x="23188" y="6461539"/>
            <a:ext cx="12172130" cy="396460"/>
          </a:xfrm>
          <a:prstGeom prst="rect">
            <a:avLst/>
          </a:prstGeom>
          <a:solidFill>
            <a:schemeClr val="bg1">
              <a:lumMod val="95000"/>
            </a:schemeClr>
          </a:solidFill>
          <a:ln>
            <a:noFill/>
          </a:ln>
        </p:spPr>
        <p:txBody>
          <a:bodyPr vert="horz" lIns="91440" tIns="45720" rIns="91440" bIns="4572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fld id="{40D7A12C-C48C-4203-A694-F2B6F5190069}" type="datetime1">
              <a:rPr lang="zh-CN" altLang="en-US" sz="1300" b="1" smtClean="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2025/12/7</a:t>
            </a:fld>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数据可视化分析</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基于 </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R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语言</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贾俊平                                                                        </a:t>
            </a:r>
            <a:r>
              <a:rPr lang="en-US" altLang="zh-CN" sz="1300" b="0" dirty="0">
                <a:solidFill>
                  <a:schemeClr val="bg1">
                    <a:lumMod val="65000"/>
                  </a:schemeClr>
                </a:solidFill>
                <a:latin typeface="微软雅黑" panose="020B0503020204020204" pitchFamily="34" charset="-122"/>
                <a:ea typeface="微软雅黑" panose="020B0503020204020204" pitchFamily="34" charset="-122"/>
              </a:rPr>
              <a:t>1 - </a:t>
            </a:r>
            <a:fld id="{16EAF49E-217F-4E01-A667-C6B4D41E8F57}" type="slidenum">
              <a:rPr lang="en-US" altLang="zh-CN" sz="1300" b="0" smtClean="0">
                <a:solidFill>
                  <a:schemeClr val="bg1">
                    <a:lumMod val="65000"/>
                  </a:schemeClr>
                </a:solidFill>
                <a:latin typeface="微软雅黑" panose="020B0503020204020204" pitchFamily="34" charset="-122"/>
                <a:ea typeface="微软雅黑" panose="020B0503020204020204" pitchFamily="34" charset="-122"/>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a:t>
            </a:fld>
            <a:endParaRPr lang="en-US" altLang="zh-CN" sz="1300" b="0" dirty="0">
              <a:solidFill>
                <a:schemeClr val="bg1">
                  <a:lumMod val="6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zh-CN" altLang="en-US" sz="130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椭圆 3">
            <a:extLst>
              <a:ext uri="{FF2B5EF4-FFF2-40B4-BE49-F238E27FC236}">
                <a16:creationId xmlns:a16="http://schemas.microsoft.com/office/drawing/2014/main" id="{A7A26D8E-7B77-A558-4957-C9ED35149C61}"/>
              </a:ext>
            </a:extLst>
          </p:cNvPr>
          <p:cNvSpPr/>
          <p:nvPr userDrawn="1"/>
        </p:nvSpPr>
        <p:spPr>
          <a:xfrm>
            <a:off x="212036" y="1163320"/>
            <a:ext cx="294859" cy="312382"/>
          </a:xfrm>
          <a:prstGeom prst="ellipse">
            <a:avLst/>
          </a:prstGeom>
          <a:solidFill>
            <a:schemeClr val="accent5">
              <a:lumMod val="40000"/>
              <a:lumOff val="6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B825021-4EA0-1536-CC37-20E83F19FD01}"/>
              </a:ext>
            </a:extLst>
          </p:cNvPr>
          <p:cNvPicPr>
            <a:picLocks noChangeAspect="1"/>
          </p:cNvPicPr>
          <p:nvPr userDrawn="1"/>
        </p:nvPicPr>
        <p:blipFill>
          <a:blip r:embed="rId13"/>
          <a:stretch>
            <a:fillRect/>
          </a:stretch>
        </p:blipFill>
        <p:spPr>
          <a:xfrm>
            <a:off x="11002053" y="20100"/>
            <a:ext cx="1128988" cy="1017622"/>
          </a:xfrm>
          <a:prstGeom prst="rect">
            <a:avLst/>
          </a:prstGeom>
        </p:spPr>
      </p:pic>
    </p:spTree>
    <p:extLst>
      <p:ext uri="{BB962C8B-B14F-4D97-AF65-F5344CB8AC3E}">
        <p14:creationId xmlns:p14="http://schemas.microsoft.com/office/powerpoint/2010/main" val="1997754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2800" kern="1200">
          <a:solidFill>
            <a:schemeClr val="tx1"/>
          </a:solidFill>
          <a:latin typeface="+mn-lt"/>
          <a:ea typeface="华文细黑" panose="0201060004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emf"/><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140A239C-459A-7748-18ED-9D9FCF06E658}"/>
              </a:ext>
            </a:extLst>
          </p:cNvPr>
          <p:cNvGrpSpPr/>
          <p:nvPr/>
        </p:nvGrpSpPr>
        <p:grpSpPr>
          <a:xfrm>
            <a:off x="-57405" y="0"/>
            <a:ext cx="12271508" cy="6858000"/>
            <a:chOff x="-57405" y="0"/>
            <a:chExt cx="12271508" cy="685800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85445D0-CE9B-A4CC-30B0-668A63D7F5B6}"/>
                </a:ext>
              </a:extLst>
            </p:cNvPr>
            <p:cNvSpPr/>
            <p:nvPr/>
          </p:nvSpPr>
          <p:spPr>
            <a:xfrm>
              <a:off x="8533234" y="2415386"/>
              <a:ext cx="2307048" cy="861774"/>
            </a:xfrm>
            <a:prstGeom prst="rect">
              <a:avLst/>
            </a:prstGeom>
          </p:spPr>
          <p:txBody>
            <a:bodyPr wrap="square">
              <a:spAutoFit/>
            </a:bodyPr>
            <a:lstStyle/>
            <a:p>
              <a:pPr algn="r"/>
              <a:r>
                <a:rPr lang="en-US" altLang="zh-CN"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16" name="文本框 15">
              <a:extLst>
                <a:ext uri="{FF2B5EF4-FFF2-40B4-BE49-F238E27FC236}">
                  <a16:creationId xmlns:a16="http://schemas.microsoft.com/office/drawing/2014/main" id="{574B7932-FC4D-9E74-8C2D-407E06788E45}"/>
                </a:ext>
              </a:extLst>
            </p:cNvPr>
            <p:cNvSpPr txBox="1"/>
            <p:nvPr/>
          </p:nvSpPr>
          <p:spPr>
            <a:xfrm>
              <a:off x="5018314" y="1352666"/>
              <a:ext cx="5821968" cy="1015663"/>
            </a:xfrm>
            <a:prstGeom prst="rect">
              <a:avLst/>
            </a:prstGeom>
            <a:noFill/>
            <a:scene3d>
              <a:camera prst="orthographicFront"/>
              <a:lightRig rig="threePt" dir="t"/>
            </a:scene3d>
            <a:sp3d>
              <a:bevelT/>
            </a:sp3d>
          </p:spPr>
          <p:txBody>
            <a:bodyPr wrap="square" rtlCol="0">
              <a:spAutoFit/>
            </a:bodyPr>
            <a:lstStyle/>
            <a:p>
              <a:pPr algn="dist"/>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17" name="副标题 2">
              <a:extLst>
                <a:ext uri="{FF2B5EF4-FFF2-40B4-BE49-F238E27FC236}">
                  <a16:creationId xmlns:a16="http://schemas.microsoft.com/office/drawing/2014/main" id="{D7ED5E4C-E3FE-4A85-6B41-62F1AA059163}"/>
                </a:ext>
              </a:extLst>
            </p:cNvPr>
            <p:cNvSpPr txBox="1">
              <a:spLocks/>
            </p:cNvSpPr>
            <p:nvPr/>
          </p:nvSpPr>
          <p:spPr>
            <a:xfrm>
              <a:off x="9100901" y="5201655"/>
              <a:ext cx="1879415" cy="1196834"/>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2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50000"/>
                  </a:lnSpc>
                </a:pPr>
                <a:t>2025/12/7</a:t>
              </a:fld>
              <a:endPar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18" name="矩形 17">
              <a:extLst>
                <a:ext uri="{FF2B5EF4-FFF2-40B4-BE49-F238E27FC236}">
                  <a16:creationId xmlns:a16="http://schemas.microsoft.com/office/drawing/2014/main" id="{0A77711A-D9C3-862C-970B-1304CBB42097}"/>
                </a:ext>
              </a:extLst>
            </p:cNvPr>
            <p:cNvSpPr/>
            <p:nvPr/>
          </p:nvSpPr>
          <p:spPr>
            <a:xfrm>
              <a:off x="348344" y="359229"/>
              <a:ext cx="11506200" cy="6150428"/>
            </a:xfrm>
            <a:prstGeom prst="rect">
              <a:avLst/>
            </a:prstGeom>
            <a:solidFill>
              <a:schemeClr val="accent1">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a:extLst>
                <a:ext uri="{FF2B5EF4-FFF2-40B4-BE49-F238E27FC236}">
                  <a16:creationId xmlns:a16="http://schemas.microsoft.com/office/drawing/2014/main" id="{DCC974D1-DCEA-DAD9-BA84-A0C1B340842C}"/>
                </a:ext>
              </a:extLst>
            </p:cNvPr>
            <p:cNvGraphicFramePr>
              <a:graphicFrameLocks noChangeAspect="1"/>
            </p:cNvGraphicFramePr>
            <p:nvPr/>
          </p:nvGraphicFramePr>
          <p:xfrm>
            <a:off x="664029" y="598713"/>
            <a:ext cx="10874828" cy="5660574"/>
          </p:xfrm>
          <a:graphic>
            <a:graphicData uri="http://schemas.openxmlformats.org/presentationml/2006/ole">
              <mc:AlternateContent xmlns:mc="http://schemas.openxmlformats.org/markup-compatibility/2006">
                <mc:Choice xmlns:v="urn:schemas-microsoft-com:vml" Requires="v">
                  <p:oleObj name="Bitmap Image" r:id="rId2" imgW="6108840" imgH="4280040" progId="PBrush">
                    <p:embed/>
                  </p:oleObj>
                </mc:Choice>
                <mc:Fallback>
                  <p:oleObj name="Bitmap Image" r:id="rId2" imgW="6108840" imgH="4280040" progId="PBrush">
                    <p:embed/>
                    <p:pic>
                      <p:nvPicPr>
                        <p:cNvPr id="5" name="对象 4">
                          <a:extLst>
                            <a:ext uri="{FF2B5EF4-FFF2-40B4-BE49-F238E27FC236}">
                              <a16:creationId xmlns:a16="http://schemas.microsoft.com/office/drawing/2014/main" id="{DCC974D1-DCEA-DAD9-BA84-A0C1B340842C}"/>
                            </a:ext>
                          </a:extLst>
                        </p:cNvPr>
                        <p:cNvPicPr/>
                        <p:nvPr/>
                      </p:nvPicPr>
                      <p:blipFill>
                        <a:blip r:embed="rId3"/>
                        <a:stretch>
                          <a:fillRect/>
                        </a:stretch>
                      </p:blipFill>
                      <p:spPr>
                        <a:xfrm>
                          <a:off x="664029" y="598713"/>
                          <a:ext cx="10874828" cy="5660574"/>
                        </a:xfrm>
                        <a:prstGeom prst="rect">
                          <a:avLst/>
                        </a:prstGeom>
                      </p:spPr>
                    </p:pic>
                  </p:oleObj>
                </mc:Fallback>
              </mc:AlternateContent>
            </a:graphicData>
          </a:graphic>
        </p:graphicFrame>
        <p:sp>
          <p:nvSpPr>
            <p:cNvPr id="19" name="矩形 18">
              <a:extLst>
                <a:ext uri="{FF2B5EF4-FFF2-40B4-BE49-F238E27FC236}">
                  <a16:creationId xmlns:a16="http://schemas.microsoft.com/office/drawing/2014/main" id="{D38CC3B9-D273-DA53-3D51-7097270B8979}"/>
                </a:ext>
              </a:extLst>
            </p:cNvPr>
            <p:cNvSpPr/>
            <p:nvPr/>
          </p:nvSpPr>
          <p:spPr>
            <a:xfrm>
              <a:off x="7206344" y="2622251"/>
              <a:ext cx="3718954" cy="861774"/>
            </a:xfrm>
            <a:prstGeom prst="rect">
              <a:avLst/>
            </a:prstGeom>
          </p:spPr>
          <p:txBody>
            <a:bodyPr wrap="square">
              <a:spAutoFit/>
            </a:bodyPr>
            <a:lstStyle/>
            <a:p>
              <a:pPr algn="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基于 </a:t>
              </a:r>
              <a:r>
                <a:rPr lang="en-US" altLang="zh-CN"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20" name="文本框 19">
              <a:extLst>
                <a:ext uri="{FF2B5EF4-FFF2-40B4-BE49-F238E27FC236}">
                  <a16:creationId xmlns:a16="http://schemas.microsoft.com/office/drawing/2014/main" id="{878B0296-8DCD-A0D4-E6A8-49A8022C13B3}"/>
                </a:ext>
              </a:extLst>
            </p:cNvPr>
            <p:cNvSpPr txBox="1"/>
            <p:nvPr/>
          </p:nvSpPr>
          <p:spPr>
            <a:xfrm>
              <a:off x="5323114" y="1559531"/>
              <a:ext cx="5602183" cy="1015663"/>
            </a:xfrm>
            <a:prstGeom prst="rect">
              <a:avLst/>
            </a:prstGeom>
            <a:noFill/>
            <a:scene3d>
              <a:camera prst="orthographicFront"/>
              <a:lightRig rig="threePt" dir="t"/>
            </a:scene3d>
            <a:sp3d>
              <a:bevelT/>
            </a:sp3d>
          </p:spPr>
          <p:txBody>
            <a:bodyPr wrap="square" rtlCol="0">
              <a:spAutoFit/>
            </a:bodyPr>
            <a:lstStyle/>
            <a:p>
              <a:pPr algn="r"/>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21" name="副标题 2">
              <a:extLst>
                <a:ext uri="{FF2B5EF4-FFF2-40B4-BE49-F238E27FC236}">
                  <a16:creationId xmlns:a16="http://schemas.microsoft.com/office/drawing/2014/main" id="{982694FD-A4ED-A422-06B2-71C13249BACF}"/>
                </a:ext>
              </a:extLst>
            </p:cNvPr>
            <p:cNvSpPr txBox="1">
              <a:spLocks/>
            </p:cNvSpPr>
            <p:nvPr/>
          </p:nvSpPr>
          <p:spPr>
            <a:xfrm>
              <a:off x="10319657" y="5505334"/>
              <a:ext cx="1333499" cy="753953"/>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00000"/>
                </a:lnSpc>
              </a:pPr>
              <a:fld id="{40D7A12C-C48C-4203-A694-F2B6F5190069}" type="datetime1">
                <a:rPr lang="zh-CN" altLang="en-US" sz="16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00000"/>
                  </a:lnSpc>
                </a:pPr>
                <a:t>2025/12/7</a:t>
              </a:fld>
              <a:endPar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24" name="Rectangle 3">
              <a:extLst>
                <a:ext uri="{FF2B5EF4-FFF2-40B4-BE49-F238E27FC236}">
                  <a16:creationId xmlns:a16="http://schemas.microsoft.com/office/drawing/2014/main" id="{9D668F91-5A97-DC14-A87D-94ECEC1AF98D}"/>
                </a:ext>
              </a:extLst>
            </p:cNvPr>
            <p:cNvSpPr txBox="1">
              <a:spLocks noChangeArrowheads="1"/>
            </p:cNvSpPr>
            <p:nvPr/>
          </p:nvSpPr>
          <p:spPr>
            <a:xfrm>
              <a:off x="7543801" y="3604606"/>
              <a:ext cx="3296482" cy="2610697"/>
            </a:xfrm>
            <a:prstGeom prst="rect">
              <a:avLst/>
            </a:prstGeom>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本书特色</a:t>
              </a:r>
              <a:endParaRPr lang="en-US" altLang="zh-CN" sz="2400" dirty="0">
                <a:effectLs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新颖的写作视角</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严谨的组织结构</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完备的绘制代码</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详尽的图形解读</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2141939524"/>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副标题 2">
            <a:extLst>
              <a:ext uri="{FF2B5EF4-FFF2-40B4-BE49-F238E27FC236}">
                <a16:creationId xmlns:a16="http://schemas.microsoft.com/office/drawing/2014/main" id="{CD5BFEA8-D60A-4E4F-BEA7-36EF403C3802}"/>
              </a:ext>
            </a:extLst>
          </p:cNvPr>
          <p:cNvSpPr txBox="1">
            <a:spLocks/>
          </p:cNvSpPr>
          <p:nvPr/>
        </p:nvSpPr>
        <p:spPr>
          <a:xfrm>
            <a:off x="6096000" y="4864292"/>
            <a:ext cx="2653745" cy="1760996"/>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3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50000"/>
                </a:lnSpc>
              </a:pPr>
              <a:t>2025/12/7</a:t>
            </a:fld>
            <a:endPar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pic>
        <p:nvPicPr>
          <p:cNvPr id="5" name="图片 4">
            <a:extLst>
              <a:ext uri="{FF2B5EF4-FFF2-40B4-BE49-F238E27FC236}">
                <a16:creationId xmlns:a16="http://schemas.microsoft.com/office/drawing/2014/main" id="{57BE89BD-ACBF-40B9-AAFA-85C15C6AD30F}"/>
              </a:ext>
            </a:extLst>
          </p:cNvPr>
          <p:cNvPicPr>
            <a:picLocks noChangeAspect="1"/>
          </p:cNvPicPr>
          <p:nvPr/>
        </p:nvPicPr>
        <p:blipFill>
          <a:blip r:embed="rId3"/>
          <a:stretch>
            <a:fillRect/>
          </a:stretch>
        </p:blipFill>
        <p:spPr>
          <a:xfrm>
            <a:off x="-57405" y="-85059"/>
            <a:ext cx="12423070" cy="6943059"/>
          </a:xfrm>
          <a:prstGeom prst="rect">
            <a:avLst/>
          </a:prstGeom>
        </p:spPr>
      </p:pic>
      <p:sp>
        <p:nvSpPr>
          <p:cNvPr id="9" name="圆角矩形 4">
            <a:extLst>
              <a:ext uri="{FF2B5EF4-FFF2-40B4-BE49-F238E27FC236}">
                <a16:creationId xmlns:a16="http://schemas.microsoft.com/office/drawing/2014/main" id="{5B463439-9290-46DE-AF62-1FC729B957BF}"/>
              </a:ext>
            </a:extLst>
          </p:cNvPr>
          <p:cNvSpPr/>
          <p:nvPr/>
        </p:nvSpPr>
        <p:spPr>
          <a:xfrm>
            <a:off x="1318436" y="2286000"/>
            <a:ext cx="9803219" cy="3732028"/>
          </a:xfrm>
          <a:prstGeom prst="roundRect">
            <a:avLst/>
          </a:prstGeom>
          <a:solidFill>
            <a:schemeClr val="accent5">
              <a:lumMod val="75000"/>
            </a:schemeClr>
          </a:solidFill>
          <a:ln>
            <a:no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5.1</a:t>
            </a: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展示分布形状</a:t>
            </a: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5.2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展示分布位置和范围</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5.3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检验数据分布</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r>
              <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5.4   </a:t>
            </a: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展示推断信息</a:t>
            </a:r>
            <a:endParaRPr lang="en-US" altLang="zh-CN"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42FE301-88C8-43EE-B4E5-A0F8BAC93B90}"/>
              </a:ext>
            </a:extLst>
          </p:cNvPr>
          <p:cNvSpPr txBox="1"/>
          <p:nvPr/>
        </p:nvSpPr>
        <p:spPr>
          <a:xfrm>
            <a:off x="1456660" y="839972"/>
            <a:ext cx="9545916" cy="906915"/>
          </a:xfrm>
          <a:prstGeom prst="rect">
            <a:avLst/>
          </a:prstGeom>
          <a:noFill/>
        </p:spPr>
        <p:txBody>
          <a:bodyPr wrap="square" rtlCol="0">
            <a:spAutoFit/>
          </a:bodyPr>
          <a:lstStyle/>
          <a:p>
            <a:pPr>
              <a:lnSpc>
                <a:spcPct val="150000"/>
              </a:lnSpc>
            </a:pP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 </a:t>
            </a:r>
            <a:r>
              <a:rPr lang="zh-CN" altLang="en-US" sz="40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a:t>
            </a:r>
            <a:r>
              <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展示数据分布</a:t>
            </a:r>
            <a:r>
              <a:rPr lang="en-US" altLang="zh-CN" sz="4000" b="1" spc="15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lang="zh-CN" altLang="en-US" sz="40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37244127"/>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6E94D264-6FC3-43E2-9B81-55AAF75CEB21}"/>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a:solidFill>
                  <a:srgbClr val="002060"/>
                </a:solidFill>
                <a:ea typeface="华文细黑" panose="02010600040101010101" pitchFamily="2" charset="-122"/>
              </a:rPr>
              <a:t>       概要</a:t>
            </a:r>
            <a:endParaRPr lang="en-US" altLang="zh-CN" sz="2600" b="1" dirty="0">
              <a:solidFill>
                <a:srgbClr val="002060"/>
              </a:solidFill>
              <a:ea typeface="华文细黑" panose="02010600040101010101" pitchFamily="2" charset="-122"/>
            </a:endParaRPr>
          </a:p>
        </p:txBody>
      </p:sp>
      <p:sp>
        <p:nvSpPr>
          <p:cNvPr id="3" name="Rectangle 3">
            <a:extLst>
              <a:ext uri="{FF2B5EF4-FFF2-40B4-BE49-F238E27FC236}">
                <a16:creationId xmlns:a16="http://schemas.microsoft.com/office/drawing/2014/main" id="{4EBBAF97-0D78-4EFA-59BA-001D82C8B929}"/>
              </a:ext>
            </a:extLst>
          </p:cNvPr>
          <p:cNvSpPr txBox="1">
            <a:spLocks noChangeArrowheads="1"/>
          </p:cNvSpPr>
          <p:nvPr/>
        </p:nvSpPr>
        <p:spPr>
          <a:xfrm>
            <a:off x="707571" y="1635002"/>
            <a:ext cx="10809515" cy="4722255"/>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effectLst/>
                <a:latin typeface="Cambria" panose="02040503050406030204" pitchFamily="18" charset="0"/>
                <a:ea typeface="华文细黑" panose="02010600040101010101" pitchFamily="2" charset="-122"/>
              </a:rPr>
              <a:t>数据分布主要是指数值数据</a:t>
            </a:r>
            <a:r>
              <a:rPr lang="en-US" altLang="zh-CN" sz="2400" dirty="0">
                <a:latin typeface="Cambria" panose="02040503050406030204" pitchFamily="18" charset="0"/>
                <a:ea typeface="华文细黑" panose="02010600040101010101" pitchFamily="2" charset="-122"/>
              </a:rPr>
              <a:t>(</a:t>
            </a:r>
            <a:r>
              <a:rPr lang="zh-CN" altLang="zh-CN" sz="2400" dirty="0">
                <a:effectLst/>
                <a:latin typeface="Cambria" panose="02040503050406030204" pitchFamily="18" charset="0"/>
                <a:ea typeface="华文细黑" panose="02010600040101010101" pitchFamily="2" charset="-122"/>
              </a:rPr>
              <a:t>变量</a:t>
            </a:r>
            <a:r>
              <a:rPr lang="en-US" altLang="zh-CN" sz="2400" dirty="0">
                <a:latin typeface="Cambria" panose="02040503050406030204" pitchFamily="18" charset="0"/>
                <a:ea typeface="华文细黑" panose="02010600040101010101" pitchFamily="2" charset="-122"/>
              </a:rPr>
              <a:t>)</a:t>
            </a:r>
            <a:r>
              <a:rPr lang="zh-CN" altLang="zh-CN" sz="2400" dirty="0">
                <a:effectLst/>
                <a:latin typeface="Cambria" panose="02040503050406030204" pitchFamily="18" charset="0"/>
                <a:ea typeface="华文细黑" panose="02010600040101010101" pitchFamily="2" charset="-122"/>
              </a:rPr>
              <a:t>分布的形状、点的分布位置和范围等特征</a:t>
            </a:r>
            <a:endParaRPr lang="en-US" altLang="zh-CN" sz="2400" dirty="0">
              <a:effectLst/>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effectLst/>
                <a:latin typeface="Cambria" panose="02040503050406030204" pitchFamily="18" charset="0"/>
                <a:ea typeface="华文细黑" panose="02010600040101010101" pitchFamily="2" charset="-122"/>
              </a:rPr>
              <a:t>展示数据分布特征的图形有多种，本章主要介绍三类分布图形</a:t>
            </a:r>
            <a:endParaRPr lang="en-US" altLang="zh-CN" sz="2400" dirty="0">
              <a:effectLst/>
              <a:latin typeface="Cambria" panose="02040503050406030204" pitchFamily="18" charset="0"/>
              <a:ea typeface="华文细黑" panose="02010600040101010101" pitchFamily="2" charset="-122"/>
            </a:endParaRPr>
          </a:p>
          <a:p>
            <a:pPr marL="719138" lvl="1" indent="-376238" algn="just" eaLnBrk="0" hangingPunct="0">
              <a:lnSpc>
                <a:spcPct val="150000"/>
              </a:lnSpc>
              <a:spcBef>
                <a:spcPct val="50000"/>
              </a:spcBef>
              <a:buClr>
                <a:srgbClr val="C00000"/>
              </a:buClr>
              <a:buFont typeface="Wingdings" panose="05000000000000000000" pitchFamily="2" charset="2"/>
              <a:buChar char="Ø"/>
              <a:defRPr/>
            </a:pPr>
            <a:r>
              <a:rPr lang="zh-CN" altLang="zh-CN" sz="2000" dirty="0">
                <a:effectLst/>
                <a:latin typeface="Cambria" panose="02040503050406030204" pitchFamily="18" charset="0"/>
                <a:ea typeface="华文细黑" panose="02010600040101010101" pitchFamily="2" charset="-122"/>
              </a:rPr>
              <a:t>展示数据分布形状的图形，如直方图、核密度图、箱线图、小提琴图等</a:t>
            </a:r>
            <a:endParaRPr lang="en-US" altLang="zh-CN" sz="2000" dirty="0">
              <a:effectLst/>
              <a:latin typeface="Cambria" panose="02040503050406030204" pitchFamily="18" charset="0"/>
              <a:ea typeface="华文细黑" panose="02010600040101010101" pitchFamily="2" charset="-122"/>
            </a:endParaRPr>
          </a:p>
          <a:p>
            <a:pPr marL="719138" lvl="1" indent="-376238" algn="just" eaLnBrk="0" hangingPunct="0">
              <a:lnSpc>
                <a:spcPct val="150000"/>
              </a:lnSpc>
              <a:spcBef>
                <a:spcPct val="50000"/>
              </a:spcBef>
              <a:buClr>
                <a:srgbClr val="C00000"/>
              </a:buClr>
              <a:buFont typeface="Wingdings" panose="05000000000000000000" pitchFamily="2" charset="2"/>
              <a:buChar char="Ø"/>
              <a:defRPr/>
            </a:pPr>
            <a:r>
              <a:rPr lang="zh-CN" altLang="zh-CN" sz="2000" dirty="0">
                <a:effectLst/>
                <a:latin typeface="Cambria" panose="02040503050406030204" pitchFamily="18" charset="0"/>
                <a:ea typeface="华文细黑" panose="02010600040101010101" pitchFamily="2" charset="-122"/>
              </a:rPr>
              <a:t>展示数据在数轴上分布位置和范围的图形，如带状图、威尔金森点图及其变种、极差图等</a:t>
            </a:r>
            <a:endParaRPr lang="en-US" altLang="zh-CN" sz="2000" dirty="0">
              <a:effectLst/>
              <a:latin typeface="Cambria" panose="02040503050406030204" pitchFamily="18" charset="0"/>
              <a:ea typeface="华文细黑" panose="02010600040101010101" pitchFamily="2" charset="-122"/>
            </a:endParaRPr>
          </a:p>
          <a:p>
            <a:pPr marL="719138" lvl="1" indent="-376238" algn="just" eaLnBrk="0" hangingPunct="0">
              <a:lnSpc>
                <a:spcPct val="150000"/>
              </a:lnSpc>
              <a:spcBef>
                <a:spcPct val="50000"/>
              </a:spcBef>
              <a:buClr>
                <a:srgbClr val="C00000"/>
              </a:buClr>
              <a:buFont typeface="Wingdings" panose="05000000000000000000" pitchFamily="2" charset="2"/>
              <a:buChar char="Ø"/>
              <a:defRPr/>
            </a:pPr>
            <a:r>
              <a:rPr lang="zh-CN" altLang="zh-CN" sz="2000" dirty="0">
                <a:effectLst/>
                <a:latin typeface="Cambria" panose="02040503050406030204" pitchFamily="18" charset="0"/>
                <a:ea typeface="华文细黑" panose="02010600040101010101" pitchFamily="2" charset="-122"/>
              </a:rPr>
              <a:t>展示数据分布特性的图形，如</a:t>
            </a:r>
            <a:r>
              <a:rPr lang="en-US" altLang="zh-CN" sz="2000" dirty="0">
                <a:effectLst/>
                <a:latin typeface="Cambria" panose="02040503050406030204" pitchFamily="18" charset="0"/>
                <a:ea typeface="华文细黑" panose="02010600040101010101" pitchFamily="2" charset="-122"/>
              </a:rPr>
              <a:t>Q-Q</a:t>
            </a:r>
            <a:r>
              <a:rPr lang="zh-CN" altLang="zh-CN" sz="2000" dirty="0">
                <a:effectLst/>
                <a:latin typeface="Cambria" panose="02040503050406030204" pitchFamily="18" charset="0"/>
                <a:ea typeface="华文细黑" panose="02010600040101010101" pitchFamily="2" charset="-122"/>
              </a:rPr>
              <a:t>或</a:t>
            </a:r>
            <a:r>
              <a:rPr lang="en-US" altLang="zh-CN" sz="2000" dirty="0">
                <a:effectLst/>
                <a:latin typeface="Cambria" panose="02040503050406030204" pitchFamily="18" charset="0"/>
                <a:ea typeface="华文细黑" panose="02010600040101010101" pitchFamily="2" charset="-122"/>
              </a:rPr>
              <a:t>P-P</a:t>
            </a:r>
            <a:r>
              <a:rPr lang="zh-CN" altLang="zh-CN" sz="2000" dirty="0">
                <a:effectLst/>
                <a:latin typeface="Cambria" panose="02040503050406030204" pitchFamily="18" charset="0"/>
                <a:ea typeface="华文细黑" panose="02010600040101010101" pitchFamily="2" charset="-122"/>
              </a:rPr>
              <a:t>图等</a:t>
            </a:r>
            <a:endParaRPr lang="en-US" altLang="zh-CN" sz="2000" dirty="0">
              <a:effectLst/>
              <a:latin typeface="Cambria" panose="02040503050406030204" pitchFamily="18" charset="0"/>
              <a:ea typeface="华文细黑" panose="02010600040101010101" pitchFamily="2" charset="-122"/>
            </a:endParaRPr>
          </a:p>
          <a:p>
            <a:pPr marL="719138" lvl="1" indent="-376238" algn="just" eaLnBrk="0" hangingPunct="0">
              <a:lnSpc>
                <a:spcPct val="150000"/>
              </a:lnSpc>
              <a:spcBef>
                <a:spcPct val="50000"/>
              </a:spcBef>
              <a:buClr>
                <a:srgbClr val="C00000"/>
              </a:buClr>
              <a:buFont typeface="Wingdings" panose="05000000000000000000" pitchFamily="2" charset="2"/>
              <a:buChar char="Ø"/>
              <a:defRPr/>
            </a:pPr>
            <a:r>
              <a:rPr lang="zh-CN" altLang="zh-CN" sz="2000" dirty="0">
                <a:effectLst/>
                <a:latin typeface="Cambria" panose="02040503050406030204" pitchFamily="18" charset="0"/>
                <a:ea typeface="华文细黑" panose="02010600040101010101" pitchFamily="2" charset="-122"/>
              </a:rPr>
              <a:t>本章最后介绍如何在分布图形中添加推断信息的方法</a:t>
            </a:r>
            <a:endParaRPr lang="zh-CN" altLang="zh-CN" sz="2000" dirty="0">
              <a:effectLst/>
              <a:latin typeface="Times New Roman" panose="02020603050405020304" pitchFamily="18" charset="0"/>
              <a:ea typeface="宋体" panose="02010600030101010101" pitchFamily="2" charset="-122"/>
            </a:endParaRPr>
          </a:p>
        </p:txBody>
      </p:sp>
      <p:sp>
        <p:nvSpPr>
          <p:cNvPr id="4" name="Rectangle 2">
            <a:extLst>
              <a:ext uri="{FF2B5EF4-FFF2-40B4-BE49-F238E27FC236}">
                <a16:creationId xmlns:a16="http://schemas.microsoft.com/office/drawing/2014/main" id="{41E42D23-AE90-C31E-DD1A-9E2128008E5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本章导读</a:t>
            </a:r>
          </a:p>
        </p:txBody>
      </p:sp>
    </p:spTree>
    <p:extLst>
      <p:ext uri="{BB962C8B-B14F-4D97-AF65-F5344CB8AC3E}">
        <p14:creationId xmlns:p14="http://schemas.microsoft.com/office/powerpoint/2010/main" val="454829765"/>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0" y="1700317"/>
            <a:ext cx="10818269" cy="171945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700" b="1" dirty="0">
                <a:highlight>
                  <a:srgbClr val="FFFF99"/>
                </a:highlight>
                <a:latin typeface="Cambria" panose="02040503050406030204" pitchFamily="18" charset="0"/>
                <a:ea typeface="华文细黑" panose="02010600040101010101" pitchFamily="2" charset="-122"/>
              </a:rPr>
              <a:t>直方图</a:t>
            </a:r>
            <a:r>
              <a:rPr lang="zh-CN" altLang="zh-CN" sz="1700" dirty="0">
                <a:latin typeface="Cambria" panose="02040503050406030204" pitchFamily="18" charset="0"/>
                <a:ea typeface="华文细黑" panose="02010600040101010101" pitchFamily="2" charset="-122"/>
              </a:rPr>
              <a:t>（</a:t>
            </a:r>
            <a:r>
              <a:rPr lang="en-US" altLang="zh-CN" sz="1700" dirty="0">
                <a:latin typeface="Cambria" panose="02040503050406030204" pitchFamily="18" charset="0"/>
                <a:ea typeface="Cambria" panose="02040503050406030204" pitchFamily="18" charset="0"/>
              </a:rPr>
              <a:t>histogram</a:t>
            </a:r>
            <a:r>
              <a:rPr lang="zh-CN" altLang="zh-CN" sz="1700" dirty="0">
                <a:latin typeface="Cambria" panose="02040503050406030204" pitchFamily="18" charset="0"/>
                <a:ea typeface="华文细黑" panose="02010600040101010101" pitchFamily="2" charset="-122"/>
              </a:rPr>
              <a:t>）是观察数据分布特征的常用图形，它们可以直观地展示数据分布的形状是否对称、偏斜的方向和程度等</a:t>
            </a: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700" dirty="0">
                <a:latin typeface="Cambria" panose="02040503050406030204" pitchFamily="18" charset="0"/>
                <a:ea typeface="华文细黑" panose="02010600040101010101" pitchFamily="2" charset="-122"/>
              </a:rPr>
              <a:t>将数据分组后，在</a:t>
            </a:r>
            <a:r>
              <a:rPr lang="en-US" altLang="zh-CN" sz="1700" dirty="0">
                <a:latin typeface="Cambria" panose="02040503050406030204" pitchFamily="18" charset="0"/>
                <a:ea typeface="Cambria" panose="02040503050406030204" pitchFamily="18" charset="0"/>
              </a:rPr>
              <a:t>X</a:t>
            </a:r>
            <a:r>
              <a:rPr lang="zh-CN" altLang="zh-CN" sz="1700" dirty="0">
                <a:latin typeface="Cambria" panose="02040503050406030204" pitchFamily="18" charset="0"/>
                <a:ea typeface="华文细黑" panose="02010600040101010101" pitchFamily="2" charset="-122"/>
              </a:rPr>
              <a:t>轴上用矩形的宽度表示每个组的组距，在</a:t>
            </a:r>
            <a:r>
              <a:rPr lang="en-US" altLang="zh-CN" sz="1700" dirty="0">
                <a:latin typeface="Cambria" panose="02040503050406030204" pitchFamily="18" charset="0"/>
                <a:ea typeface="Cambria" panose="02040503050406030204" pitchFamily="18" charset="0"/>
              </a:rPr>
              <a:t>Y</a:t>
            </a:r>
            <a:r>
              <a:rPr lang="zh-CN" altLang="zh-CN" sz="1700" dirty="0">
                <a:latin typeface="Cambria" panose="02040503050406030204" pitchFamily="18" charset="0"/>
                <a:ea typeface="华文细黑" panose="02010600040101010101" pitchFamily="2" charset="-122"/>
              </a:rPr>
              <a:t>轴上用矩形的高度表示每个组的频数或密度，多个矩形并列在一起就是直方图</a:t>
            </a:r>
            <a:endParaRPr lang="en-US" altLang="zh-CN" sz="1700" dirty="0">
              <a:latin typeface="Cambria" panose="02040503050406030204" pitchFamily="18" charset="0"/>
              <a:ea typeface="Cambria" panose="020405030504060302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直方图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普通直方图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33650" y="3557107"/>
            <a:ext cx="1987779" cy="282192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en-US" altLang="zh-CN" sz="2200" dirty="0">
                <a:latin typeface="Cambria" panose="02040503050406030204" pitchFamily="18" charset="0"/>
                <a:ea typeface="Cambria" panose="02040503050406030204" pitchFamily="18" charset="0"/>
              </a:rPr>
              <a:t>—</a:t>
            </a:r>
            <a:r>
              <a:rPr lang="zh-CN" altLang="zh-CN" sz="2200" dirty="0">
                <a:latin typeface="Cambria" panose="02040503050406030204" pitchFamily="18" charset="0"/>
                <a:ea typeface="华文细黑" panose="02010600040101010101" pitchFamily="2" charset="-122"/>
              </a:rPr>
              <a:t>空气质量指数（</a:t>
            </a:r>
            <a:r>
              <a:rPr lang="en-US" altLang="zh-CN" sz="2200" dirty="0">
                <a:latin typeface="Cambria" panose="02040503050406030204" pitchFamily="18" charset="0"/>
                <a:ea typeface="Cambria" panose="02040503050406030204" pitchFamily="18" charset="0"/>
              </a:rPr>
              <a:t>Air Quality Index</a:t>
            </a:r>
            <a:r>
              <a:rPr lang="zh-CN" altLang="zh-CN" sz="2200" dirty="0">
                <a:latin typeface="Cambria" panose="02040503050406030204" pitchFamily="18" charset="0"/>
                <a:ea typeface="华文细黑" panose="02010600040101010101" pitchFamily="2" charset="-122"/>
              </a:rPr>
              <a:t>，</a:t>
            </a:r>
            <a:r>
              <a:rPr lang="en-US" altLang="zh-CN" sz="2200" dirty="0">
                <a:latin typeface="Cambria" panose="02040503050406030204" pitchFamily="18" charset="0"/>
                <a:ea typeface="Cambria" panose="02040503050406030204" pitchFamily="18" charset="0"/>
              </a:rPr>
              <a:t>AQI</a:t>
            </a:r>
            <a:r>
              <a:rPr lang="zh-CN" altLang="en-US" sz="2200" dirty="0">
                <a:latin typeface="Cambria" panose="02040503050406030204" pitchFamily="18" charset="0"/>
                <a:ea typeface="华文细黑" panose="02010600040101010101" pitchFamily="2" charset="-122"/>
              </a:rPr>
              <a:t>）</a:t>
            </a:r>
            <a:r>
              <a:rPr lang="zh-CN" altLang="zh-CN" sz="2200" dirty="0">
                <a:latin typeface="Cambria" panose="02040503050406030204" pitchFamily="18" charset="0"/>
                <a:ea typeface="华文细黑" panose="02010600040101010101" pitchFamily="2" charset="-122"/>
              </a:rPr>
              <a:t>数据</a:t>
            </a:r>
          </a:p>
          <a:p>
            <a:pPr marL="0" indent="0" algn="just" eaLnBrk="0" hangingPunct="0">
              <a:lnSpc>
                <a:spcPct val="150000"/>
              </a:lnSpc>
              <a:spcBef>
                <a:spcPct val="50000"/>
              </a:spcBef>
              <a:buClr>
                <a:srgbClr val="000099"/>
              </a:buClr>
              <a:buNone/>
              <a:defRPr/>
            </a:pPr>
            <a:endParaRPr lang="zh-CN" altLang="zh-CN" sz="2200" dirty="0">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endParaRPr lang="en-US" altLang="zh-CN" sz="2200" dirty="0">
              <a:latin typeface="Cambria" panose="02040503050406030204" pitchFamily="18" charset="0"/>
              <a:ea typeface="Cambria" panose="02040503050406030204" pitchFamily="18" charset="0"/>
            </a:endParaRPr>
          </a:p>
        </p:txBody>
      </p:sp>
      <p:pic>
        <p:nvPicPr>
          <p:cNvPr id="3" name="图片 2">
            <a:extLst>
              <a:ext uri="{FF2B5EF4-FFF2-40B4-BE49-F238E27FC236}">
                <a16:creationId xmlns:a16="http://schemas.microsoft.com/office/drawing/2014/main" id="{A355D350-EDC1-2F9C-5FCA-D1BB275C21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52058" y="3557107"/>
            <a:ext cx="8699862" cy="2821922"/>
          </a:xfrm>
          <a:prstGeom prst="rect">
            <a:avLst/>
          </a:prstGeom>
          <a:noFill/>
          <a:ln w="6350">
            <a:solidFill>
              <a:schemeClr val="bg1">
                <a:lumMod val="75000"/>
              </a:schemeClr>
            </a:solidFill>
          </a:ln>
        </p:spPr>
      </p:pic>
      <p:sp>
        <p:nvSpPr>
          <p:cNvPr id="4" name="Rectangle 2">
            <a:extLst>
              <a:ext uri="{FF2B5EF4-FFF2-40B4-BE49-F238E27FC236}">
                <a16:creationId xmlns:a16="http://schemas.microsoft.com/office/drawing/2014/main" id="{EBE1CDC1-1F09-4E47-9D40-3F2CCFA3467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1045846125"/>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直方图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为直方图添加信息</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656773"/>
            <a:ext cx="2488777" cy="467124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rPr>
              <a:t>在用直方图观察数据分布特征的同时，也可以在直方图上添加地毯图、核密度曲线、理论正态分布曲线、描述统计量等</a:t>
            </a:r>
            <a:endParaRPr lang="en-US" altLang="zh-CN" sz="1800" dirty="0">
              <a:latin typeface="Cambria" panose="02040503050406030204" pitchFamily="18" charset="0"/>
              <a:ea typeface="Cambria" panose="020405030504060302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rPr>
              <a:t>可以在一幅图中提供更多的数据分布特征的信息</a:t>
            </a: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3374571" y="1656773"/>
            <a:ext cx="1415143" cy="467124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 】</a:t>
            </a:r>
            <a:r>
              <a:rPr lang="en-US" altLang="zh-CN" sz="1800"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r>
              <a:rPr lang="en-US" altLang="zh-CN" sz="1800" dirty="0">
                <a:latin typeface="Cambria" panose="02040503050406030204" pitchFamily="18" charset="0"/>
                <a:ea typeface="Cambria" panose="02040503050406030204" pitchFamily="18" charset="0"/>
              </a:rPr>
              <a:t>—</a:t>
            </a:r>
            <a:r>
              <a:rPr lang="zh-CN" altLang="zh-CN" sz="1800" dirty="0">
                <a:latin typeface="Cambria" panose="02040503050406030204" pitchFamily="18" charset="0"/>
                <a:ea typeface="华文细黑" panose="02010600040101010101" pitchFamily="2" charset="-122"/>
              </a:rPr>
              <a:t>添加不同信息的</a:t>
            </a:r>
            <a:r>
              <a:rPr lang="en-US" altLang="zh-CN" sz="1800" dirty="0">
                <a:latin typeface="Cambria" panose="02040503050406030204" pitchFamily="18" charset="0"/>
                <a:ea typeface="Cambria" panose="02040503050406030204" pitchFamily="18" charset="0"/>
              </a:rPr>
              <a:t>AQI</a:t>
            </a:r>
            <a:r>
              <a:rPr lang="zh-CN" altLang="zh-CN" sz="1800" dirty="0">
                <a:latin typeface="Cambria" panose="02040503050406030204" pitchFamily="18" charset="0"/>
                <a:ea typeface="华文细黑" panose="02010600040101010101" pitchFamily="2" charset="-122"/>
              </a:rPr>
              <a:t>的直方图</a:t>
            </a:r>
            <a:endParaRPr lang="en-US" altLang="zh-CN" sz="1800" dirty="0">
              <a:latin typeface="Cambria" panose="02040503050406030204" pitchFamily="18" charset="0"/>
              <a:ea typeface="Cambria" panose="02040503050406030204" pitchFamily="18" charset="0"/>
            </a:endParaRPr>
          </a:p>
        </p:txBody>
      </p:sp>
      <p:sp>
        <p:nvSpPr>
          <p:cNvPr id="4" name="Rectangle 2">
            <a:extLst>
              <a:ext uri="{FF2B5EF4-FFF2-40B4-BE49-F238E27FC236}">
                <a16:creationId xmlns:a16="http://schemas.microsoft.com/office/drawing/2014/main" id="{F69EAC76-9522-112E-8889-E664095CCF4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pic>
        <p:nvPicPr>
          <p:cNvPr id="2" name="图片 1">
            <a:extLst>
              <a:ext uri="{FF2B5EF4-FFF2-40B4-BE49-F238E27FC236}">
                <a16:creationId xmlns:a16="http://schemas.microsoft.com/office/drawing/2014/main" id="{05EEA1FF-FD49-F33B-A878-CA103FF7B3E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39440" y="1656773"/>
            <a:ext cx="6508280" cy="4671247"/>
          </a:xfrm>
          <a:prstGeom prst="rect">
            <a:avLst/>
          </a:prstGeom>
          <a:noFill/>
          <a:ln w="6350">
            <a:solidFill>
              <a:schemeClr val="bg1">
                <a:lumMod val="75000"/>
              </a:schemeClr>
            </a:solidFill>
          </a:ln>
        </p:spPr>
      </p:pic>
    </p:spTree>
    <p:extLst>
      <p:ext uri="{BB962C8B-B14F-4D97-AF65-F5344CB8AC3E}">
        <p14:creationId xmlns:p14="http://schemas.microsoft.com/office/powerpoint/2010/main" val="841194425"/>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直方图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镜像直方图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1" y="1700317"/>
            <a:ext cx="2292833" cy="467912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如果要比较不同变量的分布特征，可以将直方图叠加在一起，但叠加的变量不宜太多</a:t>
            </a:r>
            <a:endParaRPr lang="en-US" altLang="zh-CN" sz="1600" kern="0" dirty="0">
              <a:effectLst/>
              <a:latin typeface="Cambria" panose="02040503050406030204" pitchFamily="18" charset="0"/>
              <a:ea typeface="Cambria" panose="02040503050406030204" pitchFamily="18" charset="0"/>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如果只对两个变量进行比较，也可绘制成镜像直方图，它是将一个变量绘制在上方，另一个变量以镜像方式绘制在下方</a:t>
            </a:r>
            <a:endParaRPr lang="zh-CN" altLang="zh-CN" sz="1600" dirty="0">
              <a:latin typeface="Cambria" panose="02040503050406030204" pitchFamily="18" charset="0"/>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3189515" y="1700317"/>
            <a:ext cx="8381440" cy="59874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 </a:t>
            </a:r>
            <a:r>
              <a:rPr lang="en-US" altLang="zh-CN" sz="2200" dirty="0">
                <a:latin typeface="Cambria" panose="02040503050406030204" pitchFamily="18" charset="0"/>
                <a:ea typeface="Cambria" panose="02040503050406030204" pitchFamily="18" charset="0"/>
              </a:rPr>
              <a:t> —AQI</a:t>
            </a:r>
            <a:r>
              <a:rPr lang="zh-CN" altLang="en-US" sz="2200" dirty="0">
                <a:latin typeface="Cambria" panose="02040503050406030204" pitchFamily="18" charset="0"/>
                <a:ea typeface="华文细黑" panose="02010600040101010101" pitchFamily="2" charset="-122"/>
              </a:rPr>
              <a:t>和</a:t>
            </a:r>
            <a:r>
              <a:rPr lang="en-US" altLang="zh-CN" sz="2200" dirty="0">
                <a:latin typeface="Cambria" panose="02040503050406030204" pitchFamily="18" charset="0"/>
                <a:ea typeface="Cambria" panose="02040503050406030204" pitchFamily="18" charset="0"/>
              </a:rPr>
              <a:t>PM2.5</a:t>
            </a:r>
            <a:r>
              <a:rPr lang="zh-CN" altLang="zh-CN" sz="2200" dirty="0">
                <a:latin typeface="Cambria" panose="02040503050406030204" pitchFamily="18" charset="0"/>
                <a:ea typeface="华文细黑" panose="02010600040101010101" pitchFamily="2" charset="-122"/>
              </a:rPr>
              <a:t>的</a:t>
            </a:r>
            <a:r>
              <a:rPr lang="zh-CN" altLang="en-US" sz="2200" dirty="0">
                <a:latin typeface="Cambria" panose="02040503050406030204" pitchFamily="18" charset="0"/>
                <a:ea typeface="华文细黑" panose="02010600040101010101" pitchFamily="2" charset="-122"/>
              </a:rPr>
              <a:t>叠加</a:t>
            </a:r>
            <a:r>
              <a:rPr lang="zh-CN" altLang="zh-CN" sz="2200" dirty="0">
                <a:latin typeface="Cambria" panose="02040503050406030204" pitchFamily="18" charset="0"/>
                <a:ea typeface="华文细黑" panose="02010600040101010101" pitchFamily="2" charset="-122"/>
              </a:rPr>
              <a:t>直方图</a:t>
            </a:r>
            <a:r>
              <a:rPr lang="zh-CN" altLang="en-US" sz="2200" dirty="0">
                <a:latin typeface="Cambria" panose="02040503050406030204" pitchFamily="18" charset="0"/>
                <a:ea typeface="华文细黑" panose="02010600040101010101" pitchFamily="2" charset="-122"/>
              </a:rPr>
              <a:t>和镜像直方图</a:t>
            </a:r>
            <a:endParaRPr lang="en-US" altLang="zh-CN" sz="2200"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9D9082E5-877B-C333-46E2-B9D4230DB63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pic>
        <p:nvPicPr>
          <p:cNvPr id="2" name="图片 1">
            <a:extLst>
              <a:ext uri="{FF2B5EF4-FFF2-40B4-BE49-F238E27FC236}">
                <a16:creationId xmlns:a16="http://schemas.microsoft.com/office/drawing/2014/main" id="{C9A9E7C0-4E9E-C23A-D5B5-58A7AA0B1A3F}"/>
              </a:ext>
            </a:extLst>
          </p:cNvPr>
          <p:cNvPicPr>
            <a:picLocks noChangeAspect="1"/>
          </p:cNvPicPr>
          <p:nvPr/>
        </p:nvPicPr>
        <p:blipFill>
          <a:blip r:embed="rId2"/>
          <a:stretch>
            <a:fillRect/>
          </a:stretch>
        </p:blipFill>
        <p:spPr>
          <a:xfrm>
            <a:off x="3189515" y="2436397"/>
            <a:ext cx="8381440" cy="3943048"/>
          </a:xfrm>
          <a:prstGeom prst="rect">
            <a:avLst/>
          </a:prstGeom>
          <a:ln w="6350">
            <a:solidFill>
              <a:schemeClr val="bg1">
                <a:lumMod val="75000"/>
              </a:schemeClr>
            </a:solidFill>
          </a:ln>
        </p:spPr>
      </p:pic>
    </p:spTree>
    <p:extLst>
      <p:ext uri="{BB962C8B-B14F-4D97-AF65-F5344CB8AC3E}">
        <p14:creationId xmlns:p14="http://schemas.microsoft.com/office/powerpoint/2010/main" val="4111675989"/>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直方图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分组</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1" y="1656773"/>
            <a:ext cx="1835634" cy="470494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en-US" sz="2200" b="1" kern="0"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分组</a:t>
            </a:r>
            <a:r>
              <a:rPr lang="zh-CN" altLang="en-US" sz="22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直方图</a:t>
            </a:r>
            <a:r>
              <a:rPr lang="zh-CN" altLang="en-US" sz="22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如果数据框中除数值变量外，还有其他类别变量（因子），则可以按因子分组绘制直方图</a:t>
            </a:r>
            <a:endParaRPr lang="en-US" altLang="zh-CN" sz="2200" kern="0" dirty="0">
              <a:effectLst/>
              <a:latin typeface="Cambria" panose="02040503050406030204" pitchFamily="18" charset="0"/>
              <a:ea typeface="Cambria" panose="020405030504060302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2787128" y="1656773"/>
            <a:ext cx="8806324" cy="6520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 </a:t>
            </a:r>
            <a:r>
              <a:rPr lang="en-US" altLang="zh-CN" sz="2200"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r>
              <a:rPr lang="en-US" altLang="zh-CN" sz="2200" dirty="0">
                <a:latin typeface="Cambria" panose="02040503050406030204" pitchFamily="18" charset="0"/>
                <a:ea typeface="Cambria" panose="02040503050406030204" pitchFamily="18" charset="0"/>
              </a:rPr>
              <a:t>—</a:t>
            </a:r>
            <a:r>
              <a:rPr lang="zh-CN" altLang="zh-CN" sz="2200" dirty="0">
                <a:latin typeface="Cambria" panose="02040503050406030204" pitchFamily="18" charset="0"/>
                <a:ea typeface="华文细黑" panose="02010600040101010101" pitchFamily="2" charset="-122"/>
              </a:rPr>
              <a:t>按质量等级分组的</a:t>
            </a:r>
            <a:r>
              <a:rPr lang="en-US" altLang="zh-CN" sz="2200" dirty="0">
                <a:latin typeface="Cambria" panose="02040503050406030204" pitchFamily="18" charset="0"/>
                <a:ea typeface="Cambria" panose="02040503050406030204" pitchFamily="18" charset="0"/>
              </a:rPr>
              <a:t>AQI</a:t>
            </a:r>
            <a:r>
              <a:rPr lang="zh-CN" altLang="zh-CN" sz="2200" dirty="0">
                <a:latin typeface="Cambria" panose="02040503050406030204" pitchFamily="18" charset="0"/>
                <a:ea typeface="华文细黑" panose="02010600040101010101" pitchFamily="2" charset="-122"/>
              </a:rPr>
              <a:t>的直方图</a:t>
            </a:r>
            <a:endParaRPr lang="en-US" altLang="zh-CN" sz="2200"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3AED41E8-9868-C34B-3BB9-470CEBF1A51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pic>
        <p:nvPicPr>
          <p:cNvPr id="2" name="图片 1">
            <a:extLst>
              <a:ext uri="{FF2B5EF4-FFF2-40B4-BE49-F238E27FC236}">
                <a16:creationId xmlns:a16="http://schemas.microsoft.com/office/drawing/2014/main" id="{ECCA6B41-22C2-4E05-366D-B14AB36B89FA}"/>
              </a:ext>
            </a:extLst>
          </p:cNvPr>
          <p:cNvPicPr>
            <a:picLocks noChangeAspect="1"/>
          </p:cNvPicPr>
          <p:nvPr/>
        </p:nvPicPr>
        <p:blipFill>
          <a:blip r:embed="rId2"/>
          <a:stretch>
            <a:fillRect/>
          </a:stretch>
        </p:blipFill>
        <p:spPr>
          <a:xfrm>
            <a:off x="2786743" y="2402649"/>
            <a:ext cx="8826885" cy="3959070"/>
          </a:xfrm>
          <a:prstGeom prst="rect">
            <a:avLst/>
          </a:prstGeom>
          <a:ln>
            <a:solidFill>
              <a:schemeClr val="bg1">
                <a:lumMod val="75000"/>
              </a:schemeClr>
            </a:solidFill>
          </a:ln>
        </p:spPr>
      </p:pic>
    </p:spTree>
    <p:extLst>
      <p:ext uri="{BB962C8B-B14F-4D97-AF65-F5344CB8AC3E}">
        <p14:creationId xmlns:p14="http://schemas.microsoft.com/office/powerpoint/2010/main" val="2941269721"/>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直方图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分面</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1" y="1656773"/>
            <a:ext cx="2140434" cy="468959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当因子的类别（水平）较多时，按因子分组的直方图会出现叠加，不宜解读，此时可采用分面处理，单独绘制出按因子分组的直方图</a:t>
            </a:r>
            <a:endParaRPr lang="en-US" altLang="zh-CN" sz="2000" kern="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3004457" y="1656772"/>
            <a:ext cx="1513114" cy="468959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000" dirty="0">
                <a:ea typeface="华文细黑" panose="02010600040101010101" pitchFamily="2" charset="-122"/>
              </a:rPr>
              <a:t>—</a:t>
            </a:r>
            <a:r>
              <a:rPr lang="zh-CN" altLang="zh-CN" sz="2000" dirty="0">
                <a:ea typeface="华文细黑" panose="02010600040101010101" pitchFamily="2" charset="-122"/>
              </a:rPr>
              <a:t>按指标分面的直方图</a:t>
            </a:r>
            <a:endParaRPr lang="en-US" altLang="zh-CN" sz="2000" dirty="0">
              <a:ea typeface="华文细黑" panose="02010600040101010101" pitchFamily="2" charset="-122"/>
            </a:endParaRPr>
          </a:p>
        </p:txBody>
      </p:sp>
      <p:pic>
        <p:nvPicPr>
          <p:cNvPr id="4" name="图片 3">
            <a:extLst>
              <a:ext uri="{FF2B5EF4-FFF2-40B4-BE49-F238E27FC236}">
                <a16:creationId xmlns:a16="http://schemas.microsoft.com/office/drawing/2014/main" id="{14B1C2EF-D661-A3E1-43F9-603C325234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47564" y="1656771"/>
            <a:ext cx="6940091" cy="4689599"/>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22FA104D-45A4-5A97-A14B-13776559DF7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845042258"/>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核密度图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核密度曲线与带宽</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689431"/>
            <a:ext cx="10703439" cy="152185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000" b="1" dirty="0">
                <a:highlight>
                  <a:srgbClr val="FFFF99"/>
                </a:highlight>
                <a:latin typeface="Cambria" panose="02040503050406030204" pitchFamily="18" charset="0"/>
                <a:ea typeface="华文细黑" panose="02010600040101010101" pitchFamily="2" charset="-122"/>
              </a:rPr>
              <a:t>核密度图</a:t>
            </a:r>
            <a:r>
              <a:rPr lang="zh-CN" altLang="zh-CN" sz="2000" b="1" dirty="0">
                <a:latin typeface="Cambria" panose="02040503050406030204" pitchFamily="18" charset="0"/>
                <a:ea typeface="华文细黑" panose="02010600040101010101" pitchFamily="2" charset="-122"/>
              </a:rPr>
              <a:t>（</a:t>
            </a:r>
            <a:r>
              <a:rPr lang="en-US" altLang="zh-CN" sz="2000" b="1" dirty="0">
                <a:latin typeface="Cambria" panose="02040503050406030204" pitchFamily="18" charset="0"/>
                <a:ea typeface="Cambria" panose="02040503050406030204" pitchFamily="18" charset="0"/>
              </a:rPr>
              <a:t>kernel density plot</a:t>
            </a:r>
            <a:r>
              <a:rPr lang="zh-CN" altLang="zh-CN" sz="2000" b="1" dirty="0">
                <a:latin typeface="Cambria" panose="02040503050406030204" pitchFamily="18" charset="0"/>
                <a:ea typeface="华文细黑" panose="02010600040101010101" pitchFamily="2" charset="-122"/>
              </a:rPr>
              <a:t>）</a:t>
            </a:r>
            <a:r>
              <a:rPr lang="zh-CN" altLang="zh-CN" sz="2000" dirty="0">
                <a:latin typeface="Cambria" panose="02040503050406030204" pitchFamily="18" charset="0"/>
                <a:ea typeface="华文细黑" panose="02010600040101010101" pitchFamily="2" charset="-122"/>
              </a:rPr>
              <a:t>是用于核密度估计的一种图形，它使用一定的核函数（通常默认核函数为</a:t>
            </a:r>
            <a:r>
              <a:rPr lang="en-US" altLang="zh-CN" sz="2000" dirty="0">
                <a:latin typeface="Cambria" panose="02040503050406030204" pitchFamily="18" charset="0"/>
                <a:ea typeface="Cambria" panose="02040503050406030204" pitchFamily="18" charset="0"/>
              </a:rPr>
              <a:t>gaussian</a:t>
            </a:r>
            <a:r>
              <a:rPr lang="zh-CN" altLang="zh-CN" sz="2000" dirty="0">
                <a:latin typeface="Cambria" panose="02040503050406030204" pitchFamily="18" charset="0"/>
                <a:ea typeface="华文细黑" panose="02010600040101010101" pitchFamily="2" charset="-122"/>
              </a:rPr>
              <a:t>）和带宽（</a:t>
            </a:r>
            <a:r>
              <a:rPr lang="en-US" altLang="zh-CN" sz="2000" dirty="0">
                <a:latin typeface="Cambria" panose="02040503050406030204" pitchFamily="18" charset="0"/>
                <a:ea typeface="Cambria" panose="02040503050406030204" pitchFamily="18" charset="0"/>
              </a:rPr>
              <a:t>bandwidth</a:t>
            </a:r>
            <a:r>
              <a:rPr lang="zh-CN" altLang="zh-CN" sz="2000" dirty="0">
                <a:latin typeface="Cambria" panose="02040503050406030204" pitchFamily="18" charset="0"/>
                <a:ea typeface="华文细黑" panose="02010600040101010101" pitchFamily="2" charset="-122"/>
              </a:rPr>
              <a:t>，</a:t>
            </a:r>
            <a:r>
              <a:rPr lang="en-US" altLang="zh-CN" sz="2000" dirty="0" err="1">
                <a:latin typeface="Cambria" panose="02040503050406030204" pitchFamily="18" charset="0"/>
                <a:ea typeface="Cambria" panose="02040503050406030204" pitchFamily="18" charset="0"/>
              </a:rPr>
              <a:t>bw</a:t>
            </a:r>
            <a:r>
              <a:rPr lang="zh-CN" altLang="zh-CN" sz="2000" dirty="0">
                <a:latin typeface="Cambria" panose="02040503050406030204" pitchFamily="18" charset="0"/>
                <a:ea typeface="华文细黑" panose="02010600040101010101" pitchFamily="2" charset="-122"/>
              </a:rPr>
              <a:t>）为数据的分布提供了一种平滑曲线，从中可以看出数据分布的大致形状</a:t>
            </a:r>
            <a:r>
              <a:rPr lang="zh-CN" altLang="en-US" sz="2000" dirty="0">
                <a:latin typeface="Cambria" panose="02040503050406030204" pitchFamily="18" charset="0"/>
                <a:ea typeface="华文细黑" panose="02010600040101010101" pitchFamily="2" charset="-122"/>
              </a:rPr>
              <a:t>。</a:t>
            </a:r>
            <a:r>
              <a:rPr lang="zh-CN" altLang="zh-CN" sz="2000" dirty="0">
                <a:latin typeface="Cambria" panose="02040503050406030204" pitchFamily="18" charset="0"/>
                <a:ea typeface="华文细黑" panose="02010600040101010101" pitchFamily="2" charset="-122"/>
              </a:rPr>
              <a:t>核密度图可以替代直方图来观察数据的分布</a:t>
            </a:r>
            <a:endParaRPr lang="en-US" altLang="zh-CN" sz="2000" dirty="0">
              <a:latin typeface="Cambria" panose="02040503050406030204" pitchFamily="18" charset="0"/>
              <a:ea typeface="Cambria" panose="020405030504060302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744279" y="3309257"/>
            <a:ext cx="1717767" cy="301534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 </a:t>
            </a:r>
            <a:r>
              <a:rPr lang="en-US" altLang="zh-CN" sz="2200"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r>
              <a:rPr lang="en-US" altLang="zh-CN" sz="2200" dirty="0">
                <a:latin typeface="Cambria" panose="02040503050406030204" pitchFamily="18" charset="0"/>
                <a:ea typeface="Cambria" panose="02040503050406030204" pitchFamily="18" charset="0"/>
              </a:rPr>
              <a:t>—</a:t>
            </a:r>
            <a:r>
              <a:rPr lang="zh-CN" altLang="zh-CN" sz="2200" dirty="0">
                <a:latin typeface="Cambria" panose="02040503050406030204" pitchFamily="18" charset="0"/>
                <a:ea typeface="华文细黑" panose="02010600040101010101" pitchFamily="2" charset="-122"/>
              </a:rPr>
              <a:t>按质量等级分</a:t>
            </a:r>
            <a:r>
              <a:rPr lang="zh-CN" altLang="en-US" sz="2200" dirty="0">
                <a:latin typeface="Cambria" panose="02040503050406030204" pitchFamily="18" charset="0"/>
                <a:ea typeface="华文细黑" panose="02010600040101010101" pitchFamily="2" charset="-122"/>
              </a:rPr>
              <a:t>面</a:t>
            </a:r>
            <a:r>
              <a:rPr lang="zh-CN" altLang="zh-CN" sz="2200" dirty="0">
                <a:latin typeface="Cambria" panose="02040503050406030204" pitchFamily="18" charset="0"/>
                <a:ea typeface="华文细黑" panose="02010600040101010101" pitchFamily="2" charset="-122"/>
              </a:rPr>
              <a:t>的</a:t>
            </a:r>
            <a:r>
              <a:rPr lang="en-US" altLang="zh-CN" sz="2200" dirty="0">
                <a:latin typeface="Cambria" panose="02040503050406030204" pitchFamily="18" charset="0"/>
                <a:ea typeface="Cambria" panose="02040503050406030204" pitchFamily="18" charset="0"/>
              </a:rPr>
              <a:t>AQI</a:t>
            </a:r>
            <a:r>
              <a:rPr lang="zh-CN" altLang="zh-CN" sz="2200" dirty="0">
                <a:latin typeface="Cambria" panose="02040503050406030204" pitchFamily="18" charset="0"/>
                <a:ea typeface="华文细黑" panose="02010600040101010101" pitchFamily="2" charset="-122"/>
              </a:rPr>
              <a:t>的直方图</a:t>
            </a:r>
            <a:endParaRPr lang="en-US" altLang="zh-CN" sz="2200" dirty="0">
              <a:latin typeface="Cambria" panose="02040503050406030204" pitchFamily="18" charset="0"/>
              <a:ea typeface="Cambria" panose="02040503050406030204" pitchFamily="18" charset="0"/>
            </a:endParaRPr>
          </a:p>
        </p:txBody>
      </p:sp>
      <p:pic>
        <p:nvPicPr>
          <p:cNvPr id="3" name="图片 2">
            <a:extLst>
              <a:ext uri="{FF2B5EF4-FFF2-40B4-BE49-F238E27FC236}">
                <a16:creationId xmlns:a16="http://schemas.microsoft.com/office/drawing/2014/main" id="{6FC13049-1B49-117F-9DEC-2772BCF01CC3}"/>
              </a:ext>
            </a:extLst>
          </p:cNvPr>
          <p:cNvPicPr>
            <a:picLocks noChangeAspect="1"/>
          </p:cNvPicPr>
          <p:nvPr/>
        </p:nvPicPr>
        <p:blipFill>
          <a:blip r:embed="rId2"/>
          <a:stretch>
            <a:fillRect/>
          </a:stretch>
        </p:blipFill>
        <p:spPr>
          <a:xfrm>
            <a:off x="2540000" y="3309257"/>
            <a:ext cx="8907717" cy="3015342"/>
          </a:xfrm>
          <a:prstGeom prst="rect">
            <a:avLst/>
          </a:prstGeom>
          <a:ln w="6350">
            <a:solidFill>
              <a:schemeClr val="bg1">
                <a:lumMod val="75000"/>
              </a:schemeClr>
            </a:solidFill>
          </a:ln>
        </p:spPr>
      </p:pic>
      <p:sp>
        <p:nvSpPr>
          <p:cNvPr id="4" name="Rectangle 2">
            <a:extLst>
              <a:ext uri="{FF2B5EF4-FFF2-40B4-BE49-F238E27FC236}">
                <a16:creationId xmlns:a16="http://schemas.microsoft.com/office/drawing/2014/main" id="{5EEB05FD-C93F-04E6-C79C-458AE108F97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2951611869"/>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核密度图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比较核密度图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700317"/>
            <a:ext cx="1639691" cy="470067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当有多个变量时，可以将不同变量的核密度曲线绘制在同一个坐标中进行比较分析</a:t>
            </a:r>
            <a:endParaRPr lang="en-US" altLang="zh-CN" sz="2200" dirty="0">
              <a:latin typeface="Cambria" panose="02040503050406030204" pitchFamily="18" charset="0"/>
              <a:ea typeface="Cambria" panose="020405030504060302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2493726" y="1700317"/>
            <a:ext cx="9115778" cy="6520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 </a:t>
            </a:r>
            <a:r>
              <a:rPr lang="en-US" altLang="zh-CN" sz="2200"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r>
              <a:rPr lang="en-US" altLang="zh-CN" sz="2200" dirty="0">
                <a:latin typeface="Cambria" panose="02040503050406030204" pitchFamily="18" charset="0"/>
                <a:ea typeface="Cambria" panose="02040503050406030204" pitchFamily="18" charset="0"/>
              </a:rPr>
              <a:t>—4</a:t>
            </a:r>
            <a:r>
              <a:rPr lang="zh-CN" altLang="zh-CN" sz="2200" dirty="0">
                <a:latin typeface="Cambria" panose="02040503050406030204" pitchFamily="18" charset="0"/>
                <a:ea typeface="华文细黑" panose="02010600040101010101" pitchFamily="2" charset="-122"/>
              </a:rPr>
              <a:t>项空气污染指标的核密度比较曲线</a:t>
            </a:r>
            <a:endParaRPr lang="en-US" altLang="zh-CN" sz="2200"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F927B88D-77D4-5BB6-8722-D1E9D803688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pic>
        <p:nvPicPr>
          <p:cNvPr id="2" name="图片 1">
            <a:extLst>
              <a:ext uri="{FF2B5EF4-FFF2-40B4-BE49-F238E27FC236}">
                <a16:creationId xmlns:a16="http://schemas.microsoft.com/office/drawing/2014/main" id="{D8F75136-6641-265F-40D6-2113F847AB30}"/>
              </a:ext>
            </a:extLst>
          </p:cNvPr>
          <p:cNvPicPr>
            <a:picLocks noChangeAspect="1"/>
          </p:cNvPicPr>
          <p:nvPr/>
        </p:nvPicPr>
        <p:blipFill>
          <a:blip r:embed="rId2"/>
          <a:stretch>
            <a:fillRect/>
          </a:stretch>
        </p:blipFill>
        <p:spPr>
          <a:xfrm>
            <a:off x="2493726" y="2489737"/>
            <a:ext cx="9116675" cy="3911256"/>
          </a:xfrm>
          <a:prstGeom prst="rect">
            <a:avLst/>
          </a:prstGeom>
          <a:ln>
            <a:solidFill>
              <a:schemeClr val="bg1">
                <a:lumMod val="75000"/>
              </a:schemeClr>
            </a:solidFill>
          </a:ln>
        </p:spPr>
      </p:pic>
    </p:spTree>
    <p:extLst>
      <p:ext uri="{BB962C8B-B14F-4D97-AF65-F5344CB8AC3E}">
        <p14:creationId xmlns:p14="http://schemas.microsoft.com/office/powerpoint/2010/main" val="2181273478"/>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核密度图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镜像核密度图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711203"/>
            <a:ext cx="1607034" cy="457390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如果只比较两个变量，可以将核密度图绘制成镜像的形式</a:t>
            </a:r>
            <a:endParaRPr lang="en-US" altLang="zh-CN" sz="2200" kern="0" dirty="0">
              <a:latin typeface="Cambria" panose="02040503050406030204" pitchFamily="18" charset="0"/>
              <a:ea typeface="Cambria" panose="020405030504060302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2514600" y="1711203"/>
            <a:ext cx="8933119" cy="6520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 </a:t>
            </a:r>
            <a:r>
              <a:rPr lang="en-US" altLang="zh-CN" sz="2200"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r>
              <a:rPr lang="en-US" altLang="zh-CN" sz="2200" dirty="0">
                <a:latin typeface="Cambria" panose="02040503050406030204" pitchFamily="18" charset="0"/>
                <a:ea typeface="Cambria" panose="02040503050406030204" pitchFamily="18" charset="0"/>
              </a:rPr>
              <a:t>—</a:t>
            </a:r>
            <a:r>
              <a:rPr lang="zh-CN" altLang="zh-CN" sz="2200" dirty="0">
                <a:latin typeface="Cambria" panose="02040503050406030204" pitchFamily="18" charset="0"/>
                <a:ea typeface="华文细黑" panose="02010600040101010101" pitchFamily="2" charset="-122"/>
              </a:rPr>
              <a:t>按质量等级分组的</a:t>
            </a:r>
            <a:r>
              <a:rPr lang="en-US" altLang="zh-CN" sz="2200" dirty="0">
                <a:latin typeface="Cambria" panose="02040503050406030204" pitchFamily="18" charset="0"/>
                <a:ea typeface="Cambria" panose="02040503050406030204" pitchFamily="18" charset="0"/>
              </a:rPr>
              <a:t>AQI</a:t>
            </a:r>
            <a:r>
              <a:rPr lang="zh-CN" altLang="zh-CN" sz="2200" dirty="0">
                <a:latin typeface="Cambria" panose="02040503050406030204" pitchFamily="18" charset="0"/>
                <a:ea typeface="华文细黑" panose="02010600040101010101" pitchFamily="2" charset="-122"/>
              </a:rPr>
              <a:t>和</a:t>
            </a:r>
            <a:r>
              <a:rPr lang="en-US" altLang="zh-CN" sz="2200" dirty="0">
                <a:latin typeface="Cambria" panose="02040503050406030204" pitchFamily="18" charset="0"/>
                <a:ea typeface="Cambria" panose="02040503050406030204" pitchFamily="18" charset="0"/>
              </a:rPr>
              <a:t>PM2.5</a:t>
            </a:r>
            <a:r>
              <a:rPr lang="zh-CN" altLang="zh-CN" sz="2200" dirty="0">
                <a:latin typeface="Cambria" panose="02040503050406030204" pitchFamily="18" charset="0"/>
                <a:ea typeface="华文细黑" panose="02010600040101010101" pitchFamily="2" charset="-122"/>
              </a:rPr>
              <a:t>的</a:t>
            </a:r>
            <a:r>
              <a:rPr lang="zh-CN" altLang="en-US" sz="2200" dirty="0">
                <a:latin typeface="Cambria" panose="02040503050406030204" pitchFamily="18" charset="0"/>
                <a:ea typeface="华文细黑" panose="02010600040101010101" pitchFamily="2" charset="-122"/>
              </a:rPr>
              <a:t>镜像核密度图</a:t>
            </a:r>
            <a:endParaRPr lang="en-US" altLang="zh-CN" sz="2200" dirty="0">
              <a:latin typeface="Cambria" panose="02040503050406030204" pitchFamily="18" charset="0"/>
              <a:ea typeface="Cambria" panose="02040503050406030204" pitchFamily="18" charset="0"/>
            </a:endParaRPr>
          </a:p>
        </p:txBody>
      </p:sp>
      <p:pic>
        <p:nvPicPr>
          <p:cNvPr id="4" name="图片 3">
            <a:extLst>
              <a:ext uri="{FF2B5EF4-FFF2-40B4-BE49-F238E27FC236}">
                <a16:creationId xmlns:a16="http://schemas.microsoft.com/office/drawing/2014/main" id="{50B3F3C7-B006-DCE7-5736-2F35BF0B5E1D}"/>
              </a:ext>
            </a:extLst>
          </p:cNvPr>
          <p:cNvPicPr>
            <a:picLocks noChangeAspect="1"/>
          </p:cNvPicPr>
          <p:nvPr/>
        </p:nvPicPr>
        <p:blipFill>
          <a:blip r:embed="rId2"/>
          <a:stretch>
            <a:fillRect/>
          </a:stretch>
        </p:blipFill>
        <p:spPr>
          <a:xfrm>
            <a:off x="2514600" y="2665550"/>
            <a:ext cx="8933119" cy="3619559"/>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F5239B3D-90A5-1E33-0F8C-0D8EE921F98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3692483027"/>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核密度图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分组核密度图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711203"/>
            <a:ext cx="2227520" cy="457390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当数值变量的观测数是在一个或多个因子的不同水平下获得的，可以将数值变量按因子的水平分类绘制分组核密度图</a:t>
            </a:r>
            <a:endParaRPr lang="en-US" altLang="zh-CN" sz="2200" dirty="0">
              <a:latin typeface="Cambria" panose="02040503050406030204" pitchFamily="18" charset="0"/>
              <a:ea typeface="Cambria" panose="020405030504060302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3113315" y="1711203"/>
            <a:ext cx="8334404" cy="6520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 </a:t>
            </a:r>
            <a:r>
              <a:rPr lang="en-US" altLang="zh-CN" sz="2200"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r>
              <a:rPr lang="en-US" altLang="zh-CN" sz="2200" dirty="0">
                <a:latin typeface="Cambria" panose="02040503050406030204" pitchFamily="18" charset="0"/>
                <a:ea typeface="Cambria" panose="02040503050406030204" pitchFamily="18" charset="0"/>
              </a:rPr>
              <a:t>—</a:t>
            </a:r>
            <a:r>
              <a:rPr lang="zh-CN" altLang="zh-CN" sz="2200" dirty="0">
                <a:latin typeface="Cambria" panose="02040503050406030204" pitchFamily="18" charset="0"/>
                <a:ea typeface="华文细黑" panose="02010600040101010101" pitchFamily="2" charset="-122"/>
              </a:rPr>
              <a:t>按质量等级分组的</a:t>
            </a:r>
            <a:r>
              <a:rPr lang="en-US" altLang="zh-CN" sz="2200" dirty="0">
                <a:latin typeface="Cambria" panose="02040503050406030204" pitchFamily="18" charset="0"/>
                <a:ea typeface="Cambria" panose="02040503050406030204" pitchFamily="18" charset="0"/>
              </a:rPr>
              <a:t>AQI</a:t>
            </a:r>
            <a:r>
              <a:rPr lang="zh-CN" altLang="zh-CN" sz="2200" dirty="0">
                <a:latin typeface="Cambria" panose="02040503050406030204" pitchFamily="18" charset="0"/>
                <a:ea typeface="华文细黑" panose="02010600040101010101" pitchFamily="2" charset="-122"/>
              </a:rPr>
              <a:t>和</a:t>
            </a:r>
            <a:r>
              <a:rPr lang="en-US" altLang="zh-CN" sz="2200" dirty="0">
                <a:latin typeface="Cambria" panose="02040503050406030204" pitchFamily="18" charset="0"/>
                <a:ea typeface="Cambria" panose="02040503050406030204" pitchFamily="18" charset="0"/>
              </a:rPr>
              <a:t>PM2.5</a:t>
            </a:r>
            <a:r>
              <a:rPr lang="zh-CN" altLang="zh-CN" sz="2200" dirty="0">
                <a:latin typeface="Cambria" panose="02040503050406030204" pitchFamily="18" charset="0"/>
                <a:ea typeface="华文细黑" panose="02010600040101010101" pitchFamily="2" charset="-122"/>
              </a:rPr>
              <a:t>的核密度曲线</a:t>
            </a:r>
            <a:endParaRPr lang="en-US" altLang="zh-CN" sz="2200" dirty="0">
              <a:latin typeface="Cambria" panose="02040503050406030204" pitchFamily="18" charset="0"/>
              <a:ea typeface="Cambria" panose="02040503050406030204" pitchFamily="18" charset="0"/>
            </a:endParaRPr>
          </a:p>
        </p:txBody>
      </p:sp>
      <p:pic>
        <p:nvPicPr>
          <p:cNvPr id="4" name="图片 3">
            <a:extLst>
              <a:ext uri="{FF2B5EF4-FFF2-40B4-BE49-F238E27FC236}">
                <a16:creationId xmlns:a16="http://schemas.microsoft.com/office/drawing/2014/main" id="{39E56783-8749-0509-AECC-5E0B3E002B8A}"/>
              </a:ext>
            </a:extLst>
          </p:cNvPr>
          <p:cNvPicPr>
            <a:picLocks noChangeAspect="1"/>
          </p:cNvPicPr>
          <p:nvPr/>
        </p:nvPicPr>
        <p:blipFill>
          <a:blip r:embed="rId2"/>
          <a:stretch>
            <a:fillRect/>
          </a:stretch>
        </p:blipFill>
        <p:spPr>
          <a:xfrm>
            <a:off x="3113314" y="2536645"/>
            <a:ext cx="8334403" cy="3748464"/>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D4277A9F-621C-9083-8297-F4791DD73ED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925394165"/>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核密度图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分组核密度图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1" y="1700317"/>
            <a:ext cx="1621972" cy="457390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如果有多个变量，可以在按因子分组的同时按变量分面</a:t>
            </a:r>
            <a:endParaRPr lang="en-US" altLang="zh-CN" sz="2200" dirty="0">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2489200" y="1700317"/>
            <a:ext cx="1621971" cy="457390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200" dirty="0">
                <a:effectLst>
                  <a:outerShdw blurRad="38100" dist="38100" dir="2700000" algn="tl">
                    <a:srgbClr val="000000">
                      <a:alpha val="43137"/>
                    </a:srgbClr>
                  </a:outerShdw>
                </a:effectLst>
                <a:highlight>
                  <a:srgbClr val="008080"/>
                </a:highlight>
                <a:ea typeface="华文细黑" panose="02010600040101010101" pitchFamily="2" charset="-122"/>
              </a:rPr>
              <a:t> </a:t>
            </a:r>
            <a:r>
              <a:rPr lang="en-US" altLang="zh-CN" sz="2200" dirty="0">
                <a:ea typeface="华文细黑" panose="02010600040101010101" pitchFamily="2" charset="-122"/>
              </a:rPr>
              <a:t>—</a:t>
            </a:r>
            <a:r>
              <a:rPr lang="zh-CN" altLang="zh-CN" sz="2200" dirty="0">
                <a:ea typeface="华文细黑" panose="02010600040101010101" pitchFamily="2" charset="-122"/>
              </a:rPr>
              <a:t>按质量等级分组、按指标分面的核密度图</a:t>
            </a:r>
            <a:endParaRPr lang="en-US" altLang="zh-CN" sz="2200" dirty="0">
              <a:ea typeface="华文细黑" panose="02010600040101010101" pitchFamily="2" charset="-122"/>
            </a:endParaRPr>
          </a:p>
        </p:txBody>
      </p:sp>
      <p:pic>
        <p:nvPicPr>
          <p:cNvPr id="3" name="图片 2">
            <a:extLst>
              <a:ext uri="{FF2B5EF4-FFF2-40B4-BE49-F238E27FC236}">
                <a16:creationId xmlns:a16="http://schemas.microsoft.com/office/drawing/2014/main" id="{BFFE6154-7E1E-8AAB-2D4A-B5FDEB2E0525}"/>
              </a:ext>
            </a:extLst>
          </p:cNvPr>
          <p:cNvPicPr>
            <a:picLocks noChangeAspect="1"/>
          </p:cNvPicPr>
          <p:nvPr/>
        </p:nvPicPr>
        <p:blipFill>
          <a:blip r:embed="rId2"/>
          <a:stretch>
            <a:fillRect/>
          </a:stretch>
        </p:blipFill>
        <p:spPr>
          <a:xfrm>
            <a:off x="4234118" y="1700317"/>
            <a:ext cx="7475735" cy="4573906"/>
          </a:xfrm>
          <a:prstGeom prst="rect">
            <a:avLst/>
          </a:prstGeom>
          <a:ln w="6350">
            <a:solidFill>
              <a:schemeClr val="bg1">
                <a:lumMod val="75000"/>
              </a:schemeClr>
            </a:solidFill>
          </a:ln>
        </p:spPr>
      </p:pic>
      <p:sp>
        <p:nvSpPr>
          <p:cNvPr id="4" name="Rectangle 2">
            <a:extLst>
              <a:ext uri="{FF2B5EF4-FFF2-40B4-BE49-F238E27FC236}">
                <a16:creationId xmlns:a16="http://schemas.microsoft.com/office/drawing/2014/main" id="{B9D24ECF-4FE9-E14B-5842-30B13D718F0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266369562"/>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核密度图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添加平行坐标的分组核密度图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700317"/>
            <a:ext cx="2227520" cy="464689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在按质量等级绘制分组核密度图的同时，还可以将各指标在同一天的数据连线，绘制平行坐标图，以观察同一天各指标的数值变化</a:t>
            </a:r>
            <a:endParaRPr lang="en-US" altLang="zh-CN" sz="2200" kern="0" dirty="0">
              <a:latin typeface="Cambria" panose="02040503050406030204" pitchFamily="18" charset="0"/>
              <a:ea typeface="Cambria" panose="020405030504060302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3113315" y="1700317"/>
            <a:ext cx="8334404" cy="6520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 </a:t>
            </a:r>
            <a:r>
              <a:rPr lang="en-US" altLang="zh-CN" sz="2200" dirty="0">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a:t>
            </a:r>
            <a:r>
              <a:rPr lang="en-US" altLang="zh-CN" sz="2200" dirty="0">
                <a:latin typeface="Cambria" panose="02040503050406030204" pitchFamily="18" charset="0"/>
                <a:ea typeface="Cambria" panose="02040503050406030204" pitchFamily="18" charset="0"/>
              </a:rPr>
              <a:t>—</a:t>
            </a:r>
            <a:r>
              <a:rPr lang="zh-CN" altLang="zh-CN" sz="2200" dirty="0">
                <a:latin typeface="Cambria" panose="02040503050406030204" pitchFamily="18" charset="0"/>
                <a:ea typeface="华文细黑" panose="02010600040101010101" pitchFamily="2" charset="-122"/>
              </a:rPr>
              <a:t>按质量等级分组</a:t>
            </a:r>
            <a:r>
              <a:rPr lang="en-US" altLang="zh-CN" sz="2200" dirty="0">
                <a:latin typeface="Cambria" panose="02040503050406030204" pitchFamily="18" charset="0"/>
                <a:ea typeface="华文细黑" panose="02010600040101010101" pitchFamily="2" charset="-122"/>
              </a:rPr>
              <a:t>4</a:t>
            </a:r>
            <a:r>
              <a:rPr lang="zh-CN" altLang="en-US" sz="2200" dirty="0">
                <a:latin typeface="Cambria" panose="02040503050406030204" pitchFamily="18" charset="0"/>
                <a:ea typeface="华文细黑" panose="02010600040101010101" pitchFamily="2" charset="-122"/>
              </a:rPr>
              <a:t>项指标</a:t>
            </a:r>
            <a:r>
              <a:rPr lang="zh-CN" altLang="zh-CN" sz="2200" dirty="0">
                <a:latin typeface="Cambria" panose="02040503050406030204" pitchFamily="18" charset="0"/>
                <a:ea typeface="华文细黑" panose="02010600040101010101" pitchFamily="2" charset="-122"/>
              </a:rPr>
              <a:t>的核密度</a:t>
            </a:r>
            <a:r>
              <a:rPr lang="zh-CN" altLang="en-US" sz="2200" dirty="0">
                <a:latin typeface="Cambria" panose="02040503050406030204" pitchFamily="18" charset="0"/>
                <a:ea typeface="华文细黑" panose="02010600040101010101" pitchFamily="2" charset="-122"/>
              </a:rPr>
              <a:t>图与平行坐标图</a:t>
            </a:r>
            <a:endParaRPr lang="en-US" altLang="zh-CN" sz="2200"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82555268-871C-5214-0DFB-5C0EB45CA11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pic>
        <p:nvPicPr>
          <p:cNvPr id="2" name="图片 1">
            <a:extLst>
              <a:ext uri="{FF2B5EF4-FFF2-40B4-BE49-F238E27FC236}">
                <a16:creationId xmlns:a16="http://schemas.microsoft.com/office/drawing/2014/main" id="{50E435DD-3814-EF78-72A3-263BEE0679EF}"/>
              </a:ext>
            </a:extLst>
          </p:cNvPr>
          <p:cNvPicPr>
            <a:picLocks noChangeAspect="1"/>
          </p:cNvPicPr>
          <p:nvPr/>
        </p:nvPicPr>
        <p:blipFill>
          <a:blip r:embed="rId2"/>
          <a:stretch>
            <a:fillRect/>
          </a:stretch>
        </p:blipFill>
        <p:spPr>
          <a:xfrm>
            <a:off x="3113315" y="2489736"/>
            <a:ext cx="8334404" cy="3857479"/>
          </a:xfrm>
          <a:prstGeom prst="rect">
            <a:avLst/>
          </a:prstGeom>
          <a:ln>
            <a:solidFill>
              <a:schemeClr val="bg1">
                <a:lumMod val="75000"/>
              </a:schemeClr>
            </a:solidFill>
          </a:ln>
        </p:spPr>
      </p:pic>
    </p:spTree>
    <p:extLst>
      <p:ext uri="{BB962C8B-B14F-4D97-AF65-F5344CB8AC3E}">
        <p14:creationId xmlns:p14="http://schemas.microsoft.com/office/powerpoint/2010/main" val="177789139"/>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核密度脊线图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656772"/>
            <a:ext cx="10794578" cy="4678713"/>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en-US" sz="2600" b="1" dirty="0">
                <a:highlight>
                  <a:srgbClr val="FFFF99"/>
                </a:highlight>
                <a:latin typeface="Cambria" panose="02040503050406030204" pitchFamily="18" charset="0"/>
                <a:ea typeface="华文细黑" panose="02010600040101010101" pitchFamily="2" charset="-122"/>
              </a:rPr>
              <a:t>脊线图</a:t>
            </a:r>
            <a:r>
              <a:rPr lang="zh-CN" altLang="zh-CN" sz="2600" b="1" dirty="0">
                <a:latin typeface="Cambria" panose="02040503050406030204" pitchFamily="18" charset="0"/>
                <a:ea typeface="华文细黑" panose="02010600040101010101" pitchFamily="2" charset="-122"/>
              </a:rPr>
              <a:t>（</a:t>
            </a:r>
            <a:r>
              <a:rPr lang="en-US" altLang="zh-CN" sz="2600" b="1" dirty="0">
                <a:latin typeface="Cambria" panose="02040503050406030204" pitchFamily="18" charset="0"/>
                <a:ea typeface="Cambria" panose="02040503050406030204" pitchFamily="18" charset="0"/>
              </a:rPr>
              <a:t>ridgeline diagram</a:t>
            </a:r>
            <a:r>
              <a:rPr lang="zh-CN" altLang="zh-CN" sz="2600" b="1" dirty="0">
                <a:latin typeface="Cambria" panose="02040503050406030204" pitchFamily="18" charset="0"/>
                <a:ea typeface="华文细黑" panose="02010600040101010101" pitchFamily="2" charset="-122"/>
              </a:rPr>
              <a:t>）</a:t>
            </a:r>
            <a:r>
              <a:rPr lang="zh-CN" altLang="zh-CN" sz="2600" dirty="0">
                <a:latin typeface="Cambria" panose="02040503050406030204" pitchFamily="18" charset="0"/>
                <a:ea typeface="华文细黑" panose="02010600040101010101" pitchFamily="2" charset="-122"/>
              </a:rPr>
              <a:t>也称</a:t>
            </a:r>
            <a:r>
              <a:rPr lang="zh-CN" altLang="en-US" sz="2600" dirty="0">
                <a:latin typeface="Cambria" panose="02040503050406030204" pitchFamily="18" charset="0"/>
                <a:ea typeface="华文细黑" panose="02010600040101010101" pitchFamily="2" charset="-122"/>
              </a:rPr>
              <a:t>山峦图</a:t>
            </a:r>
            <a:r>
              <a:rPr lang="zh-CN" altLang="zh-CN" sz="2600" dirty="0">
                <a:latin typeface="Cambria" panose="02040503050406030204" pitchFamily="18" charset="0"/>
                <a:ea typeface="华文细黑" panose="02010600040101010101" pitchFamily="2" charset="-122"/>
              </a:rPr>
              <a:t>，它是核密度估计图的一种表现形式，可用于多数据系列或按因子分类的核密度估计的可视化</a:t>
            </a:r>
            <a:endParaRPr lang="en-US" altLang="zh-CN" sz="2600" dirty="0">
              <a:latin typeface="Cambria" panose="02040503050406030204" pitchFamily="18" charset="0"/>
              <a:ea typeface="Cambria" panose="020405030504060302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en-US" sz="2600" dirty="0">
                <a:latin typeface="Cambria" panose="02040503050406030204" pitchFamily="18" charset="0"/>
                <a:ea typeface="华文细黑" panose="02010600040101010101" pitchFamily="2" charset="-122"/>
              </a:rPr>
              <a:t>脊线图</a:t>
            </a:r>
            <a:r>
              <a:rPr lang="zh-CN" altLang="zh-CN" sz="2600" dirty="0">
                <a:latin typeface="Cambria" panose="02040503050406030204" pitchFamily="18" charset="0"/>
                <a:ea typeface="华文细黑" panose="02010600040101010101" pitchFamily="2" charset="-122"/>
              </a:rPr>
              <a:t>绘制的数据通常是相同的</a:t>
            </a:r>
            <a:r>
              <a:rPr lang="en-US" altLang="zh-CN" sz="2600" dirty="0">
                <a:latin typeface="Cambria" panose="02040503050406030204" pitchFamily="18" charset="0"/>
                <a:ea typeface="Cambria" panose="02040503050406030204" pitchFamily="18" charset="0"/>
              </a:rPr>
              <a:t>x</a:t>
            </a:r>
            <a:r>
              <a:rPr lang="zh-CN" altLang="zh-CN" sz="2600" dirty="0">
                <a:latin typeface="Cambria" panose="02040503050406030204" pitchFamily="18" charset="0"/>
                <a:ea typeface="华文细黑" panose="02010600040101010101" pitchFamily="2" charset="-122"/>
              </a:rPr>
              <a:t>轴（如同一个变量）和不同的</a:t>
            </a:r>
            <a:r>
              <a:rPr lang="en-US" altLang="zh-CN" sz="2600" dirty="0">
                <a:latin typeface="Cambria" panose="02040503050406030204" pitchFamily="18" charset="0"/>
                <a:ea typeface="Cambria" panose="02040503050406030204" pitchFamily="18" charset="0"/>
              </a:rPr>
              <a:t>y</a:t>
            </a:r>
            <a:r>
              <a:rPr lang="zh-CN" altLang="zh-CN" sz="2600" dirty="0">
                <a:latin typeface="Cambria" panose="02040503050406030204" pitchFamily="18" charset="0"/>
                <a:ea typeface="华文细黑" panose="02010600040101010101" pitchFamily="2" charset="-122"/>
              </a:rPr>
              <a:t>轴（如不同的分类），它将多个分类下的同一个数据系列的核密度估计图以交错堆叠的方式绘制在一幅图中，看起来像山峦起伏，从而有利于比较不同数据系列的分布特征</a:t>
            </a:r>
            <a:endParaRPr lang="en-US" altLang="zh-CN" sz="2600" dirty="0">
              <a:latin typeface="Cambria" panose="02040503050406030204" pitchFamily="18" charset="0"/>
              <a:ea typeface="Cambria" panose="02040503050406030204" pitchFamily="18" charset="0"/>
            </a:endParaRPr>
          </a:p>
        </p:txBody>
      </p:sp>
      <p:sp>
        <p:nvSpPr>
          <p:cNvPr id="3" name="Rectangle 2">
            <a:extLst>
              <a:ext uri="{FF2B5EF4-FFF2-40B4-BE49-F238E27FC236}">
                <a16:creationId xmlns:a16="http://schemas.microsoft.com/office/drawing/2014/main" id="{2C4A7CCC-AB68-79BA-6457-3ED13EBCCA56}"/>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820709464"/>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核密度脊线图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656772"/>
            <a:ext cx="1487291" cy="4678713"/>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当数据集中各变量的数值差异较大时，为便于比较，可以先对数据做标准化处理，然后再绘图</a:t>
            </a:r>
            <a:endParaRPr lang="en-US" altLang="zh-CN" sz="2000" dirty="0">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2354217" y="1656772"/>
            <a:ext cx="1255485" cy="4678713"/>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000" dirty="0">
                <a:ea typeface="华文细黑" panose="02010600040101010101" pitchFamily="2" charset="-122"/>
              </a:rPr>
              <a:t>—</a:t>
            </a:r>
            <a:r>
              <a:rPr lang="zh-CN" altLang="zh-CN" sz="2000" dirty="0">
                <a:ea typeface="华文细黑" panose="02010600040101010101" pitchFamily="2" charset="-122"/>
              </a:rPr>
              <a:t>原始数据和标准化后数据的</a:t>
            </a:r>
            <a:r>
              <a:rPr lang="zh-CN" altLang="en-US" sz="2000" dirty="0">
                <a:ea typeface="华文细黑" panose="02010600040101010101" pitchFamily="2" charset="-122"/>
              </a:rPr>
              <a:t>脊线图</a:t>
            </a:r>
            <a:endParaRPr lang="en-US" altLang="zh-CN" sz="2000" dirty="0">
              <a:ea typeface="华文细黑" panose="02010600040101010101" pitchFamily="2" charset="-122"/>
            </a:endParaRPr>
          </a:p>
        </p:txBody>
      </p:sp>
      <p:pic>
        <p:nvPicPr>
          <p:cNvPr id="4" name="图片 3">
            <a:extLst>
              <a:ext uri="{FF2B5EF4-FFF2-40B4-BE49-F238E27FC236}">
                <a16:creationId xmlns:a16="http://schemas.microsoft.com/office/drawing/2014/main" id="{C2A68AE5-11AB-F3D7-7690-86C7FF20274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2348" y="1656772"/>
            <a:ext cx="7715373" cy="4678713"/>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9B21D2CA-1DB2-DFEE-7340-3581FA11D70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38246697"/>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核密度脊线图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700316"/>
            <a:ext cx="1224177" cy="4646053"/>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如果数据是按因子分类的，可以按因子分组绘制</a:t>
            </a:r>
            <a:r>
              <a:rPr lang="zh-CN" altLang="en-US" sz="2000" kern="0" dirty="0">
                <a:effectLst/>
                <a:latin typeface="Cambria" panose="02040503050406030204" pitchFamily="18" charset="0"/>
                <a:ea typeface="华文细黑" panose="02010600040101010101" pitchFamily="2" charset="-122"/>
                <a:cs typeface="Times New Roman" panose="02020603050405020304" pitchFamily="18" charset="0"/>
              </a:rPr>
              <a:t>脊线图</a:t>
            </a:r>
            <a:endParaRPr lang="en-US" altLang="zh-CN" sz="2000" dirty="0">
              <a:latin typeface="Cambria" panose="02040503050406030204" pitchFamily="18" charset="0"/>
              <a:ea typeface="Cambria" panose="020405030504060302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2129974" y="1700316"/>
            <a:ext cx="1342570" cy="4646053"/>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en-US" altLang="zh-CN" sz="2000" dirty="0">
                <a:latin typeface="Cambria" panose="02040503050406030204" pitchFamily="18" charset="0"/>
                <a:ea typeface="Cambria" panose="02040503050406030204" pitchFamily="18" charset="0"/>
              </a:rPr>
              <a:t>—</a:t>
            </a:r>
            <a:r>
              <a:rPr lang="zh-CN" altLang="zh-CN" sz="2000" dirty="0">
                <a:latin typeface="Cambria" panose="02040503050406030204" pitchFamily="18" charset="0"/>
                <a:ea typeface="华文细黑" panose="02010600040101010101" pitchFamily="2" charset="-122"/>
              </a:rPr>
              <a:t>按空气质量等级分组的</a:t>
            </a:r>
            <a:r>
              <a:rPr lang="en-US" altLang="zh-CN" sz="2000" dirty="0">
                <a:latin typeface="Cambria" panose="02040503050406030204" pitchFamily="18" charset="0"/>
                <a:ea typeface="Cambria" panose="02040503050406030204" pitchFamily="18" charset="0"/>
              </a:rPr>
              <a:t>AQI</a:t>
            </a:r>
            <a:r>
              <a:rPr lang="zh-CN" altLang="zh-CN" sz="2000" dirty="0">
                <a:latin typeface="Cambria" panose="02040503050406030204" pitchFamily="18" charset="0"/>
                <a:ea typeface="华文细黑" panose="02010600040101010101" pitchFamily="2" charset="-122"/>
              </a:rPr>
              <a:t>和</a:t>
            </a:r>
            <a:r>
              <a:rPr lang="en-US" altLang="zh-CN" sz="2000" dirty="0">
                <a:latin typeface="Cambria" panose="02040503050406030204" pitchFamily="18" charset="0"/>
                <a:ea typeface="Cambria" panose="02040503050406030204" pitchFamily="18" charset="0"/>
              </a:rPr>
              <a:t>PM10</a:t>
            </a:r>
            <a:r>
              <a:rPr lang="zh-CN" altLang="zh-CN" sz="2000" dirty="0">
                <a:latin typeface="Cambria" panose="02040503050406030204" pitchFamily="18" charset="0"/>
                <a:ea typeface="华文细黑" panose="02010600040101010101" pitchFamily="2" charset="-122"/>
              </a:rPr>
              <a:t>的</a:t>
            </a:r>
            <a:r>
              <a:rPr lang="zh-CN" altLang="en-US" sz="2000" dirty="0">
                <a:latin typeface="Cambria" panose="02040503050406030204" pitchFamily="18" charset="0"/>
                <a:ea typeface="华文细黑" panose="02010600040101010101" pitchFamily="2" charset="-122"/>
              </a:rPr>
              <a:t>脊线图</a:t>
            </a:r>
            <a:endParaRPr lang="en-US" altLang="zh-CN" sz="2000" dirty="0">
              <a:latin typeface="Cambria" panose="02040503050406030204" pitchFamily="18" charset="0"/>
              <a:ea typeface="Cambria" panose="02040503050406030204" pitchFamily="18" charset="0"/>
            </a:endParaRPr>
          </a:p>
        </p:txBody>
      </p:sp>
      <p:pic>
        <p:nvPicPr>
          <p:cNvPr id="4" name="图片 3">
            <a:extLst>
              <a:ext uri="{FF2B5EF4-FFF2-40B4-BE49-F238E27FC236}">
                <a16:creationId xmlns:a16="http://schemas.microsoft.com/office/drawing/2014/main" id="{32354503-E9A2-549A-80A7-C433FDE3619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34062" y="1700317"/>
            <a:ext cx="7813658" cy="4646053"/>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3BF41204-3128-BD64-E71D-9B05E7E7FB8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80931389"/>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核密度脊线图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743861"/>
            <a:ext cx="1856680" cy="457390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en-US" sz="2200" kern="0" dirty="0">
                <a:latin typeface="Cambria" panose="02040503050406030204" pitchFamily="18" charset="0"/>
                <a:ea typeface="华文细黑" panose="02010600040101010101" pitchFamily="2" charset="-122"/>
                <a:cs typeface="Times New Roman" panose="02020603050405020304" pitchFamily="18" charset="0"/>
              </a:rPr>
              <a:t>如果数据</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是按一年的每一天采集的，也可以将月份作为因子，绘制按月份分组的</a:t>
            </a:r>
            <a:r>
              <a:rPr lang="zh-CN" altLang="en-US" sz="2200" kern="0" dirty="0">
                <a:effectLst/>
                <a:latin typeface="Cambria" panose="02040503050406030204" pitchFamily="18" charset="0"/>
                <a:ea typeface="华文细黑" panose="02010600040101010101" pitchFamily="2" charset="-122"/>
                <a:cs typeface="Times New Roman" panose="02020603050405020304" pitchFamily="18" charset="0"/>
              </a:rPr>
              <a:t>脊线图</a:t>
            </a:r>
            <a:endParaRPr lang="en-US" altLang="zh-CN" sz="2200" dirty="0">
              <a:latin typeface="Cambria" panose="02040503050406030204" pitchFamily="18" charset="0"/>
              <a:ea typeface="Cambria" panose="020405030504060302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2692401" y="1743861"/>
            <a:ext cx="1554479" cy="457390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en-US" altLang="zh-CN" sz="2000" dirty="0">
                <a:latin typeface="Cambria" panose="02040503050406030204" pitchFamily="18" charset="0"/>
                <a:ea typeface="Cambria" panose="02040503050406030204" pitchFamily="18" charset="0"/>
              </a:rPr>
              <a:t>—</a:t>
            </a:r>
            <a:r>
              <a:rPr lang="zh-CN" altLang="zh-CN" sz="2000" dirty="0">
                <a:latin typeface="Cambria" panose="02040503050406030204" pitchFamily="18" charset="0"/>
                <a:ea typeface="华文细黑" panose="02010600040101010101" pitchFamily="2" charset="-122"/>
              </a:rPr>
              <a:t>各月份</a:t>
            </a:r>
            <a:r>
              <a:rPr lang="en-US" altLang="zh-CN" sz="2000" dirty="0">
                <a:latin typeface="Cambria" panose="02040503050406030204" pitchFamily="18" charset="0"/>
                <a:ea typeface="华文细黑" panose="02010600040101010101" pitchFamily="2" charset="-122"/>
              </a:rPr>
              <a:t>AQI</a:t>
            </a:r>
            <a:r>
              <a:rPr lang="zh-CN" altLang="zh-CN" sz="2000" dirty="0">
                <a:latin typeface="Cambria" panose="02040503050406030204" pitchFamily="18" charset="0"/>
                <a:ea typeface="华文细黑" panose="02010600040101010101" pitchFamily="2" charset="-122"/>
              </a:rPr>
              <a:t>、</a:t>
            </a:r>
            <a:r>
              <a:rPr lang="en-US" altLang="zh-CN" sz="2000" dirty="0">
                <a:latin typeface="Cambria" panose="02040503050406030204" pitchFamily="18" charset="0"/>
                <a:ea typeface="华文细黑" panose="02010600040101010101" pitchFamily="2" charset="-122"/>
              </a:rPr>
              <a:t>PM2.5</a:t>
            </a:r>
            <a:r>
              <a:rPr lang="zh-CN" altLang="zh-CN" sz="2000" dirty="0">
                <a:latin typeface="Cambria" panose="02040503050406030204" pitchFamily="18" charset="0"/>
                <a:ea typeface="华文细黑" panose="02010600040101010101" pitchFamily="2" charset="-122"/>
              </a:rPr>
              <a:t>和</a:t>
            </a:r>
            <a:r>
              <a:rPr lang="en-US" altLang="zh-CN" sz="2000" dirty="0">
                <a:latin typeface="Cambria" panose="02040503050406030204" pitchFamily="18" charset="0"/>
                <a:ea typeface="华文细黑" panose="02010600040101010101" pitchFamily="2" charset="-122"/>
              </a:rPr>
              <a:t>PM10</a:t>
            </a:r>
            <a:r>
              <a:rPr lang="zh-CN" altLang="zh-CN" sz="2000" dirty="0">
                <a:latin typeface="Cambria" panose="02040503050406030204" pitchFamily="18" charset="0"/>
                <a:ea typeface="华文细黑" panose="02010600040101010101" pitchFamily="2" charset="-122"/>
              </a:rPr>
              <a:t>的脊线图</a:t>
            </a:r>
            <a:endParaRPr lang="en-US" altLang="zh-CN" sz="2000" dirty="0">
              <a:latin typeface="Cambria" panose="02040503050406030204" pitchFamily="18" charset="0"/>
              <a:ea typeface="华文细黑" panose="02010600040101010101" pitchFamily="2" charset="-122"/>
            </a:endParaRPr>
          </a:p>
        </p:txBody>
      </p:sp>
      <p:pic>
        <p:nvPicPr>
          <p:cNvPr id="4" name="图片 3">
            <a:extLst>
              <a:ext uri="{FF2B5EF4-FFF2-40B4-BE49-F238E27FC236}">
                <a16:creationId xmlns:a16="http://schemas.microsoft.com/office/drawing/2014/main" id="{ED0E3C08-B764-570A-09F5-396682BA58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38321" y="1743860"/>
            <a:ext cx="7320279" cy="4573905"/>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6508CF53-B281-5943-E294-70AEE22F6B2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2047584010"/>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箱线图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箱线图绘制原理和解读</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656773"/>
            <a:ext cx="10707491" cy="133762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b="1" dirty="0">
                <a:highlight>
                  <a:srgbClr val="FFFF99"/>
                </a:highlight>
                <a:latin typeface="Cambria" panose="02040503050406030204" pitchFamily="18" charset="0"/>
                <a:ea typeface="华文细黑" panose="02010600040101010101" pitchFamily="2" charset="-122"/>
              </a:rPr>
              <a:t>箱线图</a:t>
            </a:r>
            <a:r>
              <a:rPr lang="zh-CN" altLang="zh-CN" sz="1600" dirty="0">
                <a:latin typeface="Cambria" panose="02040503050406030204" pitchFamily="18" charset="0"/>
                <a:ea typeface="华文细黑" panose="02010600040101010101" pitchFamily="2" charset="-122"/>
              </a:rPr>
              <a:t>（</a:t>
            </a:r>
            <a:r>
              <a:rPr lang="en-US" altLang="zh-CN" sz="1600" dirty="0">
                <a:latin typeface="Cambria" panose="02040503050406030204" pitchFamily="18" charset="0"/>
                <a:ea typeface="Cambria" panose="02040503050406030204" pitchFamily="18" charset="0"/>
              </a:rPr>
              <a:t>box plot</a:t>
            </a:r>
            <a:r>
              <a:rPr lang="zh-CN" altLang="zh-CN" sz="1600" dirty="0">
                <a:latin typeface="Cambria" panose="02040503050406030204" pitchFamily="18" charset="0"/>
                <a:ea typeface="华文细黑" panose="02010600040101010101" pitchFamily="2" charset="-122"/>
              </a:rPr>
              <a:t>）不仅可以反映一组数据分布的特征，还可以在比较多组数据分布特征的同时，比较各组数据的水平（在箱线图中，用中位数表示数据的水平，统计中常用的描述数据水平的统计量还有平均数等）</a:t>
            </a:r>
            <a:endParaRPr lang="en-US" altLang="zh-CN" sz="1600" dirty="0">
              <a:latin typeface="Cambria" panose="02040503050406030204" pitchFamily="18" charset="0"/>
              <a:ea typeface="Cambria" panose="020405030504060302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latin typeface="Cambria" panose="02040503050406030204" pitchFamily="18" charset="0"/>
                <a:ea typeface="华文细黑" panose="02010600040101010101" pitchFamily="2" charset="-122"/>
              </a:rPr>
              <a:t>绘制箱线图的步骤</a:t>
            </a:r>
            <a:r>
              <a:rPr lang="zh-CN" altLang="en-US" sz="1600" dirty="0">
                <a:latin typeface="Cambria" panose="02040503050406030204" pitchFamily="18" charset="0"/>
                <a:ea typeface="华文细黑" panose="02010600040101010101" pitchFamily="2" charset="-122"/>
              </a:rPr>
              <a:t>：用</a:t>
            </a:r>
            <a:r>
              <a:rPr lang="zh-CN" altLang="zh-CN" sz="1600" dirty="0">
                <a:latin typeface="Cambria" panose="02040503050406030204" pitchFamily="18" charset="0"/>
                <a:ea typeface="华文细黑" panose="02010600040101010101" pitchFamily="2" charset="-122"/>
              </a:rPr>
              <a:t>中位数（</a:t>
            </a:r>
            <a:r>
              <a:rPr lang="en-US" altLang="zh-CN" sz="1600" dirty="0">
                <a:latin typeface="Cambria" panose="02040503050406030204" pitchFamily="18" charset="0"/>
                <a:ea typeface="Cambria" panose="02040503050406030204" pitchFamily="18" charset="0"/>
              </a:rPr>
              <a:t>median</a:t>
            </a:r>
            <a:r>
              <a:rPr lang="zh-CN" altLang="zh-CN" sz="1600" dirty="0">
                <a:latin typeface="Cambria" panose="02040503050406030204" pitchFamily="18" charset="0"/>
                <a:ea typeface="华文细黑" panose="02010600040101010101" pitchFamily="2" charset="-122"/>
              </a:rPr>
              <a:t>）和两个四分位数（</a:t>
            </a:r>
            <a:r>
              <a:rPr lang="en-US" altLang="zh-CN" sz="1600" dirty="0">
                <a:latin typeface="Cambria" panose="02040503050406030204" pitchFamily="18" charset="0"/>
                <a:ea typeface="Cambria" panose="02040503050406030204" pitchFamily="18" charset="0"/>
              </a:rPr>
              <a:t>quartiles</a:t>
            </a:r>
            <a:r>
              <a:rPr lang="zh-CN" altLang="zh-CN" sz="1600" dirty="0">
                <a:latin typeface="Cambria" panose="02040503050406030204" pitchFamily="18" charset="0"/>
                <a:ea typeface="华文细黑" panose="02010600040101010101" pitchFamily="2" charset="-122"/>
              </a:rPr>
              <a:t>）画出箱子</a:t>
            </a:r>
            <a:r>
              <a:rPr lang="zh-CN" altLang="en-US" sz="1600" dirty="0">
                <a:latin typeface="Cambria" panose="02040503050406030204" pitchFamily="18" charset="0"/>
                <a:ea typeface="华文细黑" panose="02010600040101010101" pitchFamily="2" charset="-122"/>
              </a:rPr>
              <a:t>；</a:t>
            </a:r>
            <a:r>
              <a:rPr lang="zh-CN" altLang="zh-CN" sz="1600" dirty="0">
                <a:latin typeface="Cambria" panose="02040503050406030204" pitchFamily="18" charset="0"/>
                <a:ea typeface="华文细黑" panose="02010600040101010101" pitchFamily="2" charset="-122"/>
              </a:rPr>
              <a:t>并画出须线</a:t>
            </a:r>
            <a:r>
              <a:rPr lang="zh-CN" altLang="en-US" sz="1600" dirty="0">
                <a:latin typeface="Cambria" panose="02040503050406030204" pitchFamily="18" charset="0"/>
                <a:ea typeface="华文细黑" panose="02010600040101010101" pitchFamily="2" charset="-122"/>
              </a:rPr>
              <a:t>；</a:t>
            </a:r>
            <a:r>
              <a:rPr lang="zh-CN" altLang="zh-CN" sz="1600" dirty="0">
                <a:latin typeface="Cambria" panose="02040503050406030204" pitchFamily="18" charset="0"/>
                <a:ea typeface="华文细黑" panose="02010600040101010101" pitchFamily="2" charset="-122"/>
              </a:rPr>
              <a:t>图中单独标出</a:t>
            </a:r>
            <a:endParaRPr lang="en-US" altLang="zh-CN" sz="1600" dirty="0">
              <a:latin typeface="Cambria" panose="02040503050406030204" pitchFamily="18" charset="0"/>
              <a:ea typeface="Cambria" panose="02040503050406030204" pitchFamily="18" charset="0"/>
            </a:endParaRPr>
          </a:p>
        </p:txBody>
      </p:sp>
      <p:graphicFrame>
        <p:nvGraphicFramePr>
          <p:cNvPr id="7" name="对象 6">
            <a:extLst>
              <a:ext uri="{FF2B5EF4-FFF2-40B4-BE49-F238E27FC236}">
                <a16:creationId xmlns:a16="http://schemas.microsoft.com/office/drawing/2014/main" id="{58ECE194-0B18-7575-FA6C-95105F6BF6E3}"/>
              </a:ext>
            </a:extLst>
          </p:cNvPr>
          <p:cNvGraphicFramePr>
            <a:graphicFrameLocks noChangeAspect="1"/>
          </p:cNvGraphicFramePr>
          <p:nvPr>
            <p:extLst>
              <p:ext uri="{D42A27DB-BD31-4B8C-83A1-F6EECF244321}">
                <p14:modId xmlns:p14="http://schemas.microsoft.com/office/powerpoint/2010/main" val="240482458"/>
              </p:ext>
            </p:extLst>
          </p:nvPr>
        </p:nvGraphicFramePr>
        <p:xfrm>
          <a:off x="664029" y="3088189"/>
          <a:ext cx="10874827" cy="3356154"/>
        </p:xfrm>
        <a:graphic>
          <a:graphicData uri="http://schemas.openxmlformats.org/presentationml/2006/ole">
            <mc:AlternateContent xmlns:mc="http://schemas.openxmlformats.org/markup-compatibility/2006">
              <mc:Choice xmlns:v="urn:schemas-microsoft-com:vml" Requires="v">
                <p:oleObj name="Bitmap Image" r:id="rId2" imgW="6356520" imgH="1898640" progId="PBrush">
                  <p:embed/>
                </p:oleObj>
              </mc:Choice>
              <mc:Fallback>
                <p:oleObj name="Bitmap Image" r:id="rId2" imgW="6356520" imgH="1898640" progId="PBrush">
                  <p:embed/>
                  <p:pic>
                    <p:nvPicPr>
                      <p:cNvPr id="0" name=""/>
                      <p:cNvPicPr/>
                      <p:nvPr/>
                    </p:nvPicPr>
                    <p:blipFill>
                      <a:blip r:embed="rId3"/>
                      <a:stretch>
                        <a:fillRect/>
                      </a:stretch>
                    </p:blipFill>
                    <p:spPr>
                      <a:xfrm>
                        <a:off x="664029" y="3088189"/>
                        <a:ext cx="10874827" cy="3356154"/>
                      </a:xfrm>
                      <a:prstGeom prst="rect">
                        <a:avLst/>
                      </a:prstGeom>
                      <a:ln>
                        <a:noFill/>
                      </a:ln>
                    </p:spPr>
                  </p:pic>
                </p:oleObj>
              </mc:Fallback>
            </mc:AlternateContent>
          </a:graphicData>
        </a:graphic>
      </p:graphicFrame>
      <p:sp>
        <p:nvSpPr>
          <p:cNvPr id="3" name="Rectangle 2">
            <a:extLst>
              <a:ext uri="{FF2B5EF4-FFF2-40B4-BE49-F238E27FC236}">
                <a16:creationId xmlns:a16="http://schemas.microsoft.com/office/drawing/2014/main" id="{5607EF78-C18D-083C-8158-AC0798ED5D85}"/>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25946773"/>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箱线图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箱线图的绘制原理和解读</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1" y="1656773"/>
            <a:ext cx="2554090" cy="471137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600" kern="0" dirty="0">
                <a:effectLst/>
                <a:latin typeface="Cambria" panose="02040503050406030204" pitchFamily="18" charset="0"/>
                <a:ea typeface="华文细黑" panose="02010600040101010101" pitchFamily="2" charset="-122"/>
                <a:cs typeface="Times New Roman" panose="02020603050405020304" pitchFamily="18" charset="0"/>
              </a:rPr>
              <a:t>不同分布</a:t>
            </a:r>
            <a:r>
              <a:rPr lang="zh-CN" altLang="en-US" sz="2600" kern="0" dirty="0">
                <a:effectLst/>
                <a:latin typeface="Cambria" panose="02040503050406030204" pitchFamily="18" charset="0"/>
                <a:ea typeface="华文细黑" panose="02010600040101010101" pitchFamily="2" charset="-122"/>
                <a:cs typeface="Times New Roman" panose="02020603050405020304" pitchFamily="18" charset="0"/>
              </a:rPr>
              <a:t>的直方图</a:t>
            </a:r>
            <a:r>
              <a:rPr lang="zh-CN" altLang="zh-CN" sz="2600" kern="0" dirty="0">
                <a:effectLst/>
                <a:latin typeface="Cambria" panose="02040503050406030204" pitchFamily="18" charset="0"/>
                <a:ea typeface="华文细黑" panose="02010600040101010101" pitchFamily="2" charset="-122"/>
                <a:cs typeface="Times New Roman" panose="02020603050405020304" pitchFamily="18" charset="0"/>
              </a:rPr>
              <a:t>对应的箱线图</a:t>
            </a:r>
            <a:endParaRPr lang="en-US" altLang="zh-CN" sz="2600" dirty="0">
              <a:ea typeface="华文细黑" panose="02010600040101010101" pitchFamily="2" charset="-122"/>
            </a:endParaRPr>
          </a:p>
        </p:txBody>
      </p:sp>
      <p:graphicFrame>
        <p:nvGraphicFramePr>
          <p:cNvPr id="7" name="对象 6">
            <a:extLst>
              <a:ext uri="{FF2B5EF4-FFF2-40B4-BE49-F238E27FC236}">
                <a16:creationId xmlns:a16="http://schemas.microsoft.com/office/drawing/2014/main" id="{5696B47A-D201-18AB-0B54-D1BE79342D71}"/>
              </a:ext>
            </a:extLst>
          </p:cNvPr>
          <p:cNvGraphicFramePr>
            <a:graphicFrameLocks noChangeAspect="1"/>
          </p:cNvGraphicFramePr>
          <p:nvPr>
            <p:extLst>
              <p:ext uri="{D42A27DB-BD31-4B8C-83A1-F6EECF244321}">
                <p14:modId xmlns:p14="http://schemas.microsoft.com/office/powerpoint/2010/main" val="1171438136"/>
              </p:ext>
            </p:extLst>
          </p:nvPr>
        </p:nvGraphicFramePr>
        <p:xfrm>
          <a:off x="3508374" y="1656772"/>
          <a:ext cx="8023225" cy="4711371"/>
        </p:xfrm>
        <a:graphic>
          <a:graphicData uri="http://schemas.openxmlformats.org/presentationml/2006/ole">
            <mc:AlternateContent xmlns:mc="http://schemas.openxmlformats.org/markup-compatibility/2006">
              <mc:Choice xmlns:v="urn:schemas-microsoft-com:vml" Requires="v">
                <p:oleObj name="Bitmap Image" r:id="rId2" imgW="5175360" imgH="2959200" progId="PBrush">
                  <p:embed/>
                </p:oleObj>
              </mc:Choice>
              <mc:Fallback>
                <p:oleObj name="Bitmap Image" r:id="rId2" imgW="5175360" imgH="2959200" progId="PBrush">
                  <p:embed/>
                  <p:pic>
                    <p:nvPicPr>
                      <p:cNvPr id="0" name=""/>
                      <p:cNvPicPr/>
                      <p:nvPr/>
                    </p:nvPicPr>
                    <p:blipFill>
                      <a:blip r:embed="rId3"/>
                      <a:stretch>
                        <a:fillRect/>
                      </a:stretch>
                    </p:blipFill>
                    <p:spPr>
                      <a:xfrm>
                        <a:off x="3508374" y="1656772"/>
                        <a:ext cx="8023225" cy="4711371"/>
                      </a:xfrm>
                      <a:prstGeom prst="rect">
                        <a:avLst/>
                      </a:prstGeom>
                      <a:ln>
                        <a:solidFill>
                          <a:schemeClr val="bg1">
                            <a:lumMod val="75000"/>
                          </a:schemeClr>
                        </a:solidFill>
                      </a:ln>
                    </p:spPr>
                  </p:pic>
                </p:oleObj>
              </mc:Fallback>
            </mc:AlternateContent>
          </a:graphicData>
        </a:graphic>
      </p:graphicFrame>
      <p:sp>
        <p:nvSpPr>
          <p:cNvPr id="3" name="Rectangle 2">
            <a:extLst>
              <a:ext uri="{FF2B5EF4-FFF2-40B4-BE49-F238E27FC236}">
                <a16:creationId xmlns:a16="http://schemas.microsoft.com/office/drawing/2014/main" id="{5A0847B8-D59C-79DB-A578-150FA60EE82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3750867598"/>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箱线图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箱线图及其变换</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700316"/>
            <a:ext cx="1879177" cy="4651541"/>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如果数据集中多个变量的数值差异不大，可以使用原始数据绘制箱线图，当数值差异较大时，则需要对数据做变换，以便于比较</a:t>
            </a:r>
            <a:endParaRPr lang="en-US" altLang="zh-CN" sz="2000" dirty="0">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2754087" y="1700317"/>
            <a:ext cx="8693632" cy="6520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200" dirty="0">
                <a:ea typeface="华文细黑" panose="02010600040101010101" pitchFamily="2" charset="-122"/>
              </a:rPr>
              <a:t>—6</a:t>
            </a:r>
            <a:r>
              <a:rPr lang="zh-CN" altLang="zh-CN" sz="2200" dirty="0">
                <a:ea typeface="华文细黑" panose="02010600040101010101" pitchFamily="2" charset="-122"/>
              </a:rPr>
              <a:t>项空气污染指标的箱线图</a:t>
            </a:r>
            <a:endParaRPr lang="en-US" altLang="zh-CN" sz="2200" dirty="0">
              <a:ea typeface="华文细黑" panose="02010600040101010101" pitchFamily="2" charset="-122"/>
            </a:endParaRPr>
          </a:p>
        </p:txBody>
      </p:sp>
      <p:pic>
        <p:nvPicPr>
          <p:cNvPr id="3" name="图片 2">
            <a:extLst>
              <a:ext uri="{FF2B5EF4-FFF2-40B4-BE49-F238E27FC236}">
                <a16:creationId xmlns:a16="http://schemas.microsoft.com/office/drawing/2014/main" id="{C3D19A71-4CD5-DA99-2A36-A65D31695E3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54086" y="2664823"/>
            <a:ext cx="8693631" cy="3670663"/>
          </a:xfrm>
          <a:prstGeom prst="rect">
            <a:avLst/>
          </a:prstGeom>
          <a:noFill/>
          <a:ln w="6350">
            <a:solidFill>
              <a:schemeClr val="bg1">
                <a:lumMod val="75000"/>
              </a:schemeClr>
            </a:solidFill>
          </a:ln>
        </p:spPr>
      </p:pic>
      <p:sp>
        <p:nvSpPr>
          <p:cNvPr id="4" name="Rectangle 2">
            <a:extLst>
              <a:ext uri="{FF2B5EF4-FFF2-40B4-BE49-F238E27FC236}">
                <a16:creationId xmlns:a16="http://schemas.microsoft.com/office/drawing/2014/main" id="{B10FD027-9F65-99E7-CA08-4E0928DCFA1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756897805"/>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箱线图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箱线图及其变换</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751114" y="1700317"/>
            <a:ext cx="10696605" cy="6520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对数变换和标准化变换后的</a:t>
            </a:r>
            <a:r>
              <a:rPr lang="en-US" altLang="zh-CN" sz="2200" kern="0" dirty="0">
                <a:effectLst/>
                <a:latin typeface="Cambria" panose="02040503050406030204" pitchFamily="18" charset="0"/>
                <a:ea typeface="Cambria" panose="02040503050406030204" pitchFamily="18" charset="0"/>
                <a:cs typeface="Times New Roman" panose="02020603050405020304" pitchFamily="18" charset="0"/>
              </a:rPr>
              <a:t>6</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项空气污染指标的箱线图</a:t>
            </a:r>
            <a:endParaRPr lang="en-US" altLang="zh-CN" sz="2200" dirty="0">
              <a:latin typeface="Cambria" panose="02040503050406030204" pitchFamily="18" charset="0"/>
              <a:ea typeface="Cambria" panose="02040503050406030204" pitchFamily="18" charset="0"/>
            </a:endParaRPr>
          </a:p>
        </p:txBody>
      </p:sp>
      <p:pic>
        <p:nvPicPr>
          <p:cNvPr id="3" name="图片 2">
            <a:extLst>
              <a:ext uri="{FF2B5EF4-FFF2-40B4-BE49-F238E27FC236}">
                <a16:creationId xmlns:a16="http://schemas.microsoft.com/office/drawing/2014/main" id="{DC3A3B2C-E26F-573F-193E-5F6351C3925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1114" y="2468789"/>
            <a:ext cx="10696605" cy="3888467"/>
          </a:xfrm>
          <a:prstGeom prst="rect">
            <a:avLst/>
          </a:prstGeom>
          <a:noFill/>
          <a:ln w="6350">
            <a:solidFill>
              <a:schemeClr val="bg1">
                <a:lumMod val="75000"/>
              </a:schemeClr>
            </a:solidFill>
          </a:ln>
        </p:spPr>
      </p:pic>
      <p:sp>
        <p:nvSpPr>
          <p:cNvPr id="4" name="Rectangle 2">
            <a:extLst>
              <a:ext uri="{FF2B5EF4-FFF2-40B4-BE49-F238E27FC236}">
                <a16:creationId xmlns:a16="http://schemas.microsoft.com/office/drawing/2014/main" id="{16EF7C81-5529-0B88-362F-930907C6A88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2096923469"/>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箱线图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分组箱线图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656772"/>
            <a:ext cx="2271063" cy="4703083"/>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要分析不同质量等级条件下某项指标的分布，可以绘制按因子分组的箱线图。当样本量不同时</a:t>
            </a:r>
            <a:endParaRPr lang="en-US" altLang="zh-CN" sz="1800" kern="0" dirty="0">
              <a:effectLst/>
              <a:latin typeface="Cambria" panose="02040503050406030204" pitchFamily="18" charset="0"/>
              <a:ea typeface="Cambria" panose="02040503050406030204" pitchFamily="18" charset="0"/>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为在箱线图中反映出样本量信息，可以绘制不等宽箱线图</a:t>
            </a:r>
            <a:endParaRPr lang="en-US" altLang="zh-CN" sz="1800" dirty="0">
              <a:latin typeface="Cambria" panose="02040503050406030204" pitchFamily="18" charset="0"/>
              <a:ea typeface="Cambria" panose="020405030504060302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3167743" y="1656773"/>
            <a:ext cx="8279977" cy="6520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5-1】</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按空气质量等级分组的</a:t>
            </a:r>
            <a:r>
              <a:rPr lang="en-US" altLang="zh-CN" sz="1800" kern="0" dirty="0">
                <a:latin typeface="Cambria" panose="02040503050406030204" pitchFamily="18" charset="0"/>
                <a:ea typeface="Cambria" panose="02040503050406030204" pitchFamily="18" charset="0"/>
                <a:cs typeface="Times New Roman" panose="02020603050405020304" pitchFamily="18" charset="0"/>
              </a:rPr>
              <a:t>PM10</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和臭氧浓度的不等宽箱线图</a:t>
            </a:r>
            <a:endParaRPr lang="en-US" altLang="zh-CN" sz="1800" kern="0" dirty="0">
              <a:latin typeface="Cambria" panose="02040503050406030204" pitchFamily="18" charset="0"/>
              <a:ea typeface="Cambria" panose="020405030504060302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E35D4D10-0D3C-584B-B010-4F5D3B83F25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67743" y="2519680"/>
            <a:ext cx="8279977" cy="3815805"/>
          </a:xfrm>
          <a:prstGeom prst="rect">
            <a:avLst/>
          </a:prstGeom>
          <a:noFill/>
          <a:ln w="6350">
            <a:solidFill>
              <a:schemeClr val="bg1">
                <a:lumMod val="75000"/>
              </a:schemeClr>
            </a:solidFill>
          </a:ln>
        </p:spPr>
      </p:pic>
      <p:sp>
        <p:nvSpPr>
          <p:cNvPr id="4" name="Rectangle 2">
            <a:extLst>
              <a:ext uri="{FF2B5EF4-FFF2-40B4-BE49-F238E27FC236}">
                <a16:creationId xmlns:a16="http://schemas.microsoft.com/office/drawing/2014/main" id="{375AF5DB-AFC6-7750-BCFB-C03EF058529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2622850423"/>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箱线图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分组箱线图</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805543" y="1687285"/>
            <a:ext cx="10580911" cy="66115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20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000" kern="0" dirty="0">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cs typeface="Times New Roman" panose="02020603050405020304" pitchFamily="18" charset="0"/>
              </a:rPr>
              <a:t>  </a:t>
            </a:r>
            <a:r>
              <a:rPr lang="zh-CN" altLang="en-US" sz="2000" kern="0" dirty="0">
                <a:latin typeface="Cambria" panose="02040503050406030204" pitchFamily="18" charset="0"/>
                <a:ea typeface="华文细黑" panose="02010600040101010101" pitchFamily="2" charset="-122"/>
                <a:cs typeface="Times New Roman" panose="02020603050405020304" pitchFamily="18" charset="0"/>
              </a:rPr>
              <a:t>按月份分组和按中位数排序</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的箱线图</a:t>
            </a:r>
            <a:endParaRPr lang="en-US"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D4061E10-989D-F0C9-735C-1306F3DB80E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5543" y="2391979"/>
            <a:ext cx="10580911" cy="3976163"/>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26474D89-21D9-7770-4160-83ABA8EE4363}"/>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919509733"/>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箱线图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分组箱线图</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805544" y="1737359"/>
            <a:ext cx="1426026" cy="456546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20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按质量等级分组的</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P</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二氧化氮和臭氧浓度的箱线图</a:t>
            </a:r>
            <a:endParaRPr lang="en-US"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4" name="Rectangle 2">
            <a:extLst>
              <a:ext uri="{FF2B5EF4-FFF2-40B4-BE49-F238E27FC236}">
                <a16:creationId xmlns:a16="http://schemas.microsoft.com/office/drawing/2014/main" id="{E07E8D61-E5B7-1985-3442-17A15B38D0C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pic>
        <p:nvPicPr>
          <p:cNvPr id="2" name="图片 1">
            <a:extLst>
              <a:ext uri="{FF2B5EF4-FFF2-40B4-BE49-F238E27FC236}">
                <a16:creationId xmlns:a16="http://schemas.microsoft.com/office/drawing/2014/main" id="{9F06B40D-3EAB-ED8D-D108-D63C48D7A95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30770" y="1737359"/>
            <a:ext cx="9360486" cy="4565469"/>
          </a:xfrm>
          <a:prstGeom prst="rect">
            <a:avLst/>
          </a:prstGeom>
          <a:noFill/>
          <a:ln>
            <a:solidFill>
              <a:schemeClr val="bg1">
                <a:lumMod val="75000"/>
              </a:schemeClr>
            </a:solidFill>
          </a:ln>
        </p:spPr>
      </p:pic>
    </p:spTree>
    <p:extLst>
      <p:ext uri="{BB962C8B-B14F-4D97-AF65-F5344CB8AC3E}">
        <p14:creationId xmlns:p14="http://schemas.microsoft.com/office/powerpoint/2010/main" val="2182645739"/>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小提琴图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小提琴图及其变换</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656773"/>
            <a:ext cx="10703440" cy="131926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00000"/>
              </a:lnSpc>
              <a:spcBef>
                <a:spcPct val="50000"/>
              </a:spcBef>
              <a:buClr>
                <a:srgbClr val="000099"/>
              </a:buClr>
              <a:buFont typeface="Wingdings" panose="05000000000000000000" pitchFamily="2" charset="2"/>
              <a:buChar char="l"/>
              <a:defRPr/>
            </a:pPr>
            <a:r>
              <a:rPr lang="zh-CN" altLang="zh-CN" sz="17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小提琴图</a:t>
            </a:r>
            <a:r>
              <a:rPr lang="zh-CN" altLang="zh-CN" sz="17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700" kern="0" dirty="0">
                <a:effectLst/>
                <a:latin typeface="Cambria" panose="02040503050406030204" pitchFamily="18" charset="0"/>
                <a:ea typeface="华文细黑" panose="02010600040101010101" pitchFamily="2" charset="-122"/>
                <a:cs typeface="Times New Roman" panose="02020603050405020304" pitchFamily="18" charset="0"/>
              </a:rPr>
              <a:t>violin plot</a:t>
            </a:r>
            <a:r>
              <a:rPr lang="zh-CN" altLang="zh-CN" sz="1700" kern="0" dirty="0">
                <a:effectLst/>
                <a:latin typeface="Cambria" panose="02040503050406030204" pitchFamily="18" charset="0"/>
                <a:ea typeface="华文细黑" panose="02010600040101010101" pitchFamily="2" charset="-122"/>
                <a:cs typeface="Times New Roman" panose="02020603050405020304" pitchFamily="18" charset="0"/>
              </a:rPr>
              <a:t>）将分布的核密度图与箱线图结合在一起，在箱线图上以镜像方式叠加上核密度图，以展示数据分布的大致形状</a:t>
            </a:r>
            <a:endParaRPr lang="en-US" altLang="zh-CN" sz="17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00000"/>
              </a:lnSpc>
              <a:spcBef>
                <a:spcPct val="50000"/>
              </a:spcBef>
              <a:buClr>
                <a:srgbClr val="000099"/>
              </a:buClr>
              <a:buFont typeface="Wingdings" panose="05000000000000000000" pitchFamily="2" charset="2"/>
              <a:buChar char="l"/>
              <a:defRPr/>
            </a:pPr>
            <a:r>
              <a:rPr lang="zh-CN" altLang="zh-CN" sz="1700" kern="0" dirty="0">
                <a:effectLst/>
                <a:latin typeface="Cambria" panose="02040503050406030204" pitchFamily="18" charset="0"/>
                <a:ea typeface="华文细黑" panose="02010600040101010101" pitchFamily="2" charset="-122"/>
                <a:cs typeface="Times New Roman" panose="02020603050405020304" pitchFamily="18" charset="0"/>
              </a:rPr>
              <a:t>当多个变量的数值差异较大时，小提琴图难以观察分布形状，此时，可以先对数据做对数变换或标准化变换，然后再绘制小提琴图</a:t>
            </a:r>
            <a:endParaRPr lang="en-US" altLang="zh-CN" sz="1700" dirty="0">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744280" y="3069829"/>
            <a:ext cx="2858892" cy="321122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4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4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6</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项空气污染指标的小提琴图</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48D4FF37-7306-4AA1-6C50-D19864F409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88230" y="3069829"/>
            <a:ext cx="7659490" cy="3211228"/>
          </a:xfrm>
          <a:prstGeom prst="rect">
            <a:avLst/>
          </a:prstGeom>
          <a:noFill/>
          <a:ln w="6350">
            <a:solidFill>
              <a:schemeClr val="bg1">
                <a:lumMod val="75000"/>
              </a:schemeClr>
            </a:solidFill>
          </a:ln>
        </p:spPr>
      </p:pic>
      <p:sp>
        <p:nvSpPr>
          <p:cNvPr id="4" name="Rectangle 2">
            <a:extLst>
              <a:ext uri="{FF2B5EF4-FFF2-40B4-BE49-F238E27FC236}">
                <a16:creationId xmlns:a16="http://schemas.microsoft.com/office/drawing/2014/main" id="{83BC9DF5-C697-E8F9-637D-6DEFFDB7C72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406643905"/>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小提琴图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分组小提琴图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656773"/>
            <a:ext cx="3380681" cy="473314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对于按因子分类的数据，可以绘制分组小提琴图</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对于多个数值变量，可以绘制按因子分组、按变量分面的小提琴图</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4278086" y="1656773"/>
            <a:ext cx="7169633" cy="6520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200" b="1" dirty="0">
                <a:solidFill>
                  <a:schemeClr val="bg1"/>
                </a:solidFill>
                <a:effectLst>
                  <a:outerShdw blurRad="38100" dist="38100" dir="2700000" algn="tl">
                    <a:srgbClr val="000000">
                      <a:alpha val="43137"/>
                    </a:srgbClr>
                  </a:outerShdw>
                </a:effectLst>
                <a:ea typeface="华文细黑" panose="02010600040101010101" pitchFamily="2" charset="-122"/>
              </a:rPr>
              <a:t> </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6</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项空气污染指标的小提琴图</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F7F92D9A-A087-9C78-F7F4-7528DE065BA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78086" y="2402648"/>
            <a:ext cx="7169633" cy="3987265"/>
          </a:xfrm>
          <a:prstGeom prst="rect">
            <a:avLst/>
          </a:prstGeom>
          <a:noFill/>
          <a:ln w="6350">
            <a:solidFill>
              <a:schemeClr val="bg1">
                <a:lumMod val="75000"/>
              </a:schemeClr>
            </a:solidFill>
          </a:ln>
        </p:spPr>
      </p:pic>
      <p:sp>
        <p:nvSpPr>
          <p:cNvPr id="4" name="Rectangle 2">
            <a:extLst>
              <a:ext uri="{FF2B5EF4-FFF2-40B4-BE49-F238E27FC236}">
                <a16:creationId xmlns:a16="http://schemas.microsoft.com/office/drawing/2014/main" id="{3F283883-803A-2F33-BC9B-D87612CB0F8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1648208260"/>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小提琴图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半小提琴图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80" y="1656772"/>
            <a:ext cx="2815349" cy="469322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kern="0" dirty="0">
                <a:latin typeface="Cambria" panose="02040503050406030204" pitchFamily="18" charset="0"/>
                <a:ea typeface="华文细黑" panose="02010600040101010101" pitchFamily="2" charset="-122"/>
                <a:cs typeface="Times New Roman" panose="02020603050405020304" pitchFamily="18" charset="0"/>
              </a:rPr>
              <a:t>小提琴图是以镜像方式绘制的核密度图，只需要观察一半就可以分析数据的分布特征，另一半是冗余的</a:t>
            </a:r>
            <a:endParaRPr lang="en-US" altLang="zh-CN" sz="1600" kern="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可以将小提琴图绘制成一半，称为</a:t>
            </a:r>
            <a:r>
              <a:rPr lang="zh-CN" altLang="zh-CN" sz="16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半小提琴图</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half-violin plot</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半小提琴图可以与箱线图或半箱线图、点图等结合绘制，从而提供更多的分布信息</a:t>
            </a:r>
            <a:endParaRPr lang="en-US" altLang="zh-CN" sz="1600" dirty="0">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3712030" y="1656773"/>
            <a:ext cx="7735689" cy="503941"/>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 PM10</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的</a:t>
            </a:r>
            <a:r>
              <a:rPr lang="zh-CN" altLang="en-US" sz="2000" kern="0" dirty="0">
                <a:latin typeface="Cambria" panose="02040503050406030204" pitchFamily="18" charset="0"/>
                <a:ea typeface="华文细黑" panose="02010600040101010101" pitchFamily="2" charset="-122"/>
                <a:cs typeface="Times New Roman" panose="02020603050405020304" pitchFamily="18" charset="0"/>
              </a:rPr>
              <a:t>半</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小提琴图</a:t>
            </a:r>
            <a:endParaRPr lang="en-US"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DF76789D-E833-B8FE-65D4-07CDBC208F43}"/>
              </a:ext>
            </a:extLst>
          </p:cNvPr>
          <p:cNvPicPr>
            <a:picLocks noChangeAspect="1"/>
          </p:cNvPicPr>
          <p:nvPr/>
        </p:nvPicPr>
        <p:blipFill>
          <a:blip r:embed="rId2"/>
          <a:stretch>
            <a:fillRect/>
          </a:stretch>
        </p:blipFill>
        <p:spPr>
          <a:xfrm>
            <a:off x="3712029" y="2254503"/>
            <a:ext cx="7735689" cy="4095497"/>
          </a:xfrm>
          <a:prstGeom prst="rect">
            <a:avLst/>
          </a:prstGeom>
          <a:ln w="6350">
            <a:solidFill>
              <a:schemeClr val="bg1">
                <a:lumMod val="75000"/>
              </a:schemeClr>
            </a:solidFill>
          </a:ln>
        </p:spPr>
      </p:pic>
      <p:sp>
        <p:nvSpPr>
          <p:cNvPr id="3" name="Rectangle 2">
            <a:extLst>
              <a:ext uri="{FF2B5EF4-FFF2-40B4-BE49-F238E27FC236}">
                <a16:creationId xmlns:a16="http://schemas.microsoft.com/office/drawing/2014/main" id="{0A5722A3-ECCE-B36E-8CC3-9F881E0D7B9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1149533541"/>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小提琴图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半小提琴图</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718458" y="1732975"/>
            <a:ext cx="1186542" cy="457390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 </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按质量等级分组的</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AQI</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和</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PM2.5</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的半小提琴图</a:t>
            </a:r>
            <a:endParaRPr lang="en-US"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D10FB8FD-A8A4-E713-34B4-79F9B2CBA872}"/>
              </a:ext>
            </a:extLst>
          </p:cNvPr>
          <p:cNvPicPr>
            <a:picLocks noChangeAspect="1"/>
          </p:cNvPicPr>
          <p:nvPr/>
        </p:nvPicPr>
        <p:blipFill>
          <a:blip r:embed="rId2"/>
          <a:stretch>
            <a:fillRect/>
          </a:stretch>
        </p:blipFill>
        <p:spPr>
          <a:xfrm>
            <a:off x="2002973" y="1732975"/>
            <a:ext cx="9499175" cy="4573906"/>
          </a:xfrm>
          <a:prstGeom prst="rect">
            <a:avLst/>
          </a:prstGeom>
          <a:ln w="6350">
            <a:solidFill>
              <a:schemeClr val="bg1">
                <a:lumMod val="75000"/>
              </a:schemeClr>
            </a:solidFill>
          </a:ln>
        </p:spPr>
      </p:pic>
      <p:sp>
        <p:nvSpPr>
          <p:cNvPr id="3" name="Rectangle 2">
            <a:extLst>
              <a:ext uri="{FF2B5EF4-FFF2-40B4-BE49-F238E27FC236}">
                <a16:creationId xmlns:a16="http://schemas.microsoft.com/office/drawing/2014/main" id="{556029EE-8B3E-C57B-0650-33B0E87988E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spTree>
    <p:extLst>
      <p:ext uri="{BB962C8B-B14F-4D97-AF65-F5344CB8AC3E}">
        <p14:creationId xmlns:p14="http://schemas.microsoft.com/office/powerpoint/2010/main" val="1155319662"/>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小提琴图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对置小提琴图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700316"/>
            <a:ext cx="3207235" cy="469446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或分割或分置小提琴图</a:t>
            </a:r>
            <a:endParaRPr lang="en-US" altLang="zh-CN" sz="20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它是将两个变量或样本的半小提琴图以镜像方式绘制</a:t>
            </a:r>
            <a:endParaRPr lang="en-US" altLang="zh-CN" sz="20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类似于镜像核密度，主要用于比较两个变量或样本的分布方，对置方式可以是水平的，也可以是垂直</a:t>
            </a:r>
            <a:r>
              <a:rPr lang="zh-CN" altLang="en-US" sz="2000" dirty="0">
                <a:effectLst/>
                <a:latin typeface="Cambria" panose="02040503050406030204" pitchFamily="18" charset="0"/>
                <a:ea typeface="华文细黑" panose="02010600040101010101" pitchFamily="2" charset="-122"/>
                <a:cs typeface="Times New Roman" panose="02020603050405020304" pitchFamily="18" charset="0"/>
              </a:rPr>
              <a:t>的</a:t>
            </a:r>
            <a:endParaRPr lang="en-US" altLang="zh-CN" sz="200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4049486" y="1700317"/>
            <a:ext cx="7398233" cy="503941"/>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17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17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1700" kern="0" dirty="0">
                <a:latin typeface="Cambria" panose="02040503050406030204" pitchFamily="18" charset="0"/>
                <a:ea typeface="华文细黑" panose="02010600040101010101" pitchFamily="2" charset="-122"/>
                <a:cs typeface="Times New Roman" panose="02020603050405020304" pitchFamily="18" charset="0"/>
              </a:rPr>
              <a:t> </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按质量等级分组的</a:t>
            </a:r>
            <a:r>
              <a:rPr lang="en-US" altLang="zh-CN" sz="1700" kern="0" dirty="0">
                <a:latin typeface="Cambria" panose="02040503050406030204" pitchFamily="18" charset="0"/>
                <a:ea typeface="华文细黑" panose="02010600040101010101" pitchFamily="2" charset="-122"/>
                <a:cs typeface="Times New Roman" panose="02020603050405020304" pitchFamily="18" charset="0"/>
              </a:rPr>
              <a:t>AQI</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与</a:t>
            </a:r>
            <a:r>
              <a:rPr lang="en-US" altLang="zh-CN" sz="1700" kern="0" dirty="0">
                <a:latin typeface="Cambria" panose="02040503050406030204" pitchFamily="18" charset="0"/>
                <a:ea typeface="华文细黑" panose="02010600040101010101" pitchFamily="2" charset="-122"/>
                <a:cs typeface="Times New Roman" panose="02020603050405020304" pitchFamily="18" charset="0"/>
              </a:rPr>
              <a:t>PM2.5</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700" kern="0" dirty="0">
                <a:latin typeface="Cambria" panose="02040503050406030204" pitchFamily="18" charset="0"/>
                <a:ea typeface="华文细黑" panose="02010600040101010101" pitchFamily="2" charset="-122"/>
                <a:cs typeface="Times New Roman" panose="02020603050405020304" pitchFamily="18" charset="0"/>
              </a:rPr>
              <a:t>PM2.5</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与</a:t>
            </a:r>
            <a:r>
              <a:rPr lang="en-US" altLang="zh-CN" sz="1700" kern="0" dirty="0">
                <a:latin typeface="Cambria" panose="02040503050406030204" pitchFamily="18" charset="0"/>
                <a:ea typeface="华文细黑" panose="02010600040101010101" pitchFamily="2" charset="-122"/>
                <a:cs typeface="Times New Roman" panose="02020603050405020304" pitchFamily="18" charset="0"/>
              </a:rPr>
              <a:t>PM10</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的对置小提琴图</a:t>
            </a:r>
            <a:endParaRPr lang="en-US" altLang="zh-CN" sz="17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4" name="Rectangle 2">
            <a:extLst>
              <a:ext uri="{FF2B5EF4-FFF2-40B4-BE49-F238E27FC236}">
                <a16:creationId xmlns:a16="http://schemas.microsoft.com/office/drawing/2014/main" id="{6C622EAB-D625-91E8-DC49-772B56984008}"/>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5.1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展示分布形状</a:t>
            </a:r>
          </a:p>
        </p:txBody>
      </p:sp>
      <p:pic>
        <p:nvPicPr>
          <p:cNvPr id="2" name="图片 1">
            <a:extLst>
              <a:ext uri="{FF2B5EF4-FFF2-40B4-BE49-F238E27FC236}">
                <a16:creationId xmlns:a16="http://schemas.microsoft.com/office/drawing/2014/main" id="{6CD9872E-302F-0B6E-2B14-B6327512B81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49485" y="2341591"/>
            <a:ext cx="7398233" cy="4053192"/>
          </a:xfrm>
          <a:prstGeom prst="rect">
            <a:avLst/>
          </a:prstGeom>
          <a:noFill/>
          <a:ln>
            <a:solidFill>
              <a:schemeClr val="bg1">
                <a:lumMod val="75000"/>
              </a:schemeClr>
            </a:solidFill>
          </a:ln>
        </p:spPr>
      </p:pic>
    </p:spTree>
    <p:extLst>
      <p:ext uri="{BB962C8B-B14F-4D97-AF65-F5344CB8AC3E}">
        <p14:creationId xmlns:p14="http://schemas.microsoft.com/office/powerpoint/2010/main" val="3950974736"/>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数据分布位置和范围</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689431"/>
            <a:ext cx="10707492" cy="466782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数据分布位置是指一组数据在数轴上的点分布</a:t>
            </a:r>
            <a:endParaRPr lang="en-US" altLang="zh-CN" sz="2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展示这类特征的图形</a:t>
            </a:r>
            <a:r>
              <a:rPr lang="zh-CN" altLang="en-US" sz="2600" dirty="0">
                <a:latin typeface="Cambria" panose="02040503050406030204" pitchFamily="18" charset="0"/>
                <a:ea typeface="华文细黑" panose="02010600040101010101" pitchFamily="2" charset="-122"/>
                <a:cs typeface="Times New Roman" panose="02020603050405020304" pitchFamily="18" charset="0"/>
              </a:rPr>
              <a:t>主要有</a:t>
            </a:r>
            <a:r>
              <a:rPr lang="zh-CN" altLang="zh-CN" sz="26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点图</a:t>
            </a: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600" dirty="0">
                <a:effectLst/>
                <a:latin typeface="Cambria" panose="02040503050406030204" pitchFamily="18" charset="0"/>
                <a:ea typeface="华文细黑" panose="02010600040101010101" pitchFamily="2" charset="-122"/>
                <a:cs typeface="Times New Roman" panose="02020603050405020304" pitchFamily="18" charset="0"/>
              </a:rPr>
              <a:t>dot chart</a:t>
            </a: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）及其变种。它是将数据用点的形式绘制在数轴上，用于展示数据在数轴上分布的位置</a:t>
            </a:r>
            <a:endParaRPr lang="en-US" altLang="zh-CN" sz="2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600" dirty="0">
                <a:effectLst/>
                <a:latin typeface="Cambria" panose="02040503050406030204" pitchFamily="18" charset="0"/>
                <a:ea typeface="华文细黑" panose="02010600040101010101" pitchFamily="2" charset="-122"/>
                <a:cs typeface="Times New Roman" panose="02020603050405020304" pitchFamily="18" charset="0"/>
              </a:rPr>
              <a:t>点图有多种形式，除最基本的带状图外，还有威尔金森点图、蜂群图、云雨图等变种</a:t>
            </a:r>
            <a:endParaRPr lang="en-US" altLang="zh-CN" sz="2600" b="1"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F5C211F9-0745-560B-2DA1-CD55651CD8D8}"/>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展示分布位置和范围</a:t>
            </a:r>
          </a:p>
        </p:txBody>
      </p:sp>
    </p:spTree>
    <p:extLst>
      <p:ext uri="{BB962C8B-B14F-4D97-AF65-F5344CB8AC3E}">
        <p14:creationId xmlns:p14="http://schemas.microsoft.com/office/powerpoint/2010/main" val="4233877297"/>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数据分布位置</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带状图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656774"/>
            <a:ext cx="4676807" cy="385139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带状图</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strip chart</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）又称</a:t>
            </a:r>
            <a:r>
              <a:rPr lang="zh-CN" altLang="zh-CN" sz="1800" b="1" dirty="0">
                <a:effectLst/>
                <a:latin typeface="Cambria" panose="02040503050406030204" pitchFamily="18" charset="0"/>
                <a:ea typeface="华文细黑" panose="02010600040101010101" pitchFamily="2" charset="-122"/>
                <a:cs typeface="Times New Roman" panose="02020603050405020304" pitchFamily="18" charset="0"/>
              </a:rPr>
              <a:t>平行散点图</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parallel scatterplot</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）或</a:t>
            </a:r>
            <a:r>
              <a:rPr lang="zh-CN" altLang="zh-CN" sz="1800" b="1" dirty="0">
                <a:effectLst/>
                <a:latin typeface="Cambria" panose="02040503050406030204" pitchFamily="18" charset="0"/>
                <a:ea typeface="华文细黑" panose="02010600040101010101" pitchFamily="2" charset="-122"/>
                <a:cs typeface="Times New Roman" panose="02020603050405020304" pitchFamily="18" charset="0"/>
              </a:rPr>
              <a:t>一维散点图</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One-dimensional scatter plot</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），它将一组数据的各个点绘制在水平或垂直轴上</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带状图是点图的最基本形式，其他点图均可视为其变种</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带状图很少单独使用，通常与箱线图、小提琴图等结合绘制</a:t>
            </a:r>
            <a:endParaRPr lang="en-US" altLang="zh-CN" sz="2600" b="1"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4" name="Rectangle 3">
            <a:extLst>
              <a:ext uri="{FF2B5EF4-FFF2-40B4-BE49-F238E27FC236}">
                <a16:creationId xmlns:a16="http://schemas.microsoft.com/office/drawing/2014/main" id="{28BF6A68-3F6E-1921-B366-390A97177741}"/>
              </a:ext>
            </a:extLst>
          </p:cNvPr>
          <p:cNvSpPr txBox="1">
            <a:spLocks noChangeArrowheads="1"/>
          </p:cNvSpPr>
          <p:nvPr/>
        </p:nvSpPr>
        <p:spPr>
          <a:xfrm>
            <a:off x="744279" y="5726738"/>
            <a:ext cx="4676807" cy="60874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  1~6</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月份</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AQI</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的带状图</a:t>
            </a:r>
            <a:endParaRPr lang="en-US"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5B08D608-0073-1826-C6AD-F03F99A2E4F7}"/>
              </a:ext>
            </a:extLst>
          </p:cNvPr>
          <p:cNvPicPr>
            <a:picLocks noChangeAspect="1"/>
          </p:cNvPicPr>
          <p:nvPr/>
        </p:nvPicPr>
        <p:blipFill>
          <a:blip r:embed="rId2"/>
          <a:stretch>
            <a:fillRect/>
          </a:stretch>
        </p:blipFill>
        <p:spPr>
          <a:xfrm>
            <a:off x="5524408" y="1656773"/>
            <a:ext cx="6057991" cy="4678713"/>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654F66AF-6B91-9415-D7DF-46CFB1FA84A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展示分布位置和范围</a:t>
            </a:r>
          </a:p>
        </p:txBody>
      </p:sp>
    </p:spTree>
    <p:extLst>
      <p:ext uri="{BB962C8B-B14F-4D97-AF65-F5344CB8AC3E}">
        <p14:creationId xmlns:p14="http://schemas.microsoft.com/office/powerpoint/2010/main" val="390214597"/>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数据分布位置</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威尔金森点图</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761999" y="1665006"/>
            <a:ext cx="10809515" cy="4659593"/>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b="1"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威尔金森点图</a:t>
            </a:r>
            <a:r>
              <a:rPr lang="zh-CN" altLang="zh-CN" sz="240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2400" dirty="0">
                <a:latin typeface="Cambria" panose="02040503050406030204" pitchFamily="18" charset="0"/>
                <a:ea typeface="华文细黑" panose="02010600040101010101" pitchFamily="2" charset="-122"/>
                <a:cs typeface="Times New Roman" panose="02020603050405020304" pitchFamily="18" charset="0"/>
              </a:rPr>
              <a:t>Wilkinson dot chart</a:t>
            </a:r>
            <a:r>
              <a:rPr lang="zh-CN" altLang="zh-CN" sz="2400" dirty="0">
                <a:latin typeface="Cambria" panose="02040503050406030204" pitchFamily="18" charset="0"/>
                <a:ea typeface="华文细黑" panose="02010600040101010101" pitchFamily="2" charset="-122"/>
                <a:cs typeface="Times New Roman" panose="02020603050405020304" pitchFamily="18" charset="0"/>
              </a:rPr>
              <a:t>）是一种不同排列方式的点图，它是将数据用点的形式沿着数轴排列，用于反映数据分布的位置特征</a:t>
            </a:r>
            <a:endParaRPr lang="en-US" altLang="zh-CN" sz="24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latin typeface="Cambria" panose="02040503050406030204" pitchFamily="18" charset="0"/>
                <a:ea typeface="华文细黑" panose="02010600040101010101" pitchFamily="2" charset="-122"/>
                <a:cs typeface="Times New Roman" panose="02020603050405020304" pitchFamily="18" charset="0"/>
              </a:rPr>
              <a:t>点的默认排列方向是向上（</a:t>
            </a:r>
            <a:r>
              <a:rPr lang="en-US" altLang="zh-CN" sz="2400" dirty="0">
                <a:latin typeface="Cambria" panose="02040503050406030204" pitchFamily="18" charset="0"/>
                <a:ea typeface="华文细黑" panose="02010600040101010101" pitchFamily="2" charset="-122"/>
                <a:cs typeface="Times New Roman" panose="02020603050405020304" pitchFamily="18" charset="0"/>
              </a:rPr>
              <a:t> up</a:t>
            </a:r>
            <a:r>
              <a:rPr lang="zh-CN" altLang="zh-CN" sz="2400" dirty="0">
                <a:latin typeface="Cambria" panose="02040503050406030204" pitchFamily="18" charset="0"/>
                <a:ea typeface="华文细黑" panose="02010600040101010101" pitchFamily="2" charset="-122"/>
                <a:cs typeface="Times New Roman" panose="02020603050405020304" pitchFamily="18" charset="0"/>
              </a:rPr>
              <a:t>）排列，也可以向下（</a:t>
            </a:r>
            <a:r>
              <a:rPr lang="en-US" altLang="zh-CN" sz="2400" dirty="0">
                <a:latin typeface="Cambria" panose="02040503050406030204" pitchFamily="18" charset="0"/>
                <a:ea typeface="华文细黑" panose="02010600040101010101" pitchFamily="2" charset="-122"/>
                <a:cs typeface="Times New Roman" panose="02020603050405020304" pitchFamily="18" charset="0"/>
              </a:rPr>
              <a:t>down</a:t>
            </a:r>
            <a:r>
              <a:rPr lang="zh-CN" altLang="zh-CN" sz="2400" dirty="0">
                <a:latin typeface="Cambria" panose="02040503050406030204" pitchFamily="18" charset="0"/>
                <a:ea typeface="华文细黑" panose="02010600040101010101" pitchFamily="2" charset="-122"/>
                <a:cs typeface="Times New Roman" panose="02020603050405020304" pitchFamily="18" charset="0"/>
              </a:rPr>
              <a:t>）排列 、居中（</a:t>
            </a:r>
            <a:r>
              <a:rPr lang="en-US" altLang="zh-CN" sz="2400" dirty="0">
                <a:latin typeface="Cambria" panose="02040503050406030204" pitchFamily="18" charset="0"/>
                <a:ea typeface="华文细黑" panose="02010600040101010101" pitchFamily="2" charset="-122"/>
                <a:cs typeface="Times New Roman" panose="02020603050405020304" pitchFamily="18" charset="0"/>
              </a:rPr>
              <a:t>center</a:t>
            </a:r>
            <a:r>
              <a:rPr lang="zh-CN" altLang="zh-CN" sz="2400" dirty="0">
                <a:latin typeface="Cambria" panose="02040503050406030204" pitchFamily="18" charset="0"/>
                <a:ea typeface="华文细黑" panose="02010600040101010101" pitchFamily="2" charset="-122"/>
                <a:cs typeface="Times New Roman" panose="02020603050405020304" pitchFamily="18" charset="0"/>
              </a:rPr>
              <a:t>）排列、整体居中（</a:t>
            </a:r>
            <a:r>
              <a:rPr lang="en-US" altLang="zh-CN" sz="2400" dirty="0" err="1">
                <a:latin typeface="Cambria" panose="02040503050406030204" pitchFamily="18" charset="0"/>
                <a:ea typeface="华文细黑" panose="02010600040101010101" pitchFamily="2" charset="-122"/>
                <a:cs typeface="Times New Roman" panose="02020603050405020304" pitchFamily="18" charset="0"/>
              </a:rPr>
              <a:t>centerwhole</a:t>
            </a:r>
            <a:r>
              <a:rPr lang="zh-CN" altLang="zh-CN" sz="2400" dirty="0">
                <a:latin typeface="Cambria" panose="02040503050406030204" pitchFamily="18" charset="0"/>
                <a:ea typeface="华文细黑" panose="02010600040101010101" pitchFamily="2" charset="-122"/>
                <a:cs typeface="Times New Roman" panose="02020603050405020304" pitchFamily="18" charset="0"/>
              </a:rPr>
              <a:t>）排列（居中但点对齐）</a:t>
            </a:r>
            <a:endParaRPr lang="en-US" altLang="zh-CN" sz="24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latin typeface="Cambria" panose="02040503050406030204" pitchFamily="18" charset="0"/>
                <a:ea typeface="华文细黑" panose="02010600040101010101" pitchFamily="2" charset="-122"/>
                <a:cs typeface="Times New Roman" panose="02020603050405020304" pitchFamily="18" charset="0"/>
              </a:rPr>
              <a:t>可以按因子分组后绘制，也可以将点图与箱线图和小提琴图等结合绘制</a:t>
            </a:r>
            <a:endParaRPr lang="en-US" altLang="zh-CN" sz="240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B8F453E1-F0D7-4AAD-7A50-5BD1DAB64BE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展示分布位置和范围</a:t>
            </a:r>
          </a:p>
        </p:txBody>
      </p:sp>
    </p:spTree>
    <p:extLst>
      <p:ext uri="{BB962C8B-B14F-4D97-AF65-F5344CB8AC3E}">
        <p14:creationId xmlns:p14="http://schemas.microsoft.com/office/powerpoint/2010/main" val="3299400347"/>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数据分布位置</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威尔金森点图</a:t>
            </a:r>
            <a:endParaRPr lang="en-US" altLang="zh-CN" sz="2600" b="1" dirty="0">
              <a:solidFill>
                <a:srgbClr val="002060"/>
              </a:solidFill>
              <a:ea typeface="华文细黑" panose="02010600040101010101" pitchFamily="2" charset="-122"/>
            </a:endParaRPr>
          </a:p>
        </p:txBody>
      </p:sp>
      <p:sp>
        <p:nvSpPr>
          <p:cNvPr id="8" name="Rectangle 3">
            <a:extLst>
              <a:ext uri="{FF2B5EF4-FFF2-40B4-BE49-F238E27FC236}">
                <a16:creationId xmlns:a16="http://schemas.microsoft.com/office/drawing/2014/main" id="{761EBA07-2CD0-8E4C-6D96-F5AD3A2CD4CF}"/>
              </a:ext>
            </a:extLst>
          </p:cNvPr>
          <p:cNvSpPr txBox="1">
            <a:spLocks noChangeArrowheads="1"/>
          </p:cNvSpPr>
          <p:nvPr/>
        </p:nvSpPr>
        <p:spPr>
          <a:xfrm>
            <a:off x="783772" y="1656773"/>
            <a:ext cx="4909458" cy="618341"/>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5-1】</a:t>
            </a:r>
            <a:r>
              <a:rPr lang="en-US" altLang="zh-CN" sz="1800" b="1" dirty="0">
                <a:solidFill>
                  <a:schemeClr val="bg1"/>
                </a:solidFill>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cs typeface="Times New Roman" panose="02020603050405020304" pitchFamily="18" charset="0"/>
              </a:rPr>
              <a:t> </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AQI</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和</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4</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项空气污染指标</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C7F12416-D06B-8CA2-5D0A-B13981A7A5B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83772" y="2368903"/>
            <a:ext cx="4909458" cy="3923040"/>
          </a:xfrm>
          <a:prstGeom prst="rect">
            <a:avLst/>
          </a:prstGeom>
          <a:noFill/>
          <a:ln w="6350">
            <a:solidFill>
              <a:schemeClr val="bg1">
                <a:lumMod val="75000"/>
              </a:schemeClr>
            </a:solidFill>
          </a:ln>
        </p:spPr>
      </p:pic>
      <p:pic>
        <p:nvPicPr>
          <p:cNvPr id="4" name="图片 3">
            <a:extLst>
              <a:ext uri="{FF2B5EF4-FFF2-40B4-BE49-F238E27FC236}">
                <a16:creationId xmlns:a16="http://schemas.microsoft.com/office/drawing/2014/main" id="{B766AD9F-9848-3F77-AA74-D37EF24B05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78287" y="2368903"/>
            <a:ext cx="5715000" cy="3923040"/>
          </a:xfrm>
          <a:prstGeom prst="rect">
            <a:avLst/>
          </a:prstGeom>
          <a:noFill/>
          <a:ln w="6350">
            <a:solidFill>
              <a:schemeClr val="bg1">
                <a:lumMod val="75000"/>
              </a:schemeClr>
            </a:solidFill>
          </a:ln>
        </p:spPr>
      </p:pic>
      <p:sp>
        <p:nvSpPr>
          <p:cNvPr id="5" name="Rectangle 3">
            <a:extLst>
              <a:ext uri="{FF2B5EF4-FFF2-40B4-BE49-F238E27FC236}">
                <a16:creationId xmlns:a16="http://schemas.microsoft.com/office/drawing/2014/main" id="{68115E71-5548-46DC-41AF-F9B4975CB809}"/>
              </a:ext>
            </a:extLst>
          </p:cNvPr>
          <p:cNvSpPr txBox="1">
            <a:spLocks noChangeArrowheads="1"/>
          </p:cNvSpPr>
          <p:nvPr/>
        </p:nvSpPr>
        <p:spPr>
          <a:xfrm>
            <a:off x="5878287" y="1636305"/>
            <a:ext cx="5715000" cy="673611"/>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5-1】</a:t>
            </a:r>
            <a:r>
              <a:rPr lang="en-US" altLang="zh-CN" sz="1800" b="1" dirty="0">
                <a:solidFill>
                  <a:schemeClr val="bg1"/>
                </a:solidFill>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cs typeface="Times New Roman" panose="02020603050405020304" pitchFamily="18" charset="0"/>
              </a:rPr>
              <a:t> </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质量等级和月份分组的</a:t>
            </a:r>
            <a:r>
              <a:rPr lang="en-US" altLang="zh-CN" sz="1800" dirty="0">
                <a:latin typeface="Cambria" panose="02040503050406030204" pitchFamily="18" charset="0"/>
                <a:ea typeface="华文细黑" panose="02010600040101010101" pitchFamily="2" charset="-122"/>
                <a:cs typeface="Times New Roman" panose="02020603050405020304" pitchFamily="18" charset="0"/>
              </a:rPr>
              <a:t>AQI</a:t>
            </a:r>
          </a:p>
        </p:txBody>
      </p:sp>
      <p:sp>
        <p:nvSpPr>
          <p:cNvPr id="6" name="Rectangle 2">
            <a:extLst>
              <a:ext uri="{FF2B5EF4-FFF2-40B4-BE49-F238E27FC236}">
                <a16:creationId xmlns:a16="http://schemas.microsoft.com/office/drawing/2014/main" id="{F3010192-9ACA-4E71-B34E-3C92BA23ADE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展示分布位置和范围</a:t>
            </a:r>
          </a:p>
        </p:txBody>
      </p:sp>
    </p:spTree>
    <p:extLst>
      <p:ext uri="{BB962C8B-B14F-4D97-AF65-F5344CB8AC3E}">
        <p14:creationId xmlns:p14="http://schemas.microsoft.com/office/powerpoint/2010/main" val="4280706753"/>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数据分布位置</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蜂群图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656774"/>
            <a:ext cx="3147001" cy="466782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蜂群图</a:t>
            </a:r>
            <a:r>
              <a:rPr lang="zh-CN" altLang="zh-CN" sz="14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400" dirty="0" err="1">
                <a:effectLst/>
                <a:latin typeface="Cambria" panose="02040503050406030204" pitchFamily="18" charset="0"/>
                <a:ea typeface="华文细黑" panose="02010600040101010101" pitchFamily="2" charset="-122"/>
                <a:cs typeface="Times New Roman" panose="02020603050405020304" pitchFamily="18" charset="0"/>
              </a:rPr>
              <a:t>beeswarm</a:t>
            </a:r>
            <a:r>
              <a:rPr lang="en-US" altLang="zh-CN" sz="1400" dirty="0">
                <a:effectLst/>
                <a:latin typeface="Cambria" panose="02040503050406030204" pitchFamily="18" charset="0"/>
                <a:ea typeface="华文细黑" panose="02010600040101010101" pitchFamily="2" charset="-122"/>
                <a:cs typeface="Times New Roman" panose="02020603050405020304" pitchFamily="18" charset="0"/>
              </a:rPr>
              <a:t> chart</a:t>
            </a:r>
            <a:r>
              <a:rPr lang="zh-CN" altLang="zh-CN" sz="1400" dirty="0">
                <a:effectLst/>
                <a:latin typeface="Cambria" panose="02040503050406030204" pitchFamily="18" charset="0"/>
                <a:ea typeface="华文细黑" panose="02010600040101010101" pitchFamily="2" charset="-122"/>
                <a:cs typeface="Times New Roman" panose="02020603050405020304" pitchFamily="18" charset="0"/>
              </a:rPr>
              <a:t>）与威尔金森点图很类似，它是通过对数据的轻微扰动（</a:t>
            </a:r>
            <a:r>
              <a:rPr lang="en-US" altLang="zh-CN" sz="1400" dirty="0">
                <a:effectLst/>
                <a:latin typeface="Cambria" panose="02040503050406030204" pitchFamily="18" charset="0"/>
                <a:ea typeface="华文细黑" panose="02010600040101010101" pitchFamily="2" charset="-122"/>
                <a:cs typeface="Times New Roman" panose="02020603050405020304" pitchFamily="18" charset="0"/>
              </a:rPr>
              <a:t>jitter</a:t>
            </a:r>
            <a:r>
              <a:rPr lang="zh-CN" altLang="zh-CN" sz="1400" dirty="0">
                <a:effectLst/>
                <a:latin typeface="Cambria" panose="02040503050406030204" pitchFamily="18" charset="0"/>
                <a:ea typeface="华文细黑" panose="02010600040101010101" pitchFamily="2" charset="-122"/>
                <a:cs typeface="Times New Roman" panose="02020603050405020304" pitchFamily="18" charset="0"/>
              </a:rPr>
              <a:t>）将各个点在垂线两侧向上展开排列成蜂群的形式，扰动的目的是使各个点不重叠</a:t>
            </a:r>
            <a:endParaRPr lang="en-US" altLang="zh-CN" sz="14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dirty="0">
                <a:effectLst/>
                <a:latin typeface="Cambria" panose="02040503050406030204" pitchFamily="18" charset="0"/>
                <a:ea typeface="华文细黑" panose="02010600040101010101" pitchFamily="2" charset="-122"/>
                <a:cs typeface="Times New Roman" panose="02020603050405020304" pitchFamily="18" charset="0"/>
              </a:rPr>
              <a:t>如果我们想展示单个的数据点，而不是分布的形状，则可以使用蜂群图。蜂群图可以与箱线图、小提琴图等结合使用，利用箱线图或小提琴图展示数据分布的形状，用蜂群图展示个数据点。蜂群图也可以用于展示时间序列数据</a:t>
            </a:r>
            <a:endParaRPr lang="en-US" altLang="zh-CN" sz="1400" b="1"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22144C7B-C1E4-BE5C-3EF4-A2F18B43019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47307" y="1656773"/>
            <a:ext cx="7400413" cy="4667827"/>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A1409B04-7B8C-9F3C-8221-6F8A6EEB5FF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展示分布位置和范围</a:t>
            </a:r>
          </a:p>
        </p:txBody>
      </p:sp>
    </p:spTree>
    <p:extLst>
      <p:ext uri="{BB962C8B-B14F-4D97-AF65-F5344CB8AC3E}">
        <p14:creationId xmlns:p14="http://schemas.microsoft.com/office/powerpoint/2010/main" val="556869498"/>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数据分布位置</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云雨图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738553"/>
            <a:ext cx="2862521" cy="4542505"/>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云雨图</a:t>
            </a:r>
            <a:r>
              <a:rPr lang="zh-CN" altLang="zh-CN" sz="14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400" kern="0" dirty="0">
                <a:effectLst/>
                <a:latin typeface="Cambria" panose="02040503050406030204" pitchFamily="18" charset="0"/>
                <a:ea typeface="华文细黑" panose="02010600040101010101" pitchFamily="2" charset="-122"/>
                <a:cs typeface="Times New Roman" panose="02020603050405020304" pitchFamily="18" charset="0"/>
              </a:rPr>
              <a:t>raincloud plot</a:t>
            </a:r>
            <a:r>
              <a:rPr lang="zh-CN" altLang="zh-CN" sz="1400" kern="0" dirty="0">
                <a:effectLst/>
                <a:latin typeface="Cambria" panose="02040503050406030204" pitchFamily="18" charset="0"/>
                <a:ea typeface="华文细黑" panose="02010600040101010101" pitchFamily="2" charset="-122"/>
                <a:cs typeface="Times New Roman" panose="02020603050405020304" pitchFamily="18" charset="0"/>
              </a:rPr>
              <a:t>）是绘制一半的小提琴图，在小提琴图的一侧或下方绘制出点图，形状类似云和雨组成，由于它上是将半个小提琴图和向下堆叠的点图结合在一起绘制的</a:t>
            </a:r>
            <a:r>
              <a:rPr lang="zh-CN" altLang="en-US" sz="14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400" kern="0" dirty="0">
                <a:effectLst/>
                <a:latin typeface="Cambria" panose="02040503050406030204" pitchFamily="18" charset="0"/>
                <a:ea typeface="华文细黑" panose="02010600040101010101" pitchFamily="2" charset="-122"/>
                <a:cs typeface="Times New Roman" panose="02020603050405020304" pitchFamily="18" charset="0"/>
              </a:rPr>
              <a:t>也称为</a:t>
            </a:r>
            <a:r>
              <a:rPr lang="zh-CN" altLang="zh-CN" sz="1400" b="1" kern="0" dirty="0">
                <a:effectLst/>
                <a:latin typeface="Cambria" panose="02040503050406030204" pitchFamily="18" charset="0"/>
                <a:ea typeface="华文细黑" panose="02010600040101010101" pitchFamily="2" charset="-122"/>
                <a:cs typeface="Times New Roman" panose="02020603050405020304" pitchFamily="18" charset="0"/>
              </a:rPr>
              <a:t>半小提琴半点图</a:t>
            </a:r>
            <a:r>
              <a:rPr lang="zh-CN" altLang="zh-CN" sz="14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400" kern="0" dirty="0">
                <a:effectLst/>
                <a:latin typeface="Cambria" panose="02040503050406030204" pitchFamily="18" charset="0"/>
                <a:ea typeface="华文细黑" panose="02010600040101010101" pitchFamily="2" charset="-122"/>
                <a:cs typeface="Times New Roman" panose="02020603050405020304" pitchFamily="18" charset="0"/>
              </a:rPr>
              <a:t>half-violin Half-dot plot</a:t>
            </a:r>
            <a:r>
              <a:rPr lang="zh-CN" altLang="zh-CN" sz="1400" kern="0" dirty="0">
                <a:effectLst/>
                <a:latin typeface="Cambria" panose="02040503050406030204" pitchFamily="18" charset="0"/>
                <a:ea typeface="华文细黑" panose="02010600040101010101" pitchFamily="2" charset="-122"/>
                <a:cs typeface="Times New Roman" panose="02020603050405020304" pitchFamily="18" charset="0"/>
              </a:rPr>
              <a:t>）</a:t>
            </a:r>
            <a:endParaRPr lang="en-US" altLang="zh-CN" sz="14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kern="0" dirty="0">
                <a:effectLst/>
                <a:latin typeface="Cambria" panose="02040503050406030204" pitchFamily="18" charset="0"/>
                <a:ea typeface="华文细黑" panose="02010600040101010101" pitchFamily="2" charset="-122"/>
                <a:cs typeface="Times New Roman" panose="02020603050405020304" pitchFamily="18" charset="0"/>
              </a:rPr>
              <a:t>云雨图同时提供了小提琴图和点图的信息，它用小提琴图展示数据分布的形状，用点图展示数据点的分布位置</a:t>
            </a:r>
            <a:endParaRPr lang="en-US" altLang="zh-CN" sz="1400" b="1"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DDB1A800-B38B-5802-F321-31EC9160F47F}"/>
              </a:ext>
            </a:extLst>
          </p:cNvPr>
          <p:cNvPicPr>
            <a:picLocks noChangeAspect="1"/>
          </p:cNvPicPr>
          <p:nvPr/>
        </p:nvPicPr>
        <p:blipFill>
          <a:blip r:embed="rId2"/>
          <a:stretch>
            <a:fillRect/>
          </a:stretch>
        </p:blipFill>
        <p:spPr>
          <a:xfrm>
            <a:off x="3766457" y="1738553"/>
            <a:ext cx="7681264" cy="4542504"/>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5CC61E8A-D28D-3768-49CA-44EBDF83C27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展示分布位置和范围</a:t>
            </a:r>
          </a:p>
        </p:txBody>
      </p:sp>
    </p:spTree>
    <p:extLst>
      <p:ext uri="{BB962C8B-B14F-4D97-AF65-F5344CB8AC3E}">
        <p14:creationId xmlns:p14="http://schemas.microsoft.com/office/powerpoint/2010/main" val="590610427"/>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数据分布位置和范围</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656773"/>
            <a:ext cx="10707492" cy="468959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在实际数据分析中，通常关心最大值和最小值及其变化范围（极差）</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数据分布范围主要是指一组数据的最大值和最小值之差，也就是极差范围</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也可以是中间</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50%</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数据的分布范围，也就是四分位差范围</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本书将根据数据分布范围绘制的图形称为</a:t>
            </a:r>
            <a:r>
              <a:rPr lang="zh-CN" altLang="zh-CN" sz="22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极差图</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range chart</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），它是用最小值和最大值来可视化数据变化范围的图形，</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也可以绘制出最小值、</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25%</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分位数、中位数、</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75%</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分位数、最大值的变化范围</a:t>
            </a:r>
            <a:r>
              <a:rPr lang="zh-CN" altLang="en-US" sz="2200" dirty="0">
                <a:effectLst/>
                <a:latin typeface="Cambria" panose="02040503050406030204" pitchFamily="18" charset="0"/>
                <a:ea typeface="华文细黑" panose="02010600040101010101" pitchFamily="2" charset="-122"/>
                <a:cs typeface="Times New Roman" panose="02020603050405020304" pitchFamily="18" charset="0"/>
              </a:rPr>
              <a:t>，其可视化图形可称为</a:t>
            </a:r>
            <a:r>
              <a:rPr lang="zh-CN" altLang="en-US" sz="22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五数概括图</a:t>
            </a:r>
            <a:endParaRPr lang="zh-CN" altLang="zh-CN" sz="2200" b="1" dirty="0">
              <a:effectLst/>
              <a:highlight>
                <a:srgbClr val="FFFF99"/>
              </a:highlight>
              <a:latin typeface="Times New Roman" panose="02020603050405020304" pitchFamily="18" charset="0"/>
              <a:ea typeface="宋体" panose="02010600030101010101" pitchFamily="2" charset="-122"/>
            </a:endParaRPr>
          </a:p>
        </p:txBody>
      </p:sp>
      <p:sp>
        <p:nvSpPr>
          <p:cNvPr id="3" name="Rectangle 2">
            <a:extLst>
              <a:ext uri="{FF2B5EF4-FFF2-40B4-BE49-F238E27FC236}">
                <a16:creationId xmlns:a16="http://schemas.microsoft.com/office/drawing/2014/main" id="{E41DF475-B663-4659-0749-30BA702CCD0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展示分布位置和范围</a:t>
            </a:r>
          </a:p>
        </p:txBody>
      </p:sp>
    </p:spTree>
    <p:extLst>
      <p:ext uri="{BB962C8B-B14F-4D97-AF65-F5344CB8AC3E}">
        <p14:creationId xmlns:p14="http://schemas.microsoft.com/office/powerpoint/2010/main" val="3609176159"/>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数据分布范围</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极差图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711203"/>
            <a:ext cx="4012778" cy="2033484"/>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用最小值和最大值来可视化数据变化范围的图形</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可绘制成线条和图像等形式</a:t>
            </a:r>
            <a:endParaRPr lang="zh-CN" altLang="zh-CN" sz="2200" b="1" dirty="0">
              <a:effectLst/>
              <a:latin typeface="Times New Roman" panose="02020603050405020304" pitchFamily="18" charset="0"/>
              <a:ea typeface="宋体" panose="02010600030101010101" pitchFamily="2" charset="-122"/>
            </a:endParaRPr>
          </a:p>
        </p:txBody>
      </p:sp>
      <p:pic>
        <p:nvPicPr>
          <p:cNvPr id="3" name="图片 2">
            <a:extLst>
              <a:ext uri="{FF2B5EF4-FFF2-40B4-BE49-F238E27FC236}">
                <a16:creationId xmlns:a16="http://schemas.microsoft.com/office/drawing/2014/main" id="{631D7F87-46EF-B0F4-2D14-E77EAF8BDC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74771" y="1711203"/>
            <a:ext cx="6472950" cy="4646054"/>
          </a:xfrm>
          <a:prstGeom prst="rect">
            <a:avLst/>
          </a:prstGeom>
          <a:noFill/>
          <a:ln w="6350">
            <a:solidFill>
              <a:schemeClr val="bg1">
                <a:lumMod val="75000"/>
              </a:schemeClr>
            </a:solidFill>
          </a:ln>
        </p:spPr>
      </p:pic>
      <p:sp>
        <p:nvSpPr>
          <p:cNvPr id="4" name="Rectangle 3">
            <a:extLst>
              <a:ext uri="{FF2B5EF4-FFF2-40B4-BE49-F238E27FC236}">
                <a16:creationId xmlns:a16="http://schemas.microsoft.com/office/drawing/2014/main" id="{CA753FEE-6F00-CD74-FAE9-BCC29ADB8C05}"/>
              </a:ext>
            </a:extLst>
          </p:cNvPr>
          <p:cNvSpPr txBox="1">
            <a:spLocks noChangeArrowheads="1"/>
          </p:cNvSpPr>
          <p:nvPr/>
        </p:nvSpPr>
        <p:spPr>
          <a:xfrm>
            <a:off x="696686" y="4071259"/>
            <a:ext cx="4012778" cy="228599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—AQI</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和</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6</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项空气污染指标的</a:t>
            </a:r>
            <a:r>
              <a:rPr lang="zh-CN" altLang="en-US" sz="2200" kern="0" dirty="0">
                <a:latin typeface="Cambria" panose="02040503050406030204" pitchFamily="18" charset="0"/>
                <a:ea typeface="华文细黑" panose="02010600040101010101" pitchFamily="2" charset="-122"/>
                <a:cs typeface="Times New Roman" panose="02020603050405020304" pitchFamily="18" charset="0"/>
              </a:rPr>
              <a:t>极差图</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6" name="Rectangle 2">
            <a:extLst>
              <a:ext uri="{FF2B5EF4-FFF2-40B4-BE49-F238E27FC236}">
                <a16:creationId xmlns:a16="http://schemas.microsoft.com/office/drawing/2014/main" id="{D5971B8A-2017-984F-1FFD-9B9A00BF243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展示分布位置和范围</a:t>
            </a:r>
          </a:p>
        </p:txBody>
      </p:sp>
    </p:spTree>
    <p:extLst>
      <p:ext uri="{BB962C8B-B14F-4D97-AF65-F5344CB8AC3E}">
        <p14:creationId xmlns:p14="http://schemas.microsoft.com/office/powerpoint/2010/main" val="3062393938"/>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数据分布范围</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五数概括图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743861"/>
            <a:ext cx="4415550" cy="460251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最小值、</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25%</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分位数、中位数、</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75%</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分位数、最大值在统计上称为</a:t>
            </a:r>
            <a:r>
              <a:rPr lang="zh-CN" altLang="zh-CN" sz="1800" b="1" dirty="0">
                <a:effectLst/>
                <a:latin typeface="Cambria" panose="02040503050406030204" pitchFamily="18" charset="0"/>
                <a:ea typeface="华文细黑" panose="02010600040101010101" pitchFamily="2" charset="-122"/>
                <a:cs typeface="Times New Roman" panose="02020603050405020304" pitchFamily="18" charset="0"/>
              </a:rPr>
              <a:t>五数概括</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five-number summary</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它们简要概括了一组数据的数值特征，其中最大值和最小值的范围就是极差图，</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25%</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分位数和</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75%</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分位数之差就是四分位差范围，它反映了中间</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50%</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数据的离散程度，</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本书将展示五数概括变化范围的图形称为五数概括图</a:t>
            </a:r>
            <a:endParaRPr lang="zh-CN" altLang="zh-CN" sz="2200" b="1" dirty="0">
              <a:effectLst/>
              <a:latin typeface="Times New Roman" panose="02020603050405020304" pitchFamily="18" charset="0"/>
              <a:ea typeface="宋体" panose="02010600030101010101" pitchFamily="2" charset="-122"/>
            </a:endParaRPr>
          </a:p>
        </p:txBody>
      </p:sp>
      <p:sp>
        <p:nvSpPr>
          <p:cNvPr id="4" name="Rectangle 3">
            <a:extLst>
              <a:ext uri="{FF2B5EF4-FFF2-40B4-BE49-F238E27FC236}">
                <a16:creationId xmlns:a16="http://schemas.microsoft.com/office/drawing/2014/main" id="{CA753FEE-6F00-CD74-FAE9-BCC29ADB8C05}"/>
              </a:ext>
            </a:extLst>
          </p:cNvPr>
          <p:cNvSpPr txBox="1">
            <a:spLocks noChangeArrowheads="1"/>
          </p:cNvSpPr>
          <p:nvPr/>
        </p:nvSpPr>
        <p:spPr>
          <a:xfrm>
            <a:off x="5317488" y="1743861"/>
            <a:ext cx="6130231" cy="57345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—AQI</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和</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6</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项空气污染指标的</a:t>
            </a:r>
            <a:r>
              <a:rPr lang="zh-CN" altLang="en-US" sz="2000" kern="0" dirty="0">
                <a:latin typeface="Cambria" panose="02040503050406030204" pitchFamily="18" charset="0"/>
                <a:ea typeface="华文细黑" panose="02010600040101010101" pitchFamily="2" charset="-122"/>
                <a:cs typeface="Times New Roman" panose="02020603050405020304" pitchFamily="18" charset="0"/>
              </a:rPr>
              <a:t>五数概括图</a:t>
            </a:r>
            <a:endParaRPr lang="en-US"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5F9F08B9-FB3D-1E6F-7B2D-63BAE8C6DE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17489" y="2373088"/>
            <a:ext cx="6130231" cy="3973283"/>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7E159136-2CB2-CFE3-B0D1-CF3954464AF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5.2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展示分布位置和范围</a:t>
            </a:r>
          </a:p>
        </p:txBody>
      </p:sp>
    </p:spTree>
    <p:extLst>
      <p:ext uri="{BB962C8B-B14F-4D97-AF65-F5344CB8AC3E}">
        <p14:creationId xmlns:p14="http://schemas.microsoft.com/office/powerpoint/2010/main" val="3972079467"/>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正态概率图</a:t>
            </a:r>
            <a:endParaRPr lang="en-US" altLang="zh-CN" sz="2600" b="1" dirty="0">
              <a:solidFill>
                <a:srgbClr val="002060"/>
              </a:solidFill>
              <a:ea typeface="华文细黑" panose="02010600040101010101" pitchFamily="2" charset="-122"/>
            </a:endParaRPr>
          </a:p>
        </p:txBody>
      </p:sp>
      <p:sp>
        <p:nvSpPr>
          <p:cNvPr id="12" name="Rectangle 3">
            <a:extLst>
              <a:ext uri="{FF2B5EF4-FFF2-40B4-BE49-F238E27FC236}">
                <a16:creationId xmlns:a16="http://schemas.microsoft.com/office/drawing/2014/main" id="{CDC707FA-1ED5-4D01-8835-69AA68E9A4DB}"/>
              </a:ext>
            </a:extLst>
          </p:cNvPr>
          <p:cNvSpPr txBox="1">
            <a:spLocks noChangeArrowheads="1"/>
          </p:cNvSpPr>
          <p:nvPr/>
        </p:nvSpPr>
        <p:spPr>
          <a:xfrm>
            <a:off x="776177" y="1711842"/>
            <a:ext cx="10781414" cy="463452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en-US" sz="2200" b="1" dirty="0">
                <a:highlight>
                  <a:srgbClr val="FFFF99"/>
                </a:highlight>
                <a:latin typeface="Cambria" panose="02040503050406030204" pitchFamily="18" charset="0"/>
                <a:ea typeface="华文细黑" panose="02010600040101010101" pitchFamily="2" charset="-122"/>
              </a:rPr>
              <a:t>正态概率图</a:t>
            </a:r>
            <a:r>
              <a:rPr lang="en-US" altLang="zh-CN" sz="2200" dirty="0">
                <a:latin typeface="Cambria" panose="02040503050406030204" pitchFamily="18" charset="0"/>
                <a:ea typeface="Cambria" panose="02040503050406030204" pitchFamily="18" charset="0"/>
              </a:rPr>
              <a:t>——</a:t>
            </a:r>
            <a:r>
              <a:rPr lang="zh-CN" altLang="zh-CN" sz="2200" dirty="0">
                <a:latin typeface="Cambria" panose="02040503050406030204" pitchFamily="18" charset="0"/>
                <a:ea typeface="华文细黑" panose="02010600040101010101" pitchFamily="2" charset="-122"/>
              </a:rPr>
              <a:t>检验正态性假定是否成立，这就是正态性检验（</a:t>
            </a:r>
            <a:r>
              <a:rPr lang="en-US" altLang="zh-CN" sz="2200" dirty="0" err="1">
                <a:latin typeface="Cambria" panose="02040503050406030204" pitchFamily="18" charset="0"/>
                <a:ea typeface="Cambria" panose="02040503050406030204" pitchFamily="18" charset="0"/>
              </a:rPr>
              <a:t>mormality</a:t>
            </a:r>
            <a:r>
              <a:rPr lang="en-US" altLang="zh-CN" sz="2200" dirty="0">
                <a:latin typeface="Cambria" panose="02040503050406030204" pitchFamily="18" charset="0"/>
                <a:ea typeface="Cambria" panose="02040503050406030204" pitchFamily="18" charset="0"/>
              </a:rPr>
              <a:t> test</a:t>
            </a:r>
            <a:r>
              <a:rPr lang="zh-CN" altLang="zh-CN" sz="2200" dirty="0">
                <a:latin typeface="Cambria" panose="02040503050406030204" pitchFamily="18" charset="0"/>
                <a:ea typeface="华文细黑" panose="02010600040101010101" pitchFamily="2" charset="-122"/>
              </a:rPr>
              <a:t>）</a:t>
            </a:r>
            <a:endParaRPr lang="en-US" altLang="zh-CN" sz="2200" dirty="0">
              <a:latin typeface="Cambria" panose="02040503050406030204" pitchFamily="18" charset="0"/>
              <a:ea typeface="Cambria" panose="020405030504060302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latin typeface="Cambria" panose="02040503050406030204" pitchFamily="18" charset="0"/>
                <a:ea typeface="华文细黑" panose="02010600040101010101" pitchFamily="2" charset="-122"/>
              </a:rPr>
              <a:t>正态概率图有两种画法，一种称为</a:t>
            </a:r>
            <a:r>
              <a:rPr lang="en-US" altLang="zh-CN" sz="2200" dirty="0">
                <a:latin typeface="Cambria" panose="02040503050406030204" pitchFamily="18" charset="0"/>
                <a:ea typeface="Cambria" panose="02040503050406030204" pitchFamily="18" charset="0"/>
              </a:rPr>
              <a:t>Q-Q</a:t>
            </a:r>
            <a:r>
              <a:rPr lang="zh-CN" altLang="zh-CN" sz="2200" dirty="0">
                <a:latin typeface="Cambria" panose="02040503050406030204" pitchFamily="18" charset="0"/>
                <a:ea typeface="华文细黑" panose="02010600040101010101" pitchFamily="2" charset="-122"/>
              </a:rPr>
              <a:t>图（</a:t>
            </a:r>
            <a:r>
              <a:rPr lang="en-US" altLang="zh-CN" sz="2200" dirty="0">
                <a:latin typeface="Cambria" panose="02040503050406030204" pitchFamily="18" charset="0"/>
                <a:ea typeface="Cambria" panose="02040503050406030204" pitchFamily="18" charset="0"/>
              </a:rPr>
              <a:t>Quantile-Quantile plot</a:t>
            </a:r>
            <a:r>
              <a:rPr lang="zh-CN" altLang="zh-CN" sz="2200" dirty="0">
                <a:latin typeface="Cambria" panose="02040503050406030204" pitchFamily="18" charset="0"/>
                <a:ea typeface="华文细黑" panose="02010600040101010101" pitchFamily="2" charset="-122"/>
              </a:rPr>
              <a:t>），一种称为</a:t>
            </a:r>
            <a:r>
              <a:rPr lang="en-US" altLang="zh-CN" sz="2200" dirty="0">
                <a:latin typeface="Cambria" panose="02040503050406030204" pitchFamily="18" charset="0"/>
                <a:ea typeface="Cambria" panose="02040503050406030204" pitchFamily="18" charset="0"/>
              </a:rPr>
              <a:t>P-P</a:t>
            </a:r>
            <a:r>
              <a:rPr lang="zh-CN" altLang="zh-CN" sz="2200" dirty="0">
                <a:latin typeface="Cambria" panose="02040503050406030204" pitchFamily="18" charset="0"/>
                <a:ea typeface="华文细黑" panose="02010600040101010101" pitchFamily="2" charset="-122"/>
              </a:rPr>
              <a:t>图（</a:t>
            </a:r>
            <a:r>
              <a:rPr lang="en-US" altLang="zh-CN" sz="2200" dirty="0">
                <a:latin typeface="Cambria" panose="02040503050406030204" pitchFamily="18" charset="0"/>
                <a:ea typeface="Cambria" panose="02040503050406030204" pitchFamily="18" charset="0"/>
              </a:rPr>
              <a:t>Probability-Probability plot</a:t>
            </a:r>
            <a:r>
              <a:rPr lang="zh-CN" altLang="zh-CN" sz="2200" dirty="0">
                <a:latin typeface="Cambria" panose="02040503050406030204" pitchFamily="18" charset="0"/>
                <a:ea typeface="华文细黑" panose="02010600040101010101" pitchFamily="2" charset="-122"/>
              </a:rPr>
              <a:t>）</a:t>
            </a:r>
            <a:endParaRPr lang="en-US" altLang="zh-CN" sz="2200" dirty="0">
              <a:latin typeface="Cambria" panose="02040503050406030204" pitchFamily="18" charset="0"/>
              <a:ea typeface="Cambria" panose="020405030504060302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en-US" altLang="zh-CN" sz="2200" dirty="0">
                <a:latin typeface="Cambria" panose="02040503050406030204" pitchFamily="18" charset="0"/>
                <a:ea typeface="Cambria" panose="02040503050406030204" pitchFamily="18" charset="0"/>
              </a:rPr>
              <a:t>Q-Q</a:t>
            </a:r>
            <a:r>
              <a:rPr lang="zh-CN" altLang="zh-CN" sz="2200" dirty="0">
                <a:latin typeface="Cambria" panose="02040503050406030204" pitchFamily="18" charset="0"/>
                <a:ea typeface="华文细黑" panose="02010600040101010101" pitchFamily="2" charset="-122"/>
              </a:rPr>
              <a:t>图是样本数据的分位数与理论分布（如正态分布）的分位数的符合程度绘制的，有时也称为分位数</a:t>
            </a:r>
            <a:r>
              <a:rPr lang="en-US" altLang="zh-CN" sz="2200" dirty="0">
                <a:latin typeface="Cambria" panose="02040503050406030204" pitchFamily="18" charset="0"/>
                <a:ea typeface="Cambria" panose="02040503050406030204" pitchFamily="18" charset="0"/>
              </a:rPr>
              <a:t>-</a:t>
            </a:r>
            <a:r>
              <a:rPr lang="zh-CN" altLang="zh-CN" sz="2200" dirty="0">
                <a:latin typeface="Cambria" panose="02040503050406030204" pitchFamily="18" charset="0"/>
                <a:ea typeface="华文细黑" panose="02010600040101010101" pitchFamily="2" charset="-122"/>
              </a:rPr>
              <a:t>分位数图</a:t>
            </a:r>
            <a:endParaRPr lang="en-US" altLang="zh-CN" sz="2200" dirty="0">
              <a:latin typeface="Cambria" panose="02040503050406030204" pitchFamily="18" charset="0"/>
              <a:ea typeface="Cambria" panose="020405030504060302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en-US" altLang="zh-CN" sz="2200" dirty="0">
                <a:latin typeface="Cambria" panose="02040503050406030204" pitchFamily="18" charset="0"/>
                <a:ea typeface="Cambria" panose="02040503050406030204" pitchFamily="18" charset="0"/>
              </a:rPr>
              <a:t>P-P</a:t>
            </a:r>
            <a:r>
              <a:rPr lang="zh-CN" altLang="zh-CN" sz="2200" dirty="0">
                <a:latin typeface="Cambria" panose="02040503050406030204" pitchFamily="18" charset="0"/>
                <a:ea typeface="华文细黑" panose="02010600040101010101" pitchFamily="2" charset="-122"/>
              </a:rPr>
              <a:t>图则是根据样本数据的累积概率与理论分布（如正态分布）的累积概率的符合程度绘制的</a:t>
            </a:r>
          </a:p>
          <a:p>
            <a:pPr marL="0" indent="0" algn="just" eaLnBrk="0" hangingPunct="0">
              <a:lnSpc>
                <a:spcPct val="150000"/>
              </a:lnSpc>
              <a:spcBef>
                <a:spcPct val="50000"/>
              </a:spcBef>
              <a:buClr>
                <a:srgbClr val="000099"/>
              </a:buClr>
              <a:buNone/>
              <a:defRPr/>
            </a:pPr>
            <a:endParaRPr lang="zh-CN" altLang="zh-CN" sz="2200" b="1" dirty="0">
              <a:solidFill>
                <a:srgbClr val="FF0000"/>
              </a:solidFill>
              <a:latin typeface="Cambria" panose="02040503050406030204" pitchFamily="18" charset="0"/>
              <a:ea typeface="华文细黑" panose="02010600040101010101" pitchFamily="2" charset="-122"/>
            </a:endParaRPr>
          </a:p>
        </p:txBody>
      </p:sp>
      <p:sp>
        <p:nvSpPr>
          <p:cNvPr id="3" name="Rectangle 2">
            <a:extLst>
              <a:ext uri="{FF2B5EF4-FFF2-40B4-BE49-F238E27FC236}">
                <a16:creationId xmlns:a16="http://schemas.microsoft.com/office/drawing/2014/main" id="{EDDD9A8C-87AA-4609-924A-54936F7B838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检验数据分布</a:t>
            </a:r>
          </a:p>
        </p:txBody>
      </p:sp>
    </p:spTree>
    <p:extLst>
      <p:ext uri="{BB962C8B-B14F-4D97-AF65-F5344CB8AC3E}">
        <p14:creationId xmlns:p14="http://schemas.microsoft.com/office/powerpoint/2010/main" val="3102068924"/>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正态性检验</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正态</a:t>
            </a:r>
            <a:r>
              <a:rPr lang="en-US" altLang="zh-CN" sz="2600" b="1" dirty="0">
                <a:solidFill>
                  <a:srgbClr val="002060"/>
                </a:solidFill>
                <a:ea typeface="华文细黑" panose="02010600040101010101" pitchFamily="2" charset="-122"/>
              </a:rPr>
              <a:t>Q-Q</a:t>
            </a:r>
            <a:r>
              <a:rPr lang="zh-CN" altLang="en-US" sz="2600" b="1" dirty="0">
                <a:solidFill>
                  <a:srgbClr val="002060"/>
                </a:solidFill>
                <a:ea typeface="华文细黑" panose="02010600040101010101" pitchFamily="2" charset="-122"/>
              </a:rPr>
              <a:t>和</a:t>
            </a:r>
            <a:r>
              <a:rPr lang="en-US" altLang="zh-CN" sz="2600" b="1" dirty="0">
                <a:solidFill>
                  <a:srgbClr val="002060"/>
                </a:solidFill>
                <a:ea typeface="华文细黑" panose="02010600040101010101" pitchFamily="2" charset="-122"/>
              </a:rPr>
              <a:t>PP</a:t>
            </a:r>
            <a:r>
              <a:rPr lang="zh-CN" altLang="en-US" sz="2600" b="1" dirty="0">
                <a:solidFill>
                  <a:srgbClr val="002060"/>
                </a:solidFill>
                <a:ea typeface="华文细黑" panose="02010600040101010101" pitchFamily="2" charset="-122"/>
              </a:rPr>
              <a:t>图的解读图</a:t>
            </a:r>
            <a:endParaRPr lang="en-US" altLang="zh-CN" sz="2600" b="1" dirty="0">
              <a:solidFill>
                <a:srgbClr val="002060"/>
              </a:solidFill>
              <a:ea typeface="华文细黑" panose="02010600040101010101" pitchFamily="2" charset="-122"/>
            </a:endParaRPr>
          </a:p>
        </p:txBody>
      </p:sp>
      <p:sp>
        <p:nvSpPr>
          <p:cNvPr id="10" name="Rectangle 3">
            <a:extLst>
              <a:ext uri="{FF2B5EF4-FFF2-40B4-BE49-F238E27FC236}">
                <a16:creationId xmlns:a16="http://schemas.microsoft.com/office/drawing/2014/main" id="{8D475D58-6EAD-B373-865A-F47F46E44C6A}"/>
              </a:ext>
            </a:extLst>
          </p:cNvPr>
          <p:cNvSpPr txBox="1">
            <a:spLocks noChangeArrowheads="1"/>
          </p:cNvSpPr>
          <p:nvPr/>
        </p:nvSpPr>
        <p:spPr>
          <a:xfrm>
            <a:off x="748937" y="1752488"/>
            <a:ext cx="5488577" cy="714465"/>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20000"/>
              </a:lnSpc>
              <a:buClr>
                <a:srgbClr val="00FFFF"/>
              </a:buClr>
              <a:buNone/>
            </a:pPr>
            <a:r>
              <a:rPr lang="zh-CN" altLang="zh-CN" sz="2200" dirty="0">
                <a:latin typeface="Cambria" panose="02040503050406030204" pitchFamily="18" charset="0"/>
                <a:ea typeface="华文细黑" panose="02010600040101010101" pitchFamily="2" charset="-122"/>
              </a:rPr>
              <a:t>不同分布的直方图与正态</a:t>
            </a:r>
            <a:r>
              <a:rPr lang="en-US" altLang="zh-CN" sz="2200" dirty="0">
                <a:latin typeface="Cambria" panose="02040503050406030204" pitchFamily="18" charset="0"/>
                <a:ea typeface="华文细黑" panose="02010600040101010101" pitchFamily="2" charset="-122"/>
              </a:rPr>
              <a:t>Q-Q</a:t>
            </a:r>
            <a:r>
              <a:rPr lang="zh-CN" altLang="zh-CN" sz="2200" dirty="0">
                <a:latin typeface="Cambria" panose="02040503050406030204" pitchFamily="18" charset="0"/>
                <a:ea typeface="华文细黑" panose="02010600040101010101" pitchFamily="2" charset="-122"/>
              </a:rPr>
              <a:t>图的比较</a:t>
            </a:r>
          </a:p>
        </p:txBody>
      </p:sp>
      <p:pic>
        <p:nvPicPr>
          <p:cNvPr id="4" name="图片 3">
            <a:extLst>
              <a:ext uri="{FF2B5EF4-FFF2-40B4-BE49-F238E27FC236}">
                <a16:creationId xmlns:a16="http://schemas.microsoft.com/office/drawing/2014/main" id="{4C7F301E-9C23-E514-495F-3774BC2B069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66114" y="1752488"/>
            <a:ext cx="5072743" cy="4604769"/>
          </a:xfrm>
          <a:prstGeom prst="rect">
            <a:avLst/>
          </a:prstGeom>
          <a:noFill/>
          <a:ln w="6350">
            <a:solidFill>
              <a:schemeClr val="bg1">
                <a:lumMod val="75000"/>
              </a:schemeClr>
            </a:solidFill>
          </a:ln>
        </p:spPr>
      </p:pic>
      <p:pic>
        <p:nvPicPr>
          <p:cNvPr id="5" name="图片 4">
            <a:extLst>
              <a:ext uri="{FF2B5EF4-FFF2-40B4-BE49-F238E27FC236}">
                <a16:creationId xmlns:a16="http://schemas.microsoft.com/office/drawing/2014/main" id="{1D5166D1-E567-CA68-8F28-8D337ACB8020}"/>
              </a:ext>
            </a:extLst>
          </p:cNvPr>
          <p:cNvPicPr>
            <a:picLocks noChangeAspect="1"/>
          </p:cNvPicPr>
          <p:nvPr/>
        </p:nvPicPr>
        <p:blipFill>
          <a:blip r:embed="rId3"/>
          <a:stretch>
            <a:fillRect/>
          </a:stretch>
        </p:blipFill>
        <p:spPr>
          <a:xfrm>
            <a:off x="748937" y="3905387"/>
            <a:ext cx="5488577" cy="2451870"/>
          </a:xfrm>
          <a:prstGeom prst="rect">
            <a:avLst/>
          </a:prstGeom>
          <a:ln w="6350">
            <a:solidFill>
              <a:schemeClr val="bg1">
                <a:lumMod val="75000"/>
              </a:schemeClr>
            </a:solidFill>
          </a:ln>
        </p:spPr>
      </p:pic>
      <p:sp>
        <p:nvSpPr>
          <p:cNvPr id="7" name="Rectangle 3">
            <a:extLst>
              <a:ext uri="{FF2B5EF4-FFF2-40B4-BE49-F238E27FC236}">
                <a16:creationId xmlns:a16="http://schemas.microsoft.com/office/drawing/2014/main" id="{4C5EF737-D9EA-67EE-DA76-15E65122CE9F}"/>
              </a:ext>
            </a:extLst>
          </p:cNvPr>
          <p:cNvSpPr txBox="1">
            <a:spLocks noChangeArrowheads="1"/>
          </p:cNvSpPr>
          <p:nvPr/>
        </p:nvSpPr>
        <p:spPr>
          <a:xfrm>
            <a:off x="748936" y="3039701"/>
            <a:ext cx="5488577" cy="763484"/>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—AQI</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的正态</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Q-Q</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图和</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P-P</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图</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51801601-CB73-0EDF-3618-DBE588FF04B8}"/>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检验数据分布</a:t>
            </a:r>
          </a:p>
        </p:txBody>
      </p:sp>
    </p:spTree>
    <p:extLst>
      <p:ext uri="{BB962C8B-B14F-4D97-AF65-F5344CB8AC3E}">
        <p14:creationId xmlns:p14="http://schemas.microsoft.com/office/powerpoint/2010/main" val="4245448223"/>
      </p:ext>
    </p:extLst>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正态性检验</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正态</a:t>
            </a:r>
            <a:r>
              <a:rPr lang="en-US" altLang="zh-CN" sz="2600" b="1" dirty="0">
                <a:solidFill>
                  <a:srgbClr val="002060"/>
                </a:solidFill>
                <a:ea typeface="华文细黑" panose="02010600040101010101" pitchFamily="2" charset="-122"/>
              </a:rPr>
              <a:t>Q-Q</a:t>
            </a:r>
            <a:r>
              <a:rPr lang="zh-CN" altLang="en-US" sz="2600" b="1" dirty="0">
                <a:solidFill>
                  <a:srgbClr val="002060"/>
                </a:solidFill>
                <a:ea typeface="华文细黑" panose="02010600040101010101" pitchFamily="2" charset="-122"/>
              </a:rPr>
              <a:t>和</a:t>
            </a:r>
            <a:r>
              <a:rPr lang="en-US" altLang="zh-CN" sz="2600" b="1" dirty="0">
                <a:solidFill>
                  <a:srgbClr val="002060"/>
                </a:solidFill>
                <a:ea typeface="华文细黑" panose="02010600040101010101" pitchFamily="2" charset="-122"/>
              </a:rPr>
              <a:t>PP</a:t>
            </a:r>
            <a:r>
              <a:rPr lang="zh-CN" altLang="en-US" sz="2600" b="1" dirty="0">
                <a:solidFill>
                  <a:srgbClr val="002060"/>
                </a:solidFill>
                <a:ea typeface="华文细黑" panose="02010600040101010101" pitchFamily="2" charset="-122"/>
              </a:rPr>
              <a:t>图的解读图</a:t>
            </a:r>
            <a:endParaRPr lang="en-US" altLang="zh-CN" sz="2600" b="1" dirty="0">
              <a:solidFill>
                <a:srgbClr val="002060"/>
              </a:solidFill>
              <a:ea typeface="华文细黑" panose="02010600040101010101" pitchFamily="2" charset="-122"/>
            </a:endParaRPr>
          </a:p>
        </p:txBody>
      </p:sp>
      <p:sp>
        <p:nvSpPr>
          <p:cNvPr id="7" name="Rectangle 3">
            <a:extLst>
              <a:ext uri="{FF2B5EF4-FFF2-40B4-BE49-F238E27FC236}">
                <a16:creationId xmlns:a16="http://schemas.microsoft.com/office/drawing/2014/main" id="{4C5EF737-D9EA-67EE-DA76-15E65122CE9F}"/>
              </a:ext>
            </a:extLst>
          </p:cNvPr>
          <p:cNvSpPr txBox="1">
            <a:spLocks noChangeArrowheads="1"/>
          </p:cNvSpPr>
          <p:nvPr/>
        </p:nvSpPr>
        <p:spPr>
          <a:xfrm>
            <a:off x="748938" y="1715134"/>
            <a:ext cx="3398519" cy="4620351"/>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6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6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600" kern="0" dirty="0">
                <a:latin typeface="Cambria" panose="02040503050406030204" pitchFamily="18" charset="0"/>
                <a:ea typeface="华文细黑" panose="02010600040101010101" pitchFamily="2" charset="-122"/>
                <a:cs typeface="Times New Roman" panose="02020603050405020304" pitchFamily="18" charset="0"/>
              </a:rPr>
              <a:t>—6</a:t>
            </a:r>
            <a:r>
              <a:rPr lang="zh-CN" altLang="zh-CN" sz="2600" kern="0" dirty="0">
                <a:latin typeface="Cambria" panose="02040503050406030204" pitchFamily="18" charset="0"/>
                <a:ea typeface="华文细黑" panose="02010600040101010101" pitchFamily="2" charset="-122"/>
                <a:cs typeface="Times New Roman" panose="02020603050405020304" pitchFamily="18" charset="0"/>
              </a:rPr>
              <a:t>项空气污染指标的正态</a:t>
            </a:r>
            <a:r>
              <a:rPr lang="en-US" altLang="zh-CN" sz="2600" kern="0" dirty="0">
                <a:latin typeface="Cambria" panose="02040503050406030204" pitchFamily="18" charset="0"/>
                <a:ea typeface="华文细黑" panose="02010600040101010101" pitchFamily="2" charset="-122"/>
                <a:cs typeface="Times New Roman" panose="02020603050405020304" pitchFamily="18" charset="0"/>
              </a:rPr>
              <a:t>Q-Q</a:t>
            </a:r>
            <a:r>
              <a:rPr lang="zh-CN" altLang="zh-CN" sz="2600" kern="0" dirty="0">
                <a:latin typeface="Cambria" panose="02040503050406030204" pitchFamily="18" charset="0"/>
                <a:ea typeface="华文细黑" panose="02010600040101010101" pitchFamily="2" charset="-122"/>
                <a:cs typeface="Times New Roman" panose="02020603050405020304" pitchFamily="18" charset="0"/>
              </a:rPr>
              <a:t>图和</a:t>
            </a:r>
            <a:r>
              <a:rPr lang="en-US" altLang="zh-CN" sz="2600" kern="0" dirty="0">
                <a:latin typeface="Cambria" panose="02040503050406030204" pitchFamily="18" charset="0"/>
                <a:ea typeface="华文细黑" panose="02010600040101010101" pitchFamily="2" charset="-122"/>
                <a:cs typeface="Times New Roman" panose="02020603050405020304" pitchFamily="18" charset="0"/>
              </a:rPr>
              <a:t>P-P</a:t>
            </a:r>
            <a:r>
              <a:rPr lang="zh-CN" altLang="zh-CN" sz="2600" kern="0" dirty="0">
                <a:latin typeface="Cambria" panose="02040503050406030204" pitchFamily="18" charset="0"/>
                <a:ea typeface="华文细黑" panose="02010600040101010101" pitchFamily="2" charset="-122"/>
                <a:cs typeface="Times New Roman" panose="02020603050405020304" pitchFamily="18" charset="0"/>
              </a:rPr>
              <a:t>图</a:t>
            </a:r>
            <a:endParaRPr lang="en-US" altLang="zh-CN" sz="2600" kern="0" dirty="0">
              <a:latin typeface="Cambria" panose="02040503050406030204" pitchFamily="18" charset="0"/>
              <a:ea typeface="华文细黑" panose="02010600040101010101" pitchFamily="2" charset="-122"/>
              <a:cs typeface="Times New Roman" panose="02020603050405020304" pitchFamily="18" charset="0"/>
            </a:endParaRPr>
          </a:p>
          <a:p>
            <a:pPr marL="0" indent="0" algn="just" eaLnBrk="0" hangingPunct="0">
              <a:lnSpc>
                <a:spcPct val="150000"/>
              </a:lnSpc>
              <a:spcBef>
                <a:spcPct val="50000"/>
              </a:spcBef>
              <a:buClr>
                <a:srgbClr val="000099"/>
              </a:buClr>
              <a:buNone/>
              <a:defRPr/>
            </a:pPr>
            <a:endParaRPr lang="en-US" altLang="zh-CN" sz="2600" b="1" kern="0" dirty="0">
              <a:solidFill>
                <a:srgbClr val="C00000"/>
              </a:solidFill>
              <a:effectLst/>
              <a:latin typeface="Cambria" panose="02040503050406030204" pitchFamily="18" charset="0"/>
              <a:ea typeface="华文细黑" panose="02010600040101010101" pitchFamily="2" charset="-122"/>
              <a:cs typeface="Times New Roman" panose="02020603050405020304" pitchFamily="18" charset="0"/>
            </a:endParaRPr>
          </a:p>
          <a:p>
            <a:pPr marL="0" indent="0" algn="just" eaLnBrk="0" hangingPunct="0">
              <a:lnSpc>
                <a:spcPct val="150000"/>
              </a:lnSpc>
              <a:spcBef>
                <a:spcPct val="50000"/>
              </a:spcBef>
              <a:buClr>
                <a:srgbClr val="000099"/>
              </a:buClr>
              <a:buNone/>
              <a:defRPr/>
            </a:pPr>
            <a:r>
              <a:rPr lang="zh-CN" altLang="zh-CN" sz="2600" b="1" dirty="0">
                <a:solidFill>
                  <a:srgbClr val="C00000"/>
                </a:solidFill>
                <a:effectLst/>
                <a:latin typeface="Cambria" panose="02040503050406030204" pitchFamily="18" charset="0"/>
                <a:ea typeface="华文细黑" panose="02010600040101010101" pitchFamily="2" charset="-122"/>
                <a:cs typeface="Times New Roman" panose="02020603050405020304" pitchFamily="18" charset="0"/>
              </a:rPr>
              <a:t>添加</a:t>
            </a:r>
            <a:r>
              <a:rPr lang="en-US" altLang="zh-CN" sz="2600" b="1" dirty="0">
                <a:solidFill>
                  <a:srgbClr val="C00000"/>
                </a:solidFill>
                <a:effectLst/>
                <a:latin typeface="Cambria" panose="02040503050406030204" pitchFamily="18" charset="0"/>
                <a:ea typeface="华文细黑" panose="02010600040101010101" pitchFamily="2" charset="-122"/>
                <a:cs typeface="Times New Roman" panose="02020603050405020304" pitchFamily="18" charset="0"/>
              </a:rPr>
              <a:t>Shapiro-Wilk</a:t>
            </a:r>
            <a:r>
              <a:rPr lang="zh-CN" altLang="zh-CN" sz="2600" b="1" dirty="0">
                <a:solidFill>
                  <a:srgbClr val="C00000"/>
                </a:solidFill>
                <a:effectLst/>
                <a:latin typeface="Cambria" panose="02040503050406030204" pitchFamily="18" charset="0"/>
                <a:ea typeface="华文细黑" panose="02010600040101010101" pitchFamily="2" charset="-122"/>
                <a:cs typeface="Times New Roman" panose="02020603050405020304" pitchFamily="18" charset="0"/>
              </a:rPr>
              <a:t>正态性检验的</a:t>
            </a:r>
            <a:r>
              <a:rPr lang="en-US" altLang="zh-CN" sz="2600" b="1" i="1" dirty="0">
                <a:solidFill>
                  <a:srgbClr val="C00000"/>
                </a:solidFill>
                <a:effectLst/>
                <a:latin typeface="Cambria" panose="02040503050406030204" pitchFamily="18" charset="0"/>
                <a:ea typeface="华文细黑" panose="02010600040101010101" pitchFamily="2" charset="-122"/>
                <a:cs typeface="Times New Roman" panose="02020603050405020304" pitchFamily="18" charset="0"/>
              </a:rPr>
              <a:t>P</a:t>
            </a:r>
            <a:r>
              <a:rPr lang="zh-CN" altLang="zh-CN" sz="2600" b="1" dirty="0">
                <a:solidFill>
                  <a:srgbClr val="C00000"/>
                </a:solidFill>
                <a:effectLst/>
                <a:latin typeface="Cambria" panose="02040503050406030204" pitchFamily="18" charset="0"/>
                <a:ea typeface="华文细黑" panose="02010600040101010101" pitchFamily="2" charset="-122"/>
                <a:cs typeface="Times New Roman" panose="02020603050405020304" pitchFamily="18" charset="0"/>
              </a:rPr>
              <a:t>值</a:t>
            </a:r>
            <a:endParaRPr lang="en-US" altLang="zh-CN" sz="2600" b="1" kern="0" dirty="0">
              <a:solidFill>
                <a:srgbClr val="C00000"/>
              </a:solidFill>
              <a:latin typeface="Cambria" panose="02040503050406030204" pitchFamily="18"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4A184C13-A533-C8FB-347C-3F12BE135038}"/>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5.3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检验数据分布</a:t>
            </a:r>
          </a:p>
        </p:txBody>
      </p:sp>
      <p:pic>
        <p:nvPicPr>
          <p:cNvPr id="4" name="图片 3">
            <a:extLst>
              <a:ext uri="{FF2B5EF4-FFF2-40B4-BE49-F238E27FC236}">
                <a16:creationId xmlns:a16="http://schemas.microsoft.com/office/drawing/2014/main" id="{FDCC0C9B-EAB9-E35E-2FB9-2BC50A08B823}"/>
              </a:ext>
            </a:extLst>
          </p:cNvPr>
          <p:cNvPicPr>
            <a:picLocks noChangeAspect="1"/>
          </p:cNvPicPr>
          <p:nvPr/>
        </p:nvPicPr>
        <p:blipFill>
          <a:blip r:embed="rId2"/>
          <a:stretch>
            <a:fillRect/>
          </a:stretch>
        </p:blipFill>
        <p:spPr>
          <a:xfrm>
            <a:off x="4383303" y="1715133"/>
            <a:ext cx="7220867" cy="4616235"/>
          </a:xfrm>
          <a:prstGeom prst="rect">
            <a:avLst/>
          </a:prstGeom>
          <a:ln w="6350">
            <a:solidFill>
              <a:schemeClr val="bg1">
                <a:lumMod val="75000"/>
              </a:schemeClr>
            </a:solidFill>
          </a:ln>
        </p:spPr>
      </p:pic>
    </p:spTree>
    <p:extLst>
      <p:ext uri="{BB962C8B-B14F-4D97-AF65-F5344CB8AC3E}">
        <p14:creationId xmlns:p14="http://schemas.microsoft.com/office/powerpoint/2010/main" val="1497955050"/>
      </p:ext>
    </p:extLst>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展示推断信息</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A2067596-AE10-4EE8-87FD-775885CBCB88}"/>
              </a:ext>
            </a:extLst>
          </p:cNvPr>
          <p:cNvSpPr txBox="1">
            <a:spLocks noChangeArrowheads="1"/>
          </p:cNvSpPr>
          <p:nvPr/>
        </p:nvSpPr>
        <p:spPr>
          <a:xfrm>
            <a:off x="744279" y="1656772"/>
            <a:ext cx="10767001" cy="466782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在数据分析中，如果有多个样本或某个数值变量的观测值是在因子的多个水平下获得的，可以检验不同样本或因子水平（组）下的均值是否有显著差异</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当因子只有两个水平（组）时，可以做</a:t>
            </a:r>
            <a:r>
              <a:rPr lang="en-US" altLang="zh-CN" sz="2200" i="1" dirty="0">
                <a:effectLst/>
                <a:latin typeface="Cambria" panose="02040503050406030204" pitchFamily="18" charset="0"/>
                <a:ea typeface="华文细黑" panose="02010600040101010101" pitchFamily="2" charset="-122"/>
                <a:cs typeface="Times New Roman" panose="02020603050405020304" pitchFamily="18" charset="0"/>
              </a:rPr>
              <a:t>t</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检验（</a:t>
            </a:r>
            <a:r>
              <a:rPr lang="en-US" altLang="zh-CN" sz="2200" dirty="0">
                <a:effectLst/>
                <a:latin typeface="Cambria" panose="02040503050406030204" pitchFamily="18" charset="0"/>
                <a:ea typeface="华文细黑" panose="02010600040101010101" pitchFamily="2" charset="-122"/>
                <a:cs typeface="Arial" panose="020B0604020202020204" pitchFamily="34" charset="0"/>
              </a:rPr>
              <a:t>t test</a:t>
            </a:r>
            <a:r>
              <a:rPr lang="zh-CN" altLang="zh-CN" sz="2200" dirty="0">
                <a:effectLst/>
                <a:latin typeface="Cambria" panose="02040503050406030204" pitchFamily="18" charset="0"/>
                <a:ea typeface="华文细黑" panose="02010600040101010101" pitchFamily="2" charset="-122"/>
                <a:cs typeface="Arial" panose="020B0604020202020204" pitchFamily="34" charset="0"/>
              </a:rPr>
              <a:t>，参数</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）或</a:t>
            </a:r>
            <a:r>
              <a:rPr lang="zh-CN" altLang="zh-CN" sz="2200" dirty="0">
                <a:solidFill>
                  <a:srgbClr val="000000"/>
                </a:solidFill>
                <a:effectLst/>
                <a:latin typeface="Cambria" panose="02040503050406030204" pitchFamily="18" charset="0"/>
                <a:ea typeface="华文细黑" panose="02010600040101010101" pitchFamily="2" charset="-122"/>
                <a:cs typeface="宋体" panose="02010600030101010101" pitchFamily="2" charset="-122"/>
              </a:rPr>
              <a:t>威</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尔科克森检验（</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Wilcox test</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，非参数）</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当因子有两个以上水平时，可以做方差分析（</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ANOVA</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，参数）或克鲁斯卡尔检验（</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Kruskal test</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，非参数）</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箱线图或小提琴图是展示这类信息的有效工具，将检验或估计信息添加在箱线图或小提琴图中，可以得出更多的分析结论</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B9D19131-DFC7-D507-4288-49912210CAD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展示推断信息</a:t>
            </a:r>
          </a:p>
        </p:txBody>
      </p:sp>
    </p:spTree>
    <p:extLst>
      <p:ext uri="{BB962C8B-B14F-4D97-AF65-F5344CB8AC3E}">
        <p14:creationId xmlns:p14="http://schemas.microsoft.com/office/powerpoint/2010/main" val="2001445833"/>
      </p:ext>
    </p:ext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展示推断信息</a:t>
            </a:r>
            <a:endParaRPr lang="en-US" altLang="zh-CN" sz="2600" b="1" dirty="0">
              <a:solidFill>
                <a:srgbClr val="002060"/>
              </a:solidFill>
              <a:ea typeface="华文细黑" panose="02010600040101010101" pitchFamily="2" charset="-122"/>
            </a:endParaRPr>
          </a:p>
        </p:txBody>
      </p:sp>
      <p:pic>
        <p:nvPicPr>
          <p:cNvPr id="8" name="图片 7">
            <a:extLst>
              <a:ext uri="{FF2B5EF4-FFF2-40B4-BE49-F238E27FC236}">
                <a16:creationId xmlns:a16="http://schemas.microsoft.com/office/drawing/2014/main" id="{CDB2A973-472B-8C6B-5A6F-8EDE0CBE065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7602" y="2813957"/>
            <a:ext cx="4354284" cy="3467099"/>
          </a:xfrm>
          <a:prstGeom prst="rect">
            <a:avLst/>
          </a:prstGeom>
          <a:noFill/>
          <a:ln w="6350">
            <a:solidFill>
              <a:schemeClr val="bg1">
                <a:lumMod val="75000"/>
              </a:schemeClr>
            </a:solidFill>
          </a:ln>
        </p:spPr>
      </p:pic>
      <p:sp>
        <p:nvSpPr>
          <p:cNvPr id="10" name="Rectangle 3">
            <a:extLst>
              <a:ext uri="{FF2B5EF4-FFF2-40B4-BE49-F238E27FC236}">
                <a16:creationId xmlns:a16="http://schemas.microsoft.com/office/drawing/2014/main" id="{24A98A50-CA0F-DFE5-4819-29A517038A90}"/>
              </a:ext>
            </a:extLst>
          </p:cNvPr>
          <p:cNvSpPr txBox="1">
            <a:spLocks noChangeArrowheads="1"/>
          </p:cNvSpPr>
          <p:nvPr/>
        </p:nvSpPr>
        <p:spPr>
          <a:xfrm>
            <a:off x="462046" y="1766072"/>
            <a:ext cx="6896698" cy="92269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18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1800"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带有方差分析和配对检验</a:t>
            </a:r>
            <a:r>
              <a:rPr lang="en-US" altLang="zh-CN" sz="1800" kern="0" dirty="0">
                <a:latin typeface="Cambria" panose="02040503050406030204" pitchFamily="18" charset="0"/>
                <a:ea typeface="华文细黑" panose="02010600040101010101" pitchFamily="2" charset="-122"/>
                <a:cs typeface="Times New Roman" panose="02020603050405020304" pitchFamily="18" charset="0"/>
              </a:rPr>
              <a:t>P</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值的小提琴图和和多重比较字母的箱线图</a:t>
            </a:r>
            <a:endParaRPr lang="en-US" altLang="zh-CN" sz="18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11" name="Rectangle 3">
            <a:extLst>
              <a:ext uri="{FF2B5EF4-FFF2-40B4-BE49-F238E27FC236}">
                <a16:creationId xmlns:a16="http://schemas.microsoft.com/office/drawing/2014/main" id="{9C5A5167-3742-0F58-8D96-DD14B0AC9C8A}"/>
              </a:ext>
            </a:extLst>
          </p:cNvPr>
          <p:cNvSpPr txBox="1">
            <a:spLocks noChangeArrowheads="1"/>
          </p:cNvSpPr>
          <p:nvPr/>
        </p:nvSpPr>
        <p:spPr>
          <a:xfrm>
            <a:off x="7467599" y="1766072"/>
            <a:ext cx="4354285" cy="92269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18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1800"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带有多种统计信息的臭氧浓度的箱线图和小提琴图</a:t>
            </a:r>
            <a:endParaRPr lang="en-US" altLang="zh-CN" sz="18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B793002A-A844-7183-B912-B449103A30E5}"/>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展示推断信息</a:t>
            </a:r>
          </a:p>
        </p:txBody>
      </p:sp>
      <p:pic>
        <p:nvPicPr>
          <p:cNvPr id="5" name="图片 4">
            <a:extLst>
              <a:ext uri="{FF2B5EF4-FFF2-40B4-BE49-F238E27FC236}">
                <a16:creationId xmlns:a16="http://schemas.microsoft.com/office/drawing/2014/main" id="{C1029832-AA6A-9E54-448D-FDEA9794AB0A}"/>
              </a:ext>
            </a:extLst>
          </p:cNvPr>
          <p:cNvPicPr>
            <a:picLocks noChangeAspect="1"/>
          </p:cNvPicPr>
          <p:nvPr/>
        </p:nvPicPr>
        <p:blipFill>
          <a:blip r:embed="rId3"/>
          <a:stretch>
            <a:fillRect/>
          </a:stretch>
        </p:blipFill>
        <p:spPr>
          <a:xfrm>
            <a:off x="462045" y="2813957"/>
            <a:ext cx="6896698" cy="3467099"/>
          </a:xfrm>
          <a:prstGeom prst="rect">
            <a:avLst/>
          </a:prstGeom>
          <a:noFill/>
          <a:ln w="6350">
            <a:solidFill>
              <a:schemeClr val="bg1">
                <a:lumMod val="75000"/>
              </a:schemeClr>
            </a:solidFill>
          </a:ln>
        </p:spPr>
      </p:pic>
    </p:spTree>
    <p:extLst>
      <p:ext uri="{BB962C8B-B14F-4D97-AF65-F5344CB8AC3E}">
        <p14:creationId xmlns:p14="http://schemas.microsoft.com/office/powerpoint/2010/main" val="3624016692"/>
      </p:ext>
    </p:extLst>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展示推断信息</a:t>
            </a:r>
            <a:endParaRPr lang="en-US" altLang="zh-CN" sz="2600" b="1" dirty="0">
              <a:solidFill>
                <a:srgbClr val="002060"/>
              </a:solidFill>
              <a:ea typeface="华文细黑" panose="02010600040101010101" pitchFamily="2" charset="-122"/>
            </a:endParaRPr>
          </a:p>
        </p:txBody>
      </p:sp>
      <p:sp>
        <p:nvSpPr>
          <p:cNvPr id="10" name="Rectangle 3">
            <a:extLst>
              <a:ext uri="{FF2B5EF4-FFF2-40B4-BE49-F238E27FC236}">
                <a16:creationId xmlns:a16="http://schemas.microsoft.com/office/drawing/2014/main" id="{24A98A50-CA0F-DFE5-4819-29A517038A90}"/>
              </a:ext>
            </a:extLst>
          </p:cNvPr>
          <p:cNvSpPr txBox="1">
            <a:spLocks noChangeArrowheads="1"/>
          </p:cNvSpPr>
          <p:nvPr/>
        </p:nvSpPr>
        <p:spPr>
          <a:xfrm>
            <a:off x="668882" y="1755186"/>
            <a:ext cx="3870461" cy="4638431"/>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700" b="1" kern="0"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海盗图</a:t>
            </a:r>
            <a:r>
              <a:rPr lang="zh-CN" altLang="zh-CN" sz="1700" b="1" kern="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700" b="1" kern="0" dirty="0">
                <a:latin typeface="Cambria" panose="02040503050406030204" pitchFamily="18" charset="0"/>
                <a:ea typeface="华文细黑" panose="02010600040101010101" pitchFamily="2" charset="-122"/>
                <a:cs typeface="Times New Roman" panose="02020603050405020304" pitchFamily="18" charset="0"/>
              </a:rPr>
              <a:t>pirate plot</a:t>
            </a:r>
            <a:r>
              <a:rPr lang="zh-CN" altLang="zh-CN" sz="1700" b="1" kern="0" dirty="0">
                <a:latin typeface="Cambria" panose="02040503050406030204" pitchFamily="18" charset="0"/>
                <a:ea typeface="华文细黑" panose="02010600040101010101" pitchFamily="2" charset="-122"/>
                <a:cs typeface="Times New Roman" panose="02020603050405020304" pitchFamily="18" charset="0"/>
              </a:rPr>
              <a:t>）</a:t>
            </a:r>
            <a:r>
              <a:rPr lang="zh-CN" altLang="en-US" sz="1700" b="1"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展示数据多种特征的一种图形，它提供了原始数据、描述统计和推断统计等多方面的信息</a:t>
            </a:r>
            <a:endParaRPr lang="en-US" altLang="zh-CN" sz="1700" kern="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海盗图中含有</a:t>
            </a:r>
            <a:r>
              <a:rPr lang="en-US" altLang="zh-CN" sz="1700" kern="0" dirty="0">
                <a:latin typeface="Cambria" panose="02040503050406030204" pitchFamily="18" charset="0"/>
                <a:ea typeface="华文细黑" panose="02010600040101010101" pitchFamily="2" charset="-122"/>
                <a:cs typeface="Times New Roman" panose="02020603050405020304" pitchFamily="18" charset="0"/>
              </a:rPr>
              <a:t>4</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个主要元素：一是用于表示原始数据的水平扰动点（</a:t>
            </a:r>
            <a:r>
              <a:rPr lang="en-US" altLang="zh-CN" sz="1700" kern="0" dirty="0">
                <a:latin typeface="Cambria" panose="02040503050406030204" pitchFamily="18" charset="0"/>
                <a:ea typeface="华文细黑" panose="02010600040101010101" pitchFamily="2" charset="-122"/>
                <a:cs typeface="Times New Roman" panose="02020603050405020304" pitchFamily="18" charset="0"/>
              </a:rPr>
              <a:t>points</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）；二是用于表示中心趋势（如平均数）的水平条（</a:t>
            </a:r>
            <a:r>
              <a:rPr lang="en-US" altLang="zh-CN" sz="1700" kern="0" dirty="0">
                <a:latin typeface="Cambria" panose="02040503050406030204" pitchFamily="18" charset="0"/>
                <a:ea typeface="华文细黑" panose="02010600040101010101" pitchFamily="2" charset="-122"/>
                <a:cs typeface="Times New Roman" panose="02020603050405020304" pitchFamily="18" charset="0"/>
              </a:rPr>
              <a:t>bar</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）；三是表示平滑密度的豆（</a:t>
            </a:r>
            <a:r>
              <a:rPr lang="en-US" altLang="zh-CN" sz="1700" kern="0" dirty="0">
                <a:latin typeface="Cambria" panose="02040503050406030204" pitchFamily="18" charset="0"/>
                <a:ea typeface="华文细黑" panose="02010600040101010101" pitchFamily="2" charset="-122"/>
                <a:cs typeface="Times New Roman" panose="02020603050405020304" pitchFamily="18" charset="0"/>
              </a:rPr>
              <a:t>bean</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）；四是表示推断（</a:t>
            </a:r>
            <a:r>
              <a:rPr lang="en-US" altLang="zh-CN" sz="1700" kern="0" dirty="0">
                <a:latin typeface="Cambria" panose="02040503050406030204" pitchFamily="18" charset="0"/>
                <a:ea typeface="华文细黑" panose="02010600040101010101" pitchFamily="2" charset="-122"/>
                <a:cs typeface="Times New Roman" panose="02020603050405020304" pitchFamily="18" charset="0"/>
              </a:rPr>
              <a:t>inf</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）信息（如置信区间）的矩形（</a:t>
            </a:r>
            <a:r>
              <a:rPr lang="en-US" altLang="zh-CN" sz="1700" kern="0" dirty="0">
                <a:latin typeface="Cambria" panose="02040503050406030204" pitchFamily="18" charset="0"/>
                <a:ea typeface="华文细黑" panose="02010600040101010101" pitchFamily="2" charset="-122"/>
                <a:cs typeface="Times New Roman" panose="02020603050405020304" pitchFamily="18" charset="0"/>
              </a:rPr>
              <a:t>rectangle</a:t>
            </a:r>
            <a:r>
              <a:rPr lang="zh-CN" altLang="zh-CN" sz="1700" kern="0" dirty="0">
                <a:latin typeface="Cambria" panose="02040503050406030204" pitchFamily="18" charset="0"/>
                <a:ea typeface="华文细黑" panose="02010600040101010101" pitchFamily="2" charset="-122"/>
                <a:cs typeface="Times New Roman" panose="02020603050405020304" pitchFamily="18" charset="0"/>
              </a:rPr>
              <a:t>）</a:t>
            </a:r>
            <a:endParaRPr lang="en-US" altLang="zh-CN" sz="1700" kern="0" dirty="0">
              <a:latin typeface="Cambria" panose="02040503050406030204" pitchFamily="18" charset="0"/>
              <a:ea typeface="华文细黑" panose="02010600040101010101" pitchFamily="2" charset="-122"/>
              <a:cs typeface="Times New Roman" panose="02020603050405020304" pitchFamily="18" charset="0"/>
            </a:endParaRPr>
          </a:p>
          <a:p>
            <a:pPr marL="0" indent="0" algn="just" eaLnBrk="0" hangingPunct="0">
              <a:lnSpc>
                <a:spcPct val="150000"/>
              </a:lnSpc>
              <a:spcBef>
                <a:spcPct val="50000"/>
              </a:spcBef>
              <a:buClr>
                <a:srgbClr val="000099"/>
              </a:buClr>
              <a:buNone/>
              <a:defRPr/>
            </a:pPr>
            <a:endParaRPr lang="en-US" altLang="zh-CN" sz="17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11" name="Rectangle 3">
            <a:extLst>
              <a:ext uri="{FF2B5EF4-FFF2-40B4-BE49-F238E27FC236}">
                <a16:creationId xmlns:a16="http://schemas.microsoft.com/office/drawing/2014/main" id="{9C5A5167-3742-0F58-8D96-DD14B0AC9C8A}"/>
              </a:ext>
            </a:extLst>
          </p:cNvPr>
          <p:cNvSpPr txBox="1">
            <a:spLocks noChangeArrowheads="1"/>
          </p:cNvSpPr>
          <p:nvPr/>
        </p:nvSpPr>
        <p:spPr>
          <a:xfrm>
            <a:off x="4713514" y="1766072"/>
            <a:ext cx="6809605" cy="92269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二氧化氮和臭氧浓度的海盗图</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12" name="图片 11">
            <a:extLst>
              <a:ext uri="{FF2B5EF4-FFF2-40B4-BE49-F238E27FC236}">
                <a16:creationId xmlns:a16="http://schemas.microsoft.com/office/drawing/2014/main" id="{6024C9AA-4377-6F09-B6D0-A49E1626C13D}"/>
              </a:ext>
            </a:extLst>
          </p:cNvPr>
          <p:cNvPicPr>
            <a:picLocks noChangeAspect="1"/>
          </p:cNvPicPr>
          <p:nvPr/>
        </p:nvPicPr>
        <p:blipFill>
          <a:blip r:embed="rId2"/>
          <a:stretch>
            <a:fillRect/>
          </a:stretch>
        </p:blipFill>
        <p:spPr>
          <a:xfrm>
            <a:off x="4713514" y="2891859"/>
            <a:ext cx="6809605" cy="3476284"/>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3C99D024-810C-F59E-392B-1C3A98D6368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展示推断信息</a:t>
            </a:r>
          </a:p>
        </p:txBody>
      </p:sp>
    </p:spTree>
    <p:extLst>
      <p:ext uri="{BB962C8B-B14F-4D97-AF65-F5344CB8AC3E}">
        <p14:creationId xmlns:p14="http://schemas.microsoft.com/office/powerpoint/2010/main" val="3884617822"/>
      </p:ext>
    </p:extLst>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展示推断信息</a:t>
            </a:r>
            <a:r>
              <a:rPr lang="en-US" altLang="zh-CN" sz="2600" b="1" dirty="0">
                <a:solidFill>
                  <a:srgbClr val="002060"/>
                </a:solidFill>
                <a:ea typeface="华文细黑" panose="02010600040101010101" pitchFamily="2" charset="-122"/>
              </a:rPr>
              <a:t>——t</a:t>
            </a:r>
            <a:r>
              <a:rPr lang="zh-CN" altLang="en-US" sz="2600" b="1" dirty="0">
                <a:solidFill>
                  <a:srgbClr val="002060"/>
                </a:solidFill>
                <a:ea typeface="华文细黑" panose="02010600040101010101" pitchFamily="2" charset="-122"/>
              </a:rPr>
              <a:t>分布和</a:t>
            </a:r>
            <a:r>
              <a:rPr lang="en-US" altLang="zh-CN" sz="2600" b="1" dirty="0">
                <a:solidFill>
                  <a:srgbClr val="002060"/>
                </a:solidFill>
                <a:ea typeface="华文细黑" panose="02010600040101010101" pitchFamily="2" charset="-122"/>
              </a:rPr>
              <a:t>bootstrap</a:t>
            </a:r>
            <a:r>
              <a:rPr lang="zh-CN" altLang="en-US" sz="2600" b="1" dirty="0">
                <a:solidFill>
                  <a:srgbClr val="002060"/>
                </a:solidFill>
                <a:ea typeface="华文细黑" panose="02010600040101010101" pitchFamily="2" charset="-122"/>
              </a:rPr>
              <a:t>置信区间</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9C5A5167-3742-0F58-8D96-DD14B0AC9C8A}"/>
              </a:ext>
            </a:extLst>
          </p:cNvPr>
          <p:cNvSpPr txBox="1">
            <a:spLocks noChangeArrowheads="1"/>
          </p:cNvSpPr>
          <p:nvPr/>
        </p:nvSpPr>
        <p:spPr>
          <a:xfrm>
            <a:off x="696687" y="1689872"/>
            <a:ext cx="4027714" cy="4623841"/>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除添加经典统计中的</a:t>
            </a:r>
            <a:r>
              <a:rPr lang="en-US" altLang="zh-CN" sz="2200" i="1" dirty="0">
                <a:effectLst/>
                <a:latin typeface="Cambria" panose="02040503050406030204" pitchFamily="18" charset="0"/>
                <a:ea typeface="华文细黑" panose="02010600040101010101" pitchFamily="2" charset="-122"/>
                <a:cs typeface="Times New Roman" panose="02020603050405020304" pitchFamily="18" charset="0"/>
              </a:rPr>
              <a:t>t</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分布置信区间外，还可以为图形添加</a:t>
            </a:r>
            <a:r>
              <a:rPr lang="zh-CN" altLang="zh-CN" sz="22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自助法置信区间</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bootstrap confidence intervals</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a:t>
            </a:r>
            <a:endParaRPr lang="en-US"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endParaRPr>
          </a:p>
          <a:p>
            <a:pPr marL="0" indent="0" algn="just" eaLnBrk="0" hangingPunct="0">
              <a:lnSpc>
                <a:spcPct val="150000"/>
              </a:lnSpc>
              <a:spcBef>
                <a:spcPct val="50000"/>
              </a:spcBef>
              <a:buClr>
                <a:srgbClr val="000099"/>
              </a:buClr>
              <a:buNone/>
              <a:defRPr/>
            </a:pPr>
            <a:endParaRPr lang="en-US"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endParaRPr>
          </a:p>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—1~6</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月份</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AQI</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的</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t</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分布和</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bootstrap</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置信区间</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2312F7B0-8BF7-4C95-4938-9A5BF17BF3B8}"/>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展示推断信息</a:t>
            </a:r>
          </a:p>
        </p:txBody>
      </p:sp>
      <p:pic>
        <p:nvPicPr>
          <p:cNvPr id="3" name="图片 2">
            <a:extLst>
              <a:ext uri="{FF2B5EF4-FFF2-40B4-BE49-F238E27FC236}">
                <a16:creationId xmlns:a16="http://schemas.microsoft.com/office/drawing/2014/main" id="{F0658E09-4C79-668E-7F32-F715515044DF}"/>
              </a:ext>
            </a:extLst>
          </p:cNvPr>
          <p:cNvPicPr>
            <a:picLocks noChangeAspect="1"/>
          </p:cNvPicPr>
          <p:nvPr/>
        </p:nvPicPr>
        <p:blipFill>
          <a:blip r:embed="rId2"/>
          <a:stretch>
            <a:fillRect/>
          </a:stretch>
        </p:blipFill>
        <p:spPr>
          <a:xfrm>
            <a:off x="4838745" y="1689872"/>
            <a:ext cx="6787198" cy="4623841"/>
          </a:xfrm>
          <a:prstGeom prst="rect">
            <a:avLst/>
          </a:prstGeom>
          <a:ln w="6350">
            <a:solidFill>
              <a:schemeClr val="bg1">
                <a:lumMod val="75000"/>
              </a:schemeClr>
            </a:solidFill>
          </a:ln>
        </p:spPr>
      </p:pic>
    </p:spTree>
    <p:extLst>
      <p:ext uri="{BB962C8B-B14F-4D97-AF65-F5344CB8AC3E}">
        <p14:creationId xmlns:p14="http://schemas.microsoft.com/office/powerpoint/2010/main" val="1157750261"/>
      </p:ext>
    </p:extLst>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展示推断信息</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均值的分位数区间</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9C5A5167-3742-0F58-8D96-DD14B0AC9C8A}"/>
              </a:ext>
            </a:extLst>
          </p:cNvPr>
          <p:cNvSpPr txBox="1">
            <a:spLocks noChangeArrowheads="1"/>
          </p:cNvSpPr>
          <p:nvPr/>
        </p:nvSpPr>
        <p:spPr>
          <a:xfrm>
            <a:off x="696686" y="1722530"/>
            <a:ext cx="3178627" cy="457540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en-US" sz="2200" kern="0" dirty="0">
                <a:latin typeface="Cambria" panose="02040503050406030204" pitchFamily="18" charset="0"/>
                <a:ea typeface="华文细黑" panose="02010600040101010101" pitchFamily="2" charset="-122"/>
                <a:cs typeface="Times New Roman" panose="02020603050405020304" pitchFamily="18" charset="0"/>
              </a:rPr>
              <a:t>均值的分位数区间</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ea typeface="华文细黑" panose="02010600040101010101" pitchFamily="2" charset="-122"/>
              </a:rPr>
              <a:t> 5-1】</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—AQI</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PM2.5</a:t>
            </a: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PM10</a:t>
            </a:r>
            <a:r>
              <a:rPr lang="zh-CN" altLang="en-US" sz="2200" kern="0" dirty="0">
                <a:latin typeface="Cambria" panose="02040503050406030204" pitchFamily="18" charset="0"/>
                <a:ea typeface="华文细黑" panose="02010600040101010101" pitchFamily="2" charset="-122"/>
                <a:cs typeface="Times New Roman" panose="02020603050405020304" pitchFamily="18" charset="0"/>
              </a:rPr>
              <a:t>中各随机抽取样本量为</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50</a:t>
            </a:r>
            <a:r>
              <a:rPr lang="zh-CN" altLang="en-US" sz="2200" kern="0" dirty="0">
                <a:latin typeface="Cambria" panose="02040503050406030204" pitchFamily="18" charset="0"/>
                <a:ea typeface="华文细黑" panose="02010600040101010101" pitchFamily="2" charset="-122"/>
                <a:cs typeface="Times New Roman" panose="02020603050405020304" pitchFamily="18" charset="0"/>
              </a:rPr>
              <a:t>的样本</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F1759468-0389-6DFD-A3C5-7A1124B36EC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5.4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展示推断信息</a:t>
            </a:r>
          </a:p>
        </p:txBody>
      </p:sp>
      <p:pic>
        <p:nvPicPr>
          <p:cNvPr id="4" name="图片 3">
            <a:extLst>
              <a:ext uri="{FF2B5EF4-FFF2-40B4-BE49-F238E27FC236}">
                <a16:creationId xmlns:a16="http://schemas.microsoft.com/office/drawing/2014/main" id="{DE85B0F3-E093-D59B-8496-DCE8802F9F7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03914" y="1722529"/>
            <a:ext cx="7304314" cy="4575401"/>
          </a:xfrm>
          <a:prstGeom prst="rect">
            <a:avLst/>
          </a:prstGeom>
          <a:ln w="6350">
            <a:solidFill>
              <a:schemeClr val="bg1">
                <a:lumMod val="75000"/>
              </a:schemeClr>
            </a:solidFill>
          </a:ln>
        </p:spPr>
      </p:pic>
    </p:spTree>
    <p:extLst>
      <p:ext uri="{BB962C8B-B14F-4D97-AF65-F5344CB8AC3E}">
        <p14:creationId xmlns:p14="http://schemas.microsoft.com/office/powerpoint/2010/main" val="2647127901"/>
      </p:ext>
    </p:extLst>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5029200" y="1656772"/>
            <a:ext cx="6529225" cy="468959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dirty="0">
                <a:latin typeface="Cambria" panose="02040503050406030204" pitchFamily="18" charset="0"/>
                <a:ea typeface="华文细黑" panose="02010600040101010101" pitchFamily="2" charset="-122"/>
                <a:cs typeface="Times New Roman" panose="02020603050405020304" pitchFamily="18" charset="0"/>
              </a:rPr>
              <a:t>展示分布形状的经典图形是直方图，适合于展示一个数值变量。核密度图提供了数据分布的确切估计，并可用于比较多个变量或多个样本的分布，可作为直方图的替代图形。箱线图和小提琴图的主要用途是比较多个变量或样本的分布，并可以提供数据分布的位置（分位数等）信息，箱线图的缺点是不易比较形状且不能反映多峰分布，但可以与其他图形结合使用。小提琴图可直观展示分布形状，并可以与箱线图、点图等结合使用，可作为箱线图的替代图形</a:t>
            </a:r>
            <a:endParaRPr lang="en-US" altLang="zh-CN" sz="14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dirty="0">
                <a:latin typeface="Cambria" panose="02040503050406030204" pitchFamily="18" charset="0"/>
                <a:ea typeface="华文细黑" panose="02010600040101010101" pitchFamily="2" charset="-122"/>
                <a:cs typeface="Times New Roman" panose="02020603050405020304" pitchFamily="18" charset="0"/>
              </a:rPr>
              <a:t>点图及其变种形式（威尔金森点图、蜂群图、云雨图等）主要用于展示各数据点在数轴上分布的位置，而不是分布的形状，通常与其他图形结合使用</a:t>
            </a:r>
            <a:endParaRPr lang="en-US" altLang="zh-CN" sz="14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en-US" altLang="zh-CN" sz="1400" dirty="0">
                <a:latin typeface="Cambria" panose="02040503050406030204" pitchFamily="18" charset="0"/>
                <a:ea typeface="华文细黑" panose="02010600040101010101" pitchFamily="2" charset="-122"/>
                <a:cs typeface="Times New Roman" panose="02020603050405020304" pitchFamily="18" charset="0"/>
              </a:rPr>
              <a:t>Q-Q</a:t>
            </a:r>
            <a:r>
              <a:rPr lang="zh-CN" altLang="zh-CN" sz="1400" dirty="0">
                <a:latin typeface="Cambria" panose="02040503050406030204" pitchFamily="18" charset="0"/>
                <a:ea typeface="华文细黑" panose="02010600040101010101" pitchFamily="2" charset="-122"/>
                <a:cs typeface="Times New Roman" panose="02020603050405020304" pitchFamily="18" charset="0"/>
              </a:rPr>
              <a:t>图和</a:t>
            </a:r>
            <a:r>
              <a:rPr lang="en-US" altLang="zh-CN" sz="1400" dirty="0">
                <a:latin typeface="Cambria" panose="02040503050406030204" pitchFamily="18" charset="0"/>
                <a:ea typeface="华文细黑" panose="02010600040101010101" pitchFamily="2" charset="-122"/>
                <a:cs typeface="Times New Roman" panose="02020603050405020304" pitchFamily="18" charset="0"/>
              </a:rPr>
              <a:t>P-P</a:t>
            </a:r>
            <a:r>
              <a:rPr lang="zh-CN" altLang="zh-CN" sz="1400" dirty="0">
                <a:latin typeface="Cambria" panose="02040503050406030204" pitchFamily="18" charset="0"/>
                <a:ea typeface="华文细黑" panose="02010600040101010101" pitchFamily="2" charset="-122"/>
                <a:cs typeface="Times New Roman" panose="02020603050405020304" pitchFamily="18" charset="0"/>
              </a:rPr>
              <a:t>用于检验数据是否服从正态分布，这在经典统计分析中十分必要</a:t>
            </a:r>
            <a:endParaRPr lang="en-US" altLang="zh-CN" sz="14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400" dirty="0">
                <a:latin typeface="Cambria" panose="02040503050406030204" pitchFamily="18" charset="0"/>
                <a:ea typeface="华文细黑" panose="02010600040101010101" pitchFamily="2" charset="-122"/>
                <a:cs typeface="Times New Roman" panose="02020603050405020304" pitchFamily="18" charset="0"/>
              </a:rPr>
              <a:t>如果绘制数据是来自总体的随机样本，可在图形中添加统计推断信息，包括检验的</a:t>
            </a:r>
            <a:r>
              <a:rPr lang="en-US" altLang="zh-CN" sz="1400" dirty="0">
                <a:latin typeface="Cambria" panose="02040503050406030204" pitchFamily="18" charset="0"/>
                <a:ea typeface="华文细黑" panose="02010600040101010101" pitchFamily="2" charset="-122"/>
                <a:cs typeface="Times New Roman" panose="02020603050405020304" pitchFamily="18" charset="0"/>
              </a:rPr>
              <a:t>P</a:t>
            </a:r>
            <a:r>
              <a:rPr lang="zh-CN" altLang="zh-CN" sz="1400" dirty="0">
                <a:latin typeface="Cambria" panose="02040503050406030204" pitchFamily="18" charset="0"/>
                <a:ea typeface="华文细黑" panose="02010600040101010101" pitchFamily="2" charset="-122"/>
                <a:cs typeface="Times New Roman" panose="02020603050405020304" pitchFamily="18" charset="0"/>
              </a:rPr>
              <a:t>值和置信区间等</a:t>
            </a: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本章小结</a:t>
            </a:r>
            <a:endParaRPr lang="en-US" altLang="zh-CN" sz="2600" b="1" dirty="0">
              <a:solidFill>
                <a:srgbClr val="002060"/>
              </a:solidFill>
              <a:ea typeface="华文细黑" panose="02010600040101010101" pitchFamily="2" charset="-122"/>
            </a:endParaRPr>
          </a:p>
        </p:txBody>
      </p:sp>
      <p:sp>
        <p:nvSpPr>
          <p:cNvPr id="3" name="Rectangle 2">
            <a:extLst>
              <a:ext uri="{FF2B5EF4-FFF2-40B4-BE49-F238E27FC236}">
                <a16:creationId xmlns:a16="http://schemas.microsoft.com/office/drawing/2014/main" id="{12DD25F6-F38B-E809-D0BA-0B2EB804E966}"/>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本章小结</a:t>
            </a:r>
          </a:p>
        </p:txBody>
      </p:sp>
      <p:pic>
        <p:nvPicPr>
          <p:cNvPr id="4" name="图片 3">
            <a:extLst>
              <a:ext uri="{FF2B5EF4-FFF2-40B4-BE49-F238E27FC236}">
                <a16:creationId xmlns:a16="http://schemas.microsoft.com/office/drawing/2014/main" id="{704BAB8A-C3E2-A3BD-3A31-39643213B832}"/>
              </a:ext>
            </a:extLst>
          </p:cNvPr>
          <p:cNvPicPr>
            <a:picLocks noChangeAspect="1"/>
          </p:cNvPicPr>
          <p:nvPr/>
        </p:nvPicPr>
        <p:blipFill>
          <a:blip r:embed="rId2"/>
          <a:stretch>
            <a:fillRect/>
          </a:stretch>
        </p:blipFill>
        <p:spPr>
          <a:xfrm>
            <a:off x="724434" y="1656772"/>
            <a:ext cx="4304766" cy="4689599"/>
          </a:xfrm>
          <a:prstGeom prst="rect">
            <a:avLst/>
          </a:prstGeom>
        </p:spPr>
      </p:pic>
    </p:spTree>
    <p:extLst>
      <p:ext uri="{BB962C8B-B14F-4D97-AF65-F5344CB8AC3E}">
        <p14:creationId xmlns:p14="http://schemas.microsoft.com/office/powerpoint/2010/main" val="3040481407"/>
      </p:ext>
    </p:extLst>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2207568" y="342581"/>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7" name="Rectangle 2"/>
          <p:cNvSpPr>
            <a:spLocks noChangeArrowheads="1"/>
          </p:cNvSpPr>
          <p:nvPr/>
        </p:nvSpPr>
        <p:spPr bwMode="auto">
          <a:xfrm>
            <a:off x="6816080" y="5445224"/>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pic>
        <p:nvPicPr>
          <p:cNvPr id="2" name="图片 1"/>
          <p:cNvPicPr>
            <a:picLocks noChangeAspect="1"/>
          </p:cNvPicPr>
          <p:nvPr/>
        </p:nvPicPr>
        <p:blipFill>
          <a:blip r:embed="rId3"/>
          <a:stretch>
            <a:fillRect/>
          </a:stretch>
        </p:blipFill>
        <p:spPr>
          <a:xfrm>
            <a:off x="-9746" y="1"/>
            <a:ext cx="12201746" cy="6855722"/>
          </a:xfrm>
          <a:prstGeom prst="rect">
            <a:avLst/>
          </a:prstGeom>
        </p:spPr>
      </p:pic>
      <p:sp>
        <p:nvSpPr>
          <p:cNvPr id="5" name="Rectangle 2">
            <a:extLst>
              <a:ext uri="{FF2B5EF4-FFF2-40B4-BE49-F238E27FC236}">
                <a16:creationId xmlns:a16="http://schemas.microsoft.com/office/drawing/2014/main" id="{A2942906-8373-4413-B144-2030B3A6C93F}"/>
              </a:ext>
            </a:extLst>
          </p:cNvPr>
          <p:cNvSpPr>
            <a:spLocks noChangeArrowheads="1"/>
          </p:cNvSpPr>
          <p:nvPr/>
        </p:nvSpPr>
        <p:spPr bwMode="auto">
          <a:xfrm>
            <a:off x="162573" y="95692"/>
            <a:ext cx="2880320" cy="98442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6" name="Rectangle 2">
            <a:extLst>
              <a:ext uri="{FF2B5EF4-FFF2-40B4-BE49-F238E27FC236}">
                <a16:creationId xmlns:a16="http://schemas.microsoft.com/office/drawing/2014/main" id="{DBEC17C8-105C-4971-8A37-00C8F14BF111}"/>
              </a:ext>
            </a:extLst>
          </p:cNvPr>
          <p:cNvSpPr>
            <a:spLocks noChangeArrowheads="1"/>
          </p:cNvSpPr>
          <p:nvPr/>
        </p:nvSpPr>
        <p:spPr bwMode="auto">
          <a:xfrm>
            <a:off x="9226126" y="5922334"/>
            <a:ext cx="2880320" cy="77617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sp>
        <p:nvSpPr>
          <p:cNvPr id="3" name="日期占位符 2">
            <a:extLst>
              <a:ext uri="{FF2B5EF4-FFF2-40B4-BE49-F238E27FC236}">
                <a16:creationId xmlns:a16="http://schemas.microsoft.com/office/drawing/2014/main" id="{34AD9863-2B28-44BA-874F-29D5736D3EFF}"/>
              </a:ext>
            </a:extLst>
          </p:cNvPr>
          <p:cNvSpPr>
            <a:spLocks noGrp="1"/>
          </p:cNvSpPr>
          <p:nvPr>
            <p:ph type="dt" sz="half" idx="10"/>
          </p:nvPr>
        </p:nvSpPr>
        <p:spPr/>
        <p:txBody>
          <a:bodyPr/>
          <a:lstStyle/>
          <a:p>
            <a:fld id="{2556876A-C894-4608-9B10-33028376C2E0}" type="datetime1">
              <a:rPr lang="zh-CN" altLang="en-US" smtClean="0"/>
              <a:t>2025/12/7</a:t>
            </a:fld>
            <a:endParaRPr lang="zh-CN" altLang="en-US"/>
          </a:p>
        </p:txBody>
      </p:sp>
    </p:spTree>
    <p:extLst>
      <p:ext uri="{BB962C8B-B14F-4D97-AF65-F5344CB8AC3E}">
        <p14:creationId xmlns:p14="http://schemas.microsoft.com/office/powerpoint/2010/main" val="4288841003"/>
      </p:ext>
    </p:extLst>
  </p:cSld>
  <p:clrMapOvr>
    <a:masterClrMapping/>
  </p:clrMapOvr>
  <p:transition>
    <p:wipe di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3453</TotalTime>
  <Words>3434</Words>
  <Application>Microsoft Office PowerPoint</Application>
  <PresentationFormat>宽屏</PresentationFormat>
  <Paragraphs>239</Paragraphs>
  <Slides>49</Slides>
  <Notes>2</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64" baseType="lpstr">
      <vt:lpstr>等线</vt:lpstr>
      <vt:lpstr>等线 Light</vt:lpstr>
      <vt:lpstr>华文琥珀</vt:lpstr>
      <vt:lpstr>华文细黑</vt:lpstr>
      <vt:lpstr>华文行楷</vt:lpstr>
      <vt:lpstr>微软雅黑</vt:lpstr>
      <vt:lpstr>Arial</vt:lpstr>
      <vt:lpstr>Arial Black</vt:lpstr>
      <vt:lpstr>Cambria</vt:lpstr>
      <vt:lpstr>Franklin Gothic Book</vt:lpstr>
      <vt:lpstr>Script MT Bold</vt:lpstr>
      <vt:lpstr>Times New Roman</vt:lpstr>
      <vt:lpstr>Wingdings</vt:lpstr>
      <vt:lpstr>Office 主题​​</vt:lpstr>
      <vt:lpstr>Bitmap 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jiajp99@126.com</dc:creator>
  <cp:lastModifiedBy>俊平 贾</cp:lastModifiedBy>
  <cp:revision>399</cp:revision>
  <dcterms:created xsi:type="dcterms:W3CDTF">2020-11-21T11:10:03Z</dcterms:created>
  <dcterms:modified xsi:type="dcterms:W3CDTF">2025-12-07T00:45:26Z</dcterms:modified>
</cp:coreProperties>
</file>