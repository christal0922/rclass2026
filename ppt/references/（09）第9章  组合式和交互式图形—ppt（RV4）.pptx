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1470" r:id="rId2"/>
    <p:sldId id="761" r:id="rId3"/>
    <p:sldId id="1421" r:id="rId4"/>
    <p:sldId id="1532" r:id="rId5"/>
    <p:sldId id="1554" r:id="rId6"/>
    <p:sldId id="1534" r:id="rId7"/>
    <p:sldId id="1497" r:id="rId8"/>
    <p:sldId id="1535" r:id="rId9"/>
    <p:sldId id="1555" r:id="rId10"/>
    <p:sldId id="1550" r:id="rId11"/>
    <p:sldId id="1551" r:id="rId12"/>
    <p:sldId id="1538" r:id="rId13"/>
    <p:sldId id="1536" r:id="rId14"/>
    <p:sldId id="1540" r:id="rId15"/>
    <p:sldId id="1542" r:id="rId16"/>
    <p:sldId id="1539" r:id="rId17"/>
    <p:sldId id="1549" r:id="rId18"/>
    <p:sldId id="1544" r:id="rId19"/>
    <p:sldId id="1541" r:id="rId20"/>
    <p:sldId id="1543" r:id="rId21"/>
    <p:sldId id="1546" r:id="rId22"/>
    <p:sldId id="1545" r:id="rId23"/>
    <p:sldId id="1548" r:id="rId24"/>
    <p:sldId id="1547" r:id="rId25"/>
    <p:sldId id="1530" r:id="rId26"/>
    <p:sldId id="1531" r:id="rId2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ajp99@126.com" initials="j" lastIdx="1" clrIdx="0">
    <p:extLst>
      <p:ext uri="{19B8F6BF-5375-455C-9EA6-DF929625EA0E}">
        <p15:presenceInfo xmlns:p15="http://schemas.microsoft.com/office/powerpoint/2012/main" userId="e55687fcb66d4a0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  <a:srgbClr val="000099"/>
    <a:srgbClr val="00FFFF"/>
    <a:srgbClr val="0033CC"/>
    <a:srgbClr val="FFFFCC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3826" autoAdjust="0"/>
  </p:normalViewPr>
  <p:slideViewPr>
    <p:cSldViewPr snapToGrid="0">
      <p:cViewPr varScale="1">
        <p:scale>
          <a:sx n="63" d="100"/>
          <a:sy n="63" d="100"/>
        </p:scale>
        <p:origin x="5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6940"/>
    </p:cViewPr>
  </p:sorterViewPr>
  <p:notesViewPr>
    <p:cSldViewPr snapToGrid="0">
      <p:cViewPr varScale="1">
        <p:scale>
          <a:sx n="48" d="100"/>
          <a:sy n="48" d="100"/>
        </p:scale>
        <p:origin x="2460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9DC851A-AF94-D1FA-F5C3-663CA240B5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E97812D-EC8C-5FB0-3B33-64C84DFEBA2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67425F-5F6E-4204-A233-E29BCD81219C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2785E57-7E0A-D1D0-0AE3-28F42F228A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B41A00A-CE34-9E66-9780-CDFE71EACDE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85887B-2A6C-4C1D-9D67-487DC6DADF0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753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C54936-C32E-4B5F-9C00-DE18EC293E6D}" type="datetimeFigureOut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0304E-243D-4FB6-884F-3E6061F00E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68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/>
            <a:fld id="{56C0ED60-2263-4EAE-A32E-1C3FDB03FC51}" type="slidenum">
              <a:rPr lang="en-US" altLang="zh-CN" b="0" smtClean="0"/>
              <a:pPr eaLnBrk="1" hangingPunct="1"/>
              <a:t>26</a:t>
            </a:fld>
            <a:endParaRPr lang="en-US" altLang="zh-CN" b="0" dirty="0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3276600"/>
            <a:ext cx="5029200" cy="5181600"/>
          </a:xfrm>
          <a:noFill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/>
          <a:p>
            <a:pPr eaLnBrk="1" hangingPunct="1"/>
            <a:endParaRPr lang="zh-CN" altLang="zh-CN"/>
          </a:p>
        </p:txBody>
      </p:sp>
      <p:sp>
        <p:nvSpPr>
          <p:cNvPr id="471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409700" y="692150"/>
            <a:ext cx="4038600" cy="2273300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508784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03911-1325-4990-9323-67866A3DA8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2D08E5B-80E4-4FD0-9CDA-5500B9FC9A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511376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933017-8E63-40AD-BA89-BBB2DF064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541B9A-6066-437C-A37E-12AA3A77CB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B60100-748D-4E91-93CA-D72E091230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1B5C0A2-AE1A-4240-B327-42A20908623E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C4AB81-A6C4-44EF-926A-6AA9872FC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AF1667-2E90-4C92-8C58-6F859444E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921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A41E1B-492C-44FB-9CA3-2420D1281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ED9EAE-AE6C-44FA-9A23-7CBD630885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90415E1-0EE9-494C-87CA-A87BAD08F0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08CFB45-BD77-42C2-B43B-9CCE57C43804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EED9C1-6D6B-43B1-88E7-CF357750F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59F2E4E-68A6-44F0-89F1-9069558E0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47694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6DCF85-EA79-4E15-B212-198BA5E0A6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22BAC-4316-4B37-83C8-3CFFCFEE96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57768D-8B1B-4A40-8A1B-0AC0323E3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533FB19-A5D7-478C-8B7B-8299F44454D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AAE7C0A-51A3-489C-9A57-4ED5AAA198D8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7CED81C-AAD8-40C0-A43F-9D9FB9351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C24794-BF6C-4771-8DBA-AAC07BC3C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011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ADD335-5E95-437F-8BB9-A5F5CC020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1372A5-726C-4D76-98A6-013BEE0035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CA37AF2-BF75-4C37-A2FE-D332194D34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7FA0C6B-D138-4ACC-9E98-4920C2EAF1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1BCEC55-53FB-427F-A3DA-B4D5A728B8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E999D13-5648-462B-A233-9E2CB0C7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D763D98-5F04-4BA9-AB85-97856237DB98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3BD894E-170B-492B-B70A-EDD9A7FB4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115CA6A-9FA6-4365-870E-2DA48DC4A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7461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CBF246-4037-441C-876F-777CC926D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AFFBA47-D15B-4A7D-90C5-3FF2B94B5B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E233C68-0546-46EF-826F-31AB21D0E22F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7BC1F9-EF67-4B0A-96D1-EF168C9E4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9AE28D9-605D-4CD2-B34B-BF76CDF03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8637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F4973FC-C444-49AD-8778-F5595432A35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9C15AE0-43B3-4320-AFBE-87214D5BB912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BEC1063-A3F0-4172-BCFB-CD827E2B6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AC6608-BFA7-48AD-A590-0E85E9BF98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87493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3C89A-E0B7-4981-8F0B-4A7A37DFE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C0E238-74BD-4EA3-996E-32B10590B8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D769AF6-4E84-4D70-98D9-479DF698C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AD74493-971D-42F5-91FF-A5917C2D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6331374-E5A2-4981-B795-16EF6DE65827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CDA75E-D89E-4AE1-8D91-7605D574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DF8901A-E4E6-4A7D-8E8C-9057C44E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8032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684D86-098B-45E7-8693-7E2DE798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728C271-481B-4D73-8474-75D6D49B18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4DE7F4-849E-4963-9100-C8B9B0A081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5913C3-07E4-4E81-AC28-DB4080626D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7EF558D-81CA-4B76-8F12-A95764433413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F2ECCF-DF52-4A0B-9088-6CD8439B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5079631-3376-40BB-8D99-D13069AD4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05345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DB782D-E973-4A4C-9768-5AF63655E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617" y="156404"/>
            <a:ext cx="9753603" cy="777876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67AED1F-4B71-4171-BEF5-E90CF2DBB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3CF74F-5A81-42A8-BFDE-9DF8D20D7C3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449A0-A72F-4DFF-AC68-836BF414A89D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5E0F45-E0D1-46EA-B198-5F3003E2E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BFA175A-B4E7-4A78-94E6-0A03CE806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4778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53B2054-169E-46FC-87FF-00644348A8A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E503AE-1314-4E68-BF61-5DAB31ED9D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64084A-FB51-4F63-B403-370B4F13DC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9359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D7C6E1-5A4D-4ECE-B124-9762BAA7798B}" type="datetime1">
              <a:rPr lang="zh-CN" altLang="en-US" smtClean="0"/>
              <a:t>2025/9/7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699ED0-3608-4FCB-96BE-FFB5DD2CD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0F967E-32DE-45B6-9C75-1157F0E49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9138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3EC6596-A39E-4709-89EB-335C8F3DD7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61703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DD99639-D78A-F309-5A47-3B879FB28594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1295395" y="9940"/>
            <a:ext cx="10886670" cy="101762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endParaRPr lang="zh-CN" altLang="en-US" sz="3200" b="1" dirty="0">
              <a:solidFill>
                <a:srgbClr val="002060"/>
              </a:solidFill>
              <a:latin typeface="华文细黑" panose="02010600040101010101" pitchFamily="2" charset="-122"/>
              <a:ea typeface="华文细黑" panose="0201060004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A7BBF2C-F801-4650-BCBF-3E6A2B1F44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480" y="1672313"/>
            <a:ext cx="10959546" cy="450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05F5E1-C922-4E5A-89F4-6F2B58D16289}"/>
              </a:ext>
            </a:extLst>
          </p:cNvPr>
          <p:cNvSpPr/>
          <p:nvPr userDrawn="1"/>
        </p:nvSpPr>
        <p:spPr>
          <a:xfrm>
            <a:off x="9935" y="1"/>
            <a:ext cx="1275525" cy="1053548"/>
          </a:xfrm>
          <a:prstGeom prst="rect">
            <a:avLst/>
          </a:prstGeom>
          <a:solidFill>
            <a:srgbClr val="0070C0"/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</a:t>
            </a:r>
            <a:endParaRPr lang="en-US" altLang="zh-CN" sz="2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 sz="1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组合式和</a:t>
            </a:r>
            <a:endParaRPr lang="en-US" altLang="zh-CN" sz="1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lang="zh-CN" altLang="en-US" sz="1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ADC6794-BAC4-49B1-8B9A-A91B2A78D5FE}"/>
              </a:ext>
            </a:extLst>
          </p:cNvPr>
          <p:cNvCxnSpPr>
            <a:cxnSpLocks/>
          </p:cNvCxnSpPr>
          <p:nvPr userDrawn="1"/>
        </p:nvCxnSpPr>
        <p:spPr>
          <a:xfrm flipV="1">
            <a:off x="1470992" y="1043609"/>
            <a:ext cx="10721008" cy="2"/>
          </a:xfrm>
          <a:prstGeom prst="line">
            <a:avLst/>
          </a:prstGeom>
          <a:ln w="28575">
            <a:solidFill>
              <a:srgbClr val="0070C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D5EAEA1C-2B82-4DF5-B721-B18A8CF883DD}"/>
              </a:ext>
            </a:extLst>
          </p:cNvPr>
          <p:cNvSpPr/>
          <p:nvPr userDrawn="1"/>
        </p:nvSpPr>
        <p:spPr>
          <a:xfrm>
            <a:off x="1441171" y="1"/>
            <a:ext cx="238540" cy="1053548"/>
          </a:xfrm>
          <a:prstGeom prst="rect">
            <a:avLst/>
          </a:prstGeom>
          <a:solidFill>
            <a:srgbClr val="0070C0"/>
          </a:solidFill>
          <a:ln>
            <a:solidFill>
              <a:srgbClr val="0070C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Rectangle 3">
            <a:extLst>
              <a:ext uri="{FF2B5EF4-FFF2-40B4-BE49-F238E27FC236}">
                <a16:creationId xmlns:a16="http://schemas.microsoft.com/office/drawing/2014/main" id="{8B230C6B-BACC-4B1C-9DFC-332C0E60FE19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0" y="1059044"/>
            <a:ext cx="12192000" cy="503940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5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5">
                  <a:lumMod val="60000"/>
                  <a:lumOff val="40000"/>
                  <a:tint val="23500"/>
                  <a:satMod val="160000"/>
                </a:schemeClr>
              </a:gs>
            </a:gsLst>
            <a:lin ang="5400000" scaled="1"/>
            <a:tileRect/>
          </a:gradFill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华文细黑" panose="02010600040101010101" pitchFamily="2" charset="-122"/>
            </a:endParaRPr>
          </a:p>
        </p:txBody>
      </p:sp>
      <p:sp>
        <p:nvSpPr>
          <p:cNvPr id="2" name="副标题 2">
            <a:extLst>
              <a:ext uri="{FF2B5EF4-FFF2-40B4-BE49-F238E27FC236}">
                <a16:creationId xmlns:a16="http://schemas.microsoft.com/office/drawing/2014/main" id="{CB20DB08-A1D7-DCBF-EED8-377986C7FC48}"/>
              </a:ext>
            </a:extLst>
          </p:cNvPr>
          <p:cNvSpPr txBox="1">
            <a:spLocks/>
          </p:cNvSpPr>
          <p:nvPr userDrawn="1"/>
        </p:nvSpPr>
        <p:spPr>
          <a:xfrm>
            <a:off x="23188" y="6461539"/>
            <a:ext cx="12172130" cy="3964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</a:t>
            </a:r>
            <a:fld id="{40D7A12C-C48C-4203-A694-F2B6F5190069}" type="datetime1">
              <a:rPr lang="zh-CN" altLang="en-US" sz="1300" b="1" smtClean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2025/9/7</a:t>
            </a:fld>
            <a:r>
              <a:rPr lang="zh-CN" altLang="en-US" sz="1300" b="1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                                                              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数据可视化分析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基于 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 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语言</a:t>
            </a:r>
            <a:r>
              <a:rPr lang="en-US" altLang="zh-CN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—</a:t>
            </a:r>
            <a:r>
              <a:rPr lang="zh-CN" altLang="en-US" sz="130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贾俊平                                                                        </a:t>
            </a:r>
            <a:r>
              <a:rPr lang="en-US" altLang="zh-CN" sz="1300" b="0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1 - </a:t>
            </a:r>
            <a:fld id="{16EAF49E-217F-4E01-A667-C6B4D41E8F57}" type="slidenum">
              <a:rPr lang="en-US" altLang="zh-CN" sz="1300" b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marL="0" marR="0" lvl="0" indent="0" algn="l" defTabSz="914400" rtl="0" eaLnBrk="1" fontAlgn="auto" latinLnBrk="0" hangingPunct="1">
                <a:lnSpc>
                  <a:spcPct val="150000"/>
                </a:lnSpc>
                <a:spcBef>
                  <a:spcPts val="100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None/>
                <a:tabLst/>
                <a:defRPr/>
              </a:pPr>
              <a:t>‹#›</a:t>
            </a:fld>
            <a:endParaRPr lang="en-US" altLang="zh-CN" sz="1300" b="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zh-CN" altLang="en-US" sz="1300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763D985-2824-8065-1BED-8B68FE603BBC}"/>
              </a:ext>
            </a:extLst>
          </p:cNvPr>
          <p:cNvSpPr/>
          <p:nvPr userDrawn="1"/>
        </p:nvSpPr>
        <p:spPr>
          <a:xfrm>
            <a:off x="212036" y="1163320"/>
            <a:ext cx="294859" cy="31238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F53CF1CF-93C9-0328-3CA4-9178E23D347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730509" y="9940"/>
            <a:ext cx="1420851" cy="1020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754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+mn-lt"/>
          <a:ea typeface="华文细黑" panose="02010600040101010101" pitchFamily="2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j-ea"/>
          <a:ea typeface="+mj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j-ea"/>
          <a:ea typeface="+mj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ea"/>
          <a:ea typeface="+mj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>
            <a:extLst>
              <a:ext uri="{FF2B5EF4-FFF2-40B4-BE49-F238E27FC236}">
                <a16:creationId xmlns:a16="http://schemas.microsoft.com/office/drawing/2014/main" id="{140A239C-459A-7748-18ED-9D9FCF06E658}"/>
              </a:ext>
            </a:extLst>
          </p:cNvPr>
          <p:cNvGrpSpPr/>
          <p:nvPr/>
        </p:nvGrpSpPr>
        <p:grpSpPr>
          <a:xfrm>
            <a:off x="-57405" y="0"/>
            <a:ext cx="12271508" cy="6858000"/>
            <a:chOff x="-57405" y="0"/>
            <a:chExt cx="12271508" cy="68580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4D2B003D-593F-48DB-BE13-1C28EEAA2375}"/>
                </a:ext>
              </a:extLst>
            </p:cNvPr>
            <p:cNvSpPr/>
            <p:nvPr/>
          </p:nvSpPr>
          <p:spPr>
            <a:xfrm>
              <a:off x="-57405" y="0"/>
              <a:ext cx="12271508" cy="6858000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5445D0-CE9B-A4CC-30B0-668A63D7F5B6}"/>
                </a:ext>
              </a:extLst>
            </p:cNvPr>
            <p:cNvSpPr/>
            <p:nvPr/>
          </p:nvSpPr>
          <p:spPr>
            <a:xfrm>
              <a:off x="8533234" y="2415386"/>
              <a:ext cx="2307048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en-US" altLang="zh-CN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b="1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574B7932-FC4D-9E74-8C2D-407E06788E45}"/>
                </a:ext>
              </a:extLst>
            </p:cNvPr>
            <p:cNvSpPr txBox="1"/>
            <p:nvPr/>
          </p:nvSpPr>
          <p:spPr>
            <a:xfrm>
              <a:off x="5018314" y="1352666"/>
              <a:ext cx="5821968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dist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17" name="副标题 2">
              <a:extLst>
                <a:ext uri="{FF2B5EF4-FFF2-40B4-BE49-F238E27FC236}">
                  <a16:creationId xmlns:a16="http://schemas.microsoft.com/office/drawing/2014/main" id="{D7ED5E4C-E3FE-4A85-6B41-62F1AA059163}"/>
                </a:ext>
              </a:extLst>
            </p:cNvPr>
            <p:cNvSpPr txBox="1">
              <a:spLocks/>
            </p:cNvSpPr>
            <p:nvPr/>
          </p:nvSpPr>
          <p:spPr>
            <a:xfrm>
              <a:off x="9100901" y="5201655"/>
              <a:ext cx="1879415" cy="1196834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2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fld id="{40D7A12C-C48C-4203-A694-F2B6F5190069}" type="datetime1">
                <a:rPr lang="zh-CN" altLang="en-US" sz="22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50000"/>
                  </a:lnSpc>
                </a:pPr>
                <a:t>2025/9/7</a:t>
              </a:fld>
              <a:endParaRPr lang="zh-CN" altLang="en-US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0A77711A-D9C3-862C-970B-1304CBB42097}"/>
                </a:ext>
              </a:extLst>
            </p:cNvPr>
            <p:cNvSpPr/>
            <p:nvPr/>
          </p:nvSpPr>
          <p:spPr>
            <a:xfrm>
              <a:off x="348344" y="359229"/>
              <a:ext cx="11506200" cy="615042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>
              <a:bevelT prst="angle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aphicFrame>
          <p:nvGraphicFramePr>
            <p:cNvPr id="5" name="对象 4">
              <a:extLst>
                <a:ext uri="{FF2B5EF4-FFF2-40B4-BE49-F238E27FC236}">
                  <a16:creationId xmlns:a16="http://schemas.microsoft.com/office/drawing/2014/main" id="{DCC974D1-DCEA-DAD9-BA84-A0C1B340842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664029" y="598713"/>
            <a:ext cx="10874828" cy="566057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6108840" imgH="4280040" progId="PBrush">
                    <p:embed/>
                  </p:oleObj>
                </mc:Choice>
                <mc:Fallback>
                  <p:oleObj name="Bitmap Image" r:id="rId2" imgW="6108840" imgH="4280040" progId="PBrush">
                    <p:embed/>
                    <p:pic>
                      <p:nvPicPr>
                        <p:cNvPr id="5" name="对象 4">
                          <a:extLst>
                            <a:ext uri="{FF2B5EF4-FFF2-40B4-BE49-F238E27FC236}">
                              <a16:creationId xmlns:a16="http://schemas.microsoft.com/office/drawing/2014/main" id="{DCC974D1-DCEA-DAD9-BA84-A0C1B340842C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64029" y="598713"/>
                          <a:ext cx="10874828" cy="566057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D38CC3B9-D273-DA53-3D51-7097270B8979}"/>
                </a:ext>
              </a:extLst>
            </p:cNvPr>
            <p:cNvSpPr/>
            <p:nvPr/>
          </p:nvSpPr>
          <p:spPr>
            <a:xfrm>
              <a:off x="7206344" y="2622251"/>
              <a:ext cx="3718954" cy="86177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r"/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基于 </a:t>
              </a:r>
              <a:r>
                <a:rPr lang="en-US" altLang="zh-CN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R </a:t>
              </a:r>
              <a:r>
                <a:rPr lang="zh-CN" altLang="en-US" sz="5000" dirty="0">
                  <a:solidFill>
                    <a:srgbClr val="00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cript MT Bold" panose="03040602040607080904" pitchFamily="66" charset="0"/>
                  <a:ea typeface="华文琥珀" panose="02010800040101010101" pitchFamily="2" charset="-122"/>
                </a:rPr>
                <a:t>语言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878B0296-8DCD-A0D4-E6A8-49A8022C13B3}"/>
                </a:ext>
              </a:extLst>
            </p:cNvPr>
            <p:cNvSpPr txBox="1"/>
            <p:nvPr/>
          </p:nvSpPr>
          <p:spPr>
            <a:xfrm>
              <a:off x="5323114" y="1559531"/>
              <a:ext cx="5602183" cy="1015663"/>
            </a:xfrm>
            <a:prstGeom prst="rect">
              <a:avLst/>
            </a:prstGeom>
            <a:noFill/>
            <a:scene3d>
              <a:camera prst="orthographicFront"/>
              <a:lightRig rig="threePt" dir="t"/>
            </a:scene3d>
            <a:sp3d>
              <a:bevelT/>
            </a:sp3d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6000" b="1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华文琥珀" panose="02010800040101010101" pitchFamily="2" charset="-122"/>
                  <a:ea typeface="华文琥珀" panose="02010800040101010101" pitchFamily="2" charset="-122"/>
                </a:rPr>
                <a:t>数据可视化分析     </a:t>
              </a:r>
              <a:endParaRPr lang="en-US" altLang="zh-CN" sz="60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琥珀" panose="02010800040101010101" pitchFamily="2" charset="-122"/>
                <a:ea typeface="华文琥珀" panose="02010800040101010101" pitchFamily="2" charset="-122"/>
              </a:endParaRPr>
            </a:p>
          </p:txBody>
        </p:sp>
        <p:sp>
          <p:nvSpPr>
            <p:cNvPr id="21" name="副标题 2">
              <a:extLst>
                <a:ext uri="{FF2B5EF4-FFF2-40B4-BE49-F238E27FC236}">
                  <a16:creationId xmlns:a16="http://schemas.microsoft.com/office/drawing/2014/main" id="{982694FD-A4ED-A422-06B2-71C13249BACF}"/>
                </a:ext>
              </a:extLst>
            </p:cNvPr>
            <p:cNvSpPr txBox="1">
              <a:spLocks/>
            </p:cNvSpPr>
            <p:nvPr/>
          </p:nvSpPr>
          <p:spPr>
            <a:xfrm>
              <a:off x="10319657" y="5505334"/>
              <a:ext cx="1333499" cy="753953"/>
            </a:xfrm>
            <a:prstGeom prst="rect">
              <a:avLst/>
            </a:prstGeom>
            <a:noFill/>
            <a:ln>
              <a:noFill/>
            </a:ln>
          </p:spPr>
          <p:txBody>
            <a:bodyPr vert="horz" lIns="91440" tIns="45720" rIns="91440" bIns="45720" rtlCol="0">
              <a:noAutofit/>
            </a:bodyPr>
            <a:lstStyle>
              <a:lvl1pPr marL="0" indent="0" algn="ctr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None/>
                <a:defRPr sz="24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1pPr>
              <a:lvl2pPr marL="457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20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2pPr>
              <a:lvl3pPr marL="914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8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3pPr>
              <a:lvl4pPr marL="1371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4pPr>
              <a:lvl5pPr marL="18288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华文细黑" panose="02010600040101010101" pitchFamily="2" charset="-122"/>
                  <a:ea typeface="华文细黑" panose="02010600040101010101" pitchFamily="2" charset="-122"/>
                  <a:cs typeface="+mn-cs"/>
                </a:defRPr>
              </a:lvl5pPr>
              <a:lvl6pPr marL="22860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None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</a:pPr>
              <a:r>
                <a:rPr lang="zh-CN" altLang="en-US" sz="16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t>贾俊平</a:t>
              </a:r>
              <a:endPara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  <a:p>
              <a:pPr>
                <a:lnSpc>
                  <a:spcPct val="100000"/>
                </a:lnSpc>
              </a:pPr>
              <a:fld id="{40D7A12C-C48C-4203-A694-F2B6F5190069}" type="datetime1">
                <a:rPr lang="zh-CN" altLang="en-US" sz="1600" b="1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lt"/>
                  <a:ea typeface="+mn-ea"/>
                  <a:cs typeface="Arial" panose="020B0604020202020204" pitchFamily="34" charset="0"/>
                </a:rPr>
                <a:pPr>
                  <a:lnSpc>
                    <a:spcPct val="100000"/>
                  </a:lnSpc>
                </a:pPr>
                <a:t>2025/9/7</a:t>
              </a:fld>
              <a:endPara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24" name="Rectangle 3">
              <a:extLst>
                <a:ext uri="{FF2B5EF4-FFF2-40B4-BE49-F238E27FC236}">
                  <a16:creationId xmlns:a16="http://schemas.microsoft.com/office/drawing/2014/main" id="{9D668F91-5A97-DC14-A87D-94ECEC1AF98D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7543801" y="3604606"/>
              <a:ext cx="3296482" cy="2610697"/>
            </a:xfrm>
            <a:prstGeom prst="rect">
              <a:avLst/>
            </a:prstGeom>
            <a:ln w="12700">
              <a:noFill/>
              <a:miter lim="800000"/>
              <a:headEnd/>
              <a:tailEnd/>
            </a:ln>
          </p:spPr>
          <p:txBody>
            <a:bodyPr vert="horz" lIns="90488" tIns="44450" rIns="90488" bIns="4445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21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本书特色</a:t>
              </a:r>
              <a:endParaRPr lang="en-US" altLang="zh-CN" sz="2400" dirty="0">
                <a:effectLst/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新颖的写作视角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严谨的组织结构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完备的绘制代码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  <a:p>
              <a:pPr marL="0" indent="0" algn="ctr" eaLnBrk="0" hangingPunct="0">
                <a:lnSpc>
                  <a:spcPct val="100000"/>
                </a:lnSpc>
                <a:spcBef>
                  <a:spcPct val="50000"/>
                </a:spcBef>
                <a:buClr>
                  <a:srgbClr val="000099"/>
                </a:buClr>
                <a:buNone/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highlight>
                    <a:srgbClr val="008080"/>
                  </a:highlight>
                  <a:latin typeface="华文行楷" panose="02010800040101010101" pitchFamily="2" charset="-122"/>
                  <a:ea typeface="华文行楷" panose="02010800040101010101" pitchFamily="2" charset="-122"/>
                  <a:cs typeface="Times New Roman" panose="02020603050405020304" pitchFamily="18" charset="0"/>
                </a:rPr>
                <a:t>详尽的图形解读</a:t>
              </a:r>
              <a:endParaRPr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41939524"/>
      </p:ext>
    </p:extLst>
  </p:cSld>
  <p:clrMapOvr>
    <a:masterClrMapping/>
  </p:clrMapOvr>
  <p:transition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4D2B003D-593F-48DB-BE13-1C28EEAA2375}"/>
              </a:ext>
            </a:extLst>
          </p:cNvPr>
          <p:cNvSpPr/>
          <p:nvPr/>
        </p:nvSpPr>
        <p:spPr>
          <a:xfrm>
            <a:off x="-57405" y="0"/>
            <a:ext cx="12271508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副标题 2">
            <a:extLst>
              <a:ext uri="{FF2B5EF4-FFF2-40B4-BE49-F238E27FC236}">
                <a16:creationId xmlns:a16="http://schemas.microsoft.com/office/drawing/2014/main" id="{CD5BFEA8-D60A-4E4F-BEA7-36EF403C3802}"/>
              </a:ext>
            </a:extLst>
          </p:cNvPr>
          <p:cNvSpPr txBox="1">
            <a:spLocks/>
          </p:cNvSpPr>
          <p:nvPr/>
        </p:nvSpPr>
        <p:spPr>
          <a:xfrm>
            <a:off x="6096000" y="4864292"/>
            <a:ext cx="2653745" cy="1760996"/>
          </a:xfrm>
          <a:prstGeom prst="rect">
            <a:avLst/>
          </a:prstGeom>
          <a:noFill/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贾俊平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fld id="{40D7A12C-C48C-4203-A694-F2B6F5190069}" type="datetime1">
              <a:rPr lang="zh-CN" altLang="en-US" sz="3200" b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pPr>
                <a:lnSpc>
                  <a:spcPct val="150000"/>
                </a:lnSpc>
              </a:pPr>
              <a:t>2025/9/7</a:t>
            </a:fld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7BE89BD-ACBF-40B9-AAFA-85C15C6AD3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7405" y="-85059"/>
            <a:ext cx="12423070" cy="6943059"/>
          </a:xfrm>
          <a:prstGeom prst="rect">
            <a:avLst/>
          </a:prstGeom>
        </p:spPr>
      </p:pic>
      <p:sp>
        <p:nvSpPr>
          <p:cNvPr id="9" name="圆角矩形 4">
            <a:extLst>
              <a:ext uri="{FF2B5EF4-FFF2-40B4-BE49-F238E27FC236}">
                <a16:creationId xmlns:a16="http://schemas.microsoft.com/office/drawing/2014/main" id="{5B463439-9290-46DE-AF62-1FC729B957BF}"/>
              </a:ext>
            </a:extLst>
          </p:cNvPr>
          <p:cNvSpPr/>
          <p:nvPr/>
        </p:nvSpPr>
        <p:spPr>
          <a:xfrm>
            <a:off x="1288662" y="2586859"/>
            <a:ext cx="9836538" cy="3431169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prst="relaxedInset"/>
          </a:sp3d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609600" indent="-609600">
              <a:lnSpc>
                <a:spcPct val="20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9.1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组合式图形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  <a:p>
            <a:pPr marL="609600" indent="-609600">
              <a:lnSpc>
                <a:spcPct val="200000"/>
              </a:lnSpc>
              <a:defRPr/>
            </a:pPr>
            <a:r>
              <a:rPr lang="en-US" altLang="zh-CN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9.2   </a:t>
            </a:r>
            <a:r>
              <a:rPr lang="zh-CN" altLang="en-US" sz="3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Arial" charset="0"/>
              </a:rPr>
              <a:t>交互式图形</a:t>
            </a:r>
            <a:endParaRPr lang="en-US" altLang="zh-CN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Arial" charset="0"/>
            </a:endParaRPr>
          </a:p>
          <a:p>
            <a:pPr marL="609600" indent="-609600">
              <a:lnSpc>
                <a:spcPct val="200000"/>
              </a:lnSpc>
              <a:defRPr/>
            </a:pPr>
            <a:endParaRPr lang="zh-CN" altLang="en-US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42FE301-88C8-43EE-B4E5-A0F8BAC93B90}"/>
              </a:ext>
            </a:extLst>
          </p:cNvPr>
          <p:cNvSpPr txBox="1"/>
          <p:nvPr/>
        </p:nvSpPr>
        <p:spPr>
          <a:xfrm>
            <a:off x="1456660" y="839972"/>
            <a:ext cx="9545916" cy="906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 </a:t>
            </a:r>
            <a:r>
              <a:rPr lang="en-US" altLang="zh-CN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9 </a:t>
            </a:r>
            <a:r>
              <a:rPr lang="zh-CN" altLang="en-US" sz="40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章    </a:t>
            </a:r>
            <a:r>
              <a:rPr lang="zh-CN" altLang="en-US" sz="4000" b="1" spc="15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组合式和交互式图形</a:t>
            </a:r>
            <a:r>
              <a:rPr lang="en-US" altLang="zh-CN" sz="4000" b="1" spc="15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4000" b="1" spc="150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724412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2F5DDA16-9709-E0EF-7663-B10F692F258D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>
                <a:solidFill>
                  <a:srgbClr val="002060"/>
                </a:solidFill>
                <a:ea typeface="华文细黑" panose="02010600040101010101" pitchFamily="2" charset="-122"/>
              </a:rPr>
              <a:t>       概要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0DF2212-FBBB-8513-9816-826E26AB9757}"/>
              </a:ext>
            </a:extLst>
          </p:cNvPr>
          <p:cNvSpPr txBox="1">
            <a:spLocks noChangeArrowheads="1"/>
          </p:cNvSpPr>
          <p:nvPr/>
        </p:nvSpPr>
        <p:spPr>
          <a:xfrm>
            <a:off x="721360" y="1677093"/>
            <a:ext cx="10861040" cy="465759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组合式图形是将不同图形组合在一起的呈现方式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其目的主要有两个，一是节省绘图空间，以便在更小的空间内提供更多的数据信息；二是便于综合比较分析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创建组合式图形的方式主要有两种，一是将多幅独立的图形组合在一起，二是将子图嵌入到主图的指定位置</a:t>
            </a:r>
            <a:endParaRPr lang="en-US" altLang="zh-CN" sz="22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组合式图形的绘制要保持图形整体的协调一致，提供具有互补价值的信息</a:t>
            </a:r>
            <a:endParaRPr lang="zh-CN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6B4133F-ADE0-3A73-753A-0EE7CBF4E23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本章导读</a:t>
            </a:r>
          </a:p>
        </p:txBody>
      </p:sp>
    </p:spTree>
    <p:extLst>
      <p:ext uri="{BB962C8B-B14F-4D97-AF65-F5344CB8AC3E}">
        <p14:creationId xmlns:p14="http://schemas.microsoft.com/office/powerpoint/2010/main" val="3440715431"/>
      </p:ext>
    </p:extLst>
  </p:cSld>
  <p:clrMapOvr>
    <a:masterClrMapping/>
  </p:clrMapOvr>
  <p:transition>
    <p:wipe dir="r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图形与表格的组合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图形与原始数据表格的组合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697412"/>
            <a:ext cx="3147469" cy="4652589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图形与数据表格组合不仅可以节省文本空间，还可以为图形提供互补信息</a:t>
            </a:r>
            <a:endParaRPr lang="en-US" altLang="zh-CN" sz="18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组合在图形中的表格可以是原始数据表格，也可以是数据分析结果的表格</a:t>
            </a:r>
            <a:endParaRPr lang="en-US" altLang="zh-CN" sz="18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图表的组合方式可以是并行组合，也可以将表格嵌套在图形中</a:t>
            </a:r>
            <a:endParaRPr lang="zh-CN" altLang="zh-CN" sz="16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4013201" y="1697412"/>
            <a:ext cx="1463039" cy="465258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18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2023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</a:t>
            </a:r>
            <a:r>
              <a:rPr lang="zh-CN" altLang="en-US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我国</a:t>
            </a:r>
            <a:r>
              <a:rPr lang="zh-CN" altLang="zh-CN" sz="18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按年龄和性别分组人口数</a:t>
            </a:r>
            <a:r>
              <a:rPr lang="zh-CN" altLang="en-US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的金字塔图</a:t>
            </a:r>
            <a:endParaRPr lang="zh-CN" altLang="zh-CN" sz="18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2DB54428-EF7B-1E85-68DA-8D908350036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0DE43BE-279D-D4AC-101C-1E423A26AC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442" y="1697412"/>
            <a:ext cx="6037616" cy="4652588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80186969"/>
      </p:ext>
    </p:extLst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图形与表格的组合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对比分析图形与描述统计量表格的组合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24F358AD-F5E5-3F6A-C968-B413ED91E148}"/>
              </a:ext>
            </a:extLst>
          </p:cNvPr>
          <p:cNvSpPr txBox="1">
            <a:spLocks noChangeArrowheads="1"/>
          </p:cNvSpPr>
          <p:nvPr/>
        </p:nvSpPr>
        <p:spPr>
          <a:xfrm>
            <a:off x="733651" y="1656773"/>
            <a:ext cx="1918109" cy="468372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en-US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将</a:t>
            </a:r>
            <a:r>
              <a:rPr lang="zh-CN" altLang="zh-CN" sz="2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数据分析结果表格组合在图形中</a:t>
            </a:r>
            <a:r>
              <a:rPr lang="zh-CN" altLang="en-US" sz="2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更有分析价值</a:t>
            </a:r>
            <a:endParaRPr lang="zh-CN" altLang="zh-CN" sz="24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2804160" y="1656772"/>
            <a:ext cx="1625600" cy="4683723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3-2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个地区的人均消费支出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嵌套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条形图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、发散条形图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与描述统计量表格的组合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——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发散条形图</a:t>
            </a:r>
            <a:endParaRPr lang="zh-CN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6FED1-E4D3-05B5-C49D-A7A9A696464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166310C-488D-1DAF-B857-BF81B7F69A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2160" y="1656772"/>
            <a:ext cx="6979920" cy="4683722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84161049"/>
      </p:ext>
    </p:extLst>
  </p:cSld>
  <p:clrMapOvr>
    <a:masterClrMapping/>
  </p:clrMapOvr>
  <p:transition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图形与表格的组合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信息互补图形与描述统计量表格的组合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656774"/>
            <a:ext cx="3342640" cy="469322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3-2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4</a:t>
            </a:r>
            <a:r>
              <a:rPr lang="zh-CN" altLang="en-US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个地区的人均消费支出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条形图和环形图与描述统计量表格的组合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6842D2-D359-B07B-E15C-B330382A4DE9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8B3183B-FF8F-1750-B91A-2EAA18699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4202" y="1656774"/>
            <a:ext cx="7015798" cy="469322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5900901"/>
      </p:ext>
    </p:extLst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图形与表格的组合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关联图形与描述统计量表格的组合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697414"/>
            <a:ext cx="3403600" cy="466274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数据为例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## 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误差条形图展示了不同质量等级下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的水平和离散程度；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Q-Q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图显示</a:t>
            </a: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不否服从正态分布；面积图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展示了序列的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变化模式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7D153B33-9FA3-8F9B-241A-E9F55A6851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42" y="1697414"/>
            <a:ext cx="6888479" cy="466274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C7858C2-8DE6-DDA0-D8E8-382D202C815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2473166376"/>
      </p:ext>
    </p:extLst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图形与表格的组合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主图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+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边际图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+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描述统计量表格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707574"/>
            <a:ext cx="5334000" cy="466280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7-1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31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个地区各项消费支出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主图加边际图与描述统计量表格的组合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en-US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## </a:t>
            </a:r>
            <a:r>
              <a:rPr lang="zh-CN" altLang="zh-CN" sz="22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热图的颜色饱和度展示了每个地区各项支出的多少，上方的条形图展示了每个支出项目的总支出，右侧的棒棒糖图展示了每个地区的总支出，下方的表格给出了按地带划分分组的描述统计量</a:t>
            </a:r>
            <a:endParaRPr lang="zh-CN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4506F6-C855-A45B-E1E7-5F686535A03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D1DFFD3-EF57-1941-75B2-8C4451A028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9038" y="1707574"/>
            <a:ext cx="5334000" cy="466280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351540205"/>
      </p:ext>
    </p:extLst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图形与注释文本的组合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变量注释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792480" y="1697414"/>
            <a:ext cx="2885440" cy="4662747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14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添加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PM2.5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（均值）＋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3SD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（标准差）线和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PM2.5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median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（中位数）＋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3MAD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（中位数绝对离差）线，用以判断数据集中的离群点（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outliers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）。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MAD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是一个数据集中每个数据与其中位数离差绝对值的中位数。统计上通常将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±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SD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范围之外或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median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±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MAD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之外的数据称为离群点。由于本例数据为右偏，仅画出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3SD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median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＋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3MAD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两条上限（也可以画出下限，即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mean - 3SD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median - 3MAD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4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5DD14C3-82AD-3735-E6FE-DD44457B41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9360" y="1697413"/>
            <a:ext cx="7904480" cy="4662747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74C0B91-5B4A-FCAE-01BF-6548CB495F2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1665781144"/>
      </p:ext>
    </p:extLst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图形与注释文本的组合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图形注释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687254"/>
            <a:ext cx="1534160" cy="463970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3-2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zh-CN" altLang="zh-CN" sz="2000" b="1" kern="0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帕累托图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Pareto plot</a:t>
            </a:r>
            <a:r>
              <a:rPr lang="zh-CN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r>
              <a:rPr lang="zh-CN" altLang="en-US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和</a:t>
            </a:r>
            <a:r>
              <a:rPr lang="zh-CN" altLang="en-US" sz="2000" b="1" kern="0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瀑布图</a:t>
            </a:r>
            <a:r>
              <a:rPr lang="zh-CN" altLang="en-US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0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waterfall chart</a:t>
            </a:r>
            <a:r>
              <a:rPr lang="zh-CN" altLang="en-US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</a:t>
            </a:r>
            <a:endParaRPr lang="zh-CN" altLang="zh-CN" sz="2000" dirty="0">
              <a:ea typeface="华文细黑" panose="02010600040101010101" pitchFamily="2" charset="-122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B320F9-902B-CB6A-4281-B622BE9A709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5F7C7BC-8754-CB42-3E46-CF6345418D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39682" y="1687253"/>
            <a:ext cx="9022398" cy="463970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087825"/>
      </p:ext>
    </p:extLst>
  </p:cSld>
  <p:clrMapOvr>
    <a:masterClrMapping/>
  </p:clrMapOvr>
  <p:transition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图形与注释文本的组合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方法注释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697414"/>
            <a:ext cx="2570480" cy="461194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14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为了解大学生对食堂就餐的满意度，随机抽取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150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名学生进行问卷调查。问卷采用</a:t>
            </a:r>
            <a:r>
              <a:rPr lang="zh-CN" altLang="zh-CN" sz="1400" b="1" dirty="0">
                <a:effectLst/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李克特量表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400" dirty="0" err="1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Likertscale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）形式设计，共包括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6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个调查项目，分别为“食品价格”“食品口味”“食品品种”“就餐环境”“就餐时间”“服务态度”，每个调查项目均包括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5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个回答选项，分别为“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非常不满意”“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不满意”“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中立”“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满意”“</a:t>
            </a:r>
            <a:r>
              <a:rPr lang="en-US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E</a:t>
            </a:r>
            <a:r>
              <a:rPr lang="zh-CN" altLang="zh-CN" sz="14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非常满意”</a:t>
            </a:r>
            <a:endParaRPr lang="en-US" altLang="zh-CN" sz="14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9AD966F-0EA5-A038-8BDA-3EEA29B9E7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6002" y="1697414"/>
            <a:ext cx="7904798" cy="4611945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9D5F6EC-CBD5-EA19-3DAC-FC711542CC7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3251683552"/>
      </p:ext>
    </p:extLst>
  </p:cSld>
  <p:clrMapOvr>
    <a:masterClrMapping/>
  </p:clrMapOvr>
  <p:transition>
    <p:wipe dir="r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图形与注释文本的组合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方法注释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20" y="1656774"/>
            <a:ext cx="10749280" cy="466274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16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160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图形解释：</a:t>
            </a:r>
            <a:endParaRPr lang="en-US" altLang="zh-CN" sz="1600" dirty="0">
              <a:effectLst/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9-8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是使用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ggstats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包中的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gglikert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函数绘制的一种特殊堆叠条形图，它是将各回答项目从中间项（“中立”）依次向两侧堆叠，以便在一幅图中比较多个调查项目的回答百分比</a:t>
            </a: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9-8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）中两侧为每个调查项目的回答百分比合计。函数默认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totals_include_center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=FALSE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，即合计数不含中间项（“中立”）。比如，左侧的食品价格合计百分比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49.3%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22.7%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（非常不满意）与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26.7%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（不满意）的和（因百分比的四舍五入有差异），右侧的食品价格合计百分比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38.7%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18.7%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（满意）与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（非常满意）的和，不含中立选项的百分比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图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9-8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）是按性别分面绘制的，并设置</a:t>
            </a:r>
            <a:r>
              <a:rPr lang="en-US" altLang="zh-CN" sz="16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totals_include_center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=TRUE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，因此两侧每个调查项目的回答百分比合计含中间项（“中立”）的一半。比如，男生左侧的食品价格合计百分比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52%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18%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（非常不满意）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+28%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（不满意）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+12%/2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（中立），右侧的食品价格合计百分比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48%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21%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（非常满意）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+21%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（满意）</a:t>
            </a:r>
            <a:r>
              <a:rPr lang="en-US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+12%/2</a:t>
            </a:r>
            <a:r>
              <a:rPr lang="zh-CN" altLang="zh-CN" sz="16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（中立），其余类推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0637C-AB2E-09AC-9D7A-FB01B85896D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1134087842"/>
      </p:ext>
    </p:extLst>
  </p:cSld>
  <p:clrMapOvr>
    <a:masterClrMapping/>
  </p:clrMapOvr>
  <p:transition>
    <p:wipe dir="r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主图与局部放大子图的组合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嵌入子图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56775"/>
            <a:ext cx="10657141" cy="578425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PM10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的散点图和</a:t>
            </a:r>
            <a:r>
              <a:rPr lang="en-US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的折线图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45A322-512E-FBFD-E8E1-720A88B619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240" y="2298511"/>
            <a:ext cx="10586021" cy="4061649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530A63C-D48A-CE30-9C12-4CDCC45221F8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395711963"/>
      </p:ext>
    </p:extLst>
  </p:cSld>
  <p:clrMapOvr>
    <a:masterClrMapping/>
  </p:clrMapOvr>
  <p:transition>
    <p:wipe dir="r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707574"/>
            <a:ext cx="2661921" cy="462210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PM10</a:t>
            </a:r>
            <a:r>
              <a:rPr lang="zh-CN" altLang="en-US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0DEA13F-600A-C54A-BC1C-D6F028CA0B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0479" y="1707574"/>
            <a:ext cx="7518401" cy="46221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1BCA8686-2322-05C4-F864-3A0273CF7147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580FE0F5-4E04-9E0E-34D9-84ABCBC4CA84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主图与局部放大子图的组合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面板组合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95455986"/>
      </p:ext>
    </p:extLst>
  </p:cSld>
  <p:clrMapOvr>
    <a:masterClrMapping/>
  </p:clrMapOvr>
  <p:transition>
    <p:wipe dir="r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图形与图片的组合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背景图片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56774"/>
            <a:ext cx="10681160" cy="5039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zh-CN" altLang="en-US" sz="20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部分</a:t>
            </a:r>
            <a:r>
              <a:rPr lang="zh-CN" altLang="en-US" sz="20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D9AE1BB-4AF9-CC71-287E-F3FD5FCD9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119" y="2258416"/>
            <a:ext cx="10681160" cy="4111904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BCDC505-8B19-D5D1-EEDA-AB3AAC23B55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4006590118"/>
      </p:ext>
    </p:extLst>
  </p:cSld>
  <p:clrMapOvr>
    <a:masterClrMapping/>
  </p:clrMapOvr>
  <p:transition>
    <p:wipe dir="r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图形与图片的组合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填充图片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520FBA3-8278-C800-8551-AF15B05276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320" y="1757680"/>
            <a:ext cx="10830559" cy="4582160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5019041" y="1757680"/>
            <a:ext cx="1747520" cy="39624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3-1</a:t>
            </a:r>
            <a:r>
              <a:rPr lang="en-US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endParaRPr lang="en-US" altLang="zh-CN" sz="16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F6DD1107-F74B-C869-ADCF-DC892684F10A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9.1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组合式图形</a:t>
            </a:r>
          </a:p>
        </p:txBody>
      </p:sp>
    </p:spTree>
    <p:extLst>
      <p:ext uri="{BB962C8B-B14F-4D97-AF65-F5344CB8AC3E}">
        <p14:creationId xmlns:p14="http://schemas.microsoft.com/office/powerpoint/2010/main" val="786464057"/>
      </p:ext>
    </p:extLst>
  </p:cSld>
  <p:clrMapOvr>
    <a:masterClrMapping/>
  </p:clrMapOvr>
  <p:transition>
    <p:wipe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创建交互式图形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87254"/>
            <a:ext cx="10681160" cy="465258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400" b="1" dirty="0">
                <a:highlight>
                  <a:srgbClr val="FFFF99"/>
                </a:highlight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交互图形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interactive graph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）或称交互式网络图形</a:t>
            </a:r>
            <a:r>
              <a:rPr lang="en-US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(interactive Web graph)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，它是将图形绘制成</a:t>
            </a:r>
            <a:r>
              <a:rPr lang="en-US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形式，从而实现图形与数据的联动</a:t>
            </a:r>
            <a:endParaRPr lang="en-US" altLang="zh-CN" sz="24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在交互式图形中，将鼠标指针移到图形的任意位置，可以观察图形对应的数据点</a:t>
            </a:r>
            <a:endParaRPr lang="en-US" altLang="zh-CN" sz="24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本节首先介绍</a:t>
            </a:r>
            <a:r>
              <a:rPr lang="en-US" altLang="zh-CN" sz="24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plotly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包绘制的几种交互式图形，然后介绍</a:t>
            </a:r>
            <a:r>
              <a:rPr lang="en-US" altLang="zh-CN" sz="24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GWalkR</a:t>
            </a:r>
            <a:r>
              <a:rPr lang="zh-CN" altLang="zh-CN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包的简要使用</a:t>
            </a:r>
            <a:r>
              <a:rPr lang="zh-CN" altLang="en-US" sz="24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方法</a:t>
            </a:r>
            <a:endParaRPr lang="zh-CN" altLang="zh-CN" sz="24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CF0322-C2B2-5111-C2C0-230CC7164C92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</p:spTree>
    <p:extLst>
      <p:ext uri="{BB962C8B-B14F-4D97-AF65-F5344CB8AC3E}">
        <p14:creationId xmlns:p14="http://schemas.microsoft.com/office/powerpoint/2010/main" val="536999701"/>
      </p:ext>
    </p:extLst>
  </p:cSld>
  <p:clrMapOvr>
    <a:masterClrMapping/>
  </p:clrMapOvr>
  <p:transition>
    <p:wipe dir="r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创建交互式图形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plotly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绘制漏斗图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792479" y="1656774"/>
            <a:ext cx="10849168" cy="629772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3-2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2023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年北京和上海居民人均消费支出的交互漏斗图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EDC6EA0-4714-178F-2F2D-5C22FED58BD3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79439AD-E990-C8EA-3BE5-178C7EB08C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78" y="2380336"/>
            <a:ext cx="10849169" cy="393918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16802956"/>
      </p:ext>
    </p:extLst>
  </p:cSld>
  <p:clrMapOvr>
    <a:masterClrMapping/>
  </p:clrMapOvr>
  <p:transition>
    <p:wipe dir="r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创建交互式图形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plotly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绘制的小提琴图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609599" y="1656774"/>
            <a:ext cx="1371601" cy="470338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</a:t>
            </a:r>
            <a:r>
              <a: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图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9-6</a:t>
            </a:r>
            <a:r>
              <a:rPr lang="en-US" altLang="zh-CN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endParaRPr lang="en-US" altLang="zh-CN" sz="20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5B28AE8-3E53-545E-830B-F647CC4FED9E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F30A1512-4BB0-C7B3-B120-ACCC8560BA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121" y="1605794"/>
            <a:ext cx="9634014" cy="475436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916654574"/>
      </p:ext>
    </p:extLst>
  </p:cSld>
  <p:clrMapOvr>
    <a:masterClrMapping/>
  </p:clrMapOvr>
  <p:transition>
    <p:wipe dir="r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创建交互式图形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plotly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绘制散点图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A660A54-3C85-0C49-4034-AE0EFA9B8DAB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124FC1D8-F2B1-5892-D9E9-9108CB37FE4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707" y="1655726"/>
            <a:ext cx="10574973" cy="472475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96040532"/>
      </p:ext>
    </p:extLst>
  </p:cSld>
  <p:clrMapOvr>
    <a:masterClrMapping/>
  </p:clrMapOvr>
  <p:transition>
    <p:wipe dir="r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创建交互式图形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plotly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折线图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97414"/>
            <a:ext cx="1605281" cy="462210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r>
              <a:rPr lang="en-US" altLang="zh-CN" sz="2200" kern="0" dirty="0">
                <a:effectLst/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AQI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PM2.5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PM10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、二氧化硫和臭氧浓度</a:t>
            </a:r>
            <a:r>
              <a:rPr lang="zh-CN" altLang="en-US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</a:t>
            </a:r>
            <a:r>
              <a:rPr lang="en-US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——30</a:t>
            </a:r>
            <a:r>
              <a:rPr lang="zh-CN" altLang="zh-CN" sz="2200" kern="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日移动平均</a:t>
            </a:r>
            <a:endParaRPr lang="en-US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167BA9-E045-EBA2-57FB-B8517B8472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8676" y="1697414"/>
            <a:ext cx="8905604" cy="462210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416E5E0-73C8-78E0-49A7-CB3BD84B8CCF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</p:spTree>
    <p:extLst>
      <p:ext uri="{BB962C8B-B14F-4D97-AF65-F5344CB8AC3E}">
        <p14:creationId xmlns:p14="http://schemas.microsoft.com/office/powerpoint/2010/main" val="2117060597"/>
      </p:ext>
    </p:extLst>
  </p:cSld>
  <p:clrMapOvr>
    <a:masterClrMapping/>
  </p:clrMapOvr>
  <p:transition>
    <p:wipe dir="r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创建可视化仪表盘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GWalkR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简介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56774"/>
            <a:ext cx="10556241" cy="2351700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en-US" altLang="zh-CN" sz="22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GWalkR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包是将数据框转换为类似“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Tableau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”的交互式界面，从而简化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数据分析和数据可视化流程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对于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用户来说，</a:t>
            </a:r>
            <a:r>
              <a:rPr lang="en-US" altLang="zh-CN" sz="22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GWalkR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可以在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环境带实现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Tableau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的交互性和视觉功能，从而使用交互式图形进行探索性数据分析</a:t>
            </a:r>
            <a:endParaRPr lang="en-US" altLang="zh-CN" sz="22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endParaRPr lang="en-US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720C841F-64D1-9E53-7B68-92AF2CF15E72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4185919"/>
            <a:ext cx="10556241" cy="215392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## Tableau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是一款商业智能工具软件，它将数据运算与图表完美地嫁接在一起。用户将数据拖放到数字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“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画布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”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上就能创建出各种图表。</a:t>
            </a:r>
            <a:r>
              <a:rPr lang="en-US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Tableau</a:t>
            </a:r>
            <a:r>
              <a:rPr lang="zh-CN" altLang="zh-CN" sz="22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操作简单，尤其适合于数据的展示和可视化分析，具有强调的交互性能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68E2C98A-221C-0AB3-E309-3E21DC15995D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</p:spTree>
    <p:extLst>
      <p:ext uri="{BB962C8B-B14F-4D97-AF65-F5344CB8AC3E}">
        <p14:creationId xmlns:p14="http://schemas.microsoft.com/office/powerpoint/2010/main" val="2000490973"/>
      </p:ext>
    </p:extLst>
  </p:cSld>
  <p:clrMapOvr>
    <a:masterClrMapping/>
  </p:clrMapOvr>
  <p:transition>
    <p:wipe dir="r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创建可视化仪表盘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GWalkR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——Data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交互界面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97414"/>
            <a:ext cx="1483361" cy="461194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endParaRPr lang="en-US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F39F00C-780E-41DF-453F-D3E6A86CF5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697414"/>
            <a:ext cx="9143186" cy="461194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32A8DBA-4A2F-16DA-1505-C78919644AA4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</p:spTree>
    <p:extLst>
      <p:ext uri="{BB962C8B-B14F-4D97-AF65-F5344CB8AC3E}">
        <p14:creationId xmlns:p14="http://schemas.microsoft.com/office/powerpoint/2010/main" val="1369648301"/>
      </p:ext>
    </p:extLst>
  </p:cSld>
  <p:clrMapOvr>
    <a:masterClrMapping/>
  </p:clrMapOvr>
  <p:transition>
    <p:wipe dir="r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创建可视化仪表盘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 err="1">
                <a:solidFill>
                  <a:srgbClr val="002060"/>
                </a:solidFill>
                <a:ea typeface="华文细黑" panose="02010600040101010101" pitchFamily="2" charset="-122"/>
              </a:rPr>
              <a:t>GWalkR</a:t>
            </a:r>
            <a:r>
              <a:rPr lang="zh-CN" altLang="zh-CN" sz="2600" b="1">
                <a:solidFill>
                  <a:srgbClr val="002060"/>
                </a:solidFill>
                <a:ea typeface="华文细黑" panose="02010600040101010101" pitchFamily="2" charset="-122"/>
              </a:rPr>
              <a:t>包</a:t>
            </a:r>
            <a:r>
              <a:rPr lang="en-US" altLang="zh-CN" sz="2600" b="1">
                <a:solidFill>
                  <a:srgbClr val="002060"/>
                </a:solidFill>
                <a:ea typeface="华文细黑" panose="02010600040101010101" pitchFamily="2" charset="-122"/>
              </a:rPr>
              <a:t>——</a:t>
            </a:r>
            <a:r>
              <a:rPr lang="en-US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Visualization</a:t>
            </a:r>
            <a:r>
              <a:rPr lang="zh-CN" altLang="zh-CN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交互界面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F787885E-E1D4-90BC-A5E1-DB95A1E2FB13}"/>
              </a:ext>
            </a:extLst>
          </p:cNvPr>
          <p:cNvSpPr txBox="1">
            <a:spLocks noChangeArrowheads="1"/>
          </p:cNvSpPr>
          <p:nvPr/>
        </p:nvSpPr>
        <p:spPr>
          <a:xfrm>
            <a:off x="833119" y="1697414"/>
            <a:ext cx="1483361" cy="4632266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【例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华文细黑" panose="02010600040101010101" pitchFamily="2" charset="-122"/>
              </a:rPr>
              <a:t>5-1</a:t>
            </a:r>
            <a:r>
              <a:rPr lang="en-US" altLang="zh-CN" sz="2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008080"/>
                </a:highlight>
                <a:latin typeface="Cambria" panose="02040503050406030204" pitchFamily="18" charset="0"/>
                <a:ea typeface="Cambria" panose="02040503050406030204" pitchFamily="18" charset="0"/>
              </a:rPr>
              <a:t>】</a:t>
            </a:r>
            <a:endParaRPr lang="en-US" altLang="zh-CN" sz="2200" kern="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B44F449-EF32-8952-D41D-3B78EF9C524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8240" y="1697414"/>
            <a:ext cx="9042401" cy="4632266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</a:ln>
        </p:spPr>
      </p:pic>
      <p:sp>
        <p:nvSpPr>
          <p:cNvPr id="4" name="Rectangle 2">
            <a:extLst>
              <a:ext uri="{FF2B5EF4-FFF2-40B4-BE49-F238E27FC236}">
                <a16:creationId xmlns:a16="http://schemas.microsoft.com/office/drawing/2014/main" id="{2AB3B14F-4394-0507-BA4D-8020D4652E1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altLang="zh-CN" sz="3200" b="1" dirty="0">
                <a:solidFill>
                  <a:srgbClr val="FF99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  <a:ea typeface="华文细黑" panose="02010600040101010101" pitchFamily="2" charset="-122"/>
              </a:rPr>
              <a:t> 9.2               </a:t>
            </a:r>
            <a:r>
              <a:rPr lang="zh-CN" alt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           </a:t>
            </a: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交互式图形</a:t>
            </a:r>
          </a:p>
        </p:txBody>
      </p:sp>
    </p:spTree>
    <p:extLst>
      <p:ext uri="{BB962C8B-B14F-4D97-AF65-F5344CB8AC3E}">
        <p14:creationId xmlns:p14="http://schemas.microsoft.com/office/powerpoint/2010/main" val="2422767183"/>
      </p:ext>
    </p:extLst>
  </p:cSld>
  <p:clrMapOvr>
    <a:masterClrMapping/>
  </p:clrMapOvr>
  <p:transition>
    <p:wipe dir="r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3">
            <a:extLst>
              <a:ext uri="{FF2B5EF4-FFF2-40B4-BE49-F238E27FC236}">
                <a16:creationId xmlns:a16="http://schemas.microsoft.com/office/drawing/2014/main" id="{E6639952-31FA-4CB6-98CD-CFA110F672FD}"/>
              </a:ext>
            </a:extLst>
          </p:cNvPr>
          <p:cNvSpPr txBox="1">
            <a:spLocks noChangeArrowheads="1"/>
          </p:cNvSpPr>
          <p:nvPr/>
        </p:nvSpPr>
        <p:spPr>
          <a:xfrm>
            <a:off x="6614160" y="1636452"/>
            <a:ext cx="4984906" cy="4764348"/>
          </a:xfrm>
          <a:prstGeom prst="rect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组合式图形是将图形与图形组合、图形与数据表格组合、图形与文本组合、图形与图片组合等绘制形式，目的是用节省文本空间。使用时可根据需要选择不同组合方式</a:t>
            </a:r>
            <a:endParaRPr lang="en-US" altLang="zh-CN" sz="1800" dirty="0">
              <a:latin typeface="Cambria" panose="02040503050406030204" pitchFamily="18" charset="0"/>
              <a:ea typeface="华文细黑" panose="02010600040101010101" pitchFamily="2" charset="-122"/>
              <a:cs typeface="Times New Roman" panose="02020603050405020304" pitchFamily="18" charset="0"/>
            </a:endParaRPr>
          </a:p>
          <a:p>
            <a:pPr marL="442913" indent="-442913" algn="just" eaLnBrk="0" hangingPunct="0">
              <a:lnSpc>
                <a:spcPct val="150000"/>
              </a:lnSpc>
              <a:spcBef>
                <a:spcPct val="50000"/>
              </a:spcBef>
              <a:buClr>
                <a:srgbClr val="000099"/>
              </a:buClr>
              <a:buFont typeface="Wingdings" panose="05000000000000000000" pitchFamily="2" charset="2"/>
              <a:buChar char="l"/>
              <a:defRPr/>
            </a:pP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交互式图形是将图形绘制成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Web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形式，实现数据与图形的联动，从而更有利于展示数据。使用</a:t>
            </a:r>
            <a:r>
              <a:rPr lang="en-US" altLang="zh-CN" sz="18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plotly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可以绘制多种交互式图形；使用</a:t>
            </a:r>
            <a:r>
              <a:rPr lang="en-US" altLang="zh-CN" sz="18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ggplotly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函数可以将将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gplot2 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的图形对象转换为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18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plotly</a:t>
            </a:r>
            <a:r>
              <a:rPr lang="en-US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对象；使用</a:t>
            </a:r>
            <a:r>
              <a:rPr lang="en-US" altLang="zh-CN" sz="1800" dirty="0" err="1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RGWalkR</a:t>
            </a:r>
            <a:r>
              <a:rPr lang="zh-CN" altLang="zh-CN" sz="1800" dirty="0">
                <a:latin typeface="Cambria" panose="02040503050406030204" pitchFamily="18" charset="0"/>
                <a:ea typeface="华文细黑" panose="02010600040101010101" pitchFamily="2" charset="-122"/>
                <a:cs typeface="Times New Roman" panose="02020603050405020304" pitchFamily="18" charset="0"/>
              </a:rPr>
              <a:t>包可以创建可视化仪表盘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085B25E9-15B8-4FCE-9BE2-F6D58CB2F669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059044"/>
            <a:ext cx="12192000" cy="5039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horz" lIns="90488" tIns="44450" rIns="90488" bIns="4445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eaLnBrk="0" hangingPunct="0">
              <a:lnSpc>
                <a:spcPct val="100000"/>
              </a:lnSpc>
              <a:spcBef>
                <a:spcPct val="50000"/>
              </a:spcBef>
              <a:buClr>
                <a:srgbClr val="000099"/>
              </a:buClr>
              <a:buNone/>
              <a:defRPr/>
            </a:pPr>
            <a:r>
              <a:rPr lang="zh-CN" altLang="en-US" sz="2600" b="1" dirty="0">
                <a:solidFill>
                  <a:srgbClr val="002060"/>
                </a:solidFill>
                <a:ea typeface="华文细黑" panose="02010600040101010101" pitchFamily="2" charset="-122"/>
              </a:rPr>
              <a:t>       本章小结</a:t>
            </a:r>
            <a:endParaRPr lang="en-US" altLang="zh-CN" sz="2600" b="1" dirty="0">
              <a:solidFill>
                <a:srgbClr val="002060"/>
              </a:solidFill>
              <a:ea typeface="华文细黑" panose="02010600040101010101" pitchFamily="2" charset="-122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5CD5D8-D2AC-DFEA-4AD7-5F8B499A98E0}"/>
              </a:ext>
            </a:extLst>
          </p:cNvPr>
          <p:cNvSpPr txBox="1">
            <a:spLocks noChangeArrowheads="1"/>
          </p:cNvSpPr>
          <p:nvPr/>
        </p:nvSpPr>
        <p:spPr>
          <a:xfrm>
            <a:off x="1676400" y="20573"/>
            <a:ext cx="10515600" cy="995661"/>
          </a:xfrm>
          <a:prstGeom prst="rect">
            <a:avLst/>
          </a:prstGeom>
          <a:noFill/>
          <a:ln>
            <a:noFill/>
          </a:ln>
          <a:effectLst>
            <a:outerShdw sx="90000" sy="90000" algn="br" rotWithShape="0">
              <a:prstClr val="black">
                <a:alpha val="59000"/>
              </a:prstClr>
            </a:outerShdw>
          </a:effectLst>
          <a:scene3d>
            <a:camera prst="orthographicFront"/>
            <a:lightRig rig="threePt" dir="t"/>
          </a:scene3d>
          <a:sp3d extrusionH="76200" prstMaterial="metal">
            <a:bevelT/>
            <a:bevelB w="12700" h="12700"/>
            <a:extrusionClr>
              <a:srgbClr val="00B0F0"/>
            </a:extrusionClr>
            <a:contourClr>
              <a:schemeClr val="accent2">
                <a:lumMod val="20000"/>
                <a:lumOff val="80000"/>
              </a:schemeClr>
            </a:contourClr>
          </a:sp3d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zh-CN" altLang="en-US" sz="32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本章小结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67CE48D-0201-A82B-79E2-D70F2DD54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934" y="1677091"/>
            <a:ext cx="6112666" cy="4672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481407"/>
      </p:ext>
    </p:extLst>
  </p:cSld>
  <p:clrMapOvr>
    <a:masterClrMapping/>
  </p:clrMapOvr>
  <p:transition>
    <p:wipe dir="r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ChangeArrowheads="1"/>
          </p:cNvSpPr>
          <p:nvPr/>
        </p:nvSpPr>
        <p:spPr bwMode="auto">
          <a:xfrm>
            <a:off x="2207568" y="342581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6816080" y="5445224"/>
            <a:ext cx="2880320" cy="1080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746" y="1"/>
            <a:ext cx="12201746" cy="6855722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A2942906-8373-4413-B144-2030B3A6C9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573" y="95692"/>
            <a:ext cx="2880320" cy="9844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ctr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THE END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EC17C8-105C-4971-8A37-00C8F14BF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26126" y="5922334"/>
            <a:ext cx="2880320" cy="776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00CC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0488" tIns="44450" rIns="90488" bIns="44450" anchor="ctr"/>
          <a:lstStyle/>
          <a:p>
            <a:pPr algn="dist" eaLnBrk="0" hangingPunct="0"/>
            <a:r>
              <a:rPr kumimoji="1" lang="en-US" altLang="zh-CN" sz="5000" dirty="0">
                <a:solidFill>
                  <a:schemeClr val="bg1"/>
                </a:solidFill>
                <a:latin typeface="Franklin Gothic Book" pitchFamily="34" charset="0"/>
                <a:ea typeface="Yu Gothic Light" pitchFamily="34" charset="-128"/>
              </a:rPr>
              <a:t> THANKS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4AD9863-2B28-44BA-874F-29D5736D3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56876A-C894-4608-9B10-33028376C2E0}" type="datetime1">
              <a:rPr lang="zh-CN" altLang="en-US" smtClean="0"/>
              <a:t>2025/9/7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5814108"/>
      </p:ext>
    </p:extLst>
  </p:cSld>
  <p:clrMapOvr>
    <a:masterClrMapping/>
  </p:clrMapOvr>
  <p:transition>
    <p:wipe dir="d"/>
  </p:transition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2985</TotalTime>
  <Words>1532</Words>
  <Application>Microsoft Office PowerPoint</Application>
  <PresentationFormat>宽屏</PresentationFormat>
  <Paragraphs>110</Paragraphs>
  <Slides>26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0" baseType="lpstr">
      <vt:lpstr>等线</vt:lpstr>
      <vt:lpstr>等线 Light</vt:lpstr>
      <vt:lpstr>华文琥珀</vt:lpstr>
      <vt:lpstr>华文细黑</vt:lpstr>
      <vt:lpstr>华文行楷</vt:lpstr>
      <vt:lpstr>微软雅黑</vt:lpstr>
      <vt:lpstr>Arial</vt:lpstr>
      <vt:lpstr>Arial Black</vt:lpstr>
      <vt:lpstr>Cambria</vt:lpstr>
      <vt:lpstr>Franklin Gothic Book</vt:lpstr>
      <vt:lpstr>Script MT Bold</vt:lpstr>
      <vt:lpstr>Wingdings</vt:lpstr>
      <vt:lpstr>Office 主题​​</vt:lpstr>
      <vt:lpstr>Bitmap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jiajp99@126.com</dc:creator>
  <cp:lastModifiedBy>俊平 贾</cp:lastModifiedBy>
  <cp:revision>412</cp:revision>
  <dcterms:created xsi:type="dcterms:W3CDTF">2020-11-21T11:10:03Z</dcterms:created>
  <dcterms:modified xsi:type="dcterms:W3CDTF">2025-09-07T06:33:28Z</dcterms:modified>
</cp:coreProperties>
</file>