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1545" r:id="rId2"/>
    <p:sldId id="761" r:id="rId3"/>
    <p:sldId id="1463" r:id="rId4"/>
    <p:sldId id="1477" r:id="rId5"/>
    <p:sldId id="1429" r:id="rId6"/>
    <p:sldId id="1546" r:id="rId7"/>
    <p:sldId id="1468" r:id="rId8"/>
    <p:sldId id="1532" r:id="rId9"/>
    <p:sldId id="1533" r:id="rId10"/>
    <p:sldId id="1534" r:id="rId11"/>
    <p:sldId id="1466" r:id="rId12"/>
    <p:sldId id="1469" r:id="rId13"/>
    <p:sldId id="1485" r:id="rId14"/>
    <p:sldId id="1496" r:id="rId15"/>
    <p:sldId id="1487" r:id="rId16"/>
    <p:sldId id="1470" r:id="rId17"/>
    <p:sldId id="1535" r:id="rId18"/>
    <p:sldId id="1536" r:id="rId19"/>
    <p:sldId id="1537" r:id="rId20"/>
    <p:sldId id="1538" r:id="rId21"/>
    <p:sldId id="1472" r:id="rId22"/>
    <p:sldId id="1539" r:id="rId23"/>
    <p:sldId id="1428" r:id="rId24"/>
    <p:sldId id="1480" r:id="rId25"/>
    <p:sldId id="1488" r:id="rId26"/>
    <p:sldId id="1540" r:id="rId27"/>
    <p:sldId id="1541" r:id="rId28"/>
    <p:sldId id="1481" r:id="rId29"/>
    <p:sldId id="1547" r:id="rId30"/>
    <p:sldId id="1548" r:id="rId31"/>
    <p:sldId id="1549" r:id="rId32"/>
    <p:sldId id="1550" r:id="rId33"/>
    <p:sldId id="1551" r:id="rId34"/>
    <p:sldId id="1531"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jp99@126.com" initials="j" lastIdx="1" clrIdx="0">
    <p:extLst>
      <p:ext uri="{19B8F6BF-5375-455C-9EA6-DF929625EA0E}">
        <p15:presenceInfo xmlns:p15="http://schemas.microsoft.com/office/powerpoint/2012/main" userId="e55687fcb66d4a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99"/>
    <a:srgbClr val="00FFFF"/>
    <a:srgbClr val="0033CC"/>
    <a:srgbClr val="FFFFC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826" autoAdjust="0"/>
  </p:normalViewPr>
  <p:slideViewPr>
    <p:cSldViewPr snapToGrid="0">
      <p:cViewPr varScale="1">
        <p:scale>
          <a:sx n="63" d="100"/>
          <a:sy n="63" d="100"/>
        </p:scale>
        <p:origin x="544" y="48"/>
      </p:cViewPr>
      <p:guideLst/>
    </p:cSldViewPr>
  </p:slideViewPr>
  <p:notesTextViewPr>
    <p:cViewPr>
      <p:scale>
        <a:sx n="1" d="1"/>
        <a:sy n="1" d="1"/>
      </p:scale>
      <p:origin x="0" y="0"/>
    </p:cViewPr>
  </p:notesTextViewPr>
  <p:sorterViewPr>
    <p:cViewPr varScale="1">
      <p:scale>
        <a:sx n="100" d="100"/>
        <a:sy n="100" d="100"/>
      </p:scale>
      <p:origin x="0" y="-6940"/>
    </p:cViewPr>
  </p:sorterViewPr>
  <p:notesViewPr>
    <p:cSldViewPr snapToGrid="0">
      <p:cViewPr varScale="1">
        <p:scale>
          <a:sx n="48" d="100"/>
          <a:sy n="48" d="100"/>
        </p:scale>
        <p:origin x="2460"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971B18B-8AEE-ACD2-FFE4-2EDD399639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E3E7DD9D-4564-0A00-C444-7ADB265ED6F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69792B-0776-40A5-8E93-57921B10B6E3}" type="datetimeFigureOut">
              <a:rPr lang="zh-CN" altLang="en-US" smtClean="0"/>
              <a:t>2025/11/10</a:t>
            </a:fld>
            <a:endParaRPr lang="zh-CN" altLang="en-US"/>
          </a:p>
        </p:txBody>
      </p:sp>
      <p:sp>
        <p:nvSpPr>
          <p:cNvPr id="4" name="页脚占位符 3">
            <a:extLst>
              <a:ext uri="{FF2B5EF4-FFF2-40B4-BE49-F238E27FC236}">
                <a16:creationId xmlns:a16="http://schemas.microsoft.com/office/drawing/2014/main" id="{50D5F369-FA28-A085-F581-0799B7E6502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2909F3F4-C46E-3F4F-F369-B98B92E94FF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59BE7F-7A8E-4F90-80CA-30E4A9B9C96B}" type="slidenum">
              <a:rPr lang="zh-CN" altLang="en-US" smtClean="0"/>
              <a:t>‹#›</a:t>
            </a:fld>
            <a:endParaRPr lang="zh-CN" altLang="en-US"/>
          </a:p>
        </p:txBody>
      </p:sp>
    </p:spTree>
    <p:extLst>
      <p:ext uri="{BB962C8B-B14F-4D97-AF65-F5344CB8AC3E}">
        <p14:creationId xmlns:p14="http://schemas.microsoft.com/office/powerpoint/2010/main" val="29928424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4936-C32E-4B5F-9C00-DE18EC293E6D}" type="datetimeFigureOut">
              <a:rPr lang="zh-CN" altLang="en-US" smtClean="0"/>
              <a:t>2025/11/10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0304E-243D-4FB6-884F-3E6061F00E76}" type="slidenum">
              <a:rPr lang="zh-CN" altLang="en-US" smtClean="0"/>
              <a:t>‹#›</a:t>
            </a:fld>
            <a:endParaRPr lang="zh-CN" altLang="en-US"/>
          </a:p>
        </p:txBody>
      </p:sp>
    </p:spTree>
    <p:extLst>
      <p:ext uri="{BB962C8B-B14F-4D97-AF65-F5344CB8AC3E}">
        <p14:creationId xmlns:p14="http://schemas.microsoft.com/office/powerpoint/2010/main" val="14636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fld id="{56C0ED60-2263-4EAE-A32E-1C3FDB03FC51}" type="slidenum">
              <a:rPr lang="en-US" altLang="zh-CN" b="0" smtClean="0"/>
              <a:pPr eaLnBrk="1" hangingPunct="1"/>
              <a:t>34</a:t>
            </a:fld>
            <a:endParaRPr lang="en-US" altLang="zh-CN" b="0" dirty="0"/>
          </a:p>
        </p:txBody>
      </p:sp>
      <p:sp>
        <p:nvSpPr>
          <p:cNvPr id="47107" name="Rectangle 2"/>
          <p:cNvSpPr>
            <a:spLocks noGrp="1" noChangeArrowheads="1"/>
          </p:cNvSpPr>
          <p:nvPr>
            <p:ph type="body" idx="1"/>
          </p:nvPr>
        </p:nvSpPr>
        <p:spPr>
          <a:xfrm>
            <a:off x="914400" y="3276600"/>
            <a:ext cx="5029200" cy="51816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zh-CN" altLang="zh-CN"/>
          </a:p>
        </p:txBody>
      </p:sp>
      <p:sp>
        <p:nvSpPr>
          <p:cNvPr id="47108" name="Rectangle 3"/>
          <p:cNvSpPr>
            <a:spLocks noGrp="1" noRot="1" noChangeAspect="1" noChangeArrowheads="1" noTextEdit="1"/>
          </p:cNvSpPr>
          <p:nvPr>
            <p:ph type="sldImg"/>
          </p:nvPr>
        </p:nvSpPr>
        <p:spPr>
          <a:xfrm>
            <a:off x="1409700" y="692150"/>
            <a:ext cx="4038600" cy="2273300"/>
          </a:xfrm>
          <a:ln w="12700" cap="flat">
            <a:solidFill>
              <a:schemeClr val="tx1"/>
            </a:solidFill>
          </a:ln>
        </p:spPr>
      </p:sp>
    </p:spTree>
    <p:extLst>
      <p:ext uri="{BB962C8B-B14F-4D97-AF65-F5344CB8AC3E}">
        <p14:creationId xmlns:p14="http://schemas.microsoft.com/office/powerpoint/2010/main" val="1309328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03911-1325-4990-9323-67866A3DA82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2D08E5B-80E4-4FD0-9CDA-5500B9FC9A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51137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33017-8E63-40AD-BA89-BBB2DF064723}"/>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541B9A-6066-437C-A37E-12AA3A77CB8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B60100-748D-4E91-93CA-D72E09123083}"/>
              </a:ext>
            </a:extLst>
          </p:cNvPr>
          <p:cNvSpPr>
            <a:spLocks noGrp="1"/>
          </p:cNvSpPr>
          <p:nvPr>
            <p:ph type="dt" sz="half" idx="10"/>
          </p:nvPr>
        </p:nvSpPr>
        <p:spPr>
          <a:xfrm>
            <a:off x="649359" y="6356350"/>
            <a:ext cx="2743200" cy="365125"/>
          </a:xfrm>
          <a:prstGeom prst="rect">
            <a:avLst/>
          </a:prstGeom>
        </p:spPr>
        <p:txBody>
          <a:bodyPr/>
          <a:lstStyle/>
          <a:p>
            <a:fld id="{C1B5C0A2-AE1A-4240-B327-42A20908623E}" type="datetime1">
              <a:rPr lang="zh-CN" altLang="en-US" smtClean="0"/>
              <a:t>2025/11/10</a:t>
            </a:fld>
            <a:endParaRPr lang="zh-CN" altLang="en-US"/>
          </a:p>
        </p:txBody>
      </p:sp>
      <p:sp>
        <p:nvSpPr>
          <p:cNvPr id="5" name="页脚占位符 4">
            <a:extLst>
              <a:ext uri="{FF2B5EF4-FFF2-40B4-BE49-F238E27FC236}">
                <a16:creationId xmlns:a16="http://schemas.microsoft.com/office/drawing/2014/main" id="{42C4AB81-A6C4-44EF-926A-6AA9872FC7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2AF1667-2E90-4C92-8C58-6F859444EEE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48592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41E1B-492C-44FB-9CA3-2420D12815D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6ED9EAE-AE6C-44FA-9A23-7CBD630885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0415E1-0EE9-494C-87CA-A87BAD08F018}"/>
              </a:ext>
            </a:extLst>
          </p:cNvPr>
          <p:cNvSpPr>
            <a:spLocks noGrp="1"/>
          </p:cNvSpPr>
          <p:nvPr>
            <p:ph type="dt" sz="half" idx="10"/>
          </p:nvPr>
        </p:nvSpPr>
        <p:spPr>
          <a:xfrm>
            <a:off x="649359" y="6356350"/>
            <a:ext cx="2743200" cy="365125"/>
          </a:xfrm>
          <a:prstGeom prst="rect">
            <a:avLst/>
          </a:prstGeom>
        </p:spPr>
        <p:txBody>
          <a:bodyPr/>
          <a:lstStyle/>
          <a:p>
            <a:fld id="{408CFB45-BD77-42C2-B43B-9CCE57C43804}" type="datetime1">
              <a:rPr lang="zh-CN" altLang="en-US" smtClean="0"/>
              <a:t>2025/11/10</a:t>
            </a:fld>
            <a:endParaRPr lang="zh-CN" altLang="en-US"/>
          </a:p>
        </p:txBody>
      </p:sp>
      <p:sp>
        <p:nvSpPr>
          <p:cNvPr id="5" name="页脚占位符 4">
            <a:extLst>
              <a:ext uri="{FF2B5EF4-FFF2-40B4-BE49-F238E27FC236}">
                <a16:creationId xmlns:a16="http://schemas.microsoft.com/office/drawing/2014/main" id="{6AEED9C1-6D6B-43B1-88E7-CF357750F94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59F2E4E-68A6-44F0-89F1-9069558E0052}"/>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20476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6DCF85-EA79-4E15-B212-198BA5E0A644}"/>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D22BAC-4316-4B37-83C8-3CFFCFEE965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57768D-8B1B-4A40-8A1B-0AC0323E33F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533FB19-A5D7-478C-8B7B-8299F44454D8}"/>
              </a:ext>
            </a:extLst>
          </p:cNvPr>
          <p:cNvSpPr>
            <a:spLocks noGrp="1"/>
          </p:cNvSpPr>
          <p:nvPr>
            <p:ph type="dt" sz="half" idx="10"/>
          </p:nvPr>
        </p:nvSpPr>
        <p:spPr>
          <a:xfrm>
            <a:off x="649359" y="6356350"/>
            <a:ext cx="2743200" cy="365125"/>
          </a:xfrm>
          <a:prstGeom prst="rect">
            <a:avLst/>
          </a:prstGeom>
        </p:spPr>
        <p:txBody>
          <a:bodyPr/>
          <a:lstStyle/>
          <a:p>
            <a:fld id="{EAAE7C0A-51A3-489C-9A57-4ED5AAA198D8}" type="datetime1">
              <a:rPr lang="zh-CN" altLang="en-US" smtClean="0"/>
              <a:t>2025/11/10</a:t>
            </a:fld>
            <a:endParaRPr lang="zh-CN" altLang="en-US"/>
          </a:p>
        </p:txBody>
      </p:sp>
      <p:sp>
        <p:nvSpPr>
          <p:cNvPr id="6" name="页脚占位符 5">
            <a:extLst>
              <a:ext uri="{FF2B5EF4-FFF2-40B4-BE49-F238E27FC236}">
                <a16:creationId xmlns:a16="http://schemas.microsoft.com/office/drawing/2014/main" id="{17CED81C-AAD8-40C0-A43F-9D9FB9351E3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8C24794-BF6C-4771-8DBA-AAC07BC3C2A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3201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DD335-5E95-437F-8BB9-A5F5CC0208B2}"/>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A1372A5-726C-4D76-98A6-013BEE003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A37AF2-BF75-4C37-A2FE-D332194D34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FA0C6B-D138-4ACC-9E98-4920C2EAF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BCEC55-53FB-427F-A3DA-B4D5A728B8C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999D13-5648-462B-A233-9E2CB0C7FF60}"/>
              </a:ext>
            </a:extLst>
          </p:cNvPr>
          <p:cNvSpPr>
            <a:spLocks noGrp="1"/>
          </p:cNvSpPr>
          <p:nvPr>
            <p:ph type="dt" sz="half" idx="10"/>
          </p:nvPr>
        </p:nvSpPr>
        <p:spPr>
          <a:xfrm>
            <a:off x="649359" y="6356350"/>
            <a:ext cx="2743200" cy="365125"/>
          </a:xfrm>
          <a:prstGeom prst="rect">
            <a:avLst/>
          </a:prstGeom>
        </p:spPr>
        <p:txBody>
          <a:bodyPr/>
          <a:lstStyle/>
          <a:p>
            <a:fld id="{2D763D98-5F04-4BA9-AB85-97856237DB98}" type="datetime1">
              <a:rPr lang="zh-CN" altLang="en-US" smtClean="0"/>
              <a:t>2025/11/10</a:t>
            </a:fld>
            <a:endParaRPr lang="zh-CN" altLang="en-US"/>
          </a:p>
        </p:txBody>
      </p:sp>
      <p:sp>
        <p:nvSpPr>
          <p:cNvPr id="8" name="页脚占位符 7">
            <a:extLst>
              <a:ext uri="{FF2B5EF4-FFF2-40B4-BE49-F238E27FC236}">
                <a16:creationId xmlns:a16="http://schemas.microsoft.com/office/drawing/2014/main" id="{C3BD894E-170B-492B-B70A-EDD9A7FB4C6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5115CA6A-9FA6-4365-870E-2DA48DC4A39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25746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BF246-4037-441C-876F-777CC926DCCA}"/>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FFBA47-D15B-4A7D-90C5-3FF2B94B5B55}"/>
              </a:ext>
            </a:extLst>
          </p:cNvPr>
          <p:cNvSpPr>
            <a:spLocks noGrp="1"/>
          </p:cNvSpPr>
          <p:nvPr>
            <p:ph type="dt" sz="half" idx="10"/>
          </p:nvPr>
        </p:nvSpPr>
        <p:spPr>
          <a:xfrm>
            <a:off x="649359" y="6356350"/>
            <a:ext cx="2743200" cy="365125"/>
          </a:xfrm>
          <a:prstGeom prst="rect">
            <a:avLst/>
          </a:prstGeom>
        </p:spPr>
        <p:txBody>
          <a:bodyPr/>
          <a:lstStyle/>
          <a:p>
            <a:fld id="{9E233C68-0546-46EF-826F-31AB21D0E22F}" type="datetime1">
              <a:rPr lang="zh-CN" altLang="en-US" smtClean="0"/>
              <a:t>2025/11/10</a:t>
            </a:fld>
            <a:endParaRPr lang="zh-CN" altLang="en-US"/>
          </a:p>
        </p:txBody>
      </p:sp>
      <p:sp>
        <p:nvSpPr>
          <p:cNvPr id="4" name="页脚占位符 3">
            <a:extLst>
              <a:ext uri="{FF2B5EF4-FFF2-40B4-BE49-F238E27FC236}">
                <a16:creationId xmlns:a16="http://schemas.microsoft.com/office/drawing/2014/main" id="{2F7BC1F9-EF67-4B0A-96D1-EF168C9E48E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D9AE28D9-605D-4CD2-B34B-BF76CDF03FF6}"/>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97863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F4973FC-C444-49AD-8778-F5595432A35C}"/>
              </a:ext>
            </a:extLst>
          </p:cNvPr>
          <p:cNvSpPr>
            <a:spLocks noGrp="1"/>
          </p:cNvSpPr>
          <p:nvPr>
            <p:ph type="dt" sz="half" idx="10"/>
          </p:nvPr>
        </p:nvSpPr>
        <p:spPr>
          <a:xfrm>
            <a:off x="649359" y="6356350"/>
            <a:ext cx="2743200" cy="365125"/>
          </a:xfrm>
          <a:prstGeom prst="rect">
            <a:avLst/>
          </a:prstGeom>
        </p:spPr>
        <p:txBody>
          <a:bodyPr/>
          <a:lstStyle/>
          <a:p>
            <a:fld id="{59C15AE0-43B3-4320-AFBE-87214D5BB912}" type="datetime1">
              <a:rPr lang="zh-CN" altLang="en-US" smtClean="0"/>
              <a:t>2025/11/10</a:t>
            </a:fld>
            <a:endParaRPr lang="zh-CN" altLang="en-US"/>
          </a:p>
        </p:txBody>
      </p:sp>
      <p:sp>
        <p:nvSpPr>
          <p:cNvPr id="3" name="页脚占位符 2">
            <a:extLst>
              <a:ext uri="{FF2B5EF4-FFF2-40B4-BE49-F238E27FC236}">
                <a16:creationId xmlns:a16="http://schemas.microsoft.com/office/drawing/2014/main" id="{0BEC1063-A3F0-4172-BCFB-CD827E2B660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FAC6608-BFA7-48AD-A590-0E85E9BF9860}"/>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7874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C89A-E0B7-4981-8F0B-4A7A37DFE7C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5C0E238-74BD-4EA3-996E-32B10590B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D769AF6-4E84-4D70-98D9-479DF698C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D74493-971D-42F5-91FF-A5917C2D234D}"/>
              </a:ext>
            </a:extLst>
          </p:cNvPr>
          <p:cNvSpPr>
            <a:spLocks noGrp="1"/>
          </p:cNvSpPr>
          <p:nvPr>
            <p:ph type="dt" sz="half" idx="10"/>
          </p:nvPr>
        </p:nvSpPr>
        <p:spPr>
          <a:xfrm>
            <a:off x="649359" y="6356350"/>
            <a:ext cx="2743200" cy="365125"/>
          </a:xfrm>
          <a:prstGeom prst="rect">
            <a:avLst/>
          </a:prstGeom>
        </p:spPr>
        <p:txBody>
          <a:bodyPr/>
          <a:lstStyle/>
          <a:p>
            <a:fld id="{76331374-E5A2-4981-B795-16EF6DE65827}" type="datetime1">
              <a:rPr lang="zh-CN" altLang="en-US" smtClean="0"/>
              <a:t>2025/11/10</a:t>
            </a:fld>
            <a:endParaRPr lang="zh-CN" altLang="en-US"/>
          </a:p>
        </p:txBody>
      </p:sp>
      <p:sp>
        <p:nvSpPr>
          <p:cNvPr id="6" name="页脚占位符 5">
            <a:extLst>
              <a:ext uri="{FF2B5EF4-FFF2-40B4-BE49-F238E27FC236}">
                <a16:creationId xmlns:a16="http://schemas.microsoft.com/office/drawing/2014/main" id="{B4CDA75E-D89E-4AE1-8D91-7605D574EEC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DF8901A-E4E6-4A7D-8E8C-9057C44E14FA}"/>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438032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84D86-098B-45E7-8693-7E2DE798470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728C271-481B-4D73-8474-75D6D49B1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4DE7F4-849E-4963-9100-C8B9B0A081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5913C3-07E4-4E81-AC28-DB4080626D75}"/>
              </a:ext>
            </a:extLst>
          </p:cNvPr>
          <p:cNvSpPr>
            <a:spLocks noGrp="1"/>
          </p:cNvSpPr>
          <p:nvPr>
            <p:ph type="dt" sz="half" idx="10"/>
          </p:nvPr>
        </p:nvSpPr>
        <p:spPr>
          <a:xfrm>
            <a:off x="649359" y="6356350"/>
            <a:ext cx="2743200" cy="365125"/>
          </a:xfrm>
          <a:prstGeom prst="rect">
            <a:avLst/>
          </a:prstGeom>
        </p:spPr>
        <p:txBody>
          <a:bodyPr/>
          <a:lstStyle/>
          <a:p>
            <a:fld id="{C7EF558D-81CA-4B76-8F12-A95764433413}" type="datetime1">
              <a:rPr lang="zh-CN" altLang="en-US" smtClean="0"/>
              <a:t>2025/11/10</a:t>
            </a:fld>
            <a:endParaRPr lang="zh-CN" altLang="en-US"/>
          </a:p>
        </p:txBody>
      </p:sp>
      <p:sp>
        <p:nvSpPr>
          <p:cNvPr id="6" name="页脚占位符 5">
            <a:extLst>
              <a:ext uri="{FF2B5EF4-FFF2-40B4-BE49-F238E27FC236}">
                <a16:creationId xmlns:a16="http://schemas.microsoft.com/office/drawing/2014/main" id="{3FF2ECCF-DF52-4A0B-9088-6CD8439B447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5079631-3376-40BB-8D99-D13069AD4F8C}"/>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80534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B782D-E973-4A4C-9768-5AF63655E35E}"/>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7AED1F-4B71-4171-BEF5-E90CF2DBB74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3CF74F-5A81-42A8-BFDE-9DF8D20D7C32}"/>
              </a:ext>
            </a:extLst>
          </p:cNvPr>
          <p:cNvSpPr>
            <a:spLocks noGrp="1"/>
          </p:cNvSpPr>
          <p:nvPr>
            <p:ph type="dt" sz="half" idx="10"/>
          </p:nvPr>
        </p:nvSpPr>
        <p:spPr>
          <a:xfrm>
            <a:off x="649359" y="6356350"/>
            <a:ext cx="2743200" cy="365125"/>
          </a:xfrm>
          <a:prstGeom prst="rect">
            <a:avLst/>
          </a:prstGeom>
        </p:spPr>
        <p:txBody>
          <a:bodyPr/>
          <a:lstStyle/>
          <a:p>
            <a:fld id="{FA0449A0-A72F-4DFF-AC68-836BF414A89D}" type="datetime1">
              <a:rPr lang="zh-CN" altLang="en-US" smtClean="0"/>
              <a:t>2025/11/10</a:t>
            </a:fld>
            <a:endParaRPr lang="zh-CN" altLang="en-US"/>
          </a:p>
        </p:txBody>
      </p:sp>
      <p:sp>
        <p:nvSpPr>
          <p:cNvPr id="5" name="页脚占位符 4">
            <a:extLst>
              <a:ext uri="{FF2B5EF4-FFF2-40B4-BE49-F238E27FC236}">
                <a16:creationId xmlns:a16="http://schemas.microsoft.com/office/drawing/2014/main" id="{D25E0F45-E0D1-46EA-B198-5F3003E2E7F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BFA175A-B4E7-4A78-94E6-0A03CE8065E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964477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3B2054-169E-46FC-87FF-00644348A8A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503AE-1314-4E68-BF61-5DAB31ED9DF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64084A-FB51-4F63-B403-370B4F13DC58}"/>
              </a:ext>
            </a:extLst>
          </p:cNvPr>
          <p:cNvSpPr>
            <a:spLocks noGrp="1"/>
          </p:cNvSpPr>
          <p:nvPr>
            <p:ph type="dt" sz="half" idx="10"/>
          </p:nvPr>
        </p:nvSpPr>
        <p:spPr>
          <a:xfrm>
            <a:off x="649359" y="6356350"/>
            <a:ext cx="2743200" cy="365125"/>
          </a:xfrm>
          <a:prstGeom prst="rect">
            <a:avLst/>
          </a:prstGeom>
        </p:spPr>
        <p:txBody>
          <a:bodyPr/>
          <a:lstStyle/>
          <a:p>
            <a:fld id="{C9D7C6E1-5A4D-4ECE-B124-9762BAA7798B}" type="datetime1">
              <a:rPr lang="zh-CN" altLang="en-US" smtClean="0"/>
              <a:t>2025/11/10</a:t>
            </a:fld>
            <a:endParaRPr lang="zh-CN" altLang="en-US"/>
          </a:p>
        </p:txBody>
      </p:sp>
      <p:sp>
        <p:nvSpPr>
          <p:cNvPr id="5" name="页脚占位符 4">
            <a:extLst>
              <a:ext uri="{FF2B5EF4-FFF2-40B4-BE49-F238E27FC236}">
                <a16:creationId xmlns:a16="http://schemas.microsoft.com/office/drawing/2014/main" id="{33699ED0-3608-4FCB-96BE-FFB5DD2CD30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90F967E-32DE-45B6-9C75-1157F0E4927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73617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1718CB0-F097-98F4-F9E2-52CAF985C749}"/>
              </a:ext>
            </a:extLst>
          </p:cNvPr>
          <p:cNvSpPr txBox="1">
            <a:spLocks noChangeArrowheads="1"/>
          </p:cNvSpPr>
          <p:nvPr userDrawn="1"/>
        </p:nvSpPr>
        <p:spPr>
          <a:xfrm>
            <a:off x="1285460" y="9940"/>
            <a:ext cx="10896605" cy="1017622"/>
          </a:xfrm>
          <a:prstGeom prst="rect">
            <a:avLst/>
          </a:prstGeom>
          <a:solidFill>
            <a:schemeClr val="bg1">
              <a:lumMod val="95000"/>
            </a:schemeClr>
          </a:solidFill>
          <a:ln>
            <a:noFill/>
          </a:ln>
          <a:effec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endParaRPr lang="zh-CN" altLang="en-US" sz="3200" b="1" dirty="0">
              <a:solidFill>
                <a:srgbClr val="002060"/>
              </a:solidFill>
              <a:latin typeface="华文细黑" panose="02010600040101010101" pitchFamily="2" charset="-122"/>
              <a:ea typeface="华文细黑" panose="02010600040101010101" pitchFamily="2" charset="-122"/>
            </a:endParaRPr>
          </a:p>
        </p:txBody>
      </p:sp>
      <p:sp>
        <p:nvSpPr>
          <p:cNvPr id="3" name="文本占位符 2">
            <a:extLst>
              <a:ext uri="{FF2B5EF4-FFF2-40B4-BE49-F238E27FC236}">
                <a16:creationId xmlns:a16="http://schemas.microsoft.com/office/drawing/2014/main" id="{8A7BBF2C-F801-4650-BCBF-3E6A2B1F447C}"/>
              </a:ext>
            </a:extLst>
          </p:cNvPr>
          <p:cNvSpPr>
            <a:spLocks noGrp="1"/>
          </p:cNvSpPr>
          <p:nvPr>
            <p:ph type="body" idx="1"/>
          </p:nvPr>
        </p:nvSpPr>
        <p:spPr>
          <a:xfrm>
            <a:off x="629480" y="1672313"/>
            <a:ext cx="10959546" cy="450465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1205F5E1-C922-4E5A-89F4-6F2B58D16289}"/>
              </a:ext>
            </a:extLst>
          </p:cNvPr>
          <p:cNvSpPr/>
          <p:nvPr userDrawn="1"/>
        </p:nvSpPr>
        <p:spPr>
          <a:xfrm>
            <a:off x="9935" y="1"/>
            <a:ext cx="1275525" cy="1053548"/>
          </a:xfrm>
          <a:prstGeom prst="rect">
            <a:avLst/>
          </a:prstGeom>
          <a:solidFill>
            <a:srgbClr val="0070C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6 </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en-US" altLang="zh-CN" sz="9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展示变量间关系</a:t>
            </a:r>
          </a:p>
        </p:txBody>
      </p:sp>
      <p:cxnSp>
        <p:nvCxnSpPr>
          <p:cNvPr id="10" name="直接连接符 9">
            <a:extLst>
              <a:ext uri="{FF2B5EF4-FFF2-40B4-BE49-F238E27FC236}">
                <a16:creationId xmlns:a16="http://schemas.microsoft.com/office/drawing/2014/main" id="{AADC6794-BAC4-49B1-8B9A-A91B2A78D5FE}"/>
              </a:ext>
            </a:extLst>
          </p:cNvPr>
          <p:cNvCxnSpPr>
            <a:cxnSpLocks/>
          </p:cNvCxnSpPr>
          <p:nvPr userDrawn="1"/>
        </p:nvCxnSpPr>
        <p:spPr>
          <a:xfrm flipV="1">
            <a:off x="1470992" y="1043609"/>
            <a:ext cx="10721008" cy="2"/>
          </a:xfrm>
          <a:prstGeom prst="line">
            <a:avLst/>
          </a:prstGeom>
          <a:ln w="285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矩形 7">
            <a:extLst>
              <a:ext uri="{FF2B5EF4-FFF2-40B4-BE49-F238E27FC236}">
                <a16:creationId xmlns:a16="http://schemas.microsoft.com/office/drawing/2014/main" id="{D5EAEA1C-2B82-4DF5-B721-B18A8CF883DD}"/>
              </a:ext>
            </a:extLst>
          </p:cNvPr>
          <p:cNvSpPr/>
          <p:nvPr userDrawn="1"/>
        </p:nvSpPr>
        <p:spPr>
          <a:xfrm>
            <a:off x="1441171" y="1"/>
            <a:ext cx="238540" cy="1053548"/>
          </a:xfrm>
          <a:prstGeom prst="rect">
            <a:avLst/>
          </a:prstGeom>
          <a:solidFill>
            <a:srgbClr val="0070C0"/>
          </a:solidFill>
          <a:ln>
            <a:solidFill>
              <a:srgbClr val="0070C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a:extLst>
              <a:ext uri="{FF2B5EF4-FFF2-40B4-BE49-F238E27FC236}">
                <a16:creationId xmlns:a16="http://schemas.microsoft.com/office/drawing/2014/main" id="{8B230C6B-BACC-4B1C-9DFC-332C0E60FE19}"/>
              </a:ext>
            </a:extLst>
          </p:cNvPr>
          <p:cNvSpPr txBox="1">
            <a:spLocks noChangeArrowheads="1"/>
          </p:cNvSpPr>
          <p:nvPr userDrawn="1"/>
        </p:nvSpPr>
        <p:spPr>
          <a:xfrm>
            <a:off x="0" y="1059044"/>
            <a:ext cx="12192000" cy="503940"/>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endParaRPr lang="en-US" altLang="zh-CN" sz="2600" b="1" dirty="0">
              <a:solidFill>
                <a:schemeClr val="bg1"/>
              </a:solidFill>
              <a:effectLst>
                <a:outerShdw blurRad="38100" dist="38100" dir="2700000" algn="tl">
                  <a:srgbClr val="000000">
                    <a:alpha val="43137"/>
                  </a:srgbClr>
                </a:outerShdw>
              </a:effectLst>
              <a:ea typeface="华文细黑" panose="02010600040101010101" pitchFamily="2" charset="-122"/>
            </a:endParaRPr>
          </a:p>
        </p:txBody>
      </p:sp>
      <p:sp>
        <p:nvSpPr>
          <p:cNvPr id="2" name="副标题 2">
            <a:extLst>
              <a:ext uri="{FF2B5EF4-FFF2-40B4-BE49-F238E27FC236}">
                <a16:creationId xmlns:a16="http://schemas.microsoft.com/office/drawing/2014/main" id="{F9241572-04B7-601E-6889-5E94EF2865D2}"/>
              </a:ext>
            </a:extLst>
          </p:cNvPr>
          <p:cNvSpPr txBox="1">
            <a:spLocks/>
          </p:cNvSpPr>
          <p:nvPr userDrawn="1"/>
        </p:nvSpPr>
        <p:spPr>
          <a:xfrm>
            <a:off x="23188" y="6461539"/>
            <a:ext cx="12172130" cy="396460"/>
          </a:xfrm>
          <a:prstGeom prst="rect">
            <a:avLst/>
          </a:prstGeom>
          <a:solidFill>
            <a:schemeClr val="bg1">
              <a:lumMod val="95000"/>
            </a:schemeClr>
          </a:solidFill>
          <a:ln>
            <a:noFill/>
          </a:ln>
        </p:spPr>
        <p:txBody>
          <a:bodyPr vert="horz" lIns="91440" tIns="45720" rIns="91440" bIns="4572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fld id="{40D7A12C-C48C-4203-A694-F2B6F5190069}" type="datetime1">
              <a:rPr lang="zh-CN" altLang="en-US" sz="1300" b="1" smtClean="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2025/11/10</a:t>
            </a:fld>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数据可视化分析</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基于 </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R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语言</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贾俊平                                                                        </a:t>
            </a:r>
            <a:r>
              <a:rPr lang="en-US" altLang="zh-CN" sz="1300" b="0" dirty="0">
                <a:solidFill>
                  <a:schemeClr val="bg1">
                    <a:lumMod val="65000"/>
                  </a:schemeClr>
                </a:solidFill>
                <a:latin typeface="微软雅黑" panose="020B0503020204020204" pitchFamily="34" charset="-122"/>
                <a:ea typeface="微软雅黑" panose="020B0503020204020204" pitchFamily="34" charset="-122"/>
              </a:rPr>
              <a:t>1 - </a:t>
            </a:r>
            <a:fld id="{16EAF49E-217F-4E01-A667-C6B4D41E8F57}" type="slidenum">
              <a:rPr lang="en-US" altLang="zh-CN" sz="1300" b="0" smtClean="0">
                <a:solidFill>
                  <a:schemeClr val="bg1">
                    <a:lumMod val="65000"/>
                  </a:schemeClr>
                </a:solidFill>
                <a:latin typeface="微软雅黑" panose="020B0503020204020204" pitchFamily="34" charset="-122"/>
                <a:ea typeface="微软雅黑" panose="020B0503020204020204" pitchFamily="34" charset="-122"/>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a:t>
            </a:fld>
            <a:endParaRPr lang="en-US" altLang="zh-CN" sz="1300" b="0" dirty="0">
              <a:solidFill>
                <a:schemeClr val="bg1">
                  <a:lumMod val="6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zh-CN" altLang="en-US" sz="13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id="{7ECCB754-2EFE-E7D7-2B3A-DE28683FA95D}"/>
              </a:ext>
            </a:extLst>
          </p:cNvPr>
          <p:cNvSpPr/>
          <p:nvPr userDrawn="1"/>
        </p:nvSpPr>
        <p:spPr>
          <a:xfrm>
            <a:off x="212036" y="1163320"/>
            <a:ext cx="294859" cy="312382"/>
          </a:xfrm>
          <a:prstGeom prst="ellipse">
            <a:avLst/>
          </a:prstGeom>
          <a:solidFill>
            <a:schemeClr val="accent5">
              <a:lumMod val="40000"/>
              <a:lumOff val="6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a:extLst>
              <a:ext uri="{FF2B5EF4-FFF2-40B4-BE49-F238E27FC236}">
                <a16:creationId xmlns:a16="http://schemas.microsoft.com/office/drawing/2014/main" id="{7866D614-7F35-221D-35D9-3B960B09EB70}"/>
              </a:ext>
            </a:extLst>
          </p:cNvPr>
          <p:cNvPicPr>
            <a:picLocks noChangeAspect="1"/>
          </p:cNvPicPr>
          <p:nvPr userDrawn="1"/>
        </p:nvPicPr>
        <p:blipFill>
          <a:blip r:embed="rId13"/>
          <a:stretch>
            <a:fillRect/>
          </a:stretch>
        </p:blipFill>
        <p:spPr>
          <a:xfrm>
            <a:off x="10876059" y="14448"/>
            <a:ext cx="1275526" cy="1017622"/>
          </a:xfrm>
          <a:prstGeom prst="rect">
            <a:avLst/>
          </a:prstGeom>
        </p:spPr>
      </p:pic>
    </p:spTree>
    <p:extLst>
      <p:ext uri="{BB962C8B-B14F-4D97-AF65-F5344CB8AC3E}">
        <p14:creationId xmlns:p14="http://schemas.microsoft.com/office/powerpoint/2010/main" val="1997754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2800" kern="1200">
          <a:solidFill>
            <a:schemeClr val="tx1"/>
          </a:solidFill>
          <a:latin typeface="+mn-lt"/>
          <a:ea typeface="华文细黑"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40A239C-459A-7748-18ED-9D9FCF06E658}"/>
              </a:ext>
            </a:extLst>
          </p:cNvPr>
          <p:cNvGrpSpPr/>
          <p:nvPr/>
        </p:nvGrpSpPr>
        <p:grpSpPr>
          <a:xfrm>
            <a:off x="-57405" y="0"/>
            <a:ext cx="12271508" cy="6858000"/>
            <a:chOff x="-57405" y="0"/>
            <a:chExt cx="12271508" cy="685800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85445D0-CE9B-A4CC-30B0-668A63D7F5B6}"/>
                </a:ext>
              </a:extLst>
            </p:cNvPr>
            <p:cNvSpPr/>
            <p:nvPr/>
          </p:nvSpPr>
          <p:spPr>
            <a:xfrm>
              <a:off x="8533234" y="2415386"/>
              <a:ext cx="2307048" cy="861774"/>
            </a:xfrm>
            <a:prstGeom prst="rect">
              <a:avLst/>
            </a:prstGeom>
          </p:spPr>
          <p:txBody>
            <a:bodyPr wrap="square">
              <a:spAutoFit/>
            </a:bodyPr>
            <a:lstStyle/>
            <a:p>
              <a:pPr algn="r"/>
              <a:r>
                <a:rPr lang="en-US" altLang="zh-CN"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16" name="文本框 15">
              <a:extLst>
                <a:ext uri="{FF2B5EF4-FFF2-40B4-BE49-F238E27FC236}">
                  <a16:creationId xmlns:a16="http://schemas.microsoft.com/office/drawing/2014/main" id="{574B7932-FC4D-9E74-8C2D-407E06788E45}"/>
                </a:ext>
              </a:extLst>
            </p:cNvPr>
            <p:cNvSpPr txBox="1"/>
            <p:nvPr/>
          </p:nvSpPr>
          <p:spPr>
            <a:xfrm>
              <a:off x="5018314" y="1352666"/>
              <a:ext cx="5821968" cy="1015663"/>
            </a:xfrm>
            <a:prstGeom prst="rect">
              <a:avLst/>
            </a:prstGeom>
            <a:noFill/>
            <a:scene3d>
              <a:camera prst="orthographicFront"/>
              <a:lightRig rig="threePt" dir="t"/>
            </a:scene3d>
            <a:sp3d>
              <a:bevelT/>
            </a:sp3d>
          </p:spPr>
          <p:txBody>
            <a:bodyPr wrap="square" rtlCol="0">
              <a:spAutoFit/>
            </a:bodyPr>
            <a:lstStyle/>
            <a:p>
              <a:pPr algn="dist"/>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17" name="副标题 2">
              <a:extLst>
                <a:ext uri="{FF2B5EF4-FFF2-40B4-BE49-F238E27FC236}">
                  <a16:creationId xmlns:a16="http://schemas.microsoft.com/office/drawing/2014/main" id="{D7ED5E4C-E3FE-4A85-6B41-62F1AA059163}"/>
                </a:ext>
              </a:extLst>
            </p:cNvPr>
            <p:cNvSpPr txBox="1">
              <a:spLocks/>
            </p:cNvSpPr>
            <p:nvPr/>
          </p:nvSpPr>
          <p:spPr>
            <a:xfrm>
              <a:off x="9100901" y="5201655"/>
              <a:ext cx="1879415" cy="1196834"/>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2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2025/11/10</a:t>
              </a:fld>
              <a:endPar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18" name="矩形 17">
              <a:extLst>
                <a:ext uri="{FF2B5EF4-FFF2-40B4-BE49-F238E27FC236}">
                  <a16:creationId xmlns:a16="http://schemas.microsoft.com/office/drawing/2014/main" id="{0A77711A-D9C3-862C-970B-1304CBB42097}"/>
                </a:ext>
              </a:extLst>
            </p:cNvPr>
            <p:cNvSpPr/>
            <p:nvPr/>
          </p:nvSpPr>
          <p:spPr>
            <a:xfrm>
              <a:off x="348344" y="359229"/>
              <a:ext cx="11506200" cy="6150428"/>
            </a:xfrm>
            <a:prstGeom prst="rect">
              <a:avLst/>
            </a:prstGeom>
            <a:solidFill>
              <a:schemeClr val="accent1">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DCC974D1-DCEA-DAD9-BA84-A0C1B340842C}"/>
                </a:ext>
              </a:extLst>
            </p:cNvPr>
            <p:cNvGraphicFramePr>
              <a:graphicFrameLocks noChangeAspect="1"/>
            </p:cNvGraphicFramePr>
            <p:nvPr/>
          </p:nvGraphicFramePr>
          <p:xfrm>
            <a:off x="664029" y="598713"/>
            <a:ext cx="10874828" cy="5660574"/>
          </p:xfrm>
          <a:graphic>
            <a:graphicData uri="http://schemas.openxmlformats.org/presentationml/2006/ole">
              <mc:AlternateContent xmlns:mc="http://schemas.openxmlformats.org/markup-compatibility/2006">
                <mc:Choice xmlns:v="urn:schemas-microsoft-com:vml" Requires="v">
                  <p:oleObj name="Bitmap Image" r:id="rId2" imgW="6108840" imgH="4280040" progId="PBrush">
                    <p:embed/>
                  </p:oleObj>
                </mc:Choice>
                <mc:Fallback>
                  <p:oleObj name="Bitmap Image" r:id="rId2" imgW="6108840" imgH="4280040" progId="PBrush">
                    <p:embed/>
                    <p:pic>
                      <p:nvPicPr>
                        <p:cNvPr id="5" name="对象 4">
                          <a:extLst>
                            <a:ext uri="{FF2B5EF4-FFF2-40B4-BE49-F238E27FC236}">
                              <a16:creationId xmlns:a16="http://schemas.microsoft.com/office/drawing/2014/main" id="{DCC974D1-DCEA-DAD9-BA84-A0C1B340842C}"/>
                            </a:ext>
                          </a:extLst>
                        </p:cNvPr>
                        <p:cNvPicPr/>
                        <p:nvPr/>
                      </p:nvPicPr>
                      <p:blipFill>
                        <a:blip r:embed="rId3"/>
                        <a:stretch>
                          <a:fillRect/>
                        </a:stretch>
                      </p:blipFill>
                      <p:spPr>
                        <a:xfrm>
                          <a:off x="664029" y="598713"/>
                          <a:ext cx="10874828" cy="5660574"/>
                        </a:xfrm>
                        <a:prstGeom prst="rect">
                          <a:avLst/>
                        </a:prstGeom>
                      </p:spPr>
                    </p:pic>
                  </p:oleObj>
                </mc:Fallback>
              </mc:AlternateContent>
            </a:graphicData>
          </a:graphic>
        </p:graphicFrame>
        <p:sp>
          <p:nvSpPr>
            <p:cNvPr id="19" name="矩形 18">
              <a:extLst>
                <a:ext uri="{FF2B5EF4-FFF2-40B4-BE49-F238E27FC236}">
                  <a16:creationId xmlns:a16="http://schemas.microsoft.com/office/drawing/2014/main" id="{D38CC3B9-D273-DA53-3D51-7097270B8979}"/>
                </a:ext>
              </a:extLst>
            </p:cNvPr>
            <p:cNvSpPr/>
            <p:nvPr/>
          </p:nvSpPr>
          <p:spPr>
            <a:xfrm>
              <a:off x="7206344" y="2622251"/>
              <a:ext cx="3718954" cy="861774"/>
            </a:xfrm>
            <a:prstGeom prst="rect">
              <a:avLst/>
            </a:prstGeom>
          </p:spPr>
          <p:txBody>
            <a:bodyPr wrap="square">
              <a:spAutoFit/>
            </a:bodyPr>
            <a:lstStyle/>
            <a:p>
              <a:pPr algn="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基于 </a:t>
              </a:r>
              <a:r>
                <a:rPr lang="en-US" altLang="zh-CN"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20" name="文本框 19">
              <a:extLst>
                <a:ext uri="{FF2B5EF4-FFF2-40B4-BE49-F238E27FC236}">
                  <a16:creationId xmlns:a16="http://schemas.microsoft.com/office/drawing/2014/main" id="{878B0296-8DCD-A0D4-E6A8-49A8022C13B3}"/>
                </a:ext>
              </a:extLst>
            </p:cNvPr>
            <p:cNvSpPr txBox="1"/>
            <p:nvPr/>
          </p:nvSpPr>
          <p:spPr>
            <a:xfrm>
              <a:off x="5323114" y="1559531"/>
              <a:ext cx="5602183" cy="1015663"/>
            </a:xfrm>
            <a:prstGeom prst="rect">
              <a:avLst/>
            </a:prstGeom>
            <a:noFill/>
            <a:scene3d>
              <a:camera prst="orthographicFront"/>
              <a:lightRig rig="threePt" dir="t"/>
            </a:scene3d>
            <a:sp3d>
              <a:bevelT/>
            </a:sp3d>
          </p:spPr>
          <p:txBody>
            <a:bodyPr wrap="square" rtlCol="0">
              <a:spAutoFit/>
            </a:bodyPr>
            <a:lstStyle/>
            <a:p>
              <a:pPr algn="r"/>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21" name="副标题 2">
              <a:extLst>
                <a:ext uri="{FF2B5EF4-FFF2-40B4-BE49-F238E27FC236}">
                  <a16:creationId xmlns:a16="http://schemas.microsoft.com/office/drawing/2014/main" id="{982694FD-A4ED-A422-06B2-71C13249BACF}"/>
                </a:ext>
              </a:extLst>
            </p:cNvPr>
            <p:cNvSpPr txBox="1">
              <a:spLocks/>
            </p:cNvSpPr>
            <p:nvPr/>
          </p:nvSpPr>
          <p:spPr>
            <a:xfrm>
              <a:off x="10319657" y="5505334"/>
              <a:ext cx="1333499" cy="753953"/>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00000"/>
                </a:lnSpc>
              </a:pPr>
              <a:fld id="{40D7A12C-C48C-4203-A694-F2B6F5190069}" type="datetime1">
                <a:rPr lang="zh-CN" altLang="en-US" sz="16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00000"/>
                  </a:lnSpc>
                </a:pPr>
                <a:t>2025/11/10</a:t>
              </a:fld>
              <a:endPar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24" name="Rectangle 3">
              <a:extLst>
                <a:ext uri="{FF2B5EF4-FFF2-40B4-BE49-F238E27FC236}">
                  <a16:creationId xmlns:a16="http://schemas.microsoft.com/office/drawing/2014/main" id="{9D668F91-5A97-DC14-A87D-94ECEC1AF98D}"/>
                </a:ext>
              </a:extLst>
            </p:cNvPr>
            <p:cNvSpPr txBox="1">
              <a:spLocks noChangeArrowheads="1"/>
            </p:cNvSpPr>
            <p:nvPr/>
          </p:nvSpPr>
          <p:spPr>
            <a:xfrm>
              <a:off x="7543801" y="3604606"/>
              <a:ext cx="3296482" cy="2610697"/>
            </a:xfrm>
            <a:prstGeom prst="rect">
              <a:avLst/>
            </a:prstGeom>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本书特色</a:t>
              </a:r>
              <a:endParaRPr lang="en-US" altLang="zh-CN" sz="2400" dirty="0">
                <a:effectLs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新颖的写作视角</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严谨的组织结构</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完备的绘制代码</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详尽的图形解读</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14193952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a:extLst>
              <a:ext uri="{FF2B5EF4-FFF2-40B4-BE49-F238E27FC236}">
                <a16:creationId xmlns:a16="http://schemas.microsoft.com/office/drawing/2014/main" id="{CD5BFEA8-D60A-4E4F-BEA7-36EF403C3802}"/>
              </a:ext>
            </a:extLst>
          </p:cNvPr>
          <p:cNvSpPr txBox="1">
            <a:spLocks/>
          </p:cNvSpPr>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2025/11/10</a:t>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pic>
        <p:nvPicPr>
          <p:cNvPr id="5" name="图片 4">
            <a:extLst>
              <a:ext uri="{FF2B5EF4-FFF2-40B4-BE49-F238E27FC236}">
                <a16:creationId xmlns:a16="http://schemas.microsoft.com/office/drawing/2014/main" id="{57BE89BD-ACBF-40B9-AAFA-85C15C6AD30F}"/>
              </a:ext>
            </a:extLst>
          </p:cNvPr>
          <p:cNvPicPr>
            <a:picLocks noChangeAspect="1"/>
          </p:cNvPicPr>
          <p:nvPr/>
        </p:nvPicPr>
        <p:blipFill>
          <a:blip r:embed="rId2"/>
          <a:stretch>
            <a:fillRect/>
          </a:stretch>
        </p:blipFill>
        <p:spPr>
          <a:xfrm>
            <a:off x="-57405" y="-85059"/>
            <a:ext cx="12423070" cy="6943059"/>
          </a:xfrm>
          <a:prstGeom prst="rect">
            <a:avLst/>
          </a:prstGeom>
        </p:spPr>
      </p:pic>
      <p:sp>
        <p:nvSpPr>
          <p:cNvPr id="9" name="圆角矩形 4">
            <a:extLst>
              <a:ext uri="{FF2B5EF4-FFF2-40B4-BE49-F238E27FC236}">
                <a16:creationId xmlns:a16="http://schemas.microsoft.com/office/drawing/2014/main" id="{5B463439-9290-46DE-AF62-1FC729B957BF}"/>
              </a:ext>
            </a:extLst>
          </p:cNvPr>
          <p:cNvSpPr/>
          <p:nvPr/>
        </p:nvSpPr>
        <p:spPr>
          <a:xfrm>
            <a:off x="1318436" y="2286000"/>
            <a:ext cx="9803219" cy="3732028"/>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6.1</a:t>
            </a: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散点图及其辅助信息</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6.2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密度散点图和分箱散点图</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6.3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分组散点图</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6.4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散点图矩阵和相关系数矩阵</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6.5   3D </a:t>
            </a:r>
            <a:r>
              <a:rPr lang="zh-CN" altLang="en-US"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散点图和气泡图</a:t>
            </a:r>
            <a:endParaRPr lang="en-US" altLang="zh-CN" sz="3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42FE301-88C8-43EE-B4E5-A0F8BAC93B90}"/>
              </a:ext>
            </a:extLst>
          </p:cNvPr>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6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展示变量间关系</a:t>
            </a:r>
          </a:p>
        </p:txBody>
      </p:sp>
    </p:spTree>
    <p:extLst>
      <p:ext uri="{BB962C8B-B14F-4D97-AF65-F5344CB8AC3E}">
        <p14:creationId xmlns:p14="http://schemas.microsoft.com/office/powerpoint/2010/main" val="4137244127"/>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6E94D264-6FC3-43E2-9B81-55AAF75CEB21}"/>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概要</a:t>
            </a:r>
            <a:endParaRPr lang="en-US" altLang="zh-CN" sz="2600" b="1" dirty="0">
              <a:solidFill>
                <a:srgbClr val="002060"/>
              </a:solidFill>
              <a:ea typeface="华文细黑" panose="02010600040101010101" pitchFamily="2" charset="-122"/>
            </a:endParaRPr>
          </a:p>
        </p:txBody>
      </p:sp>
      <p:sp>
        <p:nvSpPr>
          <p:cNvPr id="4" name="Rectangle 2">
            <a:extLst>
              <a:ext uri="{FF2B5EF4-FFF2-40B4-BE49-F238E27FC236}">
                <a16:creationId xmlns:a16="http://schemas.microsoft.com/office/drawing/2014/main" id="{837987B5-EA6C-843D-30BF-B58E7AC16C4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本章导读</a:t>
            </a:r>
          </a:p>
        </p:txBody>
      </p:sp>
      <p:sp>
        <p:nvSpPr>
          <p:cNvPr id="5" name="Rectangle 3">
            <a:extLst>
              <a:ext uri="{FF2B5EF4-FFF2-40B4-BE49-F238E27FC236}">
                <a16:creationId xmlns:a16="http://schemas.microsoft.com/office/drawing/2014/main" id="{2F7C7A8F-1AD3-AD3A-5DB1-8207261A94A0}"/>
              </a:ext>
            </a:extLst>
          </p:cNvPr>
          <p:cNvSpPr txBox="1">
            <a:spLocks noChangeArrowheads="1"/>
          </p:cNvSpPr>
          <p:nvPr/>
        </p:nvSpPr>
        <p:spPr>
          <a:xfrm>
            <a:off x="704349" y="1730932"/>
            <a:ext cx="10853242" cy="464307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本章主要介绍数值变量之间关系的可视化方法，包括展示两个变量之间关系的散点图、展示多个变量之间关系的散点图矩阵和相关系数矩阵等，并结合相关系数和回归模型信息等进行分析</a:t>
            </a:r>
            <a:endParaRPr lang="en-US" altLang="zh-CN" sz="2200"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如果只涉及两个数值变量，且观测值不是很多时，可以用普通散点图进行展示</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当观测值较多时，图形中的点会出现重叠而难以识别，此时可以绘制分箱散点图或密度散点图等进行展示</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如果仅分析</a:t>
            </a:r>
            <a:r>
              <a:rPr lang="en-US" altLang="zh-CN" dirty="0">
                <a:effectLst/>
                <a:latin typeface="Cambria" panose="02040503050406030204" pitchFamily="18" charset="0"/>
                <a:ea typeface="华文细黑" panose="02010600040101010101" pitchFamily="2" charset="-122"/>
              </a:rPr>
              <a:t>3</a:t>
            </a:r>
            <a:r>
              <a:rPr lang="zh-CN" altLang="zh-CN" dirty="0">
                <a:effectLst/>
                <a:latin typeface="Cambria" panose="02040503050406030204" pitchFamily="18" charset="0"/>
                <a:ea typeface="华文细黑" panose="02010600040101010101" pitchFamily="2" charset="-122"/>
              </a:rPr>
              <a:t>个变量之间的关系，则可以绘制</a:t>
            </a:r>
            <a:r>
              <a:rPr lang="en-US" altLang="zh-CN" dirty="0">
                <a:effectLst/>
                <a:latin typeface="Cambria" panose="02040503050406030204" pitchFamily="18" charset="0"/>
                <a:ea typeface="华文细黑" panose="02010600040101010101" pitchFamily="2" charset="-122"/>
              </a:rPr>
              <a:t>3D</a:t>
            </a:r>
            <a:r>
              <a:rPr lang="zh-CN" altLang="zh-CN" dirty="0">
                <a:effectLst/>
                <a:latin typeface="Cambria" panose="02040503050406030204" pitchFamily="18" charset="0"/>
                <a:ea typeface="华文细黑" panose="02010600040101010101" pitchFamily="2" charset="-122"/>
              </a:rPr>
              <a:t>散点图或气泡图</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如果分析多个变量之间的关系，则可以用散点图矩阵进行展示；当观测值较多时，可以用相关系数矩阵进行展示</a:t>
            </a:r>
            <a:endParaRPr lang="zh-CN" altLang="zh-CN"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54829765"/>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散点图及其解读</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mc:AlternateContent xmlns:mc="http://schemas.openxmlformats.org/markup-compatibility/2006" xmlns:a14="http://schemas.microsoft.com/office/drawing/2010/main">
        <mc:Choice Requires="a14">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722474"/>
                <a:ext cx="3814725" cy="4629262"/>
              </a:xfrm>
              <a:noFill/>
              <a:ln w="6350">
                <a:solidFill>
                  <a:schemeClr val="bg1">
                    <a:lumMod val="75000"/>
                  </a:schemeClr>
                </a:solidFill>
              </a:ln>
            </p:spPr>
            <p:txBody>
              <a:bodyPr>
                <a:noAutofit/>
              </a:bodyPr>
              <a:lstStyle/>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1600" b="1" dirty="0">
                    <a:highlight>
                      <a:srgbClr val="FFFF99"/>
                    </a:highlight>
                    <a:latin typeface="Cambria" panose="02040503050406030204" pitchFamily="18" charset="0"/>
                    <a:ea typeface="华文细黑" panose="02010600040101010101" pitchFamily="2" charset="-122"/>
                  </a:rPr>
                  <a:t>散点图</a:t>
                </a:r>
                <a:r>
                  <a:rPr lang="en-US" altLang="zh-CN" sz="1600" dirty="0">
                    <a:latin typeface="Cambria" panose="02040503050406030204" pitchFamily="18" charset="0"/>
                    <a:ea typeface="Cambria" panose="02040503050406030204" pitchFamily="18" charset="0"/>
                  </a:rPr>
                  <a:t>——</a:t>
                </a:r>
                <a:r>
                  <a:rPr lang="zh-CN" altLang="zh-CN" sz="1600" dirty="0">
                    <a:latin typeface="Cambria" panose="02040503050406030204" pitchFamily="18" charset="0"/>
                    <a:ea typeface="华文细黑" panose="02010600040101010101" pitchFamily="2" charset="-122"/>
                  </a:rPr>
                  <a:t>将两个变量的各对观测点画在二维坐标中，并利用各观测点的分布来展示两个变量间的关系</a:t>
                </a:r>
                <a:endParaRPr lang="en-US" altLang="zh-CN" sz="1600" dirty="0">
                  <a:latin typeface="Cambria" panose="02040503050406030204" pitchFamily="18" charset="0"/>
                  <a:ea typeface="Cambria" panose="020405030504060302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设两个变量分别为</a:t>
                </a:r>
                <a14:m>
                  <m:oMath xmlns:m="http://schemas.openxmlformats.org/officeDocument/2006/math">
                    <m:r>
                      <a:rPr lang="en-US" altLang="zh-CN" sz="1600">
                        <a:latin typeface="Cambria Math" panose="02040503050406030204" pitchFamily="18" charset="0"/>
                      </a:rPr>
                      <m:t>𝑥</m:t>
                    </m:r>
                  </m:oMath>
                </a14:m>
                <a:r>
                  <a:rPr lang="zh-CN" altLang="zh-CN" sz="1600" dirty="0">
                    <a:latin typeface="Cambria" panose="02040503050406030204" pitchFamily="18" charset="0"/>
                    <a:ea typeface="华文细黑" panose="02010600040101010101" pitchFamily="2" charset="-122"/>
                  </a:rPr>
                  <a:t>和</a:t>
                </a:r>
                <a14:m>
                  <m:oMath xmlns:m="http://schemas.openxmlformats.org/officeDocument/2006/math">
                    <m:r>
                      <a:rPr lang="en-US" altLang="zh-CN" sz="1600">
                        <a:latin typeface="Cambria Math" panose="02040503050406030204" pitchFamily="18" charset="0"/>
                      </a:rPr>
                      <m:t>𝑦</m:t>
                    </m:r>
                  </m:oMath>
                </a14:m>
                <a:r>
                  <a:rPr lang="zh-CN" altLang="zh-CN" sz="1600" dirty="0">
                    <a:latin typeface="Cambria" panose="02040503050406030204" pitchFamily="18" charset="0"/>
                    <a:ea typeface="华文细黑" panose="02010600040101010101" pitchFamily="2" charset="-122"/>
                  </a:rPr>
                  <a:t>，每对观测值（</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𝑥</m:t>
                        </m:r>
                      </m:e>
                      <m:sub>
                        <m:r>
                          <a:rPr lang="en-US" altLang="zh-CN" sz="1600">
                            <a:latin typeface="Cambria Math" panose="02040503050406030204" pitchFamily="18" charset="0"/>
                          </a:rPr>
                          <m:t>𝑖</m:t>
                        </m:r>
                      </m:sub>
                    </m:sSub>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𝑦</m:t>
                        </m:r>
                      </m:e>
                      <m:sub>
                        <m:r>
                          <a:rPr lang="en-US" altLang="zh-CN" sz="1600">
                            <a:latin typeface="Cambria Math" panose="02040503050406030204" pitchFamily="18" charset="0"/>
                          </a:rPr>
                          <m:t>𝑖</m:t>
                        </m:r>
                      </m:sub>
                    </m:sSub>
                  </m:oMath>
                </a14:m>
                <a:r>
                  <a:rPr lang="zh-CN" altLang="zh-CN" sz="1600" dirty="0">
                    <a:latin typeface="Cambria" panose="02040503050406030204" pitchFamily="18" charset="0"/>
                    <a:ea typeface="华文细黑" panose="02010600040101010101" pitchFamily="2" charset="-122"/>
                  </a:rPr>
                  <a:t>）在二维坐标中用一个点表示，</a:t>
                </a:r>
                <a14:m>
                  <m:oMath xmlns:m="http://schemas.openxmlformats.org/officeDocument/2006/math">
                    <m:r>
                      <a:rPr lang="en-US" altLang="zh-CN" sz="1600">
                        <a:latin typeface="Cambria Math" panose="02040503050406030204" pitchFamily="18" charset="0"/>
                      </a:rPr>
                      <m:t>𝑛</m:t>
                    </m:r>
                  </m:oMath>
                </a14:m>
                <a:r>
                  <a:rPr lang="zh-CN" altLang="zh-CN" sz="1600" dirty="0">
                    <a:latin typeface="Cambria" panose="02040503050406030204" pitchFamily="18" charset="0"/>
                    <a:ea typeface="华文细黑" panose="02010600040101010101" pitchFamily="2" charset="-122"/>
                  </a:rPr>
                  <a:t>对观测值在坐标中形成的</a:t>
                </a:r>
                <a14:m>
                  <m:oMath xmlns:m="http://schemas.openxmlformats.org/officeDocument/2006/math">
                    <m:r>
                      <a:rPr lang="en-US" altLang="zh-CN" sz="1600">
                        <a:latin typeface="Cambria Math" panose="02040503050406030204" pitchFamily="18" charset="0"/>
                      </a:rPr>
                      <m:t>𝑛</m:t>
                    </m:r>
                  </m:oMath>
                </a14:m>
                <a:r>
                  <a:rPr lang="zh-CN" altLang="zh-CN" sz="1600" dirty="0">
                    <a:latin typeface="Cambria" panose="02040503050406030204" pitchFamily="18" charset="0"/>
                    <a:ea typeface="华文细黑" panose="02010600040101010101" pitchFamily="2" charset="-122"/>
                  </a:rPr>
                  <a:t>个点图称为散点图</a:t>
                </a:r>
                <a:endParaRPr lang="en-US" altLang="zh-CN" sz="1600" dirty="0">
                  <a:latin typeface="Cambria" panose="02040503050406030204" pitchFamily="18" charset="0"/>
                  <a:ea typeface="Cambria" panose="020405030504060302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利用散点图可以观察两个变量间是否有关系，如果有，关系的形态以及关系强度如何等</a:t>
                </a:r>
              </a:p>
            </p:txBody>
          </p:sp>
        </mc:Choice>
        <mc:Fallback xmlns="">
          <p:sp>
            <p:nvSpPr>
              <p:cNvPr id="13" name="副标题 2">
                <a:extLst>
                  <a:ext uri="{FF2B5EF4-FFF2-40B4-BE49-F238E27FC236}">
                    <a16:creationId xmlns:a16="http://schemas.microsoft.com/office/drawing/2014/main" id="{594C2978-0D29-4EC6-8EBB-7A5E80A4D855}"/>
                  </a:ext>
                </a:extLst>
              </p:cNvPr>
              <p:cNvSpPr>
                <a:spLocks noGrp="1" noRot="1" noChangeAspect="1" noMove="1" noResize="1" noEditPoints="1" noAdjustHandles="1" noChangeArrowheads="1" noChangeShapeType="1" noTextEdit="1"/>
              </p:cNvSpPr>
              <p:nvPr>
                <p:ph type="subTitle" idx="1"/>
              </p:nvPr>
            </p:nvSpPr>
            <p:spPr>
              <a:xfrm>
                <a:off x="808075" y="1722474"/>
                <a:ext cx="3814725" cy="4629262"/>
              </a:xfrm>
              <a:blipFill>
                <a:blip r:embed="rId2"/>
                <a:stretch>
                  <a:fillRect l="-639" r="-799"/>
                </a:stretch>
              </a:blipFill>
              <a:ln w="6350">
                <a:solidFill>
                  <a:schemeClr val="bg1">
                    <a:lumMod val="75000"/>
                  </a:schemeClr>
                </a:solidFill>
              </a:ln>
            </p:spPr>
            <p:txBody>
              <a:bodyPr/>
              <a:lstStyle/>
              <a:p>
                <a:r>
                  <a:rPr lang="zh-CN" altLang="en-US">
                    <a:noFill/>
                  </a:rPr>
                  <a:t> </a:t>
                </a:r>
              </a:p>
            </p:txBody>
          </p:sp>
        </mc:Fallback>
      </mc:AlternateContent>
      <p:sp>
        <p:nvSpPr>
          <p:cNvPr id="8" name="副标题 2">
            <a:extLst>
              <a:ext uri="{FF2B5EF4-FFF2-40B4-BE49-F238E27FC236}">
                <a16:creationId xmlns:a16="http://schemas.microsoft.com/office/drawing/2014/main" id="{73F55607-7B57-9C44-86CD-2D2004906A5D}"/>
              </a:ext>
            </a:extLst>
          </p:cNvPr>
          <p:cNvSpPr txBox="1">
            <a:spLocks/>
          </p:cNvSpPr>
          <p:nvPr/>
        </p:nvSpPr>
        <p:spPr>
          <a:xfrm>
            <a:off x="4805680" y="1722474"/>
            <a:ext cx="6669685" cy="503940"/>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buClr>
                <a:srgbClr val="00FFFF"/>
              </a:buClr>
            </a:pPr>
            <a:r>
              <a:rPr lang="zh-CN" altLang="en-US" sz="1800" b="1" dirty="0">
                <a:latin typeface="+mn-lt"/>
                <a:ea typeface="华文细黑" panose="02010600040101010101" pitchFamily="2" charset="-122"/>
              </a:rPr>
              <a:t>不同形态</a:t>
            </a:r>
            <a:r>
              <a:rPr lang="zh-CN" altLang="zh-CN" sz="1800" b="1" dirty="0">
                <a:latin typeface="+mn-lt"/>
                <a:ea typeface="华文细黑" panose="02010600040101010101" pitchFamily="2" charset="-122"/>
              </a:rPr>
              <a:t>的散点图</a:t>
            </a:r>
          </a:p>
          <a:p>
            <a:pPr algn="just" defTabSz="685800" eaLnBrk="0" hangingPunct="0">
              <a:lnSpc>
                <a:spcPct val="150000"/>
              </a:lnSpc>
              <a:spcBef>
                <a:spcPct val="50000"/>
              </a:spcBef>
              <a:buClr>
                <a:srgbClr val="000099"/>
              </a:buClr>
              <a:defRPr/>
            </a:pPr>
            <a:endParaRPr lang="zh-CN" altLang="zh-CN" sz="1800" b="1" dirty="0">
              <a:latin typeface="+mn-lt"/>
              <a:ea typeface="华文细黑" panose="02010600040101010101" pitchFamily="2" charset="-122"/>
            </a:endParaRPr>
          </a:p>
        </p:txBody>
      </p:sp>
      <p:sp>
        <p:nvSpPr>
          <p:cNvPr id="4" name="Rectangle 2">
            <a:extLst>
              <a:ext uri="{FF2B5EF4-FFF2-40B4-BE49-F238E27FC236}">
                <a16:creationId xmlns:a16="http://schemas.microsoft.com/office/drawing/2014/main" id="{D83BDAC5-8572-842A-6995-2FB5773FDCC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pic>
        <p:nvPicPr>
          <p:cNvPr id="2" name="图片 1">
            <a:extLst>
              <a:ext uri="{FF2B5EF4-FFF2-40B4-BE49-F238E27FC236}">
                <a16:creationId xmlns:a16="http://schemas.microsoft.com/office/drawing/2014/main" id="{3C3586EB-BAE5-E9A9-3179-003459375D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5680" y="2324944"/>
            <a:ext cx="6669685" cy="4026792"/>
          </a:xfrm>
          <a:prstGeom prst="rect">
            <a:avLst/>
          </a:prstGeom>
          <a:ln w="6350">
            <a:solidFill>
              <a:schemeClr val="bg1">
                <a:lumMod val="75000"/>
              </a:schemeClr>
            </a:solidFill>
          </a:ln>
        </p:spPr>
      </p:pic>
    </p:spTree>
    <p:extLst>
      <p:ext uri="{BB962C8B-B14F-4D97-AF65-F5344CB8AC3E}">
        <p14:creationId xmlns:p14="http://schemas.microsoft.com/office/powerpoint/2010/main" val="1060919590"/>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4" y="1691995"/>
            <a:ext cx="10698126" cy="919125"/>
          </a:xfrm>
          <a:noFill/>
          <a:ln w="6350">
            <a:solidFill>
              <a:schemeClr val="bg1">
                <a:lumMod val="75000"/>
              </a:schemeClr>
            </a:solidFill>
          </a:ln>
        </p:spPr>
        <p:txBody>
          <a:bodyPr>
            <a:noAutofit/>
          </a:bodyPr>
          <a:lstStyle/>
          <a:p>
            <a:pPr algn="just" defTabSz="685800" eaLnBrk="0" hangingPunct="0">
              <a:lnSpc>
                <a:spcPct val="170000"/>
              </a:lnSpc>
              <a:spcBef>
                <a:spcPct val="50000"/>
              </a:spcBef>
              <a:buClr>
                <a:srgbClr val="000099"/>
              </a:buClr>
              <a:defRPr/>
            </a:pPr>
            <a:r>
              <a:rPr lang="zh-CN" altLang="zh-CN" sz="1600" dirty="0">
                <a:latin typeface="+mn-lt"/>
                <a:ea typeface="华文细黑" panose="02010600040101010101" pitchFamily="2" charset="-122"/>
              </a:rPr>
              <a:t>具有线性关系的两个变量的散点图大致在一条直线周围随机分布</a:t>
            </a:r>
            <a:r>
              <a:rPr lang="zh-CN" altLang="en-US" sz="1600" dirty="0">
                <a:latin typeface="+mn-lt"/>
                <a:ea typeface="华文细黑" panose="02010600040101010101" pitchFamily="2" charset="-122"/>
              </a:rPr>
              <a:t>，</a:t>
            </a:r>
            <a:r>
              <a:rPr lang="zh-CN" altLang="zh-CN" sz="1600" dirty="0">
                <a:latin typeface="+mn-lt"/>
                <a:ea typeface="华文细黑" panose="02010600040101010101" pitchFamily="2" charset="-122"/>
              </a:rPr>
              <a:t>其分布的形状通常为一个椭圆，其形状越扁平，表示线性关系越强</a:t>
            </a:r>
          </a:p>
        </p:txBody>
      </p:sp>
      <p:sp>
        <p:nvSpPr>
          <p:cNvPr id="4" name="Rectangle 2">
            <a:extLst>
              <a:ext uri="{FF2B5EF4-FFF2-40B4-BE49-F238E27FC236}">
                <a16:creationId xmlns:a16="http://schemas.microsoft.com/office/drawing/2014/main" id="{5ED02057-D698-7B49-4F10-A70CE478741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sp>
        <p:nvSpPr>
          <p:cNvPr id="5" name="Rectangle 3">
            <a:extLst>
              <a:ext uri="{FF2B5EF4-FFF2-40B4-BE49-F238E27FC236}">
                <a16:creationId xmlns:a16="http://schemas.microsoft.com/office/drawing/2014/main" id="{220780E5-0B46-81C2-6381-A33F91631FC4}"/>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散点图及其解读</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pic>
        <p:nvPicPr>
          <p:cNvPr id="2" name="图片 1">
            <a:extLst>
              <a:ext uri="{FF2B5EF4-FFF2-40B4-BE49-F238E27FC236}">
                <a16:creationId xmlns:a16="http://schemas.microsoft.com/office/drawing/2014/main" id="{C372A182-B57E-EDE6-F724-7AB701E3010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8074" y="2740131"/>
            <a:ext cx="10698126" cy="3620029"/>
          </a:xfrm>
          <a:prstGeom prst="rect">
            <a:avLst/>
          </a:prstGeom>
          <a:ln w="6350">
            <a:solidFill>
              <a:schemeClr val="bg1">
                <a:lumMod val="75000"/>
              </a:schemeClr>
            </a:solidFill>
          </a:ln>
        </p:spPr>
      </p:pic>
    </p:spTree>
    <p:extLst>
      <p:ext uri="{BB962C8B-B14F-4D97-AF65-F5344CB8AC3E}">
        <p14:creationId xmlns:p14="http://schemas.microsoft.com/office/powerpoint/2010/main" val="3297738600"/>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例题分析</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72887" y="1702154"/>
            <a:ext cx="10646226" cy="1050538"/>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6-1 】</a:t>
            </a:r>
            <a:r>
              <a:rPr lang="en-US" altLang="zh-CN" sz="2000" b="1"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000" dirty="0">
                <a:latin typeface="Cambria" panose="02040503050406030204" pitchFamily="18" charset="0"/>
                <a:ea typeface="Cambria" panose="02040503050406030204" pitchFamily="18" charset="0"/>
              </a:rPr>
              <a: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为分析上市公司各项财务指标之间的关系，在</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主板</a:t>
            </a:r>
            <a:r>
              <a:rPr lang="zh-CN" altLang="en-US" sz="18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创业板</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和</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科创板中随机抽取汽车类、家电类、医药类和食品类的股票共</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200</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只，得到的财务数据如表</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6-1</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所示</a:t>
            </a:r>
            <a:endPar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endParaRPr>
          </a:p>
          <a:p>
            <a:pPr algn="just">
              <a:lnSpc>
                <a:spcPct val="150000"/>
              </a:lnSpc>
              <a:buClr>
                <a:srgbClr val="00FFFF"/>
              </a:buClr>
            </a:pPr>
            <a:endParaRPr lang="zh-CN"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CE12AC2F-DF21-D332-5AF3-1CFCE2CAB83B}"/>
              </a:ext>
            </a:extLst>
          </p:cNvPr>
          <p:cNvGraphicFramePr>
            <a:graphicFrameLocks noGrp="1"/>
          </p:cNvGraphicFramePr>
          <p:nvPr>
            <p:extLst>
              <p:ext uri="{D42A27DB-BD31-4B8C-83A1-F6EECF244321}">
                <p14:modId xmlns:p14="http://schemas.microsoft.com/office/powerpoint/2010/main" val="3877073651"/>
              </p:ext>
            </p:extLst>
          </p:nvPr>
        </p:nvGraphicFramePr>
        <p:xfrm>
          <a:off x="772886" y="2891862"/>
          <a:ext cx="10646954" cy="3465833"/>
        </p:xfrm>
        <a:graphic>
          <a:graphicData uri="http://schemas.openxmlformats.org/drawingml/2006/table">
            <a:tbl>
              <a:tblPr firstRow="1" firstCol="1" bandRow="1">
                <a:tableStyleId>{5C22544A-7EE6-4342-B048-85BDC9FD1C3A}</a:tableStyleId>
              </a:tblPr>
              <a:tblGrid>
                <a:gridCol w="924323">
                  <a:extLst>
                    <a:ext uri="{9D8B030D-6E8A-4147-A177-3AD203B41FA5}">
                      <a16:colId xmlns:a16="http://schemas.microsoft.com/office/drawing/2014/main" val="541801915"/>
                    </a:ext>
                  </a:extLst>
                </a:gridCol>
                <a:gridCol w="1280138">
                  <a:extLst>
                    <a:ext uri="{9D8B030D-6E8A-4147-A177-3AD203B41FA5}">
                      <a16:colId xmlns:a16="http://schemas.microsoft.com/office/drawing/2014/main" val="2444848771"/>
                    </a:ext>
                  </a:extLst>
                </a:gridCol>
                <a:gridCol w="1159820">
                  <a:extLst>
                    <a:ext uri="{9D8B030D-6E8A-4147-A177-3AD203B41FA5}">
                      <a16:colId xmlns:a16="http://schemas.microsoft.com/office/drawing/2014/main" val="119849014"/>
                    </a:ext>
                  </a:extLst>
                </a:gridCol>
                <a:gridCol w="1165341">
                  <a:extLst>
                    <a:ext uri="{9D8B030D-6E8A-4147-A177-3AD203B41FA5}">
                      <a16:colId xmlns:a16="http://schemas.microsoft.com/office/drawing/2014/main" val="3853358419"/>
                    </a:ext>
                  </a:extLst>
                </a:gridCol>
                <a:gridCol w="1208723">
                  <a:extLst>
                    <a:ext uri="{9D8B030D-6E8A-4147-A177-3AD203B41FA5}">
                      <a16:colId xmlns:a16="http://schemas.microsoft.com/office/drawing/2014/main" val="1833277178"/>
                    </a:ext>
                  </a:extLst>
                </a:gridCol>
                <a:gridCol w="1636334">
                  <a:extLst>
                    <a:ext uri="{9D8B030D-6E8A-4147-A177-3AD203B41FA5}">
                      <a16:colId xmlns:a16="http://schemas.microsoft.com/office/drawing/2014/main" val="870466247"/>
                    </a:ext>
                  </a:extLst>
                </a:gridCol>
                <a:gridCol w="1671666">
                  <a:extLst>
                    <a:ext uri="{9D8B030D-6E8A-4147-A177-3AD203B41FA5}">
                      <a16:colId xmlns:a16="http://schemas.microsoft.com/office/drawing/2014/main" val="593018302"/>
                    </a:ext>
                  </a:extLst>
                </a:gridCol>
                <a:gridCol w="1600609">
                  <a:extLst>
                    <a:ext uri="{9D8B030D-6E8A-4147-A177-3AD203B41FA5}">
                      <a16:colId xmlns:a16="http://schemas.microsoft.com/office/drawing/2014/main" val="3485670099"/>
                    </a:ext>
                  </a:extLst>
                </a:gridCol>
              </a:tblGrid>
              <a:tr h="546199">
                <a:tc>
                  <a:txBody>
                    <a:bodyPr/>
                    <a:lstStyle/>
                    <a:p>
                      <a:pPr algn="ctr">
                        <a:lnSpc>
                          <a:spcPct val="115000"/>
                        </a:lnSpc>
                      </a:pPr>
                      <a:r>
                        <a:rPr lang="zh-CN" sz="1600" b="1">
                          <a:effectLst/>
                        </a:rPr>
                        <a:t>股票</a:t>
                      </a:r>
                    </a:p>
                    <a:p>
                      <a:pPr algn="ctr">
                        <a:lnSpc>
                          <a:spcPct val="115000"/>
                        </a:lnSpc>
                      </a:pPr>
                      <a:r>
                        <a:rPr lang="zh-CN" sz="1600" b="1">
                          <a:effectLst/>
                        </a:rPr>
                        <a:t>类型</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上市</a:t>
                      </a:r>
                    </a:p>
                    <a:p>
                      <a:pPr algn="ctr">
                        <a:lnSpc>
                          <a:spcPct val="115000"/>
                        </a:lnSpc>
                      </a:pPr>
                      <a:r>
                        <a:rPr lang="zh-CN" sz="1600" b="1">
                          <a:effectLst/>
                        </a:rPr>
                        <a:t>板块</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dirty="0">
                          <a:effectLst/>
                        </a:rPr>
                        <a:t>总股本</a:t>
                      </a:r>
                    </a:p>
                    <a:p>
                      <a:pPr algn="ctr">
                        <a:lnSpc>
                          <a:spcPct val="115000"/>
                        </a:lnSpc>
                      </a:pPr>
                      <a:r>
                        <a:rPr lang="zh-CN" sz="1600" b="1" dirty="0">
                          <a:effectLst/>
                        </a:rPr>
                        <a:t>（亿股）</a:t>
                      </a:r>
                      <a:endParaRPr lang="zh-CN" sz="1600" b="1"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每股收益</a:t>
                      </a:r>
                    </a:p>
                    <a:p>
                      <a:pPr algn="ctr">
                        <a:lnSpc>
                          <a:spcPct val="115000"/>
                        </a:lnSpc>
                      </a:pPr>
                      <a:r>
                        <a:rPr lang="zh-CN" sz="1600" b="1">
                          <a:effectLst/>
                        </a:rPr>
                        <a:t>（元）</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dirty="0">
                          <a:effectLst/>
                        </a:rPr>
                        <a:t>每股净资产</a:t>
                      </a:r>
                    </a:p>
                    <a:p>
                      <a:pPr algn="ctr">
                        <a:lnSpc>
                          <a:spcPct val="115000"/>
                        </a:lnSpc>
                      </a:pPr>
                      <a:r>
                        <a:rPr lang="zh-CN" sz="1600" b="1" dirty="0">
                          <a:effectLst/>
                        </a:rPr>
                        <a:t>（元）</a:t>
                      </a:r>
                      <a:endParaRPr lang="zh-CN" sz="1600" b="1"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净资产收益率</a:t>
                      </a:r>
                    </a:p>
                    <a:p>
                      <a:pPr algn="ctr">
                        <a:lnSpc>
                          <a:spcPct val="115000"/>
                        </a:lnSpc>
                      </a:pPr>
                      <a:r>
                        <a:rPr lang="zh-CN" sz="1600" b="1">
                          <a:effectLst/>
                        </a:rPr>
                        <a:t>（</a:t>
                      </a:r>
                      <a:r>
                        <a:rPr lang="en-US" sz="1600" b="1">
                          <a:effectLst/>
                        </a:rPr>
                        <a:t>%</a:t>
                      </a:r>
                      <a:r>
                        <a:rPr lang="zh-CN"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每股资本公积金</a:t>
                      </a:r>
                    </a:p>
                    <a:p>
                      <a:pPr algn="ctr">
                        <a:lnSpc>
                          <a:spcPct val="115000"/>
                        </a:lnSpc>
                      </a:pPr>
                      <a:r>
                        <a:rPr lang="zh-CN" sz="1600" b="1">
                          <a:effectLst/>
                        </a:rPr>
                        <a:t>（元）</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altLang="en-US" sz="1600" b="1" dirty="0">
                          <a:effectLst/>
                        </a:rPr>
                        <a:t>每股</a:t>
                      </a:r>
                      <a:r>
                        <a:rPr lang="zh-CN" sz="1600" b="1" dirty="0">
                          <a:effectLst/>
                        </a:rPr>
                        <a:t>现金流量</a:t>
                      </a:r>
                    </a:p>
                    <a:p>
                      <a:pPr algn="ctr">
                        <a:lnSpc>
                          <a:spcPct val="115000"/>
                        </a:lnSpc>
                      </a:pPr>
                      <a:r>
                        <a:rPr lang="zh-CN" sz="1600" b="1" dirty="0">
                          <a:effectLst/>
                        </a:rPr>
                        <a:t>（元）</a:t>
                      </a:r>
                      <a:endParaRPr lang="zh-CN" sz="16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143365894"/>
                  </a:ext>
                </a:extLst>
              </a:tr>
              <a:tr h="391989">
                <a:tc>
                  <a:txBody>
                    <a:bodyPr/>
                    <a:lstStyle/>
                    <a:p>
                      <a:pPr algn="ctr">
                        <a:lnSpc>
                          <a:spcPct val="115000"/>
                        </a:lnSpc>
                      </a:pPr>
                      <a:r>
                        <a:rPr lang="zh-CN" sz="1600" b="1">
                          <a:effectLst/>
                        </a:rPr>
                        <a:t>医药类</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创业板</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6.71</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1.82</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11.21</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8.11</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2.98</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dirty="0">
                          <a:effectLst/>
                        </a:rPr>
                        <a:t>3.42</a:t>
                      </a:r>
                      <a:endParaRPr lang="zh-CN" sz="16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5823502"/>
                  </a:ext>
                </a:extLst>
              </a:tr>
              <a:tr h="567700">
                <a:tc>
                  <a:txBody>
                    <a:bodyPr/>
                    <a:lstStyle/>
                    <a:p>
                      <a:pPr algn="ctr">
                        <a:lnSpc>
                          <a:spcPct val="115000"/>
                        </a:lnSpc>
                      </a:pPr>
                      <a:r>
                        <a:rPr lang="zh-CN" sz="1600" b="1">
                          <a:effectLst/>
                        </a:rPr>
                        <a:t>汽车类</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科创版</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8.87</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0.70</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3.96</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4.76</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0.48</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2.99</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208313227"/>
                  </a:ext>
                </a:extLst>
              </a:tr>
              <a:tr h="391989">
                <a:tc>
                  <a:txBody>
                    <a:bodyPr/>
                    <a:lstStyle/>
                    <a:p>
                      <a:pPr algn="ctr">
                        <a:lnSpc>
                          <a:spcPct val="115000"/>
                        </a:lnSpc>
                      </a:pPr>
                      <a:r>
                        <a:rPr lang="zh-CN" sz="1600" b="1">
                          <a:effectLst/>
                        </a:rPr>
                        <a:t>汽车类</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科创版</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11.68</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0.94</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7.85</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6.32</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2.19</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3.05</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561069333"/>
                  </a:ext>
                </a:extLst>
              </a:tr>
              <a:tr h="391989">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949295464"/>
                  </a:ext>
                </a:extLst>
              </a:tr>
              <a:tr h="391989">
                <a:tc>
                  <a:txBody>
                    <a:bodyPr/>
                    <a:lstStyle/>
                    <a:p>
                      <a:pPr algn="ctr">
                        <a:lnSpc>
                          <a:spcPct val="115000"/>
                        </a:lnSpc>
                      </a:pPr>
                      <a:r>
                        <a:rPr lang="zh-CN" sz="1600" b="1">
                          <a:effectLst/>
                        </a:rPr>
                        <a:t>医药类</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创业板</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6.92</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2.00</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11.69</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9.23</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3.74</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3.38</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001072709"/>
                  </a:ext>
                </a:extLst>
              </a:tr>
              <a:tr h="391989">
                <a:tc>
                  <a:txBody>
                    <a:bodyPr/>
                    <a:lstStyle/>
                    <a:p>
                      <a:pPr algn="ctr">
                        <a:lnSpc>
                          <a:spcPct val="115000"/>
                        </a:lnSpc>
                      </a:pPr>
                      <a:r>
                        <a:rPr lang="zh-CN" sz="1600" b="1">
                          <a:effectLst/>
                        </a:rPr>
                        <a:t>食品类</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主板</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6.79</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1.77</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8.41</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8.71</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3.48</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3.54</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712701655"/>
                  </a:ext>
                </a:extLst>
              </a:tr>
              <a:tr h="391989">
                <a:tc>
                  <a:txBody>
                    <a:bodyPr/>
                    <a:lstStyle/>
                    <a:p>
                      <a:pPr algn="ctr">
                        <a:lnSpc>
                          <a:spcPct val="115000"/>
                        </a:lnSpc>
                      </a:pPr>
                      <a:r>
                        <a:rPr lang="zh-CN" sz="1600" b="1">
                          <a:effectLst/>
                        </a:rPr>
                        <a:t>医药类</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600" b="1">
                          <a:effectLst/>
                        </a:rPr>
                        <a:t>创业板</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7.01</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1.91</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9.68</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10.74</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a:effectLst/>
                        </a:rPr>
                        <a:t>4.29</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600" b="1" dirty="0">
                          <a:effectLst/>
                        </a:rPr>
                        <a:t>3.70</a:t>
                      </a:r>
                      <a:endParaRPr lang="zh-CN" sz="16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237162497"/>
                  </a:ext>
                </a:extLst>
              </a:tr>
            </a:tbl>
          </a:graphicData>
        </a:graphic>
      </p:graphicFrame>
      <p:sp>
        <p:nvSpPr>
          <p:cNvPr id="3" name="Rectangle 2">
            <a:extLst>
              <a:ext uri="{FF2B5EF4-FFF2-40B4-BE49-F238E27FC236}">
                <a16:creationId xmlns:a16="http://schemas.microsoft.com/office/drawing/2014/main" id="{046DADBA-23E9-74D9-F9F4-88F9CFA626C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spTree>
    <p:extLst>
      <p:ext uri="{BB962C8B-B14F-4D97-AF65-F5344CB8AC3E}">
        <p14:creationId xmlns:p14="http://schemas.microsoft.com/office/powerpoint/2010/main" val="3778518233"/>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置信带</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22087" y="1702154"/>
            <a:ext cx="1228633" cy="465800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6-1 】</a:t>
            </a:r>
            <a:r>
              <a:rPr lang="en-US" altLang="zh-CN" sz="1600" b="1"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p>
          <a:p>
            <a:pPr algn="just">
              <a:lnSpc>
                <a:spcPct val="150000"/>
              </a:lnSpc>
              <a:buClr>
                <a:srgbClr val="00FFFF"/>
              </a:buClr>
            </a:pPr>
            <a:r>
              <a:rPr lang="zh-CN" altLang="zh-CN" sz="1600" kern="0" dirty="0">
                <a:latin typeface="Cambria" panose="02040503050406030204" pitchFamily="18" charset="0"/>
                <a:ea typeface="华文细黑" panose="02010600040101010101" pitchFamily="2" charset="-122"/>
                <a:cs typeface="Times New Roman" panose="02020603050405020304" pitchFamily="18" charset="0"/>
              </a:rPr>
              <a:t>总股本与每股收益、每股净资产与每股收益的散点图</a:t>
            </a:r>
          </a:p>
        </p:txBody>
      </p:sp>
      <p:pic>
        <p:nvPicPr>
          <p:cNvPr id="3" name="图片 2">
            <a:extLst>
              <a:ext uri="{FF2B5EF4-FFF2-40B4-BE49-F238E27FC236}">
                <a16:creationId xmlns:a16="http://schemas.microsoft.com/office/drawing/2014/main" id="{6D8E70F6-A5DA-8C76-F517-125078835BE1}"/>
              </a:ext>
            </a:extLst>
          </p:cNvPr>
          <p:cNvPicPr>
            <a:picLocks noChangeAspect="1"/>
          </p:cNvPicPr>
          <p:nvPr/>
        </p:nvPicPr>
        <p:blipFill>
          <a:blip r:embed="rId2"/>
          <a:stretch>
            <a:fillRect/>
          </a:stretch>
        </p:blipFill>
        <p:spPr>
          <a:xfrm>
            <a:off x="2031999" y="1702154"/>
            <a:ext cx="9682481" cy="4658006"/>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2E78CC86-D1F7-2780-6CC0-8A39C2CF33D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spTree>
    <p:extLst>
      <p:ext uri="{BB962C8B-B14F-4D97-AF65-F5344CB8AC3E}">
        <p14:creationId xmlns:p14="http://schemas.microsoft.com/office/powerpoint/2010/main" val="794495378"/>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置信带和预测带</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72886" y="1722474"/>
            <a:ext cx="1238794" cy="4613012"/>
          </a:xfrm>
          <a:prstGeom prst="rect">
            <a:avLst/>
          </a:prstGeom>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6-1 】</a:t>
            </a:r>
            <a:r>
              <a:rPr lang="en-US" altLang="zh-CN" sz="1600" b="1"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p>
          <a:p>
            <a:pPr algn="just">
              <a:lnSpc>
                <a:spcPct val="150000"/>
              </a:lnSpc>
              <a:buClr>
                <a:srgbClr val="00FFFF"/>
              </a:buClr>
            </a:pPr>
            <a:r>
              <a:rPr lang="zh-CN" altLang="zh-CN" sz="1600" dirty="0">
                <a:latin typeface="Cambria" panose="02040503050406030204" pitchFamily="18" charset="0"/>
                <a:ea typeface="华文细黑" panose="02010600040101010101" pitchFamily="2" charset="-122"/>
              </a:rPr>
              <a:t>添加置信带和预测带的每股收益与每股净资产的散点图</a:t>
            </a:r>
          </a:p>
          <a:p>
            <a:pPr algn="just">
              <a:lnSpc>
                <a:spcPct val="150000"/>
              </a:lnSpc>
              <a:buClr>
                <a:srgbClr val="00FFFF"/>
              </a:buClr>
            </a:pPr>
            <a:endParaRPr lang="zh-CN" altLang="zh-CN" sz="1600" dirty="0">
              <a:latin typeface="Cambria" panose="02040503050406030204" pitchFamily="18" charset="0"/>
              <a:ea typeface="华文细黑" panose="02010600040101010101" pitchFamily="2" charset="-122"/>
            </a:endParaRPr>
          </a:p>
          <a:p>
            <a:pPr algn="just" defTabSz="685800" eaLnBrk="0" hangingPunct="0">
              <a:lnSpc>
                <a:spcPct val="150000"/>
              </a:lnSpc>
              <a:spcBef>
                <a:spcPct val="50000"/>
              </a:spcBef>
              <a:buClr>
                <a:srgbClr val="000099"/>
              </a:buClr>
              <a:defRPr/>
            </a:pPr>
            <a:endParaRPr lang="zh-CN" altLang="zh-CN" sz="16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F4401FFE-C4BF-87E5-17DE-29C0C7F3DD54}"/>
              </a:ext>
            </a:extLst>
          </p:cNvPr>
          <p:cNvPicPr>
            <a:picLocks noChangeAspect="1"/>
          </p:cNvPicPr>
          <p:nvPr/>
        </p:nvPicPr>
        <p:blipFill>
          <a:blip r:embed="rId2"/>
          <a:stretch>
            <a:fillRect/>
          </a:stretch>
        </p:blipFill>
        <p:spPr>
          <a:xfrm>
            <a:off x="2128867" y="1722474"/>
            <a:ext cx="9565293" cy="4613013"/>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D4AB2676-D91D-DEC0-DA83-9E0456FC70E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spTree>
    <p:extLst>
      <p:ext uri="{BB962C8B-B14F-4D97-AF65-F5344CB8AC3E}">
        <p14:creationId xmlns:p14="http://schemas.microsoft.com/office/powerpoint/2010/main" val="3880640572"/>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回归信息</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01766" y="1702154"/>
            <a:ext cx="1187994" cy="465800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sz="1600" b="1"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p>
          <a:p>
            <a:pPr algn="just">
              <a:lnSpc>
                <a:spcPct val="150000"/>
              </a:lnSpc>
              <a:buClr>
                <a:srgbClr val="00FFFF"/>
              </a:buClr>
            </a:pPr>
            <a:r>
              <a:rPr lang="zh-CN" altLang="zh-CN" sz="1600" dirty="0">
                <a:latin typeface="Cambria" panose="02040503050406030204" pitchFamily="18" charset="0"/>
                <a:ea typeface="华文细黑" panose="02010600040101010101" pitchFamily="2" charset="-122"/>
              </a:rPr>
              <a:t>添加回归信息的散点图</a:t>
            </a:r>
          </a:p>
          <a:p>
            <a:pPr algn="just">
              <a:lnSpc>
                <a:spcPct val="150000"/>
              </a:lnSpc>
              <a:buClr>
                <a:srgbClr val="00FFFF"/>
              </a:buClr>
            </a:pPr>
            <a:endParaRPr lang="zh-CN" altLang="zh-CN" sz="1600" dirty="0">
              <a:latin typeface="Cambria" panose="02040503050406030204" pitchFamily="18" charset="0"/>
              <a:ea typeface="华文细黑" panose="02010600040101010101" pitchFamily="2" charset="-122"/>
            </a:endParaRPr>
          </a:p>
          <a:p>
            <a:pPr algn="just" defTabSz="685800" eaLnBrk="0" hangingPunct="0">
              <a:lnSpc>
                <a:spcPct val="150000"/>
              </a:lnSpc>
              <a:spcBef>
                <a:spcPct val="50000"/>
              </a:spcBef>
              <a:buClr>
                <a:srgbClr val="000099"/>
              </a:buClr>
              <a:defRPr/>
            </a:pPr>
            <a:endParaRPr lang="zh-CN" altLang="zh-CN" sz="1600" dirty="0">
              <a:latin typeface="Cambria" panose="02040503050406030204" pitchFamily="18" charset="0"/>
              <a:ea typeface="华文细黑" panose="02010600040101010101" pitchFamily="2" charset="-122"/>
            </a:endParaRPr>
          </a:p>
        </p:txBody>
      </p:sp>
      <p:pic>
        <p:nvPicPr>
          <p:cNvPr id="5" name="图片 4">
            <a:extLst>
              <a:ext uri="{FF2B5EF4-FFF2-40B4-BE49-F238E27FC236}">
                <a16:creationId xmlns:a16="http://schemas.microsoft.com/office/drawing/2014/main" id="{AB8EC683-8D61-C917-4984-D452B09C1877}"/>
              </a:ext>
            </a:extLst>
          </p:cNvPr>
          <p:cNvPicPr>
            <a:picLocks noChangeAspect="1"/>
          </p:cNvPicPr>
          <p:nvPr/>
        </p:nvPicPr>
        <p:blipFill>
          <a:blip r:embed="rId2"/>
          <a:stretch>
            <a:fillRect/>
          </a:stretch>
        </p:blipFill>
        <p:spPr>
          <a:xfrm>
            <a:off x="1960880" y="1702154"/>
            <a:ext cx="9834880" cy="4658006"/>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2B089ACD-4139-222E-6CAB-DBC18FAF247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spTree>
    <p:extLst>
      <p:ext uri="{BB962C8B-B14F-4D97-AF65-F5344CB8AC3E}">
        <p14:creationId xmlns:p14="http://schemas.microsoft.com/office/powerpoint/2010/main" val="3615909365"/>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回归信息</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11926" y="1722474"/>
            <a:ext cx="1238794" cy="4645668"/>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6-1 】</a:t>
            </a:r>
            <a:r>
              <a:rPr lang="en-US" altLang="zh-CN" sz="1600" b="1"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p>
          <a:p>
            <a:pPr algn="just">
              <a:lnSpc>
                <a:spcPct val="150000"/>
              </a:lnSpc>
              <a:buClr>
                <a:srgbClr val="00FFFF"/>
              </a:buClr>
            </a:pPr>
            <a:r>
              <a:rPr lang="zh-CN" altLang="zh-CN" sz="1600" dirty="0">
                <a:latin typeface="Cambria" panose="02040503050406030204" pitchFamily="18" charset="0"/>
                <a:ea typeface="华文细黑" panose="02010600040101010101" pitchFamily="2" charset="-122"/>
              </a:rPr>
              <a:t>添加回归模型摘要表的散点图</a:t>
            </a:r>
          </a:p>
        </p:txBody>
      </p:sp>
      <p:pic>
        <p:nvPicPr>
          <p:cNvPr id="7" name="图片 6">
            <a:extLst>
              <a:ext uri="{FF2B5EF4-FFF2-40B4-BE49-F238E27FC236}">
                <a16:creationId xmlns:a16="http://schemas.microsoft.com/office/drawing/2014/main" id="{06A28A8E-E5B6-BBAD-9A89-00EBE9473A13}"/>
              </a:ext>
            </a:extLst>
          </p:cNvPr>
          <p:cNvPicPr>
            <a:picLocks noChangeAspect="1"/>
          </p:cNvPicPr>
          <p:nvPr/>
        </p:nvPicPr>
        <p:blipFill>
          <a:blip r:embed="rId2"/>
          <a:stretch>
            <a:fillRect/>
          </a:stretch>
        </p:blipFill>
        <p:spPr>
          <a:xfrm>
            <a:off x="2052320" y="1722474"/>
            <a:ext cx="9672321" cy="4645669"/>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F6F3DD31-BF29-09BE-69ED-03C74B31197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spTree>
    <p:extLst>
      <p:ext uri="{BB962C8B-B14F-4D97-AF65-F5344CB8AC3E}">
        <p14:creationId xmlns:p14="http://schemas.microsoft.com/office/powerpoint/2010/main" val="474248422"/>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回归拟合残差</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01766" y="1722475"/>
            <a:ext cx="1218474" cy="4678324"/>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6-1 】</a:t>
            </a:r>
            <a:r>
              <a:rPr lang="en-US" altLang="zh-CN" sz="1600" b="1"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p>
          <a:p>
            <a:pPr algn="just">
              <a:lnSpc>
                <a:spcPct val="150000"/>
              </a:lnSpc>
              <a:buClr>
                <a:srgbClr val="00FFFF"/>
              </a:buClr>
            </a:pPr>
            <a:r>
              <a:rPr lang="zh-CN" altLang="zh-CN" sz="1600" dirty="0">
                <a:latin typeface="Cambria" panose="02040503050406030204" pitchFamily="18" charset="0"/>
                <a:ea typeface="华文细黑" panose="02010600040101010101" pitchFamily="2" charset="-122"/>
              </a:rPr>
              <a:t>每股收益与每股净资产的线性拟合及残差</a:t>
            </a:r>
          </a:p>
          <a:p>
            <a:pPr algn="just" defTabSz="685800" eaLnBrk="0" hangingPunct="0">
              <a:lnSpc>
                <a:spcPct val="150000"/>
              </a:lnSpc>
              <a:spcBef>
                <a:spcPct val="50000"/>
              </a:spcBef>
              <a:buClr>
                <a:srgbClr val="000099"/>
              </a:buClr>
              <a:defRPr/>
            </a:pPr>
            <a:endParaRPr lang="zh-CN" altLang="zh-CN" sz="1600" dirty="0">
              <a:latin typeface="Cambria" panose="02040503050406030204" pitchFamily="18" charset="0"/>
              <a:ea typeface="华文细黑" panose="02010600040101010101" pitchFamily="2" charset="-122"/>
            </a:endParaRPr>
          </a:p>
        </p:txBody>
      </p:sp>
      <p:sp>
        <p:nvSpPr>
          <p:cNvPr id="2" name="Rectangle 2">
            <a:extLst>
              <a:ext uri="{FF2B5EF4-FFF2-40B4-BE49-F238E27FC236}">
                <a16:creationId xmlns:a16="http://schemas.microsoft.com/office/drawing/2014/main" id="{F5E874A8-C2C6-E2E8-E9E4-1B5B531FAE4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pic>
        <p:nvPicPr>
          <p:cNvPr id="4" name="图片 3">
            <a:extLst>
              <a:ext uri="{FF2B5EF4-FFF2-40B4-BE49-F238E27FC236}">
                <a16:creationId xmlns:a16="http://schemas.microsoft.com/office/drawing/2014/main" id="{07C03666-38CB-7CB3-E8A3-B95D9B021A1B}"/>
              </a:ext>
            </a:extLst>
          </p:cNvPr>
          <p:cNvPicPr>
            <a:picLocks noChangeAspect="1"/>
          </p:cNvPicPr>
          <p:nvPr/>
        </p:nvPicPr>
        <p:blipFill>
          <a:blip r:embed="rId2"/>
          <a:stretch>
            <a:fillRect/>
          </a:stretch>
        </p:blipFill>
        <p:spPr>
          <a:xfrm>
            <a:off x="2021840" y="1722476"/>
            <a:ext cx="9733280" cy="4678324"/>
          </a:xfrm>
          <a:prstGeom prst="rect">
            <a:avLst/>
          </a:prstGeom>
          <a:ln w="6350">
            <a:solidFill>
              <a:schemeClr val="bg1">
                <a:lumMod val="75000"/>
              </a:schemeClr>
            </a:solidFill>
          </a:ln>
        </p:spPr>
      </p:pic>
    </p:spTree>
    <p:extLst>
      <p:ext uri="{BB962C8B-B14F-4D97-AF65-F5344CB8AC3E}">
        <p14:creationId xmlns:p14="http://schemas.microsoft.com/office/powerpoint/2010/main" val="1231937875"/>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边际图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72886" y="1722473"/>
            <a:ext cx="3921033" cy="4647847"/>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6-1 】</a:t>
            </a:r>
            <a:r>
              <a:rPr lang="en-US" altLang="zh-CN" sz="2200" b="1"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200" dirty="0">
                <a:latin typeface="Cambria" panose="02040503050406030204" pitchFamily="18" charset="0"/>
                <a:ea typeface="Cambria" panose="02040503050406030204" pitchFamily="18" charset="0"/>
              </a:rPr>
              <a:t>—</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在分析两个变量关系的同时，还想了解每个变量的分布形态，可以在散点图上添加每个变量分布的边际图形，如直方图、核密度图、箱线图等</a:t>
            </a:r>
            <a:endParaRPr lang="zh-CN" altLang="zh-CN" sz="2200" dirty="0">
              <a:latin typeface="Cambria" panose="02040503050406030204" pitchFamily="18" charset="0"/>
              <a:ea typeface="华文细黑" panose="02010600040101010101" pitchFamily="2" charset="-122"/>
            </a:endParaRPr>
          </a:p>
          <a:p>
            <a:pPr algn="just" defTabSz="685800" eaLnBrk="0" hangingPunct="0">
              <a:lnSpc>
                <a:spcPct val="150000"/>
              </a:lnSpc>
              <a:spcBef>
                <a:spcPct val="50000"/>
              </a:spcBef>
              <a:buClr>
                <a:srgbClr val="000099"/>
              </a:buClr>
              <a:defRPr/>
            </a:pPr>
            <a:endParaRPr lang="zh-CN" altLang="zh-CN" sz="22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7019FD0B-705F-3DDE-6070-E01F4706EBDE}"/>
              </a:ext>
            </a:extLst>
          </p:cNvPr>
          <p:cNvPicPr>
            <a:picLocks noChangeAspect="1"/>
          </p:cNvPicPr>
          <p:nvPr/>
        </p:nvPicPr>
        <p:blipFill>
          <a:blip r:embed="rId2"/>
          <a:stretch>
            <a:fillRect/>
          </a:stretch>
        </p:blipFill>
        <p:spPr>
          <a:xfrm>
            <a:off x="4982072" y="1722473"/>
            <a:ext cx="6569847" cy="4647847"/>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63C52FD7-8D47-CCB8-FF45-78F696601C5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散点图及其辅助信息</a:t>
            </a:r>
          </a:p>
        </p:txBody>
      </p:sp>
    </p:spTree>
    <p:extLst>
      <p:ext uri="{BB962C8B-B14F-4D97-AF65-F5344CB8AC3E}">
        <p14:creationId xmlns:p14="http://schemas.microsoft.com/office/powerpoint/2010/main" val="2209112922"/>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密度散点图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3688080" y="1722474"/>
            <a:ext cx="1706880" cy="463768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18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6-1</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18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高密度普通散点图和平滑后的散点图</a:t>
            </a:r>
          </a:p>
        </p:txBody>
      </p:sp>
      <p:sp>
        <p:nvSpPr>
          <p:cNvPr id="15" name="副标题 2">
            <a:extLst>
              <a:ext uri="{FF2B5EF4-FFF2-40B4-BE49-F238E27FC236}">
                <a16:creationId xmlns:a16="http://schemas.microsoft.com/office/drawing/2014/main" id="{7870E48C-C1F8-73CB-CC8B-F759EE703764}"/>
              </a:ext>
            </a:extLst>
          </p:cNvPr>
          <p:cNvSpPr>
            <a:spLocks noGrp="1"/>
          </p:cNvSpPr>
          <p:nvPr>
            <p:ph type="subTitle" idx="1"/>
          </p:nvPr>
        </p:nvSpPr>
        <p:spPr>
          <a:xfrm>
            <a:off x="808074" y="1722474"/>
            <a:ext cx="2707285" cy="4637686"/>
          </a:xfrm>
          <a:noFill/>
          <a:ln w="6350">
            <a:solidFill>
              <a:schemeClr val="bg1">
                <a:lumMod val="75000"/>
              </a:schemeClr>
            </a:solidFill>
          </a:ln>
        </p:spPr>
        <p:txBody>
          <a:bodyPr>
            <a:noAutofit/>
          </a:bodyPr>
          <a:lstStyle/>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当观测的数据量很大时，图中的数据点会有大量的重叠，很难观察数据点的分布</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使用颜色对散点图进行平滑或对点进行分箱处理，也可绘制二维密度散点图</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B087C067-EF7F-638E-7F0F-FA026BAB74F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6.2                </a:t>
            </a:r>
            <a:r>
              <a:rPr lang="zh-CN" altLang="en-US" sz="3200" b="1" dirty="0">
                <a:solidFill>
                  <a:srgbClr val="002060"/>
                </a:solidFill>
                <a:latin typeface="微软雅黑" panose="020B0503020204020204" pitchFamily="34" charset="-122"/>
                <a:ea typeface="微软雅黑" panose="020B0503020204020204" pitchFamily="34" charset="-122"/>
              </a:rPr>
              <a:t>密度散点图和分箱散点图</a:t>
            </a:r>
          </a:p>
        </p:txBody>
      </p:sp>
      <p:pic>
        <p:nvPicPr>
          <p:cNvPr id="2" name="图片 1">
            <a:extLst>
              <a:ext uri="{FF2B5EF4-FFF2-40B4-BE49-F238E27FC236}">
                <a16:creationId xmlns:a16="http://schemas.microsoft.com/office/drawing/2014/main" id="{4562229F-0E79-1D40-418E-847A0AEC66EC}"/>
              </a:ext>
            </a:extLst>
          </p:cNvPr>
          <p:cNvPicPr>
            <a:picLocks noChangeAspect="1"/>
          </p:cNvPicPr>
          <p:nvPr/>
        </p:nvPicPr>
        <p:blipFill>
          <a:blip r:embed="rId2"/>
          <a:stretch>
            <a:fillRect/>
          </a:stretch>
        </p:blipFill>
        <p:spPr>
          <a:xfrm>
            <a:off x="5567680" y="1722475"/>
            <a:ext cx="6006205" cy="4637685"/>
          </a:xfrm>
          <a:prstGeom prst="rect">
            <a:avLst/>
          </a:prstGeom>
          <a:ln w="6350">
            <a:solidFill>
              <a:schemeClr val="bg1">
                <a:lumMod val="75000"/>
              </a:schemeClr>
            </a:solidFill>
          </a:ln>
        </p:spPr>
      </p:pic>
    </p:spTree>
    <p:extLst>
      <p:ext uri="{BB962C8B-B14F-4D97-AF65-F5344CB8AC3E}">
        <p14:creationId xmlns:p14="http://schemas.microsoft.com/office/powerpoint/2010/main" val="2642129726"/>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分箱散点图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2581765" y="1661514"/>
            <a:ext cx="9030469" cy="60416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20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a:t>
            </a:r>
            <a:r>
              <a:rPr lang="zh-CN" altLang="en-US" sz="20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6-1</a:t>
            </a:r>
            <a:r>
              <a:rPr lang="en-US" altLang="zh-CN" sz="20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六边形分箱散点图和二维密度估计散点图</a:t>
            </a:r>
          </a:p>
        </p:txBody>
      </p:sp>
      <p:sp>
        <p:nvSpPr>
          <p:cNvPr id="15" name="副标题 2">
            <a:extLst>
              <a:ext uri="{FF2B5EF4-FFF2-40B4-BE49-F238E27FC236}">
                <a16:creationId xmlns:a16="http://schemas.microsoft.com/office/drawing/2014/main" id="{7870E48C-C1F8-73CB-CC8B-F759EE703764}"/>
              </a:ext>
            </a:extLst>
          </p:cNvPr>
          <p:cNvSpPr>
            <a:spLocks noGrp="1"/>
          </p:cNvSpPr>
          <p:nvPr>
            <p:ph type="subTitle" idx="1"/>
          </p:nvPr>
        </p:nvSpPr>
        <p:spPr>
          <a:xfrm>
            <a:off x="767435" y="1661514"/>
            <a:ext cx="1677128" cy="4688486"/>
          </a:xfrm>
          <a:noFill/>
          <a:ln w="6350">
            <a:solidFill>
              <a:schemeClr val="bg1">
                <a:lumMod val="75000"/>
              </a:schemeClr>
            </a:solidFill>
          </a:ln>
        </p:spPr>
        <p:txBody>
          <a:bodyPr>
            <a:noAutofit/>
          </a:bodyPr>
          <a:lstStyle/>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用箱子的数量表示点的多少，也可以绘制二维密度散点图</a:t>
            </a:r>
            <a:endPar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11607C02-A68F-7201-0C63-4C4FDC4A695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6.2                </a:t>
            </a:r>
            <a:r>
              <a:rPr lang="zh-CN" altLang="en-US" sz="3200" b="1" dirty="0">
                <a:solidFill>
                  <a:srgbClr val="002060"/>
                </a:solidFill>
                <a:latin typeface="微软雅黑" panose="020B0503020204020204" pitchFamily="34" charset="-122"/>
                <a:ea typeface="微软雅黑" panose="020B0503020204020204" pitchFamily="34" charset="-122"/>
              </a:rPr>
              <a:t>密度散点图和分箱散点图</a:t>
            </a:r>
          </a:p>
        </p:txBody>
      </p:sp>
      <p:pic>
        <p:nvPicPr>
          <p:cNvPr id="3" name="图片 2">
            <a:extLst>
              <a:ext uri="{FF2B5EF4-FFF2-40B4-BE49-F238E27FC236}">
                <a16:creationId xmlns:a16="http://schemas.microsoft.com/office/drawing/2014/main" id="{B0D49090-80BB-CABD-C355-124B0A262F4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81765" y="2372360"/>
            <a:ext cx="9030469" cy="3977639"/>
          </a:xfrm>
          <a:prstGeom prst="rect">
            <a:avLst/>
          </a:prstGeom>
          <a:noFill/>
          <a:ln w="6350">
            <a:solidFill>
              <a:schemeClr val="bg1">
                <a:lumMod val="75000"/>
              </a:schemeClr>
            </a:solidFill>
          </a:ln>
        </p:spPr>
      </p:pic>
    </p:spTree>
    <p:extLst>
      <p:ext uri="{BB962C8B-B14F-4D97-AF65-F5344CB8AC3E}">
        <p14:creationId xmlns:p14="http://schemas.microsoft.com/office/powerpoint/2010/main" val="2726378038"/>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分箱 </a:t>
            </a:r>
            <a:r>
              <a:rPr lang="en-US" altLang="zh-CN" sz="2600" b="1" dirty="0">
                <a:solidFill>
                  <a:srgbClr val="002060"/>
                </a:solidFill>
                <a:ea typeface="华文细黑" panose="02010600040101010101" pitchFamily="2" charset="-122"/>
              </a:rPr>
              <a:t>3D </a:t>
            </a:r>
            <a:r>
              <a:rPr lang="zh-CN" altLang="en-US" sz="2600" b="1" dirty="0">
                <a:solidFill>
                  <a:srgbClr val="002060"/>
                </a:solidFill>
                <a:ea typeface="华文细黑" panose="02010600040101010101" pitchFamily="2" charset="-122"/>
              </a:rPr>
              <a:t>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49436" y="1693991"/>
            <a:ext cx="10893904" cy="70086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22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a:t>
            </a:r>
            <a:r>
              <a:rPr lang="zh-CN" altLang="en-US" sz="22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6-1</a:t>
            </a:r>
            <a:r>
              <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六边形分箱</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 3D </a:t>
            </a: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散点图</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290F4593-3A28-4AB6-D82B-C7CEBD250A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6315" y="2634343"/>
            <a:ext cx="5385733" cy="3305331"/>
          </a:xfrm>
          <a:prstGeom prst="rect">
            <a:avLst/>
          </a:prstGeom>
          <a:noFill/>
          <a:ln w="6350">
            <a:solidFill>
              <a:schemeClr val="bg1">
                <a:lumMod val="75000"/>
              </a:schemeClr>
            </a:solidFill>
          </a:ln>
        </p:spPr>
      </p:pic>
      <p:pic>
        <p:nvPicPr>
          <p:cNvPr id="7" name="图片 6">
            <a:extLst>
              <a:ext uri="{FF2B5EF4-FFF2-40B4-BE49-F238E27FC236}">
                <a16:creationId xmlns:a16="http://schemas.microsoft.com/office/drawing/2014/main" id="{C1235D9F-DC52-00F6-FB55-1B1D03CC0B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57609" y="2634343"/>
            <a:ext cx="5385731" cy="3305331"/>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D9772A13-3512-2512-F116-FACD669D5DD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6.2                </a:t>
            </a:r>
            <a:r>
              <a:rPr lang="zh-CN" altLang="en-US" sz="3200" b="1" dirty="0">
                <a:solidFill>
                  <a:srgbClr val="002060"/>
                </a:solidFill>
                <a:latin typeface="微软雅黑" panose="020B0503020204020204" pitchFamily="34" charset="-122"/>
                <a:ea typeface="微软雅黑" panose="020B0503020204020204" pitchFamily="34" charset="-122"/>
              </a:rPr>
              <a:t>密度散点图和分箱散点图</a:t>
            </a:r>
          </a:p>
        </p:txBody>
      </p:sp>
    </p:spTree>
    <p:extLst>
      <p:ext uri="{BB962C8B-B14F-4D97-AF65-F5344CB8AC3E}">
        <p14:creationId xmlns:p14="http://schemas.microsoft.com/office/powerpoint/2010/main" val="1448694403"/>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分组散点图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4" y="1722474"/>
            <a:ext cx="10698126" cy="4561368"/>
          </a:xfrm>
          <a:noFill/>
          <a:ln w="6350">
            <a:solidFill>
              <a:schemeClr val="bg1">
                <a:lumMod val="75000"/>
              </a:schemeClr>
            </a:solidFill>
          </a:ln>
        </p:spPr>
        <p:txBody>
          <a:bodyPr>
            <a:noAutofit/>
          </a:bodyPr>
          <a:lstStyle/>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en-US" sz="2200" b="1" dirty="0">
                <a:latin typeface="+mn-lt"/>
                <a:ea typeface="华文细黑" panose="02010600040101010101" pitchFamily="2" charset="-122"/>
              </a:rPr>
              <a:t>分组</a:t>
            </a:r>
            <a:r>
              <a:rPr lang="zh-CN" altLang="zh-CN" sz="2200" b="1" dirty="0">
                <a:latin typeface="+mn-lt"/>
                <a:ea typeface="华文细黑" panose="02010600040101010101" pitchFamily="2" charset="-122"/>
              </a:rPr>
              <a:t>散点图</a:t>
            </a:r>
            <a:r>
              <a:rPr lang="en-US" altLang="zh-CN" sz="2200" dirty="0">
                <a:latin typeface="+mn-lt"/>
                <a:ea typeface="华文细黑" panose="02010600040101010101" pitchFamily="2" charset="-122"/>
              </a:rPr>
              <a:t>——</a:t>
            </a:r>
            <a:r>
              <a:rPr lang="zh-CN" altLang="zh-CN" sz="2200" dirty="0">
                <a:latin typeface="+mn-lt"/>
                <a:ea typeface="华文细黑" panose="02010600040101010101" pitchFamily="2" charset="-122"/>
              </a:rPr>
              <a:t>如果数值数据是在一个或多个因子（类别变量）的不同水平下获得的，即观测值是按因子水平分组的，则可以按因子水平分组绘制散点图</a:t>
            </a:r>
            <a:endParaRPr lang="en-US" altLang="zh-CN" sz="2200" dirty="0">
              <a:latin typeface="+mn-lt"/>
              <a:ea typeface="华文细黑" panose="02010600040101010101" pitchFamily="2" charset="-122"/>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200" dirty="0">
                <a:latin typeface="+mn-lt"/>
                <a:ea typeface="华文细黑" panose="02010600040101010101" pitchFamily="2" charset="-122"/>
              </a:rPr>
              <a:t>利用分组散点图可以观察按因子水平分组条件下两个数值变量的关系</a:t>
            </a: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200" dirty="0">
                <a:latin typeface="+mn-lt"/>
                <a:ea typeface="华文细黑" panose="02010600040101010101" pitchFamily="2" charset="-122"/>
              </a:rPr>
              <a:t>分组散点图有不同的绘制方式，绘制一幅图形图时，可以使用颜色、点的形状等区分不同的组别，也可以将每个组别绘制成一幅独立的散点图，然后以分面的方式组织成矩阵形式</a:t>
            </a:r>
          </a:p>
        </p:txBody>
      </p:sp>
      <p:sp>
        <p:nvSpPr>
          <p:cNvPr id="2" name="Rectangle 2">
            <a:extLst>
              <a:ext uri="{FF2B5EF4-FFF2-40B4-BE49-F238E27FC236}">
                <a16:creationId xmlns:a16="http://schemas.microsoft.com/office/drawing/2014/main" id="{55A822AD-8108-CEB7-A96A-8D33ABECE85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分组散点图</a:t>
            </a:r>
          </a:p>
        </p:txBody>
      </p:sp>
    </p:spTree>
    <p:extLst>
      <p:ext uri="{BB962C8B-B14F-4D97-AF65-F5344CB8AC3E}">
        <p14:creationId xmlns:p14="http://schemas.microsoft.com/office/powerpoint/2010/main" val="1646716107"/>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分组散点图</a:t>
            </a:r>
            <a:r>
              <a:rPr lang="en-US" altLang="zh-CN" sz="2600" b="1" dirty="0">
                <a:solidFill>
                  <a:srgbClr val="002060"/>
                </a:solidFill>
                <a:ea typeface="华文细黑" panose="02010600040101010101" pitchFamily="2" charset="-122"/>
              </a:rPr>
              <a:t>——</a:t>
            </a:r>
            <a:r>
              <a:rPr lang="zh-CN" altLang="zh-CN" sz="2600" b="1" dirty="0">
                <a:solidFill>
                  <a:srgbClr val="002060"/>
                </a:solidFill>
                <a:ea typeface="华文细黑" panose="02010600040101010101" pitchFamily="2" charset="-122"/>
              </a:rPr>
              <a:t>根据</a:t>
            </a:r>
            <a:r>
              <a:rPr lang="zh-CN" altLang="en-US" sz="2600" b="1" dirty="0">
                <a:solidFill>
                  <a:srgbClr val="002060"/>
                </a:solidFill>
                <a:ea typeface="华文细黑" panose="02010600040101010101" pitchFamily="2" charset="-122"/>
              </a:rPr>
              <a:t>点的大小、</a:t>
            </a:r>
            <a:r>
              <a:rPr lang="zh-CN" altLang="zh-CN" sz="2600" b="1" dirty="0">
                <a:solidFill>
                  <a:srgbClr val="002060"/>
                </a:solidFill>
                <a:ea typeface="华文细黑" panose="02010600040101010101" pitchFamily="2" charset="-122"/>
              </a:rPr>
              <a:t>颜色和点形分组</a:t>
            </a: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767435" y="1681833"/>
            <a:ext cx="10784485" cy="538229"/>
          </a:xfrm>
          <a:noFill/>
          <a:ln w="6350">
            <a:solidFill>
              <a:schemeClr val="bg1">
                <a:lumMod val="75000"/>
              </a:schemeClr>
            </a:solidFill>
          </a:ln>
        </p:spPr>
        <p:txBody>
          <a:bodyPr>
            <a:noAutofit/>
          </a:bodyPr>
          <a:lstStyle/>
          <a:p>
            <a:pPr algn="just" defTabSz="685800" eaLnBrk="0" hangingPunct="0">
              <a:lnSpc>
                <a:spcPct val="170000"/>
              </a:lnSpc>
              <a:spcBef>
                <a:spcPct val="50000"/>
              </a:spcBef>
              <a:buClr>
                <a:srgbClr val="000099"/>
              </a:buClr>
              <a:defRPr/>
            </a:pP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p>
          <a:p>
            <a:pPr algn="just" defTabSz="685800" eaLnBrk="0" hangingPunct="0">
              <a:lnSpc>
                <a:spcPct val="170000"/>
              </a:lnSpc>
              <a:spcBef>
                <a:spcPct val="50000"/>
              </a:spcBef>
              <a:buClr>
                <a:srgbClr val="000099"/>
              </a:buClr>
              <a:defRPr/>
            </a:pPr>
            <a:r>
              <a:rPr lang="zh-CN" altLang="zh-CN" sz="1800" dirty="0">
                <a:latin typeface="Cambria" panose="02040503050406030204" pitchFamily="18" charset="0"/>
                <a:ea typeface="华文细黑" panose="02010600040101010101" pitchFamily="2" charset="-122"/>
              </a:rPr>
              <a:t>据点的大小、形状和颜色分组</a:t>
            </a:r>
          </a:p>
        </p:txBody>
      </p:sp>
      <p:sp>
        <p:nvSpPr>
          <p:cNvPr id="2" name="Rectangle 2">
            <a:extLst>
              <a:ext uri="{FF2B5EF4-FFF2-40B4-BE49-F238E27FC236}">
                <a16:creationId xmlns:a16="http://schemas.microsoft.com/office/drawing/2014/main" id="{155E34D9-AE30-6D49-6DE6-DFB0FCDDF67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分组散点图</a:t>
            </a:r>
          </a:p>
        </p:txBody>
      </p:sp>
      <p:pic>
        <p:nvPicPr>
          <p:cNvPr id="5" name="图片 4">
            <a:extLst>
              <a:ext uri="{FF2B5EF4-FFF2-40B4-BE49-F238E27FC236}">
                <a16:creationId xmlns:a16="http://schemas.microsoft.com/office/drawing/2014/main" id="{DC7808F9-B779-AB4F-7E20-58CB9488AA89}"/>
              </a:ext>
            </a:extLst>
          </p:cNvPr>
          <p:cNvPicPr>
            <a:picLocks noChangeAspect="1"/>
          </p:cNvPicPr>
          <p:nvPr/>
        </p:nvPicPr>
        <p:blipFill>
          <a:blip r:embed="rId2"/>
          <a:stretch>
            <a:fillRect/>
          </a:stretch>
        </p:blipFill>
        <p:spPr>
          <a:xfrm>
            <a:off x="781684" y="2281023"/>
            <a:ext cx="10770235" cy="4140098"/>
          </a:xfrm>
          <a:prstGeom prst="rect">
            <a:avLst/>
          </a:prstGeom>
          <a:ln w="6350">
            <a:solidFill>
              <a:schemeClr val="bg1">
                <a:lumMod val="75000"/>
              </a:schemeClr>
            </a:solidFill>
          </a:ln>
        </p:spPr>
      </p:pic>
    </p:spTree>
    <p:extLst>
      <p:ext uri="{BB962C8B-B14F-4D97-AF65-F5344CB8AC3E}">
        <p14:creationId xmlns:p14="http://schemas.microsoft.com/office/powerpoint/2010/main" val="2862869940"/>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分组散点图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双因子交叉</a:t>
            </a:r>
            <a:r>
              <a:rPr lang="zh-CN" altLang="zh-CN" sz="2600" b="1" dirty="0">
                <a:solidFill>
                  <a:srgbClr val="002060"/>
                </a:solidFill>
                <a:ea typeface="华文细黑" panose="02010600040101010101" pitchFamily="2" charset="-122"/>
              </a:rPr>
              <a:t>分组</a:t>
            </a: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651355"/>
            <a:ext cx="3132554" cy="4779925"/>
          </a:xfrm>
          <a:noFill/>
          <a:ln w="6350">
            <a:solidFill>
              <a:schemeClr val="bg1">
                <a:lumMod val="75000"/>
              </a:schemeClr>
            </a:solidFill>
          </a:ln>
        </p:spPr>
        <p:txBody>
          <a:bodyPr>
            <a:noAutofit/>
          </a:bodyPr>
          <a:lstStyle/>
          <a:p>
            <a:pPr algn="just" defTabSz="685800" eaLnBrk="0" hangingPunct="0">
              <a:lnSpc>
                <a:spcPct val="170000"/>
              </a:lnSpc>
              <a:spcBef>
                <a:spcPct val="50000"/>
              </a:spcBef>
              <a:buClr>
                <a:srgbClr val="000099"/>
              </a:buClr>
              <a:defRPr/>
            </a:pPr>
            <a:r>
              <a:rPr lang="en-US" altLang="zh-CN"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dirty="0">
                <a:latin typeface="Cambria" panose="02040503050406030204" pitchFamily="18" charset="0"/>
                <a:ea typeface="Cambria" panose="02040503050406030204" pitchFamily="18" charset="0"/>
              </a:rPr>
              <a:t>—</a:t>
            </a:r>
            <a:r>
              <a:rPr lang="zh-CN" altLang="zh-CN" dirty="0">
                <a:latin typeface="Cambria" panose="02040503050406030204" pitchFamily="18" charset="0"/>
                <a:ea typeface="华文细黑" panose="02010600040101010101" pitchFamily="2" charset="-122"/>
              </a:rPr>
              <a:t>按股票类型和上市板块交叉分面的散点图</a:t>
            </a:r>
          </a:p>
        </p:txBody>
      </p:sp>
      <p:sp>
        <p:nvSpPr>
          <p:cNvPr id="2" name="Rectangle 2">
            <a:extLst>
              <a:ext uri="{FF2B5EF4-FFF2-40B4-BE49-F238E27FC236}">
                <a16:creationId xmlns:a16="http://schemas.microsoft.com/office/drawing/2014/main" id="{65ED60AF-0C85-06F8-5900-E9191EBE0B1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分组散点图</a:t>
            </a:r>
          </a:p>
        </p:txBody>
      </p:sp>
      <p:pic>
        <p:nvPicPr>
          <p:cNvPr id="4" name="图片 3">
            <a:extLst>
              <a:ext uri="{FF2B5EF4-FFF2-40B4-BE49-F238E27FC236}">
                <a16:creationId xmlns:a16="http://schemas.microsoft.com/office/drawing/2014/main" id="{E520960C-59B6-7A50-5F77-C8B6489E15ED}"/>
              </a:ext>
            </a:extLst>
          </p:cNvPr>
          <p:cNvPicPr>
            <a:picLocks noChangeAspect="1"/>
          </p:cNvPicPr>
          <p:nvPr/>
        </p:nvPicPr>
        <p:blipFill>
          <a:blip r:embed="rId2"/>
          <a:stretch>
            <a:fillRect/>
          </a:stretch>
        </p:blipFill>
        <p:spPr>
          <a:xfrm>
            <a:off x="4033519" y="1651355"/>
            <a:ext cx="7350406" cy="4779925"/>
          </a:xfrm>
          <a:prstGeom prst="rect">
            <a:avLst/>
          </a:prstGeom>
          <a:ln w="6350">
            <a:solidFill>
              <a:schemeClr val="bg1">
                <a:lumMod val="75000"/>
              </a:schemeClr>
            </a:solidFill>
          </a:ln>
        </p:spPr>
      </p:pic>
    </p:spTree>
    <p:extLst>
      <p:ext uri="{BB962C8B-B14F-4D97-AF65-F5344CB8AC3E}">
        <p14:creationId xmlns:p14="http://schemas.microsoft.com/office/powerpoint/2010/main" val="3968274219"/>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分组散点图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回归信息</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722474"/>
            <a:ext cx="2432965" cy="4658008"/>
          </a:xfrm>
          <a:noFill/>
          <a:ln w="6350">
            <a:solidFill>
              <a:schemeClr val="bg1">
                <a:lumMod val="75000"/>
              </a:schemeClr>
            </a:solidFill>
          </a:ln>
        </p:spPr>
        <p:txBody>
          <a:bodyPr>
            <a:noAutofit/>
          </a:bodyPr>
          <a:lstStyle/>
          <a:p>
            <a:pPr algn="just" defTabSz="685800" eaLnBrk="0" hangingPunct="0">
              <a:lnSpc>
                <a:spcPct val="170000"/>
              </a:lnSpc>
              <a:spcBef>
                <a:spcPct val="50000"/>
              </a:spcBef>
              <a:buClr>
                <a:srgbClr val="000099"/>
              </a:buClr>
              <a:defRPr/>
            </a:pPr>
            <a:r>
              <a:rPr lang="en-US" altLang="zh-CN"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dirty="0">
                <a:latin typeface="Cambria" panose="02040503050406030204" pitchFamily="18" charset="0"/>
                <a:ea typeface="Cambria" panose="02040503050406030204" pitchFamily="18" charset="0"/>
              </a:rPr>
              <a:t>—</a:t>
            </a:r>
            <a:r>
              <a:rPr lang="zh-CN" altLang="zh-CN" dirty="0">
                <a:latin typeface="Cambria" panose="02040503050406030204" pitchFamily="18" charset="0"/>
                <a:ea typeface="华文细黑" panose="02010600040101010101" pitchFamily="2" charset="-122"/>
              </a:rPr>
              <a:t>按上市板块分组的每股净资产与每股收益的散点图</a:t>
            </a:r>
            <a:r>
              <a:rPr lang="zh-CN" altLang="en-US" dirty="0">
                <a:latin typeface="Cambria" panose="02040503050406030204" pitchFamily="18" charset="0"/>
                <a:ea typeface="华文细黑" panose="02010600040101010101" pitchFamily="2" charset="-122"/>
              </a:rPr>
              <a:t>添加回归信息</a:t>
            </a:r>
            <a:endParaRPr lang="zh-CN" altLang="zh-CN" dirty="0">
              <a:latin typeface="Cambria" panose="02040503050406030204" pitchFamily="18" charset="0"/>
              <a:ea typeface="华文细黑" panose="02010600040101010101" pitchFamily="2" charset="-122"/>
            </a:endParaRPr>
          </a:p>
        </p:txBody>
      </p:sp>
      <p:sp>
        <p:nvSpPr>
          <p:cNvPr id="2" name="Rectangle 2">
            <a:extLst>
              <a:ext uri="{FF2B5EF4-FFF2-40B4-BE49-F238E27FC236}">
                <a16:creationId xmlns:a16="http://schemas.microsoft.com/office/drawing/2014/main" id="{0A74F62F-A9AE-0C3D-4201-28063E898EA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分组散点图</a:t>
            </a:r>
          </a:p>
        </p:txBody>
      </p:sp>
      <p:pic>
        <p:nvPicPr>
          <p:cNvPr id="3" name="图片 2">
            <a:extLst>
              <a:ext uri="{FF2B5EF4-FFF2-40B4-BE49-F238E27FC236}">
                <a16:creationId xmlns:a16="http://schemas.microsoft.com/office/drawing/2014/main" id="{02493069-221F-AE61-4B41-54BA2F69162A}"/>
              </a:ext>
            </a:extLst>
          </p:cNvPr>
          <p:cNvPicPr>
            <a:picLocks noChangeAspect="1"/>
          </p:cNvPicPr>
          <p:nvPr/>
        </p:nvPicPr>
        <p:blipFill>
          <a:blip r:embed="rId2"/>
          <a:stretch>
            <a:fillRect/>
          </a:stretch>
        </p:blipFill>
        <p:spPr>
          <a:xfrm>
            <a:off x="3395662" y="1722474"/>
            <a:ext cx="8237538" cy="4658008"/>
          </a:xfrm>
          <a:prstGeom prst="rect">
            <a:avLst/>
          </a:prstGeom>
          <a:ln w="6350">
            <a:solidFill>
              <a:schemeClr val="bg1">
                <a:lumMod val="75000"/>
              </a:schemeClr>
            </a:solidFill>
          </a:ln>
        </p:spPr>
      </p:pic>
    </p:spTree>
    <p:extLst>
      <p:ext uri="{BB962C8B-B14F-4D97-AF65-F5344CB8AC3E}">
        <p14:creationId xmlns:p14="http://schemas.microsoft.com/office/powerpoint/2010/main" val="2751229513"/>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分组散点图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边际图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681833"/>
            <a:ext cx="10733685" cy="503941"/>
          </a:xfrm>
          <a:noFill/>
          <a:ln w="6350">
            <a:solidFill>
              <a:schemeClr val="bg1">
                <a:lumMod val="75000"/>
              </a:schemeClr>
            </a:solidFill>
          </a:ln>
        </p:spPr>
        <p:txBody>
          <a:bodyPr>
            <a:noAutofit/>
          </a:bodyPr>
          <a:lstStyle/>
          <a:p>
            <a:pPr algn="just" defTabSz="685800" eaLnBrk="0" hangingPunct="0">
              <a:lnSpc>
                <a:spcPct val="170000"/>
              </a:lnSpc>
              <a:spcBef>
                <a:spcPct val="50000"/>
              </a:spcBef>
              <a:buClr>
                <a:srgbClr val="000099"/>
              </a:buClr>
              <a:defRPr/>
            </a:pP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sz="1800" dirty="0">
                <a:latin typeface="Cambria" panose="02040503050406030204" pitchFamily="18" charset="0"/>
                <a:ea typeface="Cambria" panose="02040503050406030204" pitchFamily="18" charset="0"/>
              </a:rPr>
              <a:t>—</a:t>
            </a:r>
            <a:r>
              <a:rPr lang="zh-CN" altLang="zh-CN" sz="1800" dirty="0">
                <a:latin typeface="Cambria" panose="02040503050406030204" pitchFamily="18" charset="0"/>
                <a:ea typeface="华文细黑" panose="02010600040101010101" pitchFamily="2" charset="-122"/>
              </a:rPr>
              <a:t>为分组散点图添加边际图</a:t>
            </a:r>
          </a:p>
        </p:txBody>
      </p:sp>
      <p:sp>
        <p:nvSpPr>
          <p:cNvPr id="2" name="Rectangle 2">
            <a:extLst>
              <a:ext uri="{FF2B5EF4-FFF2-40B4-BE49-F238E27FC236}">
                <a16:creationId xmlns:a16="http://schemas.microsoft.com/office/drawing/2014/main" id="{3FC7EFDE-64F2-969B-62C8-9F3F96B06EE3}"/>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分组散点图</a:t>
            </a:r>
          </a:p>
        </p:txBody>
      </p:sp>
      <p:pic>
        <p:nvPicPr>
          <p:cNvPr id="4" name="图片 3">
            <a:extLst>
              <a:ext uri="{FF2B5EF4-FFF2-40B4-BE49-F238E27FC236}">
                <a16:creationId xmlns:a16="http://schemas.microsoft.com/office/drawing/2014/main" id="{8AF99D91-C7C2-A69E-258D-1A148D2A46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8074" y="2250793"/>
            <a:ext cx="10733686" cy="4155342"/>
          </a:xfrm>
          <a:prstGeom prst="rect">
            <a:avLst/>
          </a:prstGeom>
          <a:noFill/>
          <a:ln w="6350">
            <a:solidFill>
              <a:schemeClr val="bg1">
                <a:lumMod val="75000"/>
              </a:schemeClr>
            </a:solidFill>
          </a:ln>
        </p:spPr>
      </p:pic>
    </p:spTree>
    <p:extLst>
      <p:ext uri="{BB962C8B-B14F-4D97-AF65-F5344CB8AC3E}">
        <p14:creationId xmlns:p14="http://schemas.microsoft.com/office/powerpoint/2010/main" val="3121006033"/>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分面散点图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边际图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808075" y="1722473"/>
            <a:ext cx="4253782" cy="4645669"/>
          </a:xfrm>
          <a:noFill/>
          <a:ln w="6350">
            <a:solidFill>
              <a:schemeClr val="bg1">
                <a:lumMod val="75000"/>
              </a:schemeClr>
            </a:solidFill>
          </a:ln>
        </p:spPr>
        <p:txBody>
          <a:bodyPr>
            <a:noAutofit/>
          </a:bodyPr>
          <a:lstStyle/>
          <a:p>
            <a:pPr algn="just" defTabSz="685800" eaLnBrk="0" hangingPunct="0">
              <a:lnSpc>
                <a:spcPct val="170000"/>
              </a:lnSpc>
              <a:spcBef>
                <a:spcPct val="50000"/>
              </a:spcBef>
              <a:buClr>
                <a:srgbClr val="000099"/>
              </a:buClr>
              <a:defRPr/>
            </a:pPr>
            <a:r>
              <a:rPr lang="en-US" altLang="zh-CN"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dirty="0">
                <a:latin typeface="Cambria" panose="02040503050406030204" pitchFamily="18" charset="0"/>
                <a:ea typeface="Cambria" panose="02040503050406030204" pitchFamily="18" charset="0"/>
              </a:rPr>
              <a:t>—</a:t>
            </a:r>
            <a:r>
              <a:rPr lang="zh-CN" altLang="zh-CN" dirty="0">
                <a:latin typeface="Cambria" panose="02040503050406030204" pitchFamily="18" charset="0"/>
                <a:ea typeface="华文细黑" panose="02010600040101010101" pitchFamily="2" charset="-122"/>
              </a:rPr>
              <a:t>为分面散点图添加边际图</a:t>
            </a:r>
          </a:p>
        </p:txBody>
      </p:sp>
      <p:pic>
        <p:nvPicPr>
          <p:cNvPr id="10" name="图片 9">
            <a:extLst>
              <a:ext uri="{FF2B5EF4-FFF2-40B4-BE49-F238E27FC236}">
                <a16:creationId xmlns:a16="http://schemas.microsoft.com/office/drawing/2014/main" id="{67576454-6C99-93B0-EA0D-3B77F7232C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90457" y="1722473"/>
            <a:ext cx="6093468" cy="4645669"/>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2496D2CB-B54E-80CE-B818-BA7CC1D224C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分组散点图</a:t>
            </a:r>
          </a:p>
        </p:txBody>
      </p:sp>
    </p:spTree>
    <p:extLst>
      <p:ext uri="{BB962C8B-B14F-4D97-AF65-F5344CB8AC3E}">
        <p14:creationId xmlns:p14="http://schemas.microsoft.com/office/powerpoint/2010/main" val="3575015732"/>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散点图矩阵</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13" name="副标题 2">
            <a:extLst>
              <a:ext uri="{FF2B5EF4-FFF2-40B4-BE49-F238E27FC236}">
                <a16:creationId xmlns:a16="http://schemas.microsoft.com/office/drawing/2014/main" id="{594C2978-0D29-4EC6-8EBB-7A5E80A4D855}"/>
              </a:ext>
            </a:extLst>
          </p:cNvPr>
          <p:cNvSpPr>
            <a:spLocks noGrp="1"/>
          </p:cNvSpPr>
          <p:nvPr>
            <p:ph type="subTitle" idx="1"/>
          </p:nvPr>
        </p:nvSpPr>
        <p:spPr>
          <a:xfrm>
            <a:off x="747114" y="1622838"/>
            <a:ext cx="5348886" cy="4767542"/>
          </a:xfrm>
          <a:noFill/>
          <a:ln w="6350">
            <a:solidFill>
              <a:schemeClr val="bg1">
                <a:lumMod val="75000"/>
              </a:schemeClr>
            </a:solidFill>
          </a:ln>
        </p:spPr>
        <p:txBody>
          <a:bodyPr>
            <a:noAutofit/>
          </a:bodyPr>
          <a:lstStyle/>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同时分析多个变量两两之间的关系</a:t>
            </a:r>
            <a:endParaRPr lang="en-US" altLang="zh-CN" sz="2200" dirty="0">
              <a:latin typeface="Cambria" panose="02040503050406030204" pitchFamily="18" charset="0"/>
              <a:ea typeface="Cambria" panose="020405030504060302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将多个变量</a:t>
            </a:r>
            <a:r>
              <a:rPr lang="zh-CN" altLang="en-US" sz="2200" kern="0" dirty="0">
                <a:effectLst/>
                <a:latin typeface="Cambria" panose="02040503050406030204" pitchFamily="18" charset="0"/>
                <a:ea typeface="华文细黑" panose="02010600040101010101" pitchFamily="2" charset="-122"/>
                <a:cs typeface="Times New Roman" panose="02020603050405020304" pitchFamily="18" charset="0"/>
              </a:rPr>
              <a:t>中任意两个变量组合</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的散点图排列成矩阵的形式，以便于观察和比较分析</a:t>
            </a:r>
            <a:endParaRPr lang="en-US" altLang="zh-CN" sz="2200" kern="0" dirty="0">
              <a:effectLst/>
              <a:latin typeface="Cambria" panose="02040503050406030204" pitchFamily="18" charset="0"/>
              <a:ea typeface="Cambria" panose="02040503050406030204" pitchFamily="18" charset="0"/>
              <a:cs typeface="Times New Roman" panose="020206030504050203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当多个数值变量按因子分类时，可以绘制按因子分组的散点图矩阵</a:t>
            </a:r>
            <a:endParaRPr lang="zh-CN" altLang="zh-CN" sz="2200" dirty="0">
              <a:latin typeface="Cambria" panose="02040503050406030204" pitchFamily="18" charset="0"/>
              <a:ea typeface="华文细黑" panose="02010600040101010101" pitchFamily="2" charset="-122"/>
            </a:endParaRPr>
          </a:p>
        </p:txBody>
      </p:sp>
      <p:sp>
        <p:nvSpPr>
          <p:cNvPr id="3" name="Rectangle 2">
            <a:extLst>
              <a:ext uri="{FF2B5EF4-FFF2-40B4-BE49-F238E27FC236}">
                <a16:creationId xmlns:a16="http://schemas.microsoft.com/office/drawing/2014/main" id="{46A7475B-4C43-7C0A-EE55-A42542EBB96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6.4               </a:t>
            </a:r>
            <a:r>
              <a:rPr lang="zh-CN" altLang="en-US" sz="3200" b="1" dirty="0">
                <a:solidFill>
                  <a:srgbClr val="002060"/>
                </a:solidFill>
                <a:latin typeface="微软雅黑" panose="020B0503020204020204" pitchFamily="34" charset="-122"/>
                <a:ea typeface="微软雅黑" panose="020B0503020204020204" pitchFamily="34" charset="-122"/>
              </a:rPr>
              <a:t>散点图矩阵和相关系数矩阵</a:t>
            </a:r>
          </a:p>
        </p:txBody>
      </p:sp>
      <p:sp>
        <p:nvSpPr>
          <p:cNvPr id="4" name="副标题 2">
            <a:extLst>
              <a:ext uri="{FF2B5EF4-FFF2-40B4-BE49-F238E27FC236}">
                <a16:creationId xmlns:a16="http://schemas.microsoft.com/office/drawing/2014/main" id="{7F081328-0A6B-AED5-6B50-9191ECE3A7C1}"/>
              </a:ext>
            </a:extLst>
          </p:cNvPr>
          <p:cNvSpPr txBox="1">
            <a:spLocks/>
          </p:cNvSpPr>
          <p:nvPr/>
        </p:nvSpPr>
        <p:spPr>
          <a:xfrm>
            <a:off x="6350000" y="1622838"/>
            <a:ext cx="5130800" cy="4767028"/>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a:t>
            </a:r>
            <a:r>
              <a:rPr lang="en-US" altLang="zh-CN" sz="2200" kern="0" dirty="0">
                <a:latin typeface="Cambria" panose="02040503050406030204" pitchFamily="18" charset="0"/>
                <a:ea typeface="Cambria" panose="02040503050406030204" pitchFamily="18" charset="0"/>
                <a:cs typeface="Times New Roman" panose="02020603050405020304" pitchFamily="18" charset="0"/>
              </a:rPr>
              <a:t>6</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个变量的散点图矩阵</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a:p>
            <a:pPr algn="just">
              <a:lnSpc>
                <a:spcPct val="150000"/>
              </a:lnSpc>
              <a:buClr>
                <a:srgbClr val="00FFFF"/>
              </a:buCl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对角线上方绘制出二维核密度图，用于展示数据分布的密度</a:t>
            </a:r>
            <a:endParaRPr lang="zh-CN" altLang="zh-CN" sz="2200" dirty="0">
              <a:latin typeface="Cambria" panose="02040503050406030204" pitchFamily="18" charset="0"/>
              <a:ea typeface="华文细黑" panose="02010600040101010101" pitchFamily="2" charset="-122"/>
            </a:endParaRPr>
          </a:p>
          <a:p>
            <a:pPr algn="just">
              <a:lnSpc>
                <a:spcPct val="150000"/>
              </a:lnSpc>
              <a:buClr>
                <a:srgbClr val="00FFFF"/>
              </a:buClr>
            </a:pPr>
            <a:endParaRPr lang="zh-CN" altLang="zh-CN" sz="2200" dirty="0">
              <a:latin typeface="Cambria" panose="02040503050406030204" pitchFamily="18" charset="0"/>
              <a:ea typeface="华文细黑" panose="02010600040101010101" pitchFamily="2" charset="-122"/>
            </a:endParaRPr>
          </a:p>
        </p:txBody>
      </p:sp>
    </p:spTree>
    <p:extLst>
      <p:ext uri="{BB962C8B-B14F-4D97-AF65-F5344CB8AC3E}">
        <p14:creationId xmlns:p14="http://schemas.microsoft.com/office/powerpoint/2010/main" val="931778763"/>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散点图矩阵</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4" name="Rectangle 2">
            <a:extLst>
              <a:ext uri="{FF2B5EF4-FFF2-40B4-BE49-F238E27FC236}">
                <a16:creationId xmlns:a16="http://schemas.microsoft.com/office/drawing/2014/main" id="{7C37274F-3857-89AF-8F8E-A4F2AE26CEE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6.4               </a:t>
            </a:r>
            <a:r>
              <a:rPr lang="zh-CN" altLang="en-US" sz="3200" b="1" dirty="0">
                <a:solidFill>
                  <a:srgbClr val="002060"/>
                </a:solidFill>
                <a:latin typeface="微软雅黑" panose="020B0503020204020204" pitchFamily="34" charset="-122"/>
                <a:ea typeface="微软雅黑" panose="020B0503020204020204" pitchFamily="34" charset="-122"/>
              </a:rPr>
              <a:t>散点图矩阵和相关系数矩阵</a:t>
            </a:r>
          </a:p>
        </p:txBody>
      </p:sp>
      <p:pic>
        <p:nvPicPr>
          <p:cNvPr id="2" name="图片 1">
            <a:extLst>
              <a:ext uri="{FF2B5EF4-FFF2-40B4-BE49-F238E27FC236}">
                <a16:creationId xmlns:a16="http://schemas.microsoft.com/office/drawing/2014/main" id="{CD5C55FF-2994-2C40-C852-807A3E434345}"/>
              </a:ext>
            </a:extLst>
          </p:cNvPr>
          <p:cNvPicPr>
            <a:picLocks noChangeAspect="1"/>
          </p:cNvPicPr>
          <p:nvPr/>
        </p:nvPicPr>
        <p:blipFill>
          <a:blip r:embed="rId2"/>
          <a:stretch>
            <a:fillRect/>
          </a:stretch>
        </p:blipFill>
        <p:spPr>
          <a:xfrm>
            <a:off x="670559" y="1651513"/>
            <a:ext cx="5352213" cy="4737235"/>
          </a:xfrm>
          <a:prstGeom prst="rect">
            <a:avLst/>
          </a:prstGeom>
          <a:noFill/>
          <a:ln w="6350">
            <a:solidFill>
              <a:schemeClr val="bg1">
                <a:lumMod val="75000"/>
              </a:schemeClr>
            </a:solidFill>
          </a:ln>
        </p:spPr>
      </p:pic>
      <p:pic>
        <p:nvPicPr>
          <p:cNvPr id="7" name="图片 6">
            <a:extLst>
              <a:ext uri="{FF2B5EF4-FFF2-40B4-BE49-F238E27FC236}">
                <a16:creationId xmlns:a16="http://schemas.microsoft.com/office/drawing/2014/main" id="{1710EC57-895B-E190-48E5-90E1DFF6A577}"/>
              </a:ext>
            </a:extLst>
          </p:cNvPr>
          <p:cNvPicPr>
            <a:picLocks noChangeAspect="1"/>
          </p:cNvPicPr>
          <p:nvPr/>
        </p:nvPicPr>
        <p:blipFill>
          <a:blip r:embed="rId3"/>
          <a:stretch>
            <a:fillRect/>
          </a:stretch>
        </p:blipFill>
        <p:spPr>
          <a:xfrm>
            <a:off x="6169229" y="1651513"/>
            <a:ext cx="5352212" cy="4737235"/>
          </a:xfrm>
          <a:prstGeom prst="rect">
            <a:avLst/>
          </a:prstGeom>
          <a:noFill/>
          <a:ln w="6350">
            <a:solidFill>
              <a:schemeClr val="bg1">
                <a:lumMod val="75000"/>
              </a:schemeClr>
            </a:solidFill>
          </a:ln>
        </p:spPr>
      </p:pic>
    </p:spTree>
    <p:extLst>
      <p:ext uri="{BB962C8B-B14F-4D97-AF65-F5344CB8AC3E}">
        <p14:creationId xmlns:p14="http://schemas.microsoft.com/office/powerpoint/2010/main" val="4115207935"/>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分组散点图矩阵</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29707" y="1696080"/>
            <a:ext cx="1160053" cy="4675923"/>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18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6-1</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18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按上市板块</a:t>
            </a:r>
            <a:r>
              <a:rPr lang="zh-CN" altLang="en-US" sz="1800" kern="0" dirty="0">
                <a:latin typeface="Cambria" panose="02040503050406030204" pitchFamily="18" charset="0"/>
                <a:ea typeface="华文细黑" panose="02010600040101010101" pitchFamily="2" charset="-122"/>
                <a:cs typeface="Times New Roman" panose="02020603050405020304" pitchFamily="18" charset="0"/>
              </a:rPr>
              <a:t>和股票类型</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分组的散点图矩阵</a:t>
            </a:r>
          </a:p>
        </p:txBody>
      </p:sp>
      <p:pic>
        <p:nvPicPr>
          <p:cNvPr id="3" name="图片 2">
            <a:extLst>
              <a:ext uri="{FF2B5EF4-FFF2-40B4-BE49-F238E27FC236}">
                <a16:creationId xmlns:a16="http://schemas.microsoft.com/office/drawing/2014/main" id="{8FAE1521-2A2C-48A8-CB55-296A1477871E}"/>
              </a:ext>
            </a:extLst>
          </p:cNvPr>
          <p:cNvPicPr>
            <a:picLocks noChangeAspect="1"/>
          </p:cNvPicPr>
          <p:nvPr/>
        </p:nvPicPr>
        <p:blipFill>
          <a:blip r:embed="rId2"/>
          <a:stretch>
            <a:fillRect/>
          </a:stretch>
        </p:blipFill>
        <p:spPr>
          <a:xfrm>
            <a:off x="1971040" y="1696080"/>
            <a:ext cx="4785592" cy="4675922"/>
          </a:xfrm>
          <a:prstGeom prst="rect">
            <a:avLst/>
          </a:prstGeom>
          <a:ln w="6350">
            <a:solidFill>
              <a:schemeClr val="bg1">
                <a:lumMod val="75000"/>
              </a:schemeClr>
            </a:solidFill>
          </a:ln>
        </p:spPr>
      </p:pic>
      <p:pic>
        <p:nvPicPr>
          <p:cNvPr id="6" name="图片 5">
            <a:extLst>
              <a:ext uri="{FF2B5EF4-FFF2-40B4-BE49-F238E27FC236}">
                <a16:creationId xmlns:a16="http://schemas.microsoft.com/office/drawing/2014/main" id="{B9204AC6-A0D6-CE90-29A7-BB3FF7F10C77}"/>
              </a:ext>
            </a:extLst>
          </p:cNvPr>
          <p:cNvPicPr>
            <a:picLocks noChangeAspect="1"/>
          </p:cNvPicPr>
          <p:nvPr/>
        </p:nvPicPr>
        <p:blipFill>
          <a:blip r:embed="rId3"/>
          <a:stretch>
            <a:fillRect/>
          </a:stretch>
        </p:blipFill>
        <p:spPr>
          <a:xfrm>
            <a:off x="6837912" y="1696080"/>
            <a:ext cx="4785213" cy="4675922"/>
          </a:xfrm>
          <a:prstGeom prst="rect">
            <a:avLst/>
          </a:prstGeom>
          <a:ln w="6350">
            <a:solidFill>
              <a:schemeClr val="bg1">
                <a:lumMod val="75000"/>
              </a:schemeClr>
            </a:solidFill>
          </a:ln>
        </p:spPr>
      </p:pic>
      <p:sp>
        <p:nvSpPr>
          <p:cNvPr id="4" name="Rectangle 2">
            <a:extLst>
              <a:ext uri="{FF2B5EF4-FFF2-40B4-BE49-F238E27FC236}">
                <a16:creationId xmlns:a16="http://schemas.microsoft.com/office/drawing/2014/main" id="{BC4851E2-941E-2005-82AD-875DC3ED41E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6.4               </a:t>
            </a:r>
            <a:r>
              <a:rPr lang="zh-CN" altLang="en-US" sz="3200" b="1" dirty="0">
                <a:solidFill>
                  <a:srgbClr val="002060"/>
                </a:solidFill>
                <a:latin typeface="微软雅黑" panose="020B0503020204020204" pitchFamily="34" charset="-122"/>
                <a:ea typeface="微软雅黑" panose="020B0503020204020204" pitchFamily="34" charset="-122"/>
              </a:rPr>
              <a:t>散点图矩阵和相关系数矩阵</a:t>
            </a:r>
          </a:p>
        </p:txBody>
      </p:sp>
    </p:spTree>
    <p:extLst>
      <p:ext uri="{BB962C8B-B14F-4D97-AF65-F5344CB8AC3E}">
        <p14:creationId xmlns:p14="http://schemas.microsoft.com/office/powerpoint/2010/main" val="577867331"/>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密度散点图矩阵</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616104" y="1709679"/>
            <a:ext cx="1373106" cy="4620577"/>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16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a:t>
            </a:r>
            <a:r>
              <a:rPr lang="zh-CN" altLang="en-US" sz="16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6-1</a:t>
            </a:r>
            <a:r>
              <a:rPr lang="en-US" altLang="zh-CN" sz="16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1600" kern="0" dirty="0">
                <a:latin typeface="Cambria" panose="02040503050406030204" pitchFamily="18" charset="0"/>
                <a:ea typeface="华文细黑" panose="02010600040101010101" pitchFamily="2" charset="-122"/>
                <a:cs typeface="Times New Roman" panose="02020603050405020304" pitchFamily="18" charset="0"/>
              </a:rPr>
              <a:t>—6</a:t>
            </a:r>
            <a:r>
              <a:rPr lang="zh-CN" altLang="zh-CN" sz="1600" kern="0" dirty="0">
                <a:latin typeface="Cambria" panose="02040503050406030204" pitchFamily="18" charset="0"/>
                <a:ea typeface="华文细黑" panose="02010600040101010101" pitchFamily="2" charset="-122"/>
                <a:cs typeface="Times New Roman" panose="02020603050405020304" pitchFamily="18" charset="0"/>
              </a:rPr>
              <a:t>个变量的</a:t>
            </a:r>
            <a:r>
              <a:rPr lang="zh-CN" altLang="en-US" sz="1600" kern="0" dirty="0">
                <a:latin typeface="Cambria" panose="02040503050406030204" pitchFamily="18" charset="0"/>
                <a:ea typeface="华文细黑" panose="02010600040101010101" pitchFamily="2" charset="-122"/>
                <a:cs typeface="Times New Roman" panose="02020603050405020304" pitchFamily="18" charset="0"/>
              </a:rPr>
              <a:t>二维密度估计</a:t>
            </a:r>
            <a:r>
              <a:rPr lang="zh-CN" altLang="zh-CN" sz="1600" kern="0" dirty="0">
                <a:latin typeface="Cambria" panose="02040503050406030204" pitchFamily="18" charset="0"/>
                <a:ea typeface="华文细黑" panose="02010600040101010101" pitchFamily="2" charset="-122"/>
                <a:cs typeface="Times New Roman" panose="02020603050405020304" pitchFamily="18" charset="0"/>
              </a:rPr>
              <a:t>散点图矩阵</a:t>
            </a:r>
            <a:endParaRPr lang="en-US" altLang="zh-CN" sz="16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B7D19719-3E68-A056-DFBA-105FA8B8A566}"/>
              </a:ext>
            </a:extLst>
          </p:cNvPr>
          <p:cNvPicPr>
            <a:picLocks noChangeAspect="1"/>
          </p:cNvPicPr>
          <p:nvPr/>
        </p:nvPicPr>
        <p:blipFill>
          <a:blip r:embed="rId2"/>
          <a:stretch>
            <a:fillRect/>
          </a:stretch>
        </p:blipFill>
        <p:spPr>
          <a:xfrm>
            <a:off x="2056959" y="1709679"/>
            <a:ext cx="4716475" cy="4620576"/>
          </a:xfrm>
          <a:prstGeom prst="rect">
            <a:avLst/>
          </a:prstGeom>
          <a:ln w="6350">
            <a:solidFill>
              <a:schemeClr val="bg1">
                <a:lumMod val="75000"/>
              </a:schemeClr>
            </a:solidFill>
          </a:ln>
        </p:spPr>
      </p:pic>
      <p:pic>
        <p:nvPicPr>
          <p:cNvPr id="7" name="图片 6">
            <a:extLst>
              <a:ext uri="{FF2B5EF4-FFF2-40B4-BE49-F238E27FC236}">
                <a16:creationId xmlns:a16="http://schemas.microsoft.com/office/drawing/2014/main" id="{657651BD-D034-8A0D-166E-92C623AAF891}"/>
              </a:ext>
            </a:extLst>
          </p:cNvPr>
          <p:cNvPicPr>
            <a:picLocks noChangeAspect="1"/>
          </p:cNvPicPr>
          <p:nvPr/>
        </p:nvPicPr>
        <p:blipFill>
          <a:blip r:embed="rId3"/>
          <a:stretch>
            <a:fillRect/>
          </a:stretch>
        </p:blipFill>
        <p:spPr>
          <a:xfrm>
            <a:off x="6934199" y="1709679"/>
            <a:ext cx="4716191" cy="4620576"/>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DA0518E0-71E4-CFC2-85D4-FFB761A598A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6.4               </a:t>
            </a:r>
            <a:r>
              <a:rPr lang="zh-CN" altLang="en-US" sz="3200" b="1" dirty="0">
                <a:solidFill>
                  <a:srgbClr val="002060"/>
                </a:solidFill>
                <a:latin typeface="微软雅黑" panose="020B0503020204020204" pitchFamily="34" charset="-122"/>
                <a:ea typeface="微软雅黑" panose="020B0503020204020204" pitchFamily="34" charset="-122"/>
              </a:rPr>
              <a:t>散点图矩阵和相关系数矩阵</a:t>
            </a:r>
          </a:p>
        </p:txBody>
      </p:sp>
    </p:spTree>
    <p:extLst>
      <p:ext uri="{BB962C8B-B14F-4D97-AF65-F5344CB8AC3E}">
        <p14:creationId xmlns:p14="http://schemas.microsoft.com/office/powerpoint/2010/main" val="2290911214"/>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相关系数矩阵</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15" name="副标题 2">
            <a:extLst>
              <a:ext uri="{FF2B5EF4-FFF2-40B4-BE49-F238E27FC236}">
                <a16:creationId xmlns:a16="http://schemas.microsoft.com/office/drawing/2014/main" id="{7870E48C-C1F8-73CB-CC8B-F759EE703764}"/>
              </a:ext>
            </a:extLst>
          </p:cNvPr>
          <p:cNvSpPr>
            <a:spLocks noGrp="1"/>
          </p:cNvSpPr>
          <p:nvPr>
            <p:ph type="subTitle" idx="1"/>
          </p:nvPr>
        </p:nvSpPr>
        <p:spPr>
          <a:xfrm>
            <a:off x="808073" y="1722474"/>
            <a:ext cx="10774327" cy="4561368"/>
          </a:xfrm>
          <a:noFill/>
          <a:ln w="6350">
            <a:solidFill>
              <a:schemeClr val="bg1">
                <a:lumMod val="75000"/>
              </a:schemeClr>
            </a:solidFill>
          </a:ln>
        </p:spPr>
        <p:txBody>
          <a:bodyPr>
            <a:noAutofit/>
          </a:bodyPr>
          <a:lstStyle/>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当变量较多时，散点图矩阵中的各散点图就会变得很小，难以识别和分析</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可以计算出变量间的相关系数矩阵并将其画成图形，这就是相关系数矩阵图</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如果在分析变量间关系时需要检验相关系数是否显著，可以在相关系数矩阵中绘制出检验的</a:t>
            </a:r>
            <a:r>
              <a:rPr lang="en-US" altLang="zh-CN" sz="2600" i="1" dirty="0">
                <a:effectLst/>
                <a:latin typeface="Cambria" panose="02040503050406030204" pitchFamily="18" charset="0"/>
                <a:ea typeface="华文细黑" panose="02010600040101010101" pitchFamily="2" charset="-122"/>
                <a:cs typeface="Times New Roman" panose="02020603050405020304" pitchFamily="18" charset="0"/>
              </a:rPr>
              <a:t>P</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值</a:t>
            </a:r>
            <a:endParaRPr lang="en-US" altLang="zh-CN" sz="2600" kern="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3E2FF10C-2FEF-5D00-C010-641F104F7D4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6.4               </a:t>
            </a:r>
            <a:r>
              <a:rPr lang="zh-CN" altLang="en-US" sz="3200" b="1" dirty="0">
                <a:solidFill>
                  <a:srgbClr val="002060"/>
                </a:solidFill>
                <a:latin typeface="微软雅黑" panose="020B0503020204020204" pitchFamily="34" charset="-122"/>
                <a:ea typeface="微软雅黑" panose="020B0503020204020204" pitchFamily="34" charset="-122"/>
              </a:rPr>
              <a:t>散点图矩阵和相关系数矩阵</a:t>
            </a:r>
          </a:p>
        </p:txBody>
      </p:sp>
    </p:spTree>
    <p:extLst>
      <p:ext uri="{BB962C8B-B14F-4D97-AF65-F5344CB8AC3E}">
        <p14:creationId xmlns:p14="http://schemas.microsoft.com/office/powerpoint/2010/main" val="3927585087"/>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相关系数矩阵</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827314" y="1741395"/>
            <a:ext cx="1143000" cy="4567963"/>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a:t>
            </a:r>
            <a:r>
              <a:rPr lang="en-US" altLang="zh-CN" sz="1800" kern="0" dirty="0">
                <a:latin typeface="Cambria" panose="02040503050406030204" pitchFamily="18" charset="0"/>
                <a:ea typeface="Cambria" panose="02040503050406030204" pitchFamily="18" charset="0"/>
                <a:cs typeface="Times New Roman" panose="02020603050405020304" pitchFamily="18" charset="0"/>
              </a:rPr>
              <a:t>—6</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个变量的相关系数矩阵</a:t>
            </a:r>
          </a:p>
        </p:txBody>
      </p:sp>
      <p:pic>
        <p:nvPicPr>
          <p:cNvPr id="3" name="图片 2">
            <a:extLst>
              <a:ext uri="{FF2B5EF4-FFF2-40B4-BE49-F238E27FC236}">
                <a16:creationId xmlns:a16="http://schemas.microsoft.com/office/drawing/2014/main" id="{3A8C38AA-C27C-1B0B-E843-F21B135C01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2714" y="1741396"/>
            <a:ext cx="9384610" cy="4567964"/>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D486B3D4-7A51-06E5-8676-42BB3670BC7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6.4               </a:t>
            </a:r>
            <a:r>
              <a:rPr lang="zh-CN" altLang="en-US" sz="3200" b="1" dirty="0">
                <a:solidFill>
                  <a:srgbClr val="002060"/>
                </a:solidFill>
                <a:latin typeface="微软雅黑" panose="020B0503020204020204" pitchFamily="34" charset="-122"/>
                <a:ea typeface="微软雅黑" panose="020B0503020204020204" pitchFamily="34" charset="-122"/>
              </a:rPr>
              <a:t>散点图矩阵和相关系数矩阵</a:t>
            </a:r>
          </a:p>
        </p:txBody>
      </p:sp>
    </p:spTree>
    <p:extLst>
      <p:ext uri="{BB962C8B-B14F-4D97-AF65-F5344CB8AC3E}">
        <p14:creationId xmlns:p14="http://schemas.microsoft.com/office/powerpoint/2010/main" val="3655542305"/>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相关系数矩阵</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96834" y="1741396"/>
            <a:ext cx="1143000" cy="4618764"/>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a:t>
            </a:r>
            <a:r>
              <a:rPr lang="en-US" altLang="zh-CN" sz="1800" kern="0" dirty="0">
                <a:latin typeface="Cambria" panose="02040503050406030204" pitchFamily="18" charset="0"/>
                <a:ea typeface="Cambria" panose="02040503050406030204" pitchFamily="18" charset="0"/>
                <a:cs typeface="Times New Roman" panose="02020603050405020304" pitchFamily="18" charset="0"/>
              </a:rPr>
              <a:t>—6</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个变量的相关系数矩阵</a:t>
            </a:r>
          </a:p>
        </p:txBody>
      </p:sp>
      <p:pic>
        <p:nvPicPr>
          <p:cNvPr id="7" name="图片 6">
            <a:extLst>
              <a:ext uri="{FF2B5EF4-FFF2-40B4-BE49-F238E27FC236}">
                <a16:creationId xmlns:a16="http://schemas.microsoft.com/office/drawing/2014/main" id="{C216E70E-42FF-AD72-D1BC-FC4AB0A5E25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72640" y="1741396"/>
            <a:ext cx="9403080" cy="4618764"/>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75E1511C-902D-3435-C57F-356C665D449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6.4               </a:t>
            </a:r>
            <a:r>
              <a:rPr lang="zh-CN" altLang="en-US" sz="3200" b="1" dirty="0">
                <a:solidFill>
                  <a:srgbClr val="002060"/>
                </a:solidFill>
                <a:latin typeface="微软雅黑" panose="020B0503020204020204" pitchFamily="34" charset="-122"/>
                <a:ea typeface="微软雅黑" panose="020B0503020204020204" pitchFamily="34" charset="-122"/>
              </a:rPr>
              <a:t>散点图矩阵和相关系数矩阵</a:t>
            </a:r>
          </a:p>
        </p:txBody>
      </p:sp>
    </p:spTree>
    <p:extLst>
      <p:ext uri="{BB962C8B-B14F-4D97-AF65-F5344CB8AC3E}">
        <p14:creationId xmlns:p14="http://schemas.microsoft.com/office/powerpoint/2010/main" val="4247177468"/>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a:t>
            </a:r>
            <a:r>
              <a:rPr lang="en-US" altLang="zh-CN" sz="2600" b="1" dirty="0">
                <a:solidFill>
                  <a:srgbClr val="002060"/>
                </a:solidFill>
                <a:ea typeface="华文细黑" panose="02010600040101010101" pitchFamily="2" charset="-122"/>
              </a:rPr>
              <a:t>3D</a:t>
            </a:r>
            <a:r>
              <a:rPr lang="zh-CN" altLang="en-US" sz="2600" b="1" dirty="0">
                <a:solidFill>
                  <a:srgbClr val="002060"/>
                </a:solidFill>
                <a:ea typeface="华文细黑" panose="02010600040101010101" pitchFamily="2" charset="-122"/>
              </a:rPr>
              <a:t> 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2958683" y="1722474"/>
            <a:ext cx="1613317" cy="463768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20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a:t>
            </a:r>
            <a:r>
              <a:rPr lang="zh-CN" altLang="en-US" sz="20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mn-lt"/>
                <a:ea typeface="华文细黑" panose="02010600040101010101" pitchFamily="2" charset="-122"/>
              </a:rPr>
              <a:t>6-1</a:t>
            </a:r>
            <a:r>
              <a:rPr lang="en-US" altLang="zh-CN" sz="20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每股收益、每股净资产、净资产收益率的</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3D</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散点图</a:t>
            </a:r>
          </a:p>
        </p:txBody>
      </p:sp>
      <p:sp>
        <p:nvSpPr>
          <p:cNvPr id="15" name="副标题 2">
            <a:extLst>
              <a:ext uri="{FF2B5EF4-FFF2-40B4-BE49-F238E27FC236}">
                <a16:creationId xmlns:a16="http://schemas.microsoft.com/office/drawing/2014/main" id="{7870E48C-C1F8-73CB-CC8B-F759EE703764}"/>
              </a:ext>
            </a:extLst>
          </p:cNvPr>
          <p:cNvSpPr>
            <a:spLocks noGrp="1"/>
          </p:cNvSpPr>
          <p:nvPr>
            <p:ph type="subTitle" idx="1"/>
          </p:nvPr>
        </p:nvSpPr>
        <p:spPr>
          <a:xfrm>
            <a:off x="808075" y="1722474"/>
            <a:ext cx="1891582" cy="4637686"/>
          </a:xfrm>
          <a:noFill/>
          <a:ln w="6350">
            <a:solidFill>
              <a:schemeClr val="bg1">
                <a:lumMod val="75000"/>
              </a:schemeClr>
            </a:solidFill>
          </a:ln>
        </p:spPr>
        <p:txBody>
          <a:bodyPr>
            <a:noAutofit/>
          </a:bodyPr>
          <a:lstStyle/>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只分析</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3</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个变量之间的关系</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defTabSz="685800" eaLnBrk="0" hangingPunct="0">
              <a:lnSpc>
                <a:spcPct val="170000"/>
              </a:lnSpc>
              <a:spcBef>
                <a:spcPct val="50000"/>
              </a:spcBef>
              <a:buClr>
                <a:srgbClr val="000099"/>
              </a:buClr>
              <a:buFont typeface="Wingdings" panose="05000000000000000000" pitchFamily="2" charset="2"/>
              <a:buChar char="l"/>
              <a:defRPr/>
            </a:pP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不推荐使用</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12" name="图片 11">
            <a:extLst>
              <a:ext uri="{FF2B5EF4-FFF2-40B4-BE49-F238E27FC236}">
                <a16:creationId xmlns:a16="http://schemas.microsoft.com/office/drawing/2014/main" id="{47F879B2-548B-E631-D0C4-3DEC595614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31026" y="1722473"/>
            <a:ext cx="6552899" cy="4637687"/>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D00F3041-D7F3-8D52-70F6-722C69829DB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散点图和气泡散点图</a:t>
            </a:r>
          </a:p>
        </p:txBody>
      </p:sp>
    </p:spTree>
    <p:extLst>
      <p:ext uri="{BB962C8B-B14F-4D97-AF65-F5344CB8AC3E}">
        <p14:creationId xmlns:p14="http://schemas.microsoft.com/office/powerpoint/2010/main" val="2999475149"/>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气泡散点图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670560" y="1722474"/>
            <a:ext cx="10964314" cy="503941"/>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zh-CN" altLang="en-US" sz="2000" b="1" kern="0">
                <a:highlight>
                  <a:srgbClr val="FFFF99"/>
                </a:highlight>
                <a:latin typeface="Cambria" panose="02040503050406030204" pitchFamily="18" charset="0"/>
                <a:ea typeface="华文细黑" panose="02010600040101010101" pitchFamily="2" charset="-122"/>
                <a:cs typeface="Times New Roman" panose="02020603050405020304" pitchFamily="18" charset="0"/>
              </a:rPr>
              <a:t>气泡图散点图</a:t>
            </a:r>
            <a:r>
              <a:rPr lang="en-US" altLang="zh-CN" sz="2000" kern="0">
                <a:latin typeface="Cambria" panose="02040503050406030204" pitchFamily="18" charset="0"/>
                <a:ea typeface="华文细黑" panose="02010600040101010101" pitchFamily="2" charset="-122"/>
                <a:cs typeface="Times New Roman" panose="02020603050405020304" pitchFamily="18" charset="0"/>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第</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3</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个变量数值的大小用气泡的大小表示</a:t>
            </a:r>
          </a:p>
        </p:txBody>
      </p:sp>
      <p:pic>
        <p:nvPicPr>
          <p:cNvPr id="4" name="图片 3">
            <a:extLst>
              <a:ext uri="{FF2B5EF4-FFF2-40B4-BE49-F238E27FC236}">
                <a16:creationId xmlns:a16="http://schemas.microsoft.com/office/drawing/2014/main" id="{0EB02420-3494-AAC0-A6F2-EB6092936C94}"/>
              </a:ext>
            </a:extLst>
          </p:cNvPr>
          <p:cNvPicPr>
            <a:picLocks noChangeAspect="1"/>
          </p:cNvPicPr>
          <p:nvPr/>
        </p:nvPicPr>
        <p:blipFill>
          <a:blip r:embed="rId2"/>
          <a:stretch>
            <a:fillRect/>
          </a:stretch>
        </p:blipFill>
        <p:spPr>
          <a:xfrm>
            <a:off x="670560" y="2319865"/>
            <a:ext cx="10964314" cy="3971925"/>
          </a:xfrm>
          <a:prstGeom prst="rect">
            <a:avLst/>
          </a:prstGeom>
          <a:ln w="6350">
            <a:solidFill>
              <a:schemeClr val="bg1">
                <a:lumMod val="75000"/>
              </a:schemeClr>
            </a:solidFill>
          </a:ln>
        </p:spPr>
      </p:pic>
      <p:sp>
        <p:nvSpPr>
          <p:cNvPr id="3" name="Rectangle 2">
            <a:extLst>
              <a:ext uri="{FF2B5EF4-FFF2-40B4-BE49-F238E27FC236}">
                <a16:creationId xmlns:a16="http://schemas.microsoft.com/office/drawing/2014/main" id="{705A1614-21E4-F4C0-3C68-A63EBD150D6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散点图和气泡散点图</a:t>
            </a:r>
          </a:p>
        </p:txBody>
      </p:sp>
    </p:spTree>
    <p:extLst>
      <p:ext uri="{BB962C8B-B14F-4D97-AF65-F5344CB8AC3E}">
        <p14:creationId xmlns:p14="http://schemas.microsoft.com/office/powerpoint/2010/main" val="1477041379"/>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气泡散点图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914704" y="1691994"/>
            <a:ext cx="10385632" cy="617955"/>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sz="20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a:t>
            </a:r>
            <a:r>
              <a:rPr lang="en-US" altLang="zh-CN" sz="2000" kern="0" dirty="0">
                <a:latin typeface="Cambria" panose="02040503050406030204" pitchFamily="18" charset="0"/>
                <a:ea typeface="Cambria" panose="02040503050406030204" pitchFamily="18" charset="0"/>
                <a:cs typeface="Times New Roman" panose="02020603050405020304" pitchFamily="18" charset="0"/>
              </a:rPr>
              <a:t>—</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第</a:t>
            </a:r>
            <a:r>
              <a:rPr lang="en-US" altLang="zh-CN" sz="2000" dirty="0">
                <a:latin typeface="Cambria" panose="02040503050406030204" pitchFamily="18" charset="0"/>
                <a:ea typeface="华文细黑" panose="02010600040101010101" pitchFamily="2" charset="-122"/>
                <a:cs typeface="Times New Roman" panose="02020603050405020304" pitchFamily="18" charset="0"/>
              </a:rPr>
              <a:t>3</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个变量</a:t>
            </a:r>
            <a:r>
              <a:rPr lang="zh-CN" altLang="en-US" sz="2000" dirty="0">
                <a:latin typeface="Cambria" panose="02040503050406030204" pitchFamily="18" charset="0"/>
                <a:ea typeface="华文细黑" panose="02010600040101010101" pitchFamily="2" charset="-122"/>
                <a:cs typeface="Times New Roman" panose="02020603050405020304" pitchFamily="18" charset="0"/>
              </a:rPr>
              <a:t>（总股本）用笑脸表示</a:t>
            </a:r>
            <a:endParaRPr lang="zh-CN" altLang="zh-CN" sz="200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25A65520-3067-21F7-DC8A-B2C03FDE85BD}"/>
              </a:ext>
            </a:extLst>
          </p:cNvPr>
          <p:cNvPicPr>
            <a:picLocks noChangeAspect="1"/>
          </p:cNvPicPr>
          <p:nvPr/>
        </p:nvPicPr>
        <p:blipFill>
          <a:blip r:embed="rId2"/>
          <a:stretch>
            <a:fillRect/>
          </a:stretch>
        </p:blipFill>
        <p:spPr>
          <a:xfrm>
            <a:off x="947057" y="2394689"/>
            <a:ext cx="10352313" cy="3955311"/>
          </a:xfrm>
          <a:prstGeom prst="rect">
            <a:avLst/>
          </a:prstGeom>
          <a:ln w="6350">
            <a:solidFill>
              <a:schemeClr val="bg1">
                <a:lumMod val="75000"/>
              </a:schemeClr>
            </a:solidFill>
          </a:ln>
        </p:spPr>
      </p:pic>
      <p:sp>
        <p:nvSpPr>
          <p:cNvPr id="3" name="Rectangle 2">
            <a:extLst>
              <a:ext uri="{FF2B5EF4-FFF2-40B4-BE49-F238E27FC236}">
                <a16:creationId xmlns:a16="http://schemas.microsoft.com/office/drawing/2014/main" id="{1B5107A0-1617-A6A6-722C-F1C361B5559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散点图和气泡散点图</a:t>
            </a:r>
          </a:p>
        </p:txBody>
      </p:sp>
    </p:spTree>
    <p:extLst>
      <p:ext uri="{BB962C8B-B14F-4D97-AF65-F5344CB8AC3E}">
        <p14:creationId xmlns:p14="http://schemas.microsoft.com/office/powerpoint/2010/main" val="283890475"/>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气泡图散点图</a:t>
            </a:r>
            <a:endParaRPr lang="zh-CN" altLang="zh-CN" sz="2600" b="1" dirty="0">
              <a:solidFill>
                <a:srgbClr val="002060"/>
              </a:solidFill>
              <a:ea typeface="华文细黑" panose="02010600040101010101" pitchFamily="2" charset="-122"/>
            </a:endParaRPr>
          </a:p>
          <a:p>
            <a:pPr marL="0" indent="0" algn="just" eaLnBrk="0" hangingPunct="0">
              <a:lnSpc>
                <a:spcPct val="100000"/>
              </a:lnSpc>
              <a:spcBef>
                <a:spcPct val="50000"/>
              </a:spcBef>
              <a:buClr>
                <a:srgbClr val="000099"/>
              </a:buClr>
              <a:buNone/>
              <a:defRPr/>
            </a:pPr>
            <a:endParaRPr lang="en-US" altLang="zh-CN" sz="2600" b="1" dirty="0">
              <a:solidFill>
                <a:srgbClr val="002060"/>
              </a:solidFill>
              <a:ea typeface="华文细黑" panose="02010600040101010101" pitchFamily="2" charset="-122"/>
            </a:endParaRPr>
          </a:p>
        </p:txBody>
      </p:sp>
      <p:sp>
        <p:nvSpPr>
          <p:cNvPr id="8" name="副标题 2">
            <a:extLst>
              <a:ext uri="{FF2B5EF4-FFF2-40B4-BE49-F238E27FC236}">
                <a16:creationId xmlns:a16="http://schemas.microsoft.com/office/drawing/2014/main" id="{73F55607-7B57-9C44-86CD-2D2004906A5D}"/>
              </a:ext>
            </a:extLst>
          </p:cNvPr>
          <p:cNvSpPr txBox="1">
            <a:spLocks/>
          </p:cNvSpPr>
          <p:nvPr/>
        </p:nvSpPr>
        <p:spPr>
          <a:xfrm>
            <a:off x="767441" y="1717040"/>
            <a:ext cx="4231279" cy="4673600"/>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buClr>
                <a:srgbClr val="00FFFF"/>
              </a:buClr>
            </a:pP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a:t>
            </a:r>
            <a:r>
              <a:rPr lang="zh-CN" altLang="en-US"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6-1</a:t>
            </a:r>
            <a:r>
              <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a:t>
            </a:r>
            <a:r>
              <a:rPr lang="en-US" altLang="zh-CN" sz="2200" kern="0" dirty="0">
                <a:latin typeface="Cambria" panose="02040503050406030204" pitchFamily="18" charset="0"/>
                <a:ea typeface="Cambria" panose="02040503050406030204" pitchFamily="18" charset="0"/>
                <a:cs typeface="Times New Roman" panose="02020603050405020304" pitchFamily="18" charset="0"/>
              </a:rPr>
              <a:t>—</a:t>
            </a:r>
            <a:r>
              <a:rPr lang="zh-CN" altLang="zh-CN" sz="2200" dirty="0">
                <a:latin typeface="Cambria" panose="02040503050406030204" pitchFamily="18" charset="0"/>
                <a:ea typeface="华文细黑" panose="02010600040101010101" pitchFamily="2" charset="-122"/>
                <a:cs typeface="Times New Roman" panose="02020603050405020304" pitchFamily="18" charset="0"/>
              </a:rPr>
              <a:t>按上市板块和股票类型分面的气泡</a:t>
            </a:r>
            <a:r>
              <a:rPr lang="zh-CN" altLang="en-US" sz="2200" dirty="0">
                <a:latin typeface="Cambria" panose="02040503050406030204" pitchFamily="18" charset="0"/>
                <a:ea typeface="华文细黑" panose="02010600040101010101" pitchFamily="2" charset="-122"/>
                <a:cs typeface="Times New Roman" panose="02020603050405020304" pitchFamily="18" charset="0"/>
              </a:rPr>
              <a:t>散点图</a:t>
            </a:r>
            <a:endParaRPr lang="zh-CN" altLang="zh-CN" sz="220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38A0BB75-547E-B4B9-5BB6-18912BF18118}"/>
              </a:ext>
            </a:extLst>
          </p:cNvPr>
          <p:cNvPicPr>
            <a:picLocks noChangeAspect="1"/>
          </p:cNvPicPr>
          <p:nvPr/>
        </p:nvPicPr>
        <p:blipFill>
          <a:blip r:embed="rId2"/>
          <a:stretch>
            <a:fillRect/>
          </a:stretch>
        </p:blipFill>
        <p:spPr>
          <a:xfrm>
            <a:off x="5191760" y="1717040"/>
            <a:ext cx="6133087" cy="4673600"/>
          </a:xfrm>
          <a:prstGeom prst="rect">
            <a:avLst/>
          </a:prstGeom>
          <a:ln w="6350">
            <a:solidFill>
              <a:schemeClr val="bg1">
                <a:lumMod val="75000"/>
              </a:schemeClr>
            </a:solidFill>
          </a:ln>
        </p:spPr>
      </p:pic>
      <p:sp>
        <p:nvSpPr>
          <p:cNvPr id="4" name="Rectangle 2">
            <a:extLst>
              <a:ext uri="{FF2B5EF4-FFF2-40B4-BE49-F238E27FC236}">
                <a16:creationId xmlns:a16="http://schemas.microsoft.com/office/drawing/2014/main" id="{EF8627A4-2753-90B5-A7E6-6AEED90B428A}"/>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6.5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latin typeface="微软雅黑" panose="020B0503020204020204" pitchFamily="34" charset="-122"/>
                <a:ea typeface="微软雅黑" panose="020B0503020204020204" pitchFamily="34" charset="-122"/>
              </a:rPr>
              <a:t>3D </a:t>
            </a:r>
            <a:r>
              <a:rPr lang="zh-CN" altLang="en-US" sz="3200" b="1" dirty="0">
                <a:solidFill>
                  <a:srgbClr val="002060"/>
                </a:solidFill>
                <a:latin typeface="微软雅黑" panose="020B0503020204020204" pitchFamily="34" charset="-122"/>
                <a:ea typeface="微软雅黑" panose="020B0503020204020204" pitchFamily="34" charset="-122"/>
              </a:rPr>
              <a:t>散点图和气泡散点图</a:t>
            </a:r>
          </a:p>
        </p:txBody>
      </p:sp>
    </p:spTree>
    <p:extLst>
      <p:ext uri="{BB962C8B-B14F-4D97-AF65-F5344CB8AC3E}">
        <p14:creationId xmlns:p14="http://schemas.microsoft.com/office/powerpoint/2010/main" val="3925703650"/>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4592320" y="1727246"/>
            <a:ext cx="6966106" cy="462339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本章介绍的图形主要用于展示数值变量之间的关系。其中，最基本的图形是散点图，适合于展示两个数值变量</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根据分析需要，可以在散点图上添加相关系数、回归模型等信息，并为散点图加上边际图，以扩展图形所提供的信息</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当数据量较大时，可以对散点图进行平滑或分箱处理当有多个数值变量时，可以绘制散点图矩阵或相关系数矩阵</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当数值数据是按因子分类时，可以绘制按因子分组的散点图。</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如果只分析</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3</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个数值变量之间的关系，虽然可以绘制</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3D</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散点图，但不推荐使用，可考虑使用气泡</a:t>
            </a:r>
            <a:r>
              <a:rPr lang="zh-CN" altLang="en-US" sz="1800" dirty="0">
                <a:latin typeface="Cambria" panose="02040503050406030204" pitchFamily="18" charset="0"/>
                <a:ea typeface="华文细黑" panose="02010600040101010101" pitchFamily="2" charset="-122"/>
                <a:cs typeface="Times New Roman" panose="02020603050405020304" pitchFamily="18" charset="0"/>
              </a:rPr>
              <a:t>散点图</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来分析</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本章小结</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E1EE561E-04BD-F4CC-6588-51802843B11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本章小结</a:t>
            </a:r>
          </a:p>
        </p:txBody>
      </p:sp>
      <p:pic>
        <p:nvPicPr>
          <p:cNvPr id="7" name="图片 6">
            <a:extLst>
              <a:ext uri="{FF2B5EF4-FFF2-40B4-BE49-F238E27FC236}">
                <a16:creationId xmlns:a16="http://schemas.microsoft.com/office/drawing/2014/main" id="{DEF610F0-BC5C-BFBB-608F-C32C6B949B6D}"/>
              </a:ext>
            </a:extLst>
          </p:cNvPr>
          <p:cNvPicPr>
            <a:picLocks noChangeAspect="1"/>
          </p:cNvPicPr>
          <p:nvPr/>
        </p:nvPicPr>
        <p:blipFill>
          <a:blip r:embed="rId2"/>
          <a:stretch>
            <a:fillRect/>
          </a:stretch>
        </p:blipFill>
        <p:spPr>
          <a:xfrm>
            <a:off x="152400" y="1809369"/>
            <a:ext cx="4642026" cy="4623398"/>
          </a:xfrm>
          <a:prstGeom prst="rect">
            <a:avLst/>
          </a:prstGeom>
        </p:spPr>
      </p:pic>
    </p:spTree>
    <p:extLst>
      <p:ext uri="{BB962C8B-B14F-4D97-AF65-F5344CB8AC3E}">
        <p14:creationId xmlns:p14="http://schemas.microsoft.com/office/powerpoint/2010/main" val="2479851643"/>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207568" y="342581"/>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7" name="Rectangle 2"/>
          <p:cNvSpPr>
            <a:spLocks noChangeArrowheads="1"/>
          </p:cNvSpPr>
          <p:nvPr/>
        </p:nvSpPr>
        <p:spPr bwMode="auto">
          <a:xfrm>
            <a:off x="6816080" y="5445224"/>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pic>
        <p:nvPicPr>
          <p:cNvPr id="2" name="图片 1"/>
          <p:cNvPicPr>
            <a:picLocks noChangeAspect="1"/>
          </p:cNvPicPr>
          <p:nvPr/>
        </p:nvPicPr>
        <p:blipFill>
          <a:blip r:embed="rId3"/>
          <a:stretch>
            <a:fillRect/>
          </a:stretch>
        </p:blipFill>
        <p:spPr>
          <a:xfrm>
            <a:off x="-9746" y="1"/>
            <a:ext cx="12201746" cy="6855722"/>
          </a:xfrm>
          <a:prstGeom prst="rect">
            <a:avLst/>
          </a:prstGeom>
        </p:spPr>
      </p:pic>
      <p:sp>
        <p:nvSpPr>
          <p:cNvPr id="5" name="Rectangle 2">
            <a:extLst>
              <a:ext uri="{FF2B5EF4-FFF2-40B4-BE49-F238E27FC236}">
                <a16:creationId xmlns:a16="http://schemas.microsoft.com/office/drawing/2014/main" id="{A2942906-8373-4413-B144-2030B3A6C93F}"/>
              </a:ext>
            </a:extLst>
          </p:cNvPr>
          <p:cNvSpPr>
            <a:spLocks noChangeArrowheads="1"/>
          </p:cNvSpPr>
          <p:nvPr/>
        </p:nvSpPr>
        <p:spPr bwMode="auto">
          <a:xfrm>
            <a:off x="162573" y="95692"/>
            <a:ext cx="2880320" cy="98442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6" name="Rectangle 2">
            <a:extLst>
              <a:ext uri="{FF2B5EF4-FFF2-40B4-BE49-F238E27FC236}">
                <a16:creationId xmlns:a16="http://schemas.microsoft.com/office/drawing/2014/main" id="{DBEC17C8-105C-4971-8A37-00C8F14BF111}"/>
              </a:ext>
            </a:extLst>
          </p:cNvPr>
          <p:cNvSpPr>
            <a:spLocks noChangeArrowheads="1"/>
          </p:cNvSpPr>
          <p:nvPr/>
        </p:nvSpPr>
        <p:spPr bwMode="auto">
          <a:xfrm>
            <a:off x="9226126" y="5922334"/>
            <a:ext cx="2880320" cy="77617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sp>
        <p:nvSpPr>
          <p:cNvPr id="3" name="日期占位符 2">
            <a:extLst>
              <a:ext uri="{FF2B5EF4-FFF2-40B4-BE49-F238E27FC236}">
                <a16:creationId xmlns:a16="http://schemas.microsoft.com/office/drawing/2014/main" id="{34AD9863-2B28-44BA-874F-29D5736D3EFF}"/>
              </a:ext>
            </a:extLst>
          </p:cNvPr>
          <p:cNvSpPr>
            <a:spLocks noGrp="1"/>
          </p:cNvSpPr>
          <p:nvPr>
            <p:ph type="dt" sz="half" idx="10"/>
          </p:nvPr>
        </p:nvSpPr>
        <p:spPr/>
        <p:txBody>
          <a:bodyPr/>
          <a:lstStyle/>
          <a:p>
            <a:fld id="{2556876A-C894-4608-9B10-33028376C2E0}" type="datetime1">
              <a:rPr lang="zh-CN" altLang="en-US" smtClean="0"/>
              <a:t>2025/11/10</a:t>
            </a:fld>
            <a:endParaRPr lang="zh-CN" altLang="en-US"/>
          </a:p>
        </p:txBody>
      </p:sp>
    </p:spTree>
    <p:extLst>
      <p:ext uri="{BB962C8B-B14F-4D97-AF65-F5344CB8AC3E}">
        <p14:creationId xmlns:p14="http://schemas.microsoft.com/office/powerpoint/2010/main" val="212415559"/>
      </p:ext>
    </p:extLst>
  </p:cSld>
  <p:clrMapOvr>
    <a:masterClrMapping/>
  </p:clrMapOvr>
  <p:transition>
    <p:wipe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3595</TotalTime>
  <Words>1599</Words>
  <Application>Microsoft Office PowerPoint</Application>
  <PresentationFormat>宽屏</PresentationFormat>
  <Paragraphs>221</Paragraphs>
  <Slides>34</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50" baseType="lpstr">
      <vt:lpstr>等线</vt:lpstr>
      <vt:lpstr>等线 Light</vt:lpstr>
      <vt:lpstr>华文琥珀</vt:lpstr>
      <vt:lpstr>华文细黑</vt:lpstr>
      <vt:lpstr>华文行楷</vt:lpstr>
      <vt:lpstr>微软雅黑</vt:lpstr>
      <vt:lpstr>Arial</vt:lpstr>
      <vt:lpstr>Arial Black</vt:lpstr>
      <vt:lpstr>Cambria</vt:lpstr>
      <vt:lpstr>Cambria Math</vt:lpstr>
      <vt:lpstr>Franklin Gothic Book</vt:lpstr>
      <vt:lpstr>Script MT Bold</vt:lpstr>
      <vt:lpstr>Times New Roman</vt:lpstr>
      <vt:lpstr>Wingdings</vt:lpstr>
      <vt:lpstr>Office 主题​​</vt:lpstr>
      <vt:lpstr>Bitmap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jiajp99@126.com</dc:creator>
  <cp:lastModifiedBy>俊平 贾</cp:lastModifiedBy>
  <cp:revision>392</cp:revision>
  <dcterms:created xsi:type="dcterms:W3CDTF">2020-11-21T11:10:03Z</dcterms:created>
  <dcterms:modified xsi:type="dcterms:W3CDTF">2025-11-10T08:00:04Z</dcterms:modified>
</cp:coreProperties>
</file>