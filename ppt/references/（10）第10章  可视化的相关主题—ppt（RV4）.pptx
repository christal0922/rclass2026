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1470" r:id="rId2"/>
    <p:sldId id="761" r:id="rId3"/>
    <p:sldId id="1421" r:id="rId4"/>
    <p:sldId id="1460" r:id="rId5"/>
    <p:sldId id="1463" r:id="rId6"/>
    <p:sldId id="1534" r:id="rId7"/>
    <p:sldId id="1461" r:id="rId8"/>
    <p:sldId id="1462" r:id="rId9"/>
    <p:sldId id="1465" r:id="rId10"/>
    <p:sldId id="1467" r:id="rId11"/>
    <p:sldId id="1464" r:id="rId12"/>
    <p:sldId id="1479" r:id="rId13"/>
    <p:sldId id="1468" r:id="rId14"/>
    <p:sldId id="1472" r:id="rId15"/>
    <p:sldId id="1480" r:id="rId16"/>
    <p:sldId id="1469" r:id="rId17"/>
    <p:sldId id="1474" r:id="rId18"/>
    <p:sldId id="1475" r:id="rId19"/>
    <p:sldId id="1473" r:id="rId20"/>
    <p:sldId id="1476" r:id="rId21"/>
    <p:sldId id="1532" r:id="rId22"/>
    <p:sldId id="1533" r:id="rId23"/>
    <p:sldId id="1478" r:id="rId24"/>
    <p:sldId id="1530" r:id="rId25"/>
    <p:sldId id="90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99"/>
    <a:srgbClr val="00FFFF"/>
    <a:srgbClr val="0033CC"/>
    <a:srgbClr val="FFFF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26" autoAdjust="0"/>
  </p:normalViewPr>
  <p:slideViewPr>
    <p:cSldViewPr snapToGrid="0">
      <p:cViewPr varScale="1">
        <p:scale>
          <a:sx n="63" d="100"/>
          <a:sy n="63" d="100"/>
        </p:scale>
        <p:origin x="544" y="4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848AFF1-63F4-2562-9611-98251B07A7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AB77F4F-6A80-62B9-1331-7C42A1AB8E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2E6285-02A9-4401-9EB7-DE0A896794B6}" type="datetimeFigureOut">
              <a:rPr lang="zh-CN" altLang="en-US" smtClean="0"/>
              <a:t>2025/9/7</a:t>
            </a:fld>
            <a:endParaRPr lang="zh-CN" altLang="en-US"/>
          </a:p>
        </p:txBody>
      </p:sp>
      <p:sp>
        <p:nvSpPr>
          <p:cNvPr id="4" name="页脚占位符 3">
            <a:extLst>
              <a:ext uri="{FF2B5EF4-FFF2-40B4-BE49-F238E27FC236}">
                <a16:creationId xmlns:a16="http://schemas.microsoft.com/office/drawing/2014/main" id="{01D0B1D9-561B-6BB4-3962-EFB16EBEBC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0770330-2C74-ED28-E00D-681ED97DEB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880A66-9B68-452B-B94E-7E2BC12AA50F}" type="slidenum">
              <a:rPr lang="zh-CN" altLang="en-US" smtClean="0"/>
              <a:t>‹#›</a:t>
            </a:fld>
            <a:endParaRPr lang="zh-CN" altLang="en-US"/>
          </a:p>
        </p:txBody>
      </p:sp>
    </p:spTree>
    <p:extLst>
      <p:ext uri="{BB962C8B-B14F-4D97-AF65-F5344CB8AC3E}">
        <p14:creationId xmlns:p14="http://schemas.microsoft.com/office/powerpoint/2010/main" val="8298271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a:t>
            </a:fld>
            <a:endParaRPr lang="zh-CN" altLang="en-US"/>
          </a:p>
        </p:txBody>
      </p:sp>
    </p:spTree>
    <p:extLst>
      <p:ext uri="{BB962C8B-B14F-4D97-AF65-F5344CB8AC3E}">
        <p14:creationId xmlns:p14="http://schemas.microsoft.com/office/powerpoint/2010/main" val="1277675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25</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dirty="0"/>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4198178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2025/9/7</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2025/9/7</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2025/9/7</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2025/9/7</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2025/9/7</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2025/9/7</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2025/9/7</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2025/9/7</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2025/9/7</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2025/9/7</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A77F7A2-1BC1-B181-A44C-08841FFDA14B}"/>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10 </a:t>
            </a:r>
            <a:r>
              <a:rPr lang="zh-CN" altLang="en-US" sz="2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可视化的相关主题</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2" name="副标题 2">
            <a:extLst>
              <a:ext uri="{FF2B5EF4-FFF2-40B4-BE49-F238E27FC236}">
                <a16:creationId xmlns:a16="http://schemas.microsoft.com/office/drawing/2014/main" id="{B5768196-4FCE-E7AD-F6C5-4C7731A2E33E}"/>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2025/9/7</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id="{13537854-5193-9899-68E5-921118C6E306}"/>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18C1007A-A8CB-AAC2-7E27-8B27B283FD9F}"/>
              </a:ext>
            </a:extLst>
          </p:cNvPr>
          <p:cNvPicPr>
            <a:picLocks noChangeAspect="1"/>
          </p:cNvPicPr>
          <p:nvPr userDrawn="1"/>
        </p:nvPicPr>
        <p:blipFill>
          <a:blip r:embed="rId13"/>
          <a:stretch>
            <a:fillRect/>
          </a:stretch>
        </p:blipFill>
        <p:spPr>
          <a:xfrm>
            <a:off x="10899534" y="-6107"/>
            <a:ext cx="1286999" cy="1017623"/>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2025/9/7</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2025/9/7</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3"/>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197428" y="2723504"/>
            <a:ext cx="4507523" cy="3179136"/>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10.1</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图形元素</a:t>
            </a: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10.2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图形比例</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10.3</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图形配色</a:t>
            </a: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10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可视化的相关主题</a:t>
            </a:r>
            <a:r>
              <a:rPr lang="en-US" altLang="zh-CN" sz="4000" b="1" spc="1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圆角矩形 4">
            <a:extLst>
              <a:ext uri="{FF2B5EF4-FFF2-40B4-BE49-F238E27FC236}">
                <a16:creationId xmlns:a16="http://schemas.microsoft.com/office/drawing/2014/main" id="{E1B2BC55-74FA-448D-BAB7-565368005A62}"/>
              </a:ext>
            </a:extLst>
          </p:cNvPr>
          <p:cNvSpPr/>
          <p:nvPr/>
        </p:nvSpPr>
        <p:spPr>
          <a:xfrm>
            <a:off x="5856514" y="2711297"/>
            <a:ext cx="5399314" cy="3179136"/>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10.4   3D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图形</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10.5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数据变换</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10.6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图形格式和图形导出</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2B17049-8AD7-8EF5-76B2-3D015D036668}"/>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3" name="Rectangle 3">
            <a:extLst>
              <a:ext uri="{FF2B5EF4-FFF2-40B4-BE49-F238E27FC236}">
                <a16:creationId xmlns:a16="http://schemas.microsoft.com/office/drawing/2014/main" id="{3052970B-6DF4-61A6-1C93-349846CBE17E}"/>
              </a:ext>
            </a:extLst>
          </p:cNvPr>
          <p:cNvSpPr txBox="1">
            <a:spLocks noChangeArrowheads="1"/>
          </p:cNvSpPr>
          <p:nvPr/>
        </p:nvSpPr>
        <p:spPr>
          <a:xfrm>
            <a:off x="762000" y="1677093"/>
            <a:ext cx="10765971" cy="464671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latin typeface="Cambria" panose="02040503050406030204" pitchFamily="18" charset="0"/>
                <a:ea typeface="华文细黑" panose="02010600040101010101" pitchFamily="2" charset="-122"/>
                <a:cs typeface="Times New Roman" panose="02020603050405020304" pitchFamily="18" charset="0"/>
              </a:rPr>
              <a:t>用最小的空间提供最多的信息是可视化的基本要求</a:t>
            </a:r>
            <a:endParaRPr lang="en-US" altLang="zh-CN" sz="26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2600" dirty="0">
                <a:latin typeface="Cambria" panose="02040503050406030204" pitchFamily="18" charset="0"/>
                <a:ea typeface="华文细黑" panose="02010600040101010101" pitchFamily="2" charset="-122"/>
                <a:cs typeface="Times New Roman" panose="02020603050405020304" pitchFamily="18" charset="0"/>
              </a:rPr>
              <a:t>合理</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使用</a:t>
            </a:r>
            <a:r>
              <a:rPr lang="zh-CN" altLang="en-US" sz="2600" dirty="0">
                <a:effectLst/>
                <a:latin typeface="Cambria" panose="02040503050406030204" pitchFamily="18" charset="0"/>
                <a:ea typeface="华文细黑" panose="02010600040101010101" pitchFamily="2" charset="-122"/>
                <a:cs typeface="Times New Roman" panose="02020603050405020304" pitchFamily="18" charset="0"/>
              </a:rPr>
              <a:t>图表，避免</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造成别人对数据的疑惑和误解</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图形应尽可能简洁合理，以能够清晰地展示数据、合理地表达分析目的为依据</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规范使用图形，既要追求美观，也应避免不必要的修饰</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5" name="Rectangle 2">
            <a:extLst>
              <a:ext uri="{FF2B5EF4-FFF2-40B4-BE49-F238E27FC236}">
                <a16:creationId xmlns:a16="http://schemas.microsoft.com/office/drawing/2014/main" id="{06B67124-2473-B030-C297-A94669CF8FF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Tree>
    <p:extLst>
      <p:ext uri="{BB962C8B-B14F-4D97-AF65-F5344CB8AC3E}">
        <p14:creationId xmlns:p14="http://schemas.microsoft.com/office/powerpoint/2010/main" val="3440715431"/>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图形元素</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4" y="1722474"/>
            <a:ext cx="10685721" cy="466816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图形元素是指组成图形的各个要素，也就是图形的组件，比如坐标轴、图中的点或线、标题等</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图形元素可以粗略地分为表示数据的元素和不表示数据的元素</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900113" lvl="1" indent="-442913" algn="just" defTabSz="685800" eaLnBrk="0" hangingPunct="0">
              <a:lnSpc>
                <a:spcPct val="150000"/>
              </a:lnSpc>
              <a:spcBef>
                <a:spcPct val="50000"/>
              </a:spcBef>
              <a:buClr>
                <a:schemeClr val="accent2"/>
              </a:buClr>
              <a:buFont typeface="Wingdings" panose="05000000000000000000" pitchFamily="2" charset="2"/>
              <a:buChar char="Ø"/>
              <a:defRPr/>
            </a:pPr>
            <a:r>
              <a:rPr lang="zh-CN" altLang="zh-CN" sz="18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表示数据的元素</a:t>
            </a:r>
            <a:r>
              <a:rPr lang="zh-CN" altLang="en-US" sz="1800"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图中用于展示数据的组件，比如，条形图中用于表示类别频数的条、散点图中的点、折线图中的线等，这些元素主要用于表达数据所提供的信息，也是图形的主体部分，这里称之为主体信息</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900113" lvl="1" indent="-442913" algn="just" defTabSz="685800" eaLnBrk="0" hangingPunct="0">
              <a:lnSpc>
                <a:spcPct val="150000"/>
              </a:lnSpc>
              <a:spcBef>
                <a:spcPct val="50000"/>
              </a:spcBef>
              <a:buClr>
                <a:schemeClr val="accent2"/>
              </a:buClr>
              <a:buFont typeface="Wingdings" panose="05000000000000000000" pitchFamily="2" charset="2"/>
              <a:buChar char="Ø"/>
              <a:defRPr/>
            </a:pPr>
            <a:r>
              <a:rPr lang="zh-CN" altLang="en-US" sz="1800"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不</a:t>
            </a:r>
            <a:r>
              <a:rPr lang="zh-CN" altLang="zh-CN" sz="1800"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表示数据的元素</a:t>
            </a:r>
            <a:r>
              <a:rPr lang="zh-CN" altLang="en-US" sz="1800"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包括图形的坐标轴、坐标轴刻度和标签、坐标轴标题（标签）、图例、图形标题、图形注释等，这些元素主要提供人们理解图形的一些其他信息，这里称之为辅助信息</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图形是形对独立的一种信息载体，即使不看上下文，只看图形也应该能大概看懂其中的信息，因此必要的辅助信息也是不可或缺的</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C0D70110-D905-60FD-7741-B4407922849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图形元素</a:t>
            </a:r>
          </a:p>
        </p:txBody>
      </p:sp>
    </p:spTree>
    <p:extLst>
      <p:ext uri="{BB962C8B-B14F-4D97-AF65-F5344CB8AC3E}">
        <p14:creationId xmlns:p14="http://schemas.microsoft.com/office/powerpoint/2010/main" val="1204606979"/>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坐标系</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4" y="1722474"/>
            <a:ext cx="10685721" cy="463768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数据可视化实际上是将数据映射到空间上的位置，这个空间就是</a:t>
            </a:r>
            <a:r>
              <a:rPr lang="zh-CN" altLang="zh-CN" sz="2200" b="1" dirty="0">
                <a:effectLst/>
                <a:highlight>
                  <a:srgbClr val="FFFF99"/>
                </a:highlight>
                <a:latin typeface="Cambria" panose="02040503050406030204" pitchFamily="18" charset="0"/>
                <a:ea typeface="华文细黑" panose="02010600040101010101" pitchFamily="2" charset="-122"/>
              </a:rPr>
              <a:t>坐标系</a:t>
            </a:r>
            <a:r>
              <a:rPr lang="en-US" altLang="zh-CN" sz="2200" dirty="0">
                <a:effectLst/>
                <a:latin typeface="Cambria" panose="02040503050406030204" pitchFamily="18" charset="0"/>
                <a:ea typeface="华文细黑" panose="02010600040101010101" pitchFamily="2" charset="-122"/>
              </a:rPr>
              <a:t>(coordinate system)</a:t>
            </a:r>
            <a:r>
              <a:rPr lang="zh-CN" altLang="zh-CN" sz="2200" dirty="0">
                <a:effectLst/>
                <a:latin typeface="Cambria" panose="02040503050406030204" pitchFamily="18" charset="0"/>
                <a:ea typeface="华文细黑" panose="02010600040101010101" pitchFamily="2" charset="-122"/>
              </a:rPr>
              <a:t>，它是一组位置坐标及其几何布局的组合</a:t>
            </a:r>
            <a:endParaRPr lang="en-US" altLang="zh-CN" sz="22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坐标轴可以是由几个互相垂直的向量构成的空间，比如由</a:t>
            </a:r>
            <a:r>
              <a:rPr lang="en-US" altLang="zh-CN" sz="2200" dirty="0">
                <a:effectLst/>
                <a:latin typeface="Cambria" panose="02040503050406030204" pitchFamily="18" charset="0"/>
                <a:ea typeface="华文细黑" panose="02010600040101010101" pitchFamily="2" charset="-122"/>
              </a:rPr>
              <a:t> x</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y </a:t>
            </a:r>
            <a:r>
              <a:rPr lang="zh-CN" altLang="zh-CN" sz="2200" dirty="0">
                <a:effectLst/>
                <a:latin typeface="Cambria" panose="02040503050406030204" pitchFamily="18" charset="0"/>
                <a:ea typeface="华文细黑" panose="02010600040101010101" pitchFamily="2" charset="-122"/>
              </a:rPr>
              <a:t>两个向量构成的二维（</a:t>
            </a:r>
            <a:r>
              <a:rPr lang="en-US" altLang="zh-CN" sz="2200" dirty="0">
                <a:effectLst/>
                <a:latin typeface="Cambria" panose="02040503050406030204" pitchFamily="18" charset="0"/>
                <a:ea typeface="华文细黑" panose="02010600040101010101" pitchFamily="2" charset="-122"/>
              </a:rPr>
              <a:t>two dimension</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2D</a:t>
            </a:r>
            <a:r>
              <a:rPr lang="zh-CN" altLang="zh-CN" sz="2200" dirty="0">
                <a:effectLst/>
                <a:latin typeface="Cambria" panose="02040503050406030204" pitchFamily="18" charset="0"/>
                <a:ea typeface="华文细黑" panose="02010600040101010101" pitchFamily="2" charset="-122"/>
              </a:rPr>
              <a:t>）直角坐标系，由</a:t>
            </a:r>
            <a:r>
              <a:rPr lang="en-US" altLang="zh-CN" sz="2200" dirty="0">
                <a:effectLst/>
                <a:latin typeface="Cambria" panose="02040503050406030204" pitchFamily="18" charset="0"/>
                <a:ea typeface="华文细黑" panose="02010600040101010101" pitchFamily="2" charset="-122"/>
              </a:rPr>
              <a:t> x</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y </a:t>
            </a:r>
            <a:r>
              <a:rPr lang="zh-CN" altLang="zh-CN" sz="2200" dirty="0">
                <a:effectLst/>
                <a:latin typeface="Cambria" panose="02040503050406030204" pitchFamily="18" charset="0"/>
                <a:ea typeface="华文细黑" panose="02010600040101010101" pitchFamily="2" charset="-122"/>
              </a:rPr>
              <a:t>和</a:t>
            </a:r>
            <a:r>
              <a:rPr lang="en-US" altLang="zh-CN" sz="2200" dirty="0">
                <a:effectLst/>
                <a:latin typeface="Cambria" panose="02040503050406030204" pitchFamily="18" charset="0"/>
                <a:ea typeface="华文细黑" panose="02010600040101010101" pitchFamily="2" charset="-122"/>
              </a:rPr>
              <a:t>z</a:t>
            </a:r>
            <a:r>
              <a:rPr lang="zh-CN" altLang="zh-CN" sz="2200" dirty="0">
                <a:effectLst/>
                <a:latin typeface="Cambria" panose="02040503050406030204" pitchFamily="18" charset="0"/>
                <a:ea typeface="华文细黑" panose="02010600040101010101" pitchFamily="2" charset="-122"/>
              </a:rPr>
              <a:t>三个向量构成的三维（</a:t>
            </a:r>
            <a:r>
              <a:rPr lang="en-US" altLang="zh-CN" sz="2200" dirty="0">
                <a:effectLst/>
                <a:latin typeface="Cambria" panose="02040503050406030204" pitchFamily="18" charset="0"/>
                <a:ea typeface="华文细黑" panose="02010600040101010101" pitchFamily="2" charset="-122"/>
              </a:rPr>
              <a:t>three-dimension</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3D</a:t>
            </a:r>
            <a:r>
              <a:rPr lang="zh-CN" altLang="zh-CN" sz="2200" dirty="0">
                <a:effectLst/>
                <a:latin typeface="Cambria" panose="02040503050406030204" pitchFamily="18" charset="0"/>
                <a:ea typeface="华文细黑" panose="02010600040101010101" pitchFamily="2" charset="-122"/>
              </a:rPr>
              <a:t>）坐标系等</a:t>
            </a:r>
            <a:endParaRPr lang="en-US" altLang="zh-CN" sz="2200" dirty="0">
              <a:latin typeface="Times New Roman" panose="02020603050405020304" pitchFamily="18" charset="0"/>
              <a:ea typeface="宋体" panose="0201060003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可视化中常用的有</a:t>
            </a:r>
            <a:r>
              <a:rPr lang="zh-CN" altLang="zh-CN" sz="2200" b="1" dirty="0">
                <a:effectLst/>
                <a:highlight>
                  <a:srgbClr val="FFFF99"/>
                </a:highlight>
                <a:latin typeface="Cambria" panose="02040503050406030204" pitchFamily="18" charset="0"/>
                <a:ea typeface="华文细黑" panose="02010600040101010101" pitchFamily="2" charset="-122"/>
              </a:rPr>
              <a:t>直角坐标系</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rectangular coordinates</a:t>
            </a:r>
            <a:r>
              <a:rPr lang="zh-CN" altLang="zh-CN" sz="2200" dirty="0">
                <a:effectLst/>
                <a:latin typeface="Cambria" panose="02040503050406030204" pitchFamily="18" charset="0"/>
                <a:ea typeface="华文细黑" panose="02010600040101010101" pitchFamily="2" charset="-122"/>
              </a:rPr>
              <a:t>），也称笛卡尔坐标系（</a:t>
            </a:r>
            <a:r>
              <a:rPr lang="en-US" altLang="zh-CN" sz="2200" dirty="0">
                <a:effectLst/>
                <a:latin typeface="Cambria" panose="02040503050406030204" pitchFamily="18" charset="0"/>
                <a:ea typeface="华文细黑" panose="02010600040101010101" pitchFamily="2" charset="-122"/>
              </a:rPr>
              <a:t>Cartesian coordinate system</a:t>
            </a:r>
            <a:r>
              <a:rPr lang="zh-CN" altLang="zh-CN" sz="2200" dirty="0">
                <a:effectLst/>
                <a:latin typeface="Cambria" panose="02040503050406030204" pitchFamily="18" charset="0"/>
                <a:ea typeface="华文细黑" panose="02010600040101010101" pitchFamily="2" charset="-122"/>
              </a:rPr>
              <a:t>）、</a:t>
            </a:r>
            <a:r>
              <a:rPr lang="zh-CN" altLang="zh-CN" sz="2200" b="1" dirty="0">
                <a:effectLst/>
                <a:highlight>
                  <a:srgbClr val="FFFF99"/>
                </a:highlight>
                <a:latin typeface="Cambria" panose="02040503050406030204" pitchFamily="18" charset="0"/>
                <a:ea typeface="华文细黑" panose="02010600040101010101" pitchFamily="2" charset="-122"/>
              </a:rPr>
              <a:t>极坐标系</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polar coordinates</a:t>
            </a:r>
            <a:r>
              <a:rPr lang="zh-CN" altLang="zh-CN" sz="2200" dirty="0">
                <a:effectLst/>
                <a:latin typeface="Cambria" panose="02040503050406030204" pitchFamily="18" charset="0"/>
                <a:ea typeface="华文细黑" panose="02010600040101010101" pitchFamily="2" charset="-122"/>
              </a:rPr>
              <a:t>）等</a:t>
            </a:r>
            <a:endParaRPr lang="en-US" altLang="zh-CN" sz="22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2200" dirty="0">
                <a:latin typeface="Cambria" panose="02040503050406030204" pitchFamily="18" charset="0"/>
                <a:ea typeface="华文细黑" panose="02010600040101010101" pitchFamily="2" charset="-122"/>
              </a:rPr>
              <a:t>直角坐标系和极坐标系何以相互转换</a:t>
            </a:r>
            <a:endParaRPr lang="en-US" altLang="zh-CN" sz="2200" dirty="0">
              <a:effectLst/>
              <a:latin typeface="Cambria" panose="02040503050406030204" pitchFamily="18" charset="0"/>
              <a:ea typeface="华文细黑" panose="02010600040101010101" pitchFamily="2" charset="-122"/>
            </a:endParaRPr>
          </a:p>
        </p:txBody>
      </p:sp>
      <p:sp>
        <p:nvSpPr>
          <p:cNvPr id="3" name="Rectangle 2">
            <a:extLst>
              <a:ext uri="{FF2B5EF4-FFF2-40B4-BE49-F238E27FC236}">
                <a16:creationId xmlns:a16="http://schemas.microsoft.com/office/drawing/2014/main" id="{1102ACFA-D4FB-0C5F-25D2-5A7CF359299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图形元素</a:t>
            </a:r>
          </a:p>
        </p:txBody>
      </p:sp>
    </p:spTree>
    <p:extLst>
      <p:ext uri="{BB962C8B-B14F-4D97-AF65-F5344CB8AC3E}">
        <p14:creationId xmlns:p14="http://schemas.microsoft.com/office/powerpoint/2010/main" val="844563943"/>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坐标轴刻度</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736954" y="1722474"/>
            <a:ext cx="10814965" cy="1213766"/>
          </a:xfrm>
          <a:noFill/>
          <a:ln w="6350">
            <a:solidFill>
              <a:schemeClr val="bg1">
                <a:lumMod val="75000"/>
              </a:schemeClr>
            </a:solidFill>
          </a:ln>
        </p:spPr>
        <p:txBody>
          <a:bodyPr>
            <a:noAutofit/>
          </a:bodyPr>
          <a:lstStyle/>
          <a:p>
            <a:pPr marL="442913" indent="-442913" algn="just" defTabSz="685800" eaLnBrk="0" hangingPunct="0">
              <a:lnSpc>
                <a:spcPct val="10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使用线性标尺的坐标轴绘图，数轴的数值起点应从</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开始，尤其是在绘制条形图时，数值轴的刻度必须从</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开始，否则可能会放大数值间的差异，造成视觉差异和理解错误</a:t>
            </a:r>
            <a:endPar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0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有的图形数值轴的刻度不一定从</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开始，比如，时间序列折线图，如果序列的波动范围较小，从</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0</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开始则不宜观测序列的波动</a:t>
            </a:r>
            <a:endParaRPr lang="zh-CN"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6B7B5C82-72D6-165F-4DD3-A59A4B28C1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6954" y="3017520"/>
            <a:ext cx="10814965" cy="3361509"/>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C5A65430-2156-AE01-1F83-0A5E82810E7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图形元素</a:t>
            </a:r>
          </a:p>
        </p:txBody>
      </p:sp>
    </p:spTree>
    <p:extLst>
      <p:ext uri="{BB962C8B-B14F-4D97-AF65-F5344CB8AC3E}">
        <p14:creationId xmlns:p14="http://schemas.microsoft.com/office/powerpoint/2010/main" val="2028346811"/>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坐标轴刻度</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736954" y="1641194"/>
            <a:ext cx="10814965" cy="503940"/>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假定随机抽取</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50</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名学生（</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名男生和</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名女生），得到身高（</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cm</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）和体重（</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kg</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）数据绘制的散点图</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C5A65430-2156-AE01-1F83-0A5E82810E7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图形元素</a:t>
            </a:r>
          </a:p>
        </p:txBody>
      </p:sp>
      <p:pic>
        <p:nvPicPr>
          <p:cNvPr id="2" name="图片 1">
            <a:extLst>
              <a:ext uri="{FF2B5EF4-FFF2-40B4-BE49-F238E27FC236}">
                <a16:creationId xmlns:a16="http://schemas.microsoft.com/office/drawing/2014/main" id="{77D5D9C1-CCB0-FA3E-C45A-21396EA598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6954" y="2175614"/>
            <a:ext cx="10814965" cy="4235346"/>
          </a:xfrm>
          <a:prstGeom prst="rect">
            <a:avLst/>
          </a:prstGeom>
          <a:noFill/>
          <a:ln w="6350">
            <a:solidFill>
              <a:schemeClr val="bg1">
                <a:lumMod val="75000"/>
              </a:schemeClr>
            </a:solidFill>
          </a:ln>
        </p:spPr>
      </p:pic>
    </p:spTree>
    <p:extLst>
      <p:ext uri="{BB962C8B-B14F-4D97-AF65-F5344CB8AC3E}">
        <p14:creationId xmlns:p14="http://schemas.microsoft.com/office/powerpoint/2010/main" val="4146104227"/>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图形标题</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4790086" cy="4617368"/>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b="1" dirty="0">
                <a:effectLst/>
                <a:highlight>
                  <a:srgbClr val="FFFF99"/>
                </a:highlight>
                <a:latin typeface="Cambria" panose="02040503050406030204" pitchFamily="18" charset="0"/>
                <a:ea typeface="华文细黑" panose="02010600040101010101" pitchFamily="2" charset="-122"/>
              </a:rPr>
              <a:t>标题</a:t>
            </a:r>
            <a:r>
              <a:rPr lang="zh-CN" altLang="zh-CN" sz="1600" dirty="0">
                <a:effectLst/>
                <a:latin typeface="Cambria" panose="02040503050406030204" pitchFamily="18" charset="0"/>
                <a:ea typeface="华文细黑" panose="02010600040101010101" pitchFamily="2" charset="-122"/>
              </a:rPr>
              <a:t>（</a:t>
            </a:r>
            <a:r>
              <a:rPr lang="en-US" altLang="zh-CN" sz="1600" dirty="0">
                <a:effectLst/>
                <a:latin typeface="Cambria" panose="02040503050406030204" pitchFamily="18" charset="0"/>
                <a:ea typeface="华文细黑" panose="02010600040101010101" pitchFamily="2" charset="-122"/>
              </a:rPr>
              <a:t>title</a:t>
            </a:r>
            <a:r>
              <a:rPr lang="zh-CN" altLang="zh-CN" sz="1600" dirty="0">
                <a:effectLst/>
                <a:latin typeface="Cambria" panose="02040503050406030204" pitchFamily="18" charset="0"/>
                <a:ea typeface="华文细黑" panose="02010600040101010101" pitchFamily="2" charset="-122"/>
              </a:rPr>
              <a:t>）</a:t>
            </a:r>
            <a:r>
              <a:rPr lang="zh-CN" altLang="en-US" sz="1600" dirty="0">
                <a:effectLst/>
                <a:latin typeface="Cambria" panose="02040503050406030204" pitchFamily="18" charset="0"/>
                <a:ea typeface="华文细黑" panose="02010600040101010101" pitchFamily="2" charset="-122"/>
              </a:rPr>
              <a:t>：</a:t>
            </a:r>
            <a:r>
              <a:rPr lang="zh-CN" altLang="zh-CN" sz="1600" dirty="0">
                <a:effectLst/>
                <a:latin typeface="Cambria" panose="02040503050406030204" pitchFamily="18" charset="0"/>
                <a:ea typeface="华文细黑" panose="02010600040101010101" pitchFamily="2" charset="-122"/>
              </a:rPr>
              <a:t>图形标题</a:t>
            </a:r>
            <a:r>
              <a:rPr lang="zh-CN" altLang="en-US" sz="1600" dirty="0">
                <a:latin typeface="Cambria" panose="02040503050406030204" pitchFamily="18" charset="0"/>
                <a:ea typeface="华文细黑" panose="02010600040101010101" pitchFamily="2" charset="-122"/>
              </a:rPr>
              <a:t>有</a:t>
            </a:r>
            <a:r>
              <a:rPr lang="zh-CN" altLang="zh-CN" sz="1600" dirty="0">
                <a:effectLst/>
                <a:latin typeface="Cambria" panose="02040503050406030204" pitchFamily="18" charset="0"/>
                <a:ea typeface="华文细黑" panose="02010600040101010101" pitchFamily="2" charset="-122"/>
              </a:rPr>
              <a:t>主标题、副标题、坐标轴标题（标签）、图例标题等</a:t>
            </a:r>
            <a:endParaRPr lang="en-US" altLang="zh-CN" sz="16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b="1" dirty="0">
                <a:effectLst/>
                <a:highlight>
                  <a:srgbClr val="FFFF99"/>
                </a:highlight>
                <a:latin typeface="Cambria" panose="02040503050406030204" pitchFamily="18" charset="0"/>
                <a:ea typeface="华文细黑" panose="02010600040101010101" pitchFamily="2" charset="-122"/>
              </a:rPr>
              <a:t>主标题</a:t>
            </a:r>
            <a:r>
              <a:rPr lang="zh-CN" altLang="zh-CN" sz="1600" dirty="0">
                <a:effectLst/>
                <a:latin typeface="Cambria" panose="02040503050406030204" pitchFamily="18" charset="0"/>
                <a:ea typeface="华文细黑" panose="02010600040101010101" pitchFamily="2" charset="-122"/>
              </a:rPr>
              <a:t>是指一幅图的总标题，它主要用于注释图形的内容，一般包括图中数据所属的时间（</a:t>
            </a:r>
            <a:r>
              <a:rPr lang="en-US" altLang="zh-CN" sz="1600" dirty="0">
                <a:effectLst/>
                <a:latin typeface="Cambria" panose="02040503050406030204" pitchFamily="18" charset="0"/>
                <a:ea typeface="华文细黑" panose="02010600040101010101" pitchFamily="2" charset="-122"/>
              </a:rPr>
              <a:t>when</a:t>
            </a:r>
            <a:r>
              <a:rPr lang="zh-CN" altLang="zh-CN" sz="1600" dirty="0">
                <a:effectLst/>
                <a:latin typeface="Cambria" panose="02040503050406030204" pitchFamily="18" charset="0"/>
                <a:ea typeface="华文细黑" panose="02010600040101010101" pitchFamily="2" charset="-122"/>
              </a:rPr>
              <a:t>）、地点（</a:t>
            </a:r>
            <a:r>
              <a:rPr lang="en-US" altLang="zh-CN" sz="1600" dirty="0">
                <a:effectLst/>
                <a:latin typeface="Cambria" panose="02040503050406030204" pitchFamily="18" charset="0"/>
                <a:ea typeface="华文细黑" panose="02010600040101010101" pitchFamily="2" charset="-122"/>
              </a:rPr>
              <a:t>where</a:t>
            </a:r>
            <a:r>
              <a:rPr lang="zh-CN" altLang="zh-CN" sz="1600" dirty="0">
                <a:effectLst/>
                <a:latin typeface="Cambria" panose="02040503050406030204" pitchFamily="18" charset="0"/>
                <a:ea typeface="华文细黑" panose="02010600040101010101" pitchFamily="2" charset="-122"/>
              </a:rPr>
              <a:t>）和内容（</a:t>
            </a:r>
            <a:r>
              <a:rPr lang="en-US" altLang="zh-CN" sz="1600" dirty="0">
                <a:effectLst/>
                <a:latin typeface="Cambria" panose="02040503050406030204" pitchFamily="18" charset="0"/>
                <a:ea typeface="华文细黑" panose="02010600040101010101" pitchFamily="2" charset="-122"/>
              </a:rPr>
              <a:t>what</a:t>
            </a:r>
            <a:r>
              <a:rPr lang="zh-CN" altLang="zh-CN" sz="1600" dirty="0">
                <a:effectLst/>
                <a:latin typeface="Cambria" panose="02040503050406030204" pitchFamily="18" charset="0"/>
                <a:ea typeface="华文细黑" panose="02010600040101010101" pitchFamily="2" charset="-122"/>
              </a:rPr>
              <a:t>）</a:t>
            </a:r>
            <a:r>
              <a:rPr lang="en-US" altLang="zh-CN" sz="1600" dirty="0">
                <a:effectLst/>
                <a:latin typeface="Cambria" panose="02040503050406030204" pitchFamily="18" charset="0"/>
                <a:ea typeface="华文细黑" panose="02010600040101010101" pitchFamily="2" charset="-122"/>
              </a:rPr>
              <a:t>3 </a:t>
            </a:r>
            <a:r>
              <a:rPr lang="zh-CN" altLang="zh-CN" sz="1600" dirty="0">
                <a:effectLst/>
                <a:latin typeface="Cambria" panose="02040503050406030204" pitchFamily="18" charset="0"/>
                <a:ea typeface="华文细黑" panose="02010600040101010101" pitchFamily="2" charset="-122"/>
              </a:rPr>
              <a:t>个要素</a:t>
            </a:r>
            <a:endParaRPr lang="en-US" altLang="zh-CN" sz="16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rPr>
              <a:t>由于图形是一种相对独立的信息载体，只看主标题就应该知道图形要表达的信息</a:t>
            </a:r>
            <a:endParaRPr lang="en-US" altLang="zh-CN" sz="16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rPr>
              <a:t>主标题可以放在图的上方，也可放在图的下方</a:t>
            </a:r>
            <a:endParaRPr lang="en-US" altLang="zh-CN" sz="16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b="1" dirty="0">
                <a:effectLst/>
                <a:highlight>
                  <a:srgbClr val="FFFF99"/>
                </a:highlight>
                <a:latin typeface="Calibri" panose="020F0502020204030204" pitchFamily="34" charset="0"/>
                <a:ea typeface="华文细黑" panose="02010600040101010101" pitchFamily="2" charset="-122"/>
              </a:rPr>
              <a:t>坐标轴标题</a:t>
            </a:r>
            <a:r>
              <a:rPr lang="zh-CN" altLang="zh-CN" sz="1600" dirty="0">
                <a:effectLst/>
                <a:latin typeface="Calibri" panose="020F0502020204030204" pitchFamily="34" charset="0"/>
                <a:ea typeface="华文细黑" panose="02010600040101010101" pitchFamily="2" charset="-122"/>
              </a:rPr>
              <a:t>也称坐标轴标签，用于说明坐标轴代表的变量名称，还应给出数据的计量单位</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F09A574A-7A5D-EFD0-EECB-13E14798EA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50561" y="1722473"/>
            <a:ext cx="5842000" cy="4617367"/>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779C9BDC-B56E-A50B-D622-589A89CF15C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图形元素</a:t>
            </a:r>
          </a:p>
        </p:txBody>
      </p:sp>
    </p:spTree>
    <p:extLst>
      <p:ext uri="{BB962C8B-B14F-4D97-AF65-F5344CB8AC3E}">
        <p14:creationId xmlns:p14="http://schemas.microsoft.com/office/powerpoint/2010/main" val="4191136222"/>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图形比例</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2788565" cy="462752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把</a:t>
            </a:r>
            <a:r>
              <a:rPr lang="en-US" altLang="zh-CN" sz="1800" dirty="0">
                <a:effectLst/>
                <a:latin typeface="Calibri" panose="020F0502020204030204" pitchFamily="34" charset="0"/>
                <a:ea typeface="华文细黑" panose="02010600040101010101" pitchFamily="2" charset="-122"/>
                <a:cs typeface="Times New Roman" panose="02020603050405020304" pitchFamily="18" charset="0"/>
              </a:rPr>
              <a:t>x</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轴称为宽，</a:t>
            </a:r>
            <a:r>
              <a:rPr lang="en-US" altLang="zh-CN" sz="1800" dirty="0">
                <a:effectLst/>
                <a:latin typeface="Calibri" panose="020F0502020204030204" pitchFamily="34" charset="0"/>
                <a:ea typeface="华文细黑" panose="02010600040101010101" pitchFamily="2" charset="-122"/>
                <a:cs typeface="Times New Roman" panose="02020603050405020304" pitchFamily="18" charset="0"/>
              </a:rPr>
              <a:t>y</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轴称为高，图形宽和高的比例大致为</a:t>
            </a:r>
            <a:r>
              <a:rPr lang="en-US" altLang="zh-CN" sz="1800" dirty="0">
                <a:effectLst/>
                <a:latin typeface="Calibri" panose="020F0502020204030204" pitchFamily="34" charset="0"/>
                <a:ea typeface="华文细黑" panose="02010600040101010101" pitchFamily="2" charset="-122"/>
                <a:cs typeface="Times New Roman" panose="02020603050405020304" pitchFamily="18" charset="0"/>
              </a:rPr>
              <a:t>10:7</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或</a:t>
            </a:r>
            <a:r>
              <a:rPr lang="en-US" altLang="zh-CN" sz="1800" dirty="0">
                <a:effectLst/>
                <a:latin typeface="Calibri" panose="020F0502020204030204" pitchFamily="34" charset="0"/>
                <a:ea typeface="华文细黑" panose="02010600040101010101" pitchFamily="2" charset="-122"/>
                <a:cs typeface="Times New Roman" panose="02020603050405020304" pitchFamily="18" charset="0"/>
              </a:rPr>
              <a:t>4:3</a:t>
            </a: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从视觉效果看，这样的图形比例能够合理展示数据，也易于对图形的解读，过宽或过高的图形都有可能歪曲数据，给人留下错误的印象</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algn="just" defTabSz="685800" eaLnBrk="0" hangingPunct="0">
              <a:lnSpc>
                <a:spcPct val="150000"/>
              </a:lnSpc>
              <a:spcBef>
                <a:spcPct val="50000"/>
              </a:spcBef>
              <a:buClr>
                <a:srgbClr val="000099"/>
              </a:buClr>
              <a:defRPr/>
            </a:pP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1355592B-5207-FB7E-56E8-5CA512F639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28721" y="1722474"/>
            <a:ext cx="7713958" cy="4627526"/>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C686FA6A-C67C-2014-00CF-74BDB5E556A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图形比例</a:t>
            </a:r>
          </a:p>
        </p:txBody>
      </p:sp>
    </p:spTree>
    <p:extLst>
      <p:ext uri="{BB962C8B-B14F-4D97-AF65-F5344CB8AC3E}">
        <p14:creationId xmlns:p14="http://schemas.microsoft.com/office/powerpoint/2010/main" val="1123534679"/>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图形配色</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强调分类</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22474"/>
            <a:ext cx="3480896" cy="46478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颜色不仅可以美化图形，还可以对数据起到分类的作用，也可以用于强调某些特别关注的数值或数据的其他特征</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图形中使用的颜色一定要有明确的意义，无意义的着色可能会造成扰乱视线、画蛇添足的后果</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6E269C26-98A0-7AC5-642F-EBAD615E399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图形配色</a:t>
            </a:r>
          </a:p>
        </p:txBody>
      </p:sp>
      <p:pic>
        <p:nvPicPr>
          <p:cNvPr id="3" name="图片 2">
            <a:extLst>
              <a:ext uri="{FF2B5EF4-FFF2-40B4-BE49-F238E27FC236}">
                <a16:creationId xmlns:a16="http://schemas.microsoft.com/office/drawing/2014/main" id="{7AC39424-51E5-BC52-00EA-240189C2F4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60240" y="1722474"/>
            <a:ext cx="7020560" cy="4647846"/>
          </a:xfrm>
          <a:prstGeom prst="rect">
            <a:avLst/>
          </a:prstGeom>
          <a:noFill/>
          <a:ln w="6350">
            <a:solidFill>
              <a:schemeClr val="bg1">
                <a:lumMod val="75000"/>
              </a:schemeClr>
            </a:solidFill>
          </a:ln>
        </p:spPr>
      </p:pic>
    </p:spTree>
    <p:extLst>
      <p:ext uri="{BB962C8B-B14F-4D97-AF65-F5344CB8AC3E}">
        <p14:creationId xmlns:p14="http://schemas.microsoft.com/office/powerpoint/2010/main" val="2856433100"/>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图形配色</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强调数值</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085F8FC2-9E51-443A-AB84-4F8E0B9F0213}"/>
              </a:ext>
            </a:extLst>
          </p:cNvPr>
          <p:cNvSpPr>
            <a:spLocks noGrp="1"/>
          </p:cNvSpPr>
          <p:nvPr>
            <p:ph type="subTitle" idx="1"/>
          </p:nvPr>
        </p:nvSpPr>
        <p:spPr>
          <a:xfrm>
            <a:off x="771045" y="1754372"/>
            <a:ext cx="5184775" cy="1318437"/>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2600" dirty="0">
                <a:latin typeface="Calibri" panose="020F0502020204030204" pitchFamily="34" charset="0"/>
                <a:ea typeface="华文细黑" panose="02010600040101010101" pitchFamily="2" charset="-122"/>
                <a:cs typeface="Times New Roman" panose="02020603050405020304" pitchFamily="18" charset="0"/>
              </a:rPr>
              <a:t>强调分类和数值大小</a:t>
            </a:r>
            <a:endParaRPr lang="en-US" altLang="zh-CN" sz="2600" dirty="0">
              <a:effectLst/>
              <a:latin typeface="Calibri" panose="020F0502020204030204" pitchFamily="34" charset="0"/>
              <a:ea typeface="华文细黑" panose="02010600040101010101" pitchFamily="2" charset="-122"/>
              <a:cs typeface="Times New Roman" panose="02020603050405020304" pitchFamily="18" charset="0"/>
            </a:endParaRPr>
          </a:p>
        </p:txBody>
      </p:sp>
      <p:sp>
        <p:nvSpPr>
          <p:cNvPr id="12" name="副标题 2">
            <a:extLst>
              <a:ext uri="{FF2B5EF4-FFF2-40B4-BE49-F238E27FC236}">
                <a16:creationId xmlns:a16="http://schemas.microsoft.com/office/drawing/2014/main" id="{DA9ADD98-8573-416E-AC55-20803ED695AF}"/>
              </a:ext>
            </a:extLst>
          </p:cNvPr>
          <p:cNvSpPr txBox="1">
            <a:spLocks/>
          </p:cNvSpPr>
          <p:nvPr/>
        </p:nvSpPr>
        <p:spPr>
          <a:xfrm>
            <a:off x="6095998" y="1754371"/>
            <a:ext cx="5476241" cy="1318437"/>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2600" dirty="0">
                <a:latin typeface="Calibri" panose="020F0502020204030204" pitchFamily="34" charset="0"/>
                <a:ea typeface="华文细黑" panose="02010600040101010101" pitchFamily="2" charset="-122"/>
                <a:cs typeface="Times New Roman" panose="02020603050405020304" pitchFamily="18" charset="0"/>
              </a:rPr>
              <a:t>强调分类和数值特征</a:t>
            </a:r>
            <a:endParaRPr lang="en-US" altLang="zh-CN" sz="2600" dirty="0">
              <a:latin typeface="Calibri" panose="020F0502020204030204" pitchFamily="34"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EDE49CEE-47B1-4989-F576-7B14CA0E41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1044" y="3343320"/>
            <a:ext cx="5184775" cy="2894194"/>
          </a:xfrm>
          <a:prstGeom prst="rect">
            <a:avLst/>
          </a:prstGeom>
          <a:noFill/>
          <a:ln w="6350">
            <a:solidFill>
              <a:schemeClr val="bg1">
                <a:lumMod val="75000"/>
              </a:schemeClr>
            </a:solidFill>
          </a:ln>
        </p:spPr>
      </p:pic>
      <p:pic>
        <p:nvPicPr>
          <p:cNvPr id="4" name="图片 3">
            <a:extLst>
              <a:ext uri="{FF2B5EF4-FFF2-40B4-BE49-F238E27FC236}">
                <a16:creationId xmlns:a16="http://schemas.microsoft.com/office/drawing/2014/main" id="{8B524382-0FDD-274C-DC80-DD466DDBF0A7}"/>
              </a:ext>
            </a:extLst>
          </p:cNvPr>
          <p:cNvPicPr>
            <a:picLocks noChangeAspect="1"/>
          </p:cNvPicPr>
          <p:nvPr/>
        </p:nvPicPr>
        <p:blipFill>
          <a:blip r:embed="rId3"/>
          <a:stretch>
            <a:fillRect/>
          </a:stretch>
        </p:blipFill>
        <p:spPr>
          <a:xfrm>
            <a:off x="6095999" y="3343319"/>
            <a:ext cx="5476240" cy="2894195"/>
          </a:xfrm>
          <a:prstGeom prst="rect">
            <a:avLst/>
          </a:prstGeom>
          <a:ln w="6350">
            <a:solidFill>
              <a:schemeClr val="bg1">
                <a:lumMod val="75000"/>
              </a:schemeClr>
            </a:solidFill>
          </a:ln>
        </p:spPr>
      </p:pic>
      <p:sp>
        <p:nvSpPr>
          <p:cNvPr id="5" name="Rectangle 2">
            <a:extLst>
              <a:ext uri="{FF2B5EF4-FFF2-40B4-BE49-F238E27FC236}">
                <a16:creationId xmlns:a16="http://schemas.microsoft.com/office/drawing/2014/main" id="{B7C6E4BE-2E41-BF2E-652A-7F05C3BE4DF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图形配色</a:t>
            </a:r>
          </a:p>
        </p:txBody>
      </p:sp>
    </p:spTree>
    <p:extLst>
      <p:ext uri="{BB962C8B-B14F-4D97-AF65-F5344CB8AC3E}">
        <p14:creationId xmlns:p14="http://schemas.microsoft.com/office/powerpoint/2010/main" val="3566480306"/>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a:t>
            </a:r>
            <a:r>
              <a:rPr lang="en-US" altLang="zh-CN" sz="2600" b="1" dirty="0">
                <a:solidFill>
                  <a:srgbClr val="002060"/>
                </a:solidFill>
                <a:ea typeface="华文细黑" panose="02010600040101010101" pitchFamily="2" charset="-122"/>
              </a:rPr>
              <a:t>3D </a:t>
            </a:r>
            <a:r>
              <a:rPr lang="zh-CN" altLang="en-US" sz="2600" b="1" dirty="0">
                <a:solidFill>
                  <a:srgbClr val="002060"/>
                </a:solidFill>
                <a:ea typeface="华文细黑" panose="02010600040101010101" pitchFamily="2" charset="-122"/>
              </a:rPr>
              <a:t>图形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谨慎使用</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01208"/>
            <a:ext cx="10713364" cy="4699592"/>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dirty="0">
                <a:latin typeface="Cambria" panose="02040503050406030204" pitchFamily="18" charset="0"/>
                <a:ea typeface="华文细黑" panose="02010600040101010101" pitchFamily="2" charset="-122"/>
                <a:cs typeface="Times New Roman" panose="02020603050405020304" pitchFamily="18" charset="0"/>
              </a:rPr>
              <a:t>不能为了炫酷而毫无目的地使用</a:t>
            </a:r>
            <a:r>
              <a:rPr lang="en-US" altLang="zh-CN" dirty="0">
                <a:latin typeface="Cambria" panose="02040503050406030204" pitchFamily="18" charset="0"/>
                <a:ea typeface="华文细黑" panose="02010600040101010101" pitchFamily="2" charset="-122"/>
                <a:cs typeface="Times New Roman" panose="02020603050405020304" pitchFamily="18" charset="0"/>
              </a:rPr>
              <a:t>3D</a:t>
            </a:r>
            <a:r>
              <a:rPr lang="zh-CN" altLang="zh-CN" dirty="0">
                <a:latin typeface="Cambria" panose="02040503050406030204" pitchFamily="18" charset="0"/>
                <a:ea typeface="华文细黑" panose="02010600040101010101" pitchFamily="2" charset="-122"/>
                <a:cs typeface="Times New Roman" panose="02020603050405020304" pitchFamily="18" charset="0"/>
              </a:rPr>
              <a:t>图</a:t>
            </a:r>
            <a:endParaRPr lang="en-US" altLang="zh-CN"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dirty="0">
                <a:latin typeface="Cambria" panose="02040503050406030204" pitchFamily="18" charset="0"/>
                <a:ea typeface="华文细黑" panose="02010600040101010101" pitchFamily="2" charset="-122"/>
                <a:cs typeface="Times New Roman" panose="02020603050405020304" pitchFamily="18" charset="0"/>
              </a:rPr>
              <a:t>不增加信息量、不增进可阅读性、不增强可理解性的</a:t>
            </a:r>
            <a:r>
              <a:rPr lang="en-US" altLang="zh-CN" dirty="0">
                <a:latin typeface="Cambria" panose="02040503050406030204" pitchFamily="18" charset="0"/>
                <a:ea typeface="华文细黑" panose="02010600040101010101" pitchFamily="2" charset="-122"/>
                <a:cs typeface="Times New Roman" panose="02020603050405020304" pitchFamily="18" charset="0"/>
              </a:rPr>
              <a:t>3D</a:t>
            </a:r>
            <a:r>
              <a:rPr lang="zh-CN" altLang="zh-CN" dirty="0">
                <a:latin typeface="Cambria" panose="02040503050406030204" pitchFamily="18" charset="0"/>
                <a:ea typeface="华文细黑" panose="02010600040101010101" pitchFamily="2" charset="-122"/>
                <a:cs typeface="Times New Roman" panose="02020603050405020304" pitchFamily="18" charset="0"/>
              </a:rPr>
              <a:t>图形并没有多大意义</a:t>
            </a:r>
            <a:endParaRPr lang="en-US" altLang="zh-CN"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dirty="0">
                <a:latin typeface="Cambria" panose="02040503050406030204" pitchFamily="18" charset="0"/>
                <a:ea typeface="华文细黑" panose="02010600040101010101" pitchFamily="2" charset="-122"/>
                <a:cs typeface="Times New Roman" panose="02020603050405020304" pitchFamily="18" charset="0"/>
              </a:rPr>
              <a:t>除非你既想吸引眼球又想掩人耳目、既想展示数据又想扰乱视线、既想表达观点又想混淆视听</a:t>
            </a:r>
            <a:endParaRPr lang="en-US" altLang="zh-CN"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dirty="0">
                <a:latin typeface="Cambria" panose="02040503050406030204" pitchFamily="18" charset="0"/>
                <a:ea typeface="华文细黑" panose="02010600040101010101" pitchFamily="2" charset="-122"/>
                <a:cs typeface="Times New Roman" panose="02020603050405020304" pitchFamily="18" charset="0"/>
              </a:rPr>
              <a:t>不是展示三维数据的图形就是数据可视化中的</a:t>
            </a:r>
            <a:r>
              <a:rPr lang="zh-CN" altLang="en-US"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伪</a:t>
            </a:r>
            <a:r>
              <a:rPr lang="en-US" altLang="zh-CN"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3D</a:t>
            </a:r>
            <a:r>
              <a:rPr lang="zh-CN" altLang="en-US"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图</a:t>
            </a:r>
            <a:r>
              <a:rPr lang="zh-CN" altLang="en-US" dirty="0">
                <a:latin typeface="Cambria" panose="02040503050406030204" pitchFamily="18" charset="0"/>
                <a:ea typeface="华文细黑" panose="02010600040101010101" pitchFamily="2" charset="-122"/>
                <a:cs typeface="Times New Roman" panose="02020603050405020304" pitchFamily="18" charset="0"/>
              </a:rPr>
              <a:t>（</a:t>
            </a:r>
            <a:r>
              <a:rPr lang="en-US" altLang="zh-CN" dirty="0">
                <a:latin typeface="Cambria" panose="02040503050406030204" pitchFamily="18" charset="0"/>
                <a:ea typeface="华文细黑" panose="02010600040101010101" pitchFamily="2" charset="-122"/>
                <a:cs typeface="Times New Roman" panose="02020603050405020304" pitchFamily="18" charset="0"/>
              </a:rPr>
              <a:t>false three dimensions graph</a:t>
            </a:r>
            <a:r>
              <a:rPr lang="zh-CN" altLang="en-US" dirty="0">
                <a:latin typeface="Cambria" panose="02040503050406030204" pitchFamily="18" charset="0"/>
                <a:ea typeface="华文细黑" panose="02010600040101010101" pitchFamily="2" charset="-122"/>
                <a:cs typeface="Times New Roman" panose="02020603050405020304" pitchFamily="18" charset="0"/>
              </a:rPr>
              <a:t>）</a:t>
            </a:r>
            <a:endParaRPr lang="zh-CN" altLang="zh-CN"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D22F90C7-DD93-1AA2-387E-632494BFF49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图形</a:t>
            </a:r>
          </a:p>
        </p:txBody>
      </p:sp>
    </p:spTree>
    <p:extLst>
      <p:ext uri="{BB962C8B-B14F-4D97-AF65-F5344CB8AC3E}">
        <p14:creationId xmlns:p14="http://schemas.microsoft.com/office/powerpoint/2010/main" val="4165899772"/>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a:t>
            </a:r>
            <a:r>
              <a:rPr lang="en-US" altLang="zh-CN" sz="2600" b="1" dirty="0">
                <a:solidFill>
                  <a:srgbClr val="002060"/>
                </a:solidFill>
                <a:ea typeface="华文细黑" panose="02010600040101010101" pitchFamily="2" charset="-122"/>
              </a:rPr>
              <a:t>3D </a:t>
            </a:r>
            <a:r>
              <a:rPr lang="zh-CN" altLang="en-US" sz="2600" b="1" dirty="0">
                <a:solidFill>
                  <a:srgbClr val="002060"/>
                </a:solidFill>
                <a:ea typeface="华文细黑" panose="02010600040101010101" pitchFamily="2" charset="-122"/>
              </a:rPr>
              <a:t>图形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谨慎使用</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7" y="1691994"/>
            <a:ext cx="2148484" cy="46986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en-US" altLang="zh-CN" sz="1600" dirty="0">
                <a:effectLst/>
                <a:latin typeface="Cambria" panose="02040503050406030204" pitchFamily="18" charset="0"/>
                <a:ea typeface="华文细黑" panose="02010600040101010101" pitchFamily="2" charset="-122"/>
              </a:rPr>
              <a:t>3D</a:t>
            </a:r>
            <a:r>
              <a:rPr lang="zh-CN" altLang="zh-CN" sz="1600" dirty="0">
                <a:effectLst/>
                <a:latin typeface="Cambria" panose="02040503050406030204" pitchFamily="18" charset="0"/>
                <a:ea typeface="华文细黑" panose="02010600040101010101" pitchFamily="2" charset="-122"/>
              </a:rPr>
              <a:t>图形不仅不符合人们的视觉习惯，也难以解读</a:t>
            </a:r>
            <a:endParaRPr lang="en-US" altLang="zh-CN" sz="1600" dirty="0">
              <a:latin typeface="Times New Roman" panose="02020603050405020304" pitchFamily="18" charset="0"/>
              <a:ea typeface="宋体" panose="0201060003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rPr>
              <a:t>在有些场合，人们有意将图形绘制成</a:t>
            </a:r>
            <a:r>
              <a:rPr lang="en-US" altLang="zh-CN" sz="1600" dirty="0">
                <a:effectLst/>
                <a:latin typeface="Cambria" panose="02040503050406030204" pitchFamily="18" charset="0"/>
                <a:ea typeface="华文细黑" panose="02010600040101010101" pitchFamily="2" charset="-122"/>
              </a:rPr>
              <a:t>3D</a:t>
            </a:r>
            <a:r>
              <a:rPr lang="zh-CN" altLang="zh-CN" sz="1600" dirty="0">
                <a:effectLst/>
                <a:latin typeface="Cambria" panose="02040503050406030204" pitchFamily="18" charset="0"/>
                <a:ea typeface="华文细黑" panose="02010600040101010101" pitchFamily="2" charset="-122"/>
              </a:rPr>
              <a:t>形式</a:t>
            </a:r>
            <a:r>
              <a:rPr lang="zh-CN" altLang="en-US" sz="1600" dirty="0">
                <a:effectLst/>
                <a:latin typeface="Cambria" panose="02040503050406030204" pitchFamily="18" charset="0"/>
                <a:ea typeface="华文细黑" panose="02010600040101010101" pitchFamily="2" charset="-122"/>
              </a:rPr>
              <a:t>，</a:t>
            </a:r>
            <a:r>
              <a:rPr lang="zh-CN" altLang="zh-CN" sz="1600" dirty="0">
                <a:effectLst/>
                <a:latin typeface="Cambria" panose="02040503050406030204" pitchFamily="18" charset="0"/>
                <a:ea typeface="华文细黑" panose="02010600040101010101" pitchFamily="2" charset="-122"/>
              </a:rPr>
              <a:t>有扰乱视线、混淆视听之嫌</a:t>
            </a:r>
            <a:endParaRPr lang="en-US" altLang="zh-CN" sz="1600" dirty="0">
              <a:effectLst/>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rPr>
              <a:t>从数据可视化的视角看，除非特别有必要，否则应避免使用</a:t>
            </a:r>
            <a:r>
              <a:rPr lang="en-US" altLang="zh-CN" sz="1600" dirty="0">
                <a:effectLst/>
                <a:latin typeface="Cambria" panose="02040503050406030204" pitchFamily="18" charset="0"/>
                <a:ea typeface="华文细黑" panose="02010600040101010101" pitchFamily="2" charset="-122"/>
              </a:rPr>
              <a:t>3D</a:t>
            </a:r>
            <a:r>
              <a:rPr lang="zh-CN" altLang="zh-CN" sz="1600" dirty="0">
                <a:effectLst/>
                <a:latin typeface="Cambria" panose="02040503050406030204" pitchFamily="18" charset="0"/>
                <a:ea typeface="华文细黑" panose="02010600040101010101" pitchFamily="2" charset="-122"/>
              </a:rPr>
              <a:t>图形。</a:t>
            </a:r>
            <a:endParaRPr lang="zh-CN" altLang="zh-CN" sz="1600" dirty="0">
              <a:effectLst/>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429D902C-2FC0-4560-AC7B-411141CF2660}"/>
              </a:ext>
            </a:extLst>
          </p:cNvPr>
          <p:cNvSpPr txBox="1"/>
          <p:nvPr/>
        </p:nvSpPr>
        <p:spPr>
          <a:xfrm>
            <a:off x="9934101" y="2838774"/>
            <a:ext cx="946298" cy="369332"/>
          </a:xfrm>
          <a:prstGeom prst="rect">
            <a:avLst/>
          </a:prstGeom>
          <a:solidFill>
            <a:schemeClr val="accent4">
              <a:lumMod val="40000"/>
              <a:lumOff val="60000"/>
            </a:schemeClr>
          </a:solidFill>
        </p:spPr>
        <p:txBody>
          <a:bodyPr wrap="square" rtlCol="0">
            <a:spAutoFit/>
          </a:bodyPr>
          <a:lstStyle/>
          <a:p>
            <a:pPr algn="ctr"/>
            <a:r>
              <a:rPr lang="zh-CN" altLang="en-US" b="1" dirty="0">
                <a:solidFill>
                  <a:srgbClr val="FF0000"/>
                </a:solidFill>
              </a:rPr>
              <a:t>伪</a:t>
            </a:r>
            <a:r>
              <a:rPr lang="en-US" altLang="zh-CN" b="1" dirty="0">
                <a:solidFill>
                  <a:srgbClr val="FF0000"/>
                </a:solidFill>
              </a:rPr>
              <a:t>3D</a:t>
            </a:r>
            <a:endParaRPr lang="zh-CN" altLang="en-US" b="1" dirty="0">
              <a:solidFill>
                <a:srgbClr val="FF0000"/>
              </a:solidFill>
            </a:endParaRPr>
          </a:p>
        </p:txBody>
      </p:sp>
      <p:pic>
        <p:nvPicPr>
          <p:cNvPr id="4" name="图片 3">
            <a:extLst>
              <a:ext uri="{FF2B5EF4-FFF2-40B4-BE49-F238E27FC236}">
                <a16:creationId xmlns:a16="http://schemas.microsoft.com/office/drawing/2014/main" id="{B72A61A1-3BC1-C12E-E8CB-690F5714A07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5651" y="1691994"/>
            <a:ext cx="8598989" cy="4698646"/>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71F22EB0-D445-0176-2C5A-695CC7CA507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图形</a:t>
            </a:r>
          </a:p>
        </p:txBody>
      </p:sp>
    </p:spTree>
    <p:extLst>
      <p:ext uri="{BB962C8B-B14F-4D97-AF65-F5344CB8AC3E}">
        <p14:creationId xmlns:p14="http://schemas.microsoft.com/office/powerpoint/2010/main" val="2995561351"/>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a:t>
            </a:r>
            <a:r>
              <a:rPr lang="en-US" altLang="zh-CN" sz="2600" b="1" dirty="0">
                <a:solidFill>
                  <a:srgbClr val="002060"/>
                </a:solidFill>
                <a:ea typeface="华文细黑" panose="02010600040101010101" pitchFamily="2" charset="-122"/>
              </a:rPr>
              <a:t>3D </a:t>
            </a:r>
            <a:r>
              <a:rPr lang="zh-CN" altLang="en-US" sz="2600" b="1" dirty="0">
                <a:solidFill>
                  <a:srgbClr val="002060"/>
                </a:solidFill>
                <a:ea typeface="华文细黑" panose="02010600040101010101" pitchFamily="2" charset="-122"/>
              </a:rPr>
              <a:t>图形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谨慎使用</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2737765" cy="45970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en-US" altLang="zh-CN" sz="3200" dirty="0">
                <a:effectLst/>
                <a:latin typeface="Cambria" panose="02040503050406030204" pitchFamily="18" charset="0"/>
                <a:ea typeface="华文细黑" panose="02010600040101010101" pitchFamily="2" charset="-122"/>
              </a:rPr>
              <a:t>3D</a:t>
            </a:r>
            <a:r>
              <a:rPr lang="en-US" altLang="zh-CN" sz="3200" dirty="0">
                <a:latin typeface="Cambria" panose="02040503050406030204" pitchFamily="18" charset="0"/>
                <a:ea typeface="华文细黑" panose="02010600040101010101" pitchFamily="2" charset="-122"/>
              </a:rPr>
              <a:t>——</a:t>
            </a:r>
            <a:r>
              <a:rPr lang="zh-CN" altLang="en-US" sz="3200" dirty="0">
                <a:latin typeface="Cambria" panose="02040503050406030204" pitchFamily="18" charset="0"/>
                <a:ea typeface="华文细黑" panose="02010600040101010101" pitchFamily="2" charset="-122"/>
              </a:rPr>
              <a:t>图形</a:t>
            </a:r>
            <a:endParaRPr lang="en-US" altLang="zh-CN" sz="3200" dirty="0">
              <a:latin typeface="Cambria" panose="02040503050406030204" pitchFamily="18" charset="0"/>
              <a:ea typeface="华文细黑" panose="02010600040101010101" pitchFamily="2" charset="-122"/>
            </a:endParaRPr>
          </a:p>
          <a:p>
            <a:pPr marL="808038" indent="-457200" algn="just" defTabSz="685800" eaLnBrk="0" hangingPunct="0">
              <a:lnSpc>
                <a:spcPct val="150000"/>
              </a:lnSpc>
              <a:spcBef>
                <a:spcPct val="50000"/>
              </a:spcBef>
              <a:buClr>
                <a:srgbClr val="C00000"/>
              </a:buClr>
              <a:buFont typeface="Wingdings" panose="05000000000000000000" pitchFamily="2" charset="2"/>
              <a:buChar char="Ø"/>
              <a:defRPr/>
            </a:pPr>
            <a:r>
              <a:rPr lang="en-US" altLang="zh-CN" sz="2600" dirty="0">
                <a:effectLst/>
                <a:latin typeface="Cambria" panose="02040503050406030204" pitchFamily="18" charset="0"/>
                <a:ea typeface="华文细黑" panose="02010600040101010101" pitchFamily="2" charset="-122"/>
                <a:cs typeface="Times New Roman" panose="02020603050405020304" pitchFamily="18" charset="0"/>
              </a:rPr>
              <a:t>D1</a:t>
            </a:r>
            <a:r>
              <a:rPr lang="en-US" altLang="zh-CN" sz="26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费</a:t>
            </a:r>
            <a:r>
              <a:rPr lang="zh-CN" altLang="en-US" sz="2600" dirty="0">
                <a:effectLst/>
                <a:latin typeface="Cambria" panose="02040503050406030204" pitchFamily="18" charset="0"/>
                <a:ea typeface="华文细黑" panose="02010600040101010101" pitchFamily="2" charset="-122"/>
                <a:cs typeface="Times New Roman" panose="02020603050405020304" pitchFamily="18" charset="0"/>
              </a:rPr>
              <a:t>时</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808038" indent="-457200" algn="just" defTabSz="685800" eaLnBrk="0" hangingPunct="0">
              <a:lnSpc>
                <a:spcPct val="150000"/>
              </a:lnSpc>
              <a:spcBef>
                <a:spcPct val="50000"/>
              </a:spcBef>
              <a:buClr>
                <a:srgbClr val="C00000"/>
              </a:buClr>
              <a:buFont typeface="Wingdings" panose="05000000000000000000" pitchFamily="2" charset="2"/>
              <a:buChar char="Ø"/>
              <a:defRPr/>
            </a:pPr>
            <a:r>
              <a:rPr lang="en-US" altLang="zh-CN" sz="2600" dirty="0">
                <a:effectLst/>
                <a:latin typeface="Cambria" panose="02040503050406030204" pitchFamily="18" charset="0"/>
                <a:ea typeface="华文细黑" panose="02010600040101010101" pitchFamily="2" charset="-122"/>
                <a:cs typeface="Times New Roman" panose="02020603050405020304" pitchFamily="18" charset="0"/>
              </a:rPr>
              <a:t>D2</a:t>
            </a:r>
            <a:r>
              <a:rPr lang="en-US" altLang="zh-CN" sz="26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费</a:t>
            </a:r>
            <a:r>
              <a:rPr lang="zh-CN" altLang="en-US" sz="2600" dirty="0">
                <a:effectLst/>
                <a:latin typeface="Cambria" panose="02040503050406030204" pitchFamily="18" charset="0"/>
                <a:ea typeface="华文细黑" panose="02010600040101010101" pitchFamily="2" charset="-122"/>
                <a:cs typeface="Times New Roman" panose="02020603050405020304" pitchFamily="18" charset="0"/>
              </a:rPr>
              <a:t>力</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808038" indent="-457200" algn="just" defTabSz="685800" eaLnBrk="0" hangingPunct="0">
              <a:lnSpc>
                <a:spcPct val="150000"/>
              </a:lnSpc>
              <a:spcBef>
                <a:spcPct val="50000"/>
              </a:spcBef>
              <a:buClr>
                <a:srgbClr val="C00000"/>
              </a:buClr>
              <a:buFont typeface="Wingdings" panose="05000000000000000000" pitchFamily="2" charset="2"/>
              <a:buChar char="Ø"/>
              <a:defRPr/>
            </a:pPr>
            <a:r>
              <a:rPr lang="en-US" altLang="zh-CN" sz="2600" dirty="0">
                <a:effectLst/>
                <a:latin typeface="Cambria" panose="02040503050406030204" pitchFamily="18" charset="0"/>
                <a:ea typeface="华文细黑" panose="02010600040101010101" pitchFamily="2" charset="-122"/>
                <a:cs typeface="Times New Roman" panose="02020603050405020304" pitchFamily="18" charset="0"/>
              </a:rPr>
              <a:t>D3</a:t>
            </a:r>
            <a:r>
              <a:rPr lang="en-US" altLang="zh-CN" sz="26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费解</a:t>
            </a:r>
            <a:endParaRPr lang="en-US" altLang="zh-CN" sz="2600" dirty="0">
              <a:latin typeface="Times New Roman" panose="02020603050405020304" pitchFamily="18" charset="0"/>
              <a:ea typeface="宋体" panose="02010600030101010101" pitchFamily="2" charset="-122"/>
            </a:endParaRPr>
          </a:p>
        </p:txBody>
      </p:sp>
      <p:sp>
        <p:nvSpPr>
          <p:cNvPr id="3" name="Rectangle 2">
            <a:extLst>
              <a:ext uri="{FF2B5EF4-FFF2-40B4-BE49-F238E27FC236}">
                <a16:creationId xmlns:a16="http://schemas.microsoft.com/office/drawing/2014/main" id="{095E3224-95EE-9167-5CE0-E5F581B9116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图形</a:t>
            </a:r>
          </a:p>
        </p:txBody>
      </p:sp>
      <p:pic>
        <p:nvPicPr>
          <p:cNvPr id="4" name="图片 3">
            <a:extLst>
              <a:ext uri="{FF2B5EF4-FFF2-40B4-BE49-F238E27FC236}">
                <a16:creationId xmlns:a16="http://schemas.microsoft.com/office/drawing/2014/main" id="{83027828-6646-F5DF-48F9-D57C362305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81389" y="1722474"/>
            <a:ext cx="7892218" cy="4597046"/>
          </a:xfrm>
          <a:prstGeom prst="rect">
            <a:avLst/>
          </a:prstGeom>
          <a:noFill/>
          <a:ln w="6350">
            <a:solidFill>
              <a:schemeClr val="bg1">
                <a:lumMod val="75000"/>
              </a:schemeClr>
            </a:solidFill>
          </a:ln>
        </p:spPr>
      </p:pic>
    </p:spTree>
    <p:extLst>
      <p:ext uri="{BB962C8B-B14F-4D97-AF65-F5344CB8AC3E}">
        <p14:creationId xmlns:p14="http://schemas.microsoft.com/office/powerpoint/2010/main" val="258559914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751841" y="1722473"/>
            <a:ext cx="1294674" cy="4658007"/>
          </a:xfrm>
          <a:noFill/>
          <a:ln w="6350">
            <a:solidFill>
              <a:schemeClr val="bg1">
                <a:lumMod val="75000"/>
              </a:schemeClr>
            </a:solidFill>
          </a:ln>
        </p:spPr>
        <p:txBody>
          <a:bodyPr>
            <a:noAutofit/>
          </a:bodyPr>
          <a:lstStyle/>
          <a:p>
            <a:pPr algn="just" defTabSz="685800" eaLnBrk="0" hangingPunct="0">
              <a:lnSpc>
                <a:spcPct val="150000"/>
              </a:lnSpc>
              <a:spcBef>
                <a:spcPct val="50000"/>
              </a:spcBef>
              <a:buClr>
                <a:srgbClr val="000099"/>
              </a:buClr>
              <a:defRPr/>
            </a:pP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D1</a:t>
            </a:r>
            <a:r>
              <a:rPr lang="en-US" altLang="zh-CN" sz="20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费</a:t>
            </a:r>
            <a:r>
              <a:rPr lang="zh-CN" altLang="en-US" sz="2000" dirty="0">
                <a:effectLst/>
                <a:latin typeface="Cambria" panose="02040503050406030204" pitchFamily="18" charset="0"/>
                <a:ea typeface="华文细黑" panose="02010600040101010101" pitchFamily="2" charset="-122"/>
                <a:cs typeface="Times New Roman" panose="02020603050405020304" pitchFamily="18" charset="0"/>
              </a:rPr>
              <a:t>时</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algn="just" defTabSz="685800" eaLnBrk="0" hangingPunct="0">
              <a:lnSpc>
                <a:spcPct val="150000"/>
              </a:lnSpc>
              <a:spcBef>
                <a:spcPct val="50000"/>
              </a:spcBef>
              <a:buClr>
                <a:srgbClr val="000099"/>
              </a:buClr>
              <a:defRPr/>
            </a:pP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D2</a:t>
            </a:r>
            <a:r>
              <a:rPr lang="en-US" altLang="zh-CN" sz="20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费</a:t>
            </a:r>
            <a:r>
              <a:rPr lang="zh-CN" altLang="en-US" sz="2000" dirty="0">
                <a:effectLst/>
                <a:latin typeface="Cambria" panose="02040503050406030204" pitchFamily="18" charset="0"/>
                <a:ea typeface="华文细黑" panose="02010600040101010101" pitchFamily="2" charset="-122"/>
                <a:cs typeface="Times New Roman" panose="02020603050405020304" pitchFamily="18" charset="0"/>
              </a:rPr>
              <a:t>力</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algn="just" defTabSz="685800" eaLnBrk="0" hangingPunct="0">
              <a:lnSpc>
                <a:spcPct val="150000"/>
              </a:lnSpc>
              <a:spcBef>
                <a:spcPct val="50000"/>
              </a:spcBef>
              <a:buClr>
                <a:srgbClr val="000099"/>
              </a:buClr>
              <a:defRPr/>
            </a:pP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D3</a:t>
            </a:r>
            <a:r>
              <a:rPr lang="en-US" altLang="zh-CN" sz="20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费解</a:t>
            </a:r>
            <a:endParaRPr lang="en-US" altLang="zh-CN" sz="2000" dirty="0">
              <a:latin typeface="Times New Roman" panose="02020603050405020304" pitchFamily="18" charset="0"/>
              <a:ea typeface="宋体" panose="02010600030101010101" pitchFamily="2" charset="-122"/>
            </a:endParaRPr>
          </a:p>
        </p:txBody>
      </p:sp>
      <p:sp>
        <p:nvSpPr>
          <p:cNvPr id="2" name="Rectangle 3">
            <a:extLst>
              <a:ext uri="{FF2B5EF4-FFF2-40B4-BE49-F238E27FC236}">
                <a16:creationId xmlns:a16="http://schemas.microsoft.com/office/drawing/2014/main" id="{E73A669C-ACF3-616E-B2DC-4AC64F549740}"/>
              </a:ext>
            </a:extLst>
          </p:cNvPr>
          <p:cNvSpPr txBox="1">
            <a:spLocks noChangeArrowheads="1"/>
          </p:cNvSpPr>
          <p:nvPr/>
        </p:nvSpPr>
        <p:spPr>
          <a:xfrm>
            <a:off x="-2900" y="1054486"/>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a:t>
            </a:r>
            <a:r>
              <a:rPr lang="en-US" altLang="zh-CN" sz="2600" b="1" dirty="0">
                <a:solidFill>
                  <a:srgbClr val="002060"/>
                </a:solidFill>
                <a:ea typeface="华文细黑" panose="02010600040101010101" pitchFamily="2" charset="-122"/>
              </a:rPr>
              <a:t>3D </a:t>
            </a:r>
            <a:r>
              <a:rPr lang="zh-CN" altLang="en-US" sz="2600" b="1" dirty="0">
                <a:solidFill>
                  <a:srgbClr val="002060"/>
                </a:solidFill>
                <a:ea typeface="华文细黑" panose="02010600040101010101" pitchFamily="2" charset="-122"/>
              </a:rPr>
              <a:t>图形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谨慎使用</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1A75EB41-F5D3-3D5E-BA4D-AFCD0E2EEA1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图形</a:t>
            </a:r>
          </a:p>
        </p:txBody>
      </p:sp>
      <p:pic>
        <p:nvPicPr>
          <p:cNvPr id="3" name="图片 2">
            <a:extLst>
              <a:ext uri="{FF2B5EF4-FFF2-40B4-BE49-F238E27FC236}">
                <a16:creationId xmlns:a16="http://schemas.microsoft.com/office/drawing/2014/main" id="{789E3809-749A-4EE3-2EFE-95B32EA64B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2330" y="1722473"/>
            <a:ext cx="9631854" cy="4658006"/>
          </a:xfrm>
          <a:prstGeom prst="rect">
            <a:avLst/>
          </a:prstGeom>
          <a:noFill/>
          <a:ln w="6350">
            <a:solidFill>
              <a:schemeClr val="bg1">
                <a:lumMod val="75000"/>
              </a:schemeClr>
            </a:solidFill>
          </a:ln>
        </p:spPr>
      </p:pic>
    </p:spTree>
    <p:extLst>
      <p:ext uri="{BB962C8B-B14F-4D97-AF65-F5344CB8AC3E}">
        <p14:creationId xmlns:p14="http://schemas.microsoft.com/office/powerpoint/2010/main" val="2189184310"/>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数据变换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什么是数据变换</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22474"/>
                <a:ext cx="5121352" cy="461736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b="1" dirty="0">
                    <a:effectLst/>
                    <a:highlight>
                      <a:srgbClr val="FFFF99"/>
                    </a:highlight>
                    <a:latin typeface="Cambria" panose="02040503050406030204" pitchFamily="18" charset="0"/>
                    <a:ea typeface="华文细黑" panose="02010600040101010101" pitchFamily="2" charset="-122"/>
                  </a:rPr>
                  <a:t>数据变换</a:t>
                </a:r>
                <a:r>
                  <a:rPr lang="en-US" altLang="zh-CN" sz="1700" dirty="0">
                    <a:effectLst/>
                    <a:latin typeface="Cambria" panose="02040503050406030204" pitchFamily="18" charset="0"/>
                    <a:ea typeface="华文细黑" panose="02010600040101010101" pitchFamily="2" charset="-122"/>
                  </a:rPr>
                  <a:t>(data transformation)</a:t>
                </a:r>
                <a:r>
                  <a:rPr lang="zh-CN" altLang="zh-CN" sz="1700" dirty="0">
                    <a:effectLst/>
                    <a:latin typeface="Cambria" panose="02040503050406030204" pitchFamily="18" charset="0"/>
                    <a:ea typeface="华文细黑" panose="02010600040101010101" pitchFamily="2" charset="-122"/>
                  </a:rPr>
                  <a:t>就是通过某种方法将原始数据进行重新表达，以便改进原始数据的某些特征，增进我们对数据的理解和分析</a:t>
                </a:r>
                <a:endParaRPr lang="en-US" altLang="zh-CN" sz="1700" dirty="0">
                  <a:latin typeface="Times New Roman" panose="02020603050405020304" pitchFamily="18" charset="0"/>
                  <a:ea typeface="宋体" panose="0201060003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effectLst/>
                    <a:latin typeface="Cambria" panose="02040503050406030204" pitchFamily="18" charset="0"/>
                    <a:ea typeface="华文细黑" panose="02010600040101010101" pitchFamily="2" charset="-122"/>
                  </a:rPr>
                  <a:t>设一批原始数据数据为</a:t>
                </a:r>
                <a14:m>
                  <m:oMath xmlns:m="http://schemas.openxmlformats.org/officeDocument/2006/math">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1</m:t>
                        </m:r>
                      </m:sub>
                    </m:sSub>
                  </m:oMath>
                </a14:m>
                <a:r>
                  <a:rPr lang="zh-CN" altLang="zh-CN" sz="1700" dirty="0">
                    <a:effectLst/>
                    <a:latin typeface="Cambria" panose="02040503050406030204" pitchFamily="18" charset="0"/>
                    <a:ea typeface="华文细黑" panose="02010600040101010101" pitchFamily="2" charset="-122"/>
                  </a:rPr>
                  <a:t>，</a:t>
                </a:r>
                <a14:m>
                  <m:oMath xmlns:m="http://schemas.openxmlformats.org/officeDocument/2006/math">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2</m:t>
                        </m:r>
                      </m:sub>
                    </m:sSub>
                  </m:oMath>
                </a14:m>
                <a:r>
                  <a:rPr lang="zh-CN" altLang="zh-CN" sz="1700" dirty="0">
                    <a:effectLst/>
                    <a:latin typeface="Cambria" panose="02040503050406030204" pitchFamily="18" charset="0"/>
                    <a:ea typeface="华文细黑" panose="02010600040101010101" pitchFamily="2" charset="-122"/>
                  </a:rPr>
                  <a:t>，</a:t>
                </a:r>
                <a:r>
                  <a:rPr lang="en-US" altLang="zh-CN" sz="1700" dirty="0">
                    <a:effectLst/>
                    <a:latin typeface="Cambria" panose="02040503050406030204" pitchFamily="18" charset="0"/>
                    <a:ea typeface="华文细黑" panose="02010600040101010101" pitchFamily="2" charset="-122"/>
                  </a:rPr>
                  <a:t>…</a:t>
                </a:r>
                <a:r>
                  <a:rPr lang="zh-CN" altLang="zh-CN" sz="1700" dirty="0">
                    <a:effectLst/>
                    <a:latin typeface="Cambria" panose="02040503050406030204" pitchFamily="18" charset="0"/>
                    <a:ea typeface="华文细黑" panose="02010600040101010101" pitchFamily="2" charset="-122"/>
                  </a:rPr>
                  <a:t>，</a:t>
                </a:r>
                <a14:m>
                  <m:oMath xmlns:m="http://schemas.openxmlformats.org/officeDocument/2006/math">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𝑛</m:t>
                        </m:r>
                      </m:sub>
                    </m:sSub>
                  </m:oMath>
                </a14:m>
                <a:r>
                  <a:rPr lang="zh-CN" altLang="zh-CN" sz="1700" dirty="0">
                    <a:effectLst/>
                    <a:latin typeface="Cambria" panose="02040503050406030204" pitchFamily="18" charset="0"/>
                    <a:ea typeface="华文细黑" panose="02010600040101010101" pitchFamily="2" charset="-122"/>
                  </a:rPr>
                  <a:t>，所谓变换就是找到一个函数</a:t>
                </a:r>
                <a:r>
                  <a:rPr lang="en-US" altLang="zh-CN" sz="1700" i="1" dirty="0">
                    <a:effectLst/>
                    <a:latin typeface="Cambria" panose="02040503050406030204" pitchFamily="18" charset="0"/>
                    <a:ea typeface="华文细黑" panose="02010600040101010101" pitchFamily="2" charset="-122"/>
                  </a:rPr>
                  <a:t>T</a:t>
                </a:r>
                <a:r>
                  <a:rPr lang="zh-CN" altLang="zh-CN" sz="1700" dirty="0">
                    <a:effectLst/>
                    <a:latin typeface="Cambria" panose="02040503050406030204" pitchFamily="18" charset="0"/>
                    <a:ea typeface="华文细黑" panose="02010600040101010101" pitchFamily="2" charset="-122"/>
                  </a:rPr>
                  <a:t>，它把每个</a:t>
                </a:r>
                <a14:m>
                  <m:oMath xmlns:m="http://schemas.openxmlformats.org/officeDocument/2006/math">
                    <m:sSub>
                      <m:sSubPr>
                        <m:ctrlPr>
                          <a:rPr lang="zh-CN" altLang="zh-CN" sz="1700" i="1" baseline="-25000">
                            <a:effectLst/>
                            <a:latin typeface="Cambria Math" panose="02040503050406030204" pitchFamily="18" charset="0"/>
                            <a:ea typeface="Cambria Math" panose="02040503050406030204" pitchFamily="18" charset="0"/>
                          </a:rPr>
                        </m:ctrlPr>
                      </m:sSubPr>
                      <m:e>
                        <m:r>
                          <a:rPr lang="en-US" altLang="zh-CN" sz="1700" i="1" baseline="-25000">
                            <a:effectLst/>
                            <a:latin typeface="Cambria Math" panose="02040503050406030204" pitchFamily="18" charset="0"/>
                            <a:ea typeface="华文细黑" panose="02010600040101010101" pitchFamily="2" charset="-122"/>
                          </a:rPr>
                          <m:t>𝑥</m:t>
                        </m:r>
                      </m:e>
                      <m:sub>
                        <m:r>
                          <a:rPr lang="en-US" altLang="zh-CN" sz="1700" i="1" baseline="-25000">
                            <a:effectLst/>
                            <a:latin typeface="Cambria Math" panose="02040503050406030204" pitchFamily="18" charset="0"/>
                            <a:ea typeface="华文细黑" panose="02010600040101010101" pitchFamily="2" charset="-122"/>
                          </a:rPr>
                          <m:t>𝑖</m:t>
                        </m:r>
                      </m:sub>
                    </m:sSub>
                  </m:oMath>
                </a14:m>
                <a:r>
                  <a:rPr lang="zh-CN" altLang="zh-CN" sz="1700" dirty="0">
                    <a:effectLst/>
                    <a:latin typeface="Cambria" panose="02040503050406030204" pitchFamily="18" charset="0"/>
                    <a:ea typeface="华文细黑" panose="02010600040101010101" pitchFamily="2" charset="-122"/>
                  </a:rPr>
                  <a:t>用新值</a:t>
                </a:r>
                <a14:m>
                  <m:oMath xmlns:m="http://schemas.openxmlformats.org/officeDocument/2006/math">
                    <m:r>
                      <a:rPr lang="en-US" altLang="zh-CN" sz="1700" i="1">
                        <a:effectLst/>
                        <a:latin typeface="Cambria Math" panose="02040503050406030204" pitchFamily="18" charset="0"/>
                        <a:ea typeface="华文细黑" panose="02010600040101010101" pitchFamily="2" charset="-122"/>
                      </a:rPr>
                      <m:t>𝑇</m:t>
                    </m:r>
                    <m:r>
                      <a:rPr lang="en-US" altLang="zh-CN" sz="1700" i="1">
                        <a:effectLst/>
                        <a:latin typeface="Cambria Math" panose="02040503050406030204" pitchFamily="18" charset="0"/>
                        <a:ea typeface="华文细黑" panose="02010600040101010101" pitchFamily="2" charset="-122"/>
                      </a:rPr>
                      <m:t> (</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𝑖</m:t>
                        </m:r>
                      </m:sub>
                    </m:sSub>
                    <m:r>
                      <a:rPr lang="en-US" altLang="zh-CN" sz="1700" i="1">
                        <a:effectLst/>
                        <a:latin typeface="Cambria Math" panose="02040503050406030204" pitchFamily="18" charset="0"/>
                        <a:ea typeface="华文细黑" panose="02010600040101010101" pitchFamily="2" charset="-122"/>
                      </a:rPr>
                      <m:t>)</m:t>
                    </m:r>
                  </m:oMath>
                </a14:m>
                <a:r>
                  <a:rPr lang="zh-CN" altLang="zh-CN" sz="1700" dirty="0">
                    <a:effectLst/>
                    <a:latin typeface="Cambria" panose="02040503050406030204" pitchFamily="18" charset="0"/>
                    <a:ea typeface="华文细黑" panose="02010600040101010101" pitchFamily="2" charset="-122"/>
                  </a:rPr>
                  <a:t>来代替，使得变换后的数据为</a:t>
                </a:r>
                <a14:m>
                  <m:oMath xmlns:m="http://schemas.openxmlformats.org/officeDocument/2006/math">
                    <m:r>
                      <a:rPr lang="en-US" altLang="zh-CN" sz="1700" i="1">
                        <a:effectLst/>
                        <a:latin typeface="Cambria Math" panose="02040503050406030204" pitchFamily="18" charset="0"/>
                        <a:ea typeface="华文细黑" panose="02010600040101010101" pitchFamily="2" charset="-122"/>
                      </a:rPr>
                      <m:t>𝑇</m:t>
                    </m:r>
                    <m:r>
                      <a:rPr lang="en-US" altLang="zh-CN" sz="1700" i="1">
                        <a:effectLst/>
                        <a:latin typeface="Cambria Math" panose="02040503050406030204" pitchFamily="18" charset="0"/>
                        <a:ea typeface="华文细黑" panose="02010600040101010101" pitchFamily="2" charset="-122"/>
                      </a:rPr>
                      <m:t>(</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1</m:t>
                        </m:r>
                      </m:sub>
                    </m:sSub>
                    <m:r>
                      <a:rPr lang="en-US" altLang="zh-CN" sz="1700" i="1">
                        <a:effectLst/>
                        <a:latin typeface="Cambria Math" panose="02040503050406030204" pitchFamily="18" charset="0"/>
                        <a:ea typeface="华文细黑" panose="02010600040101010101" pitchFamily="2" charset="-122"/>
                      </a:rPr>
                      <m:t>)</m:t>
                    </m:r>
                    <m:r>
                      <a:rPr lang="zh-CN" altLang="zh-CN" sz="1700">
                        <a:effectLst/>
                        <a:latin typeface="Cambria Math" panose="02040503050406030204" pitchFamily="18" charset="0"/>
                        <a:ea typeface="华文细黑" panose="02010600040101010101" pitchFamily="2" charset="-122"/>
                      </a:rPr>
                      <m:t>，</m:t>
                    </m:r>
                    <m:r>
                      <a:rPr lang="en-US" altLang="zh-CN" sz="1700" i="1">
                        <a:effectLst/>
                        <a:latin typeface="Cambria Math" panose="02040503050406030204" pitchFamily="18" charset="0"/>
                        <a:ea typeface="华文细黑" panose="02010600040101010101" pitchFamily="2" charset="-122"/>
                      </a:rPr>
                      <m:t>𝑇</m:t>
                    </m:r>
                    <m:r>
                      <a:rPr lang="en-US" altLang="zh-CN" sz="1700" i="1">
                        <a:effectLst/>
                        <a:latin typeface="Cambria Math" panose="02040503050406030204" pitchFamily="18" charset="0"/>
                        <a:ea typeface="华文细黑" panose="02010600040101010101" pitchFamily="2" charset="-122"/>
                      </a:rPr>
                      <m:t>(</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2</m:t>
                        </m:r>
                      </m:sub>
                    </m:sSub>
                    <m:r>
                      <a:rPr lang="en-US" altLang="zh-CN" sz="1700" i="1">
                        <a:effectLst/>
                        <a:latin typeface="Cambria Math" panose="02040503050406030204" pitchFamily="18" charset="0"/>
                        <a:ea typeface="华文细黑" panose="02010600040101010101" pitchFamily="2" charset="-122"/>
                      </a:rPr>
                      <m:t>)</m:t>
                    </m:r>
                    <m:r>
                      <a:rPr lang="zh-CN" altLang="zh-CN" sz="1700">
                        <a:effectLst/>
                        <a:latin typeface="Cambria Math" panose="02040503050406030204" pitchFamily="18" charset="0"/>
                        <a:ea typeface="华文细黑" panose="02010600040101010101" pitchFamily="2" charset="-122"/>
                      </a:rPr>
                      <m:t>，</m:t>
                    </m:r>
                    <m:r>
                      <a:rPr lang="en-US" altLang="zh-CN" sz="1700" i="1">
                        <a:effectLst/>
                        <a:latin typeface="Cambria Math" panose="02040503050406030204" pitchFamily="18" charset="0"/>
                        <a:ea typeface="华文细黑" panose="02010600040101010101" pitchFamily="2" charset="-122"/>
                      </a:rPr>
                      <m:t>…</m:t>
                    </m:r>
                    <m:r>
                      <a:rPr lang="zh-CN" altLang="zh-CN" sz="1700">
                        <a:effectLst/>
                        <a:latin typeface="Cambria Math" panose="02040503050406030204" pitchFamily="18" charset="0"/>
                        <a:ea typeface="华文细黑" panose="02010600040101010101" pitchFamily="2" charset="-122"/>
                      </a:rPr>
                      <m:t>，</m:t>
                    </m:r>
                    <m:r>
                      <a:rPr lang="en-US" altLang="zh-CN" sz="1700" i="1">
                        <a:effectLst/>
                        <a:latin typeface="Cambria Math" panose="02040503050406030204" pitchFamily="18" charset="0"/>
                        <a:ea typeface="华文细黑" panose="02010600040101010101" pitchFamily="2" charset="-122"/>
                      </a:rPr>
                      <m:t>𝑇</m:t>
                    </m:r>
                    <m:r>
                      <a:rPr lang="en-US" altLang="zh-CN" sz="1700" i="1">
                        <a:effectLst/>
                        <a:latin typeface="Cambria Math" panose="02040503050406030204" pitchFamily="18" charset="0"/>
                        <a:ea typeface="华文细黑" panose="02010600040101010101" pitchFamily="2" charset="-122"/>
                      </a:rPr>
                      <m:t>(</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𝑛</m:t>
                        </m:r>
                      </m:sub>
                    </m:sSub>
                    <m:r>
                      <a:rPr lang="en-US" altLang="zh-CN" sz="1700" i="1">
                        <a:effectLst/>
                        <a:latin typeface="Cambria Math" panose="02040503050406030204" pitchFamily="18" charset="0"/>
                        <a:ea typeface="华文细黑" panose="02010600040101010101" pitchFamily="2" charset="-122"/>
                      </a:rPr>
                      <m:t>)</m:t>
                    </m:r>
                  </m:oMath>
                </a14:m>
                <a:endParaRPr lang="en-US" altLang="zh-CN" sz="17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effectLst/>
                    <a:latin typeface="Cambria" panose="02040503050406030204" pitchFamily="18" charset="0"/>
                    <a:ea typeface="华文细黑" panose="02010600040101010101" pitchFamily="2" charset="-122"/>
                  </a:rPr>
                  <a:t>数据变换的方法有多种，大致可分为</a:t>
                </a:r>
                <a:r>
                  <a:rPr lang="zh-CN" altLang="zh-CN" sz="1700" b="1" dirty="0">
                    <a:effectLst/>
                    <a:latin typeface="Cambria" panose="02040503050406030204" pitchFamily="18" charset="0"/>
                    <a:ea typeface="华文细黑" panose="02010600040101010101" pitchFamily="2" charset="-122"/>
                  </a:rPr>
                  <a:t>线性变换</a:t>
                </a:r>
                <a:r>
                  <a:rPr lang="en-US" altLang="zh-CN" sz="1700" dirty="0">
                    <a:effectLst/>
                    <a:latin typeface="Cambria" panose="02040503050406030204" pitchFamily="18" charset="0"/>
                    <a:ea typeface="华文细黑" panose="02010600040101010101" pitchFamily="2" charset="-122"/>
                  </a:rPr>
                  <a:t>(linear transformation)</a:t>
                </a:r>
                <a:r>
                  <a:rPr lang="zh-CN" altLang="zh-CN" sz="1700" dirty="0">
                    <a:effectLst/>
                    <a:latin typeface="Cambria" panose="02040503050406030204" pitchFamily="18" charset="0"/>
                    <a:ea typeface="华文细黑" panose="02010600040101010101" pitchFamily="2" charset="-122"/>
                  </a:rPr>
                  <a:t>和</a:t>
                </a:r>
                <a:r>
                  <a:rPr lang="zh-CN" altLang="zh-CN" sz="1700" b="1" dirty="0">
                    <a:effectLst/>
                    <a:latin typeface="Cambria" panose="02040503050406030204" pitchFamily="18" charset="0"/>
                    <a:ea typeface="华文细黑" panose="02010600040101010101" pitchFamily="2" charset="-122"/>
                  </a:rPr>
                  <a:t>非线性变换</a:t>
                </a:r>
                <a:r>
                  <a:rPr lang="en-US" altLang="zh-CN" sz="1700" dirty="0">
                    <a:effectLst/>
                    <a:latin typeface="Cambria" panose="02040503050406030204" pitchFamily="18" charset="0"/>
                    <a:ea typeface="华文细黑" panose="02010600040101010101" pitchFamily="2" charset="-122"/>
                  </a:rPr>
                  <a:t>(nonlinear transformation)</a:t>
                </a:r>
                <a:r>
                  <a:rPr lang="zh-CN" altLang="zh-CN" sz="1700" dirty="0">
                    <a:effectLst/>
                    <a:latin typeface="Cambria" panose="02040503050406030204" pitchFamily="18" charset="0"/>
                    <a:ea typeface="华文细黑" panose="02010600040101010101" pitchFamily="2" charset="-122"/>
                  </a:rPr>
                  <a:t>两大类。</a:t>
                </a:r>
                <a:endParaRPr lang="zh-CN" altLang="zh-CN" sz="1700" dirty="0">
                  <a:effectLst/>
                  <a:latin typeface="Times New Roman" panose="02020603050405020304" pitchFamily="18" charset="0"/>
                  <a:ea typeface="宋体" panose="02010600030101010101" pitchFamily="2" charset="-122"/>
                </a:endParaRPr>
              </a:p>
              <a:p>
                <a:pPr algn="just" defTabSz="685800" eaLnBrk="0" hangingPunct="0">
                  <a:lnSpc>
                    <a:spcPct val="150000"/>
                  </a:lnSpc>
                  <a:spcBef>
                    <a:spcPct val="50000"/>
                  </a:spcBef>
                  <a:buClr>
                    <a:srgbClr val="000099"/>
                  </a:buClr>
                  <a:defRPr/>
                </a:pPr>
                <a:endParaRPr lang="en-US" altLang="zh-CN" sz="1700" dirty="0">
                  <a:effectLst/>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13" name="副标题 2">
                <a:extLst>
                  <a:ext uri="{FF2B5EF4-FFF2-40B4-BE49-F238E27FC236}">
                    <a16:creationId xmlns:a16="http://schemas.microsoft.com/office/drawing/2014/main" id="{594C2978-0D29-4EC6-8EBB-7A5E80A4D855}"/>
                  </a:ext>
                </a:extLst>
              </p:cNvPr>
              <p:cNvSpPr>
                <a:spLocks noGrp="1" noRot="1" noChangeAspect="1" noMove="1" noResize="1" noEditPoints="1" noAdjustHandles="1" noChangeArrowheads="1" noChangeShapeType="1" noTextEdit="1"/>
              </p:cNvSpPr>
              <p:nvPr>
                <p:ph type="subTitle" idx="1"/>
              </p:nvPr>
            </p:nvSpPr>
            <p:spPr>
              <a:xfrm>
                <a:off x="808076" y="1722474"/>
                <a:ext cx="5121352" cy="4617366"/>
              </a:xfrm>
              <a:blipFill>
                <a:blip r:embed="rId2"/>
                <a:stretch>
                  <a:fillRect l="-595" r="-595"/>
                </a:stretch>
              </a:blipFill>
              <a:ln w="6350">
                <a:solidFill>
                  <a:schemeClr val="bg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BA5951A5-8868-4E80-A13C-91D2AC44CF97}"/>
                  </a:ext>
                </a:extLst>
              </p:cNvPr>
              <p:cNvSpPr txBox="1">
                <a:spLocks/>
              </p:cNvSpPr>
              <p:nvPr/>
            </p:nvSpPr>
            <p:spPr>
              <a:xfrm>
                <a:off x="6071180" y="1722474"/>
                <a:ext cx="5401339" cy="461736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线性变换是通过改变原始数据的原点或尺度将其变换成一组新的数据</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线性变换可以化简数据，统一数据的量纲，从而便于我们对数据的描述和分析</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非线性变换是将原始数据</a:t>
                </a:r>
                <a14:m>
                  <m:oMath xmlns:m="http://schemas.openxmlformats.org/officeDocument/2006/math">
                    <m:r>
                      <a:rPr lang="en-US" altLang="zh-CN" sz="1800">
                        <a:latin typeface="Cambria Math" panose="02040503050406030204" pitchFamily="18" charset="0"/>
                        <a:ea typeface="华文细黑" panose="02010600040101010101" pitchFamily="2" charset="-122"/>
                      </a:rPr>
                      <m:t>𝑥</m:t>
                    </m:r>
                  </m:oMath>
                </a14:m>
                <a:r>
                  <a:rPr lang="zh-CN" altLang="zh-CN" sz="1800" dirty="0">
                    <a:latin typeface="Cambria" panose="02040503050406030204" pitchFamily="18" charset="0"/>
                    <a:ea typeface="华文细黑" panose="02010600040101010101" pitchFamily="2" charset="-122"/>
                  </a:rPr>
                  <a:t>变换成</a:t>
                </a:r>
                <a14:m>
                  <m:oMath xmlns:m="http://schemas.openxmlformats.org/officeDocument/2006/math">
                    <m:sSup>
                      <m:sSupPr>
                        <m:ctrlPr>
                          <a:rPr lang="zh-CN" altLang="zh-CN" sz="1800" i="1">
                            <a:latin typeface="Cambria Math" panose="02040503050406030204" pitchFamily="18" charset="0"/>
                            <a:ea typeface="华文细黑" panose="02010600040101010101" pitchFamily="2" charset="-122"/>
                          </a:rPr>
                        </m:ctrlPr>
                      </m:sSupPr>
                      <m:e>
                        <m:r>
                          <a:rPr lang="en-US" altLang="zh-CN" sz="1800">
                            <a:latin typeface="Cambria Math" panose="02040503050406030204" pitchFamily="18" charset="0"/>
                            <a:ea typeface="华文细黑" panose="02010600040101010101" pitchFamily="2" charset="-122"/>
                          </a:rPr>
                          <m:t>𝑥</m:t>
                        </m:r>
                      </m:e>
                      <m:sup>
                        <m:r>
                          <a:rPr lang="en-US" altLang="zh-CN" sz="1800">
                            <a:latin typeface="Cambria Math" panose="02040503050406030204" pitchFamily="18" charset="0"/>
                            <a:ea typeface="华文细黑" panose="02010600040101010101" pitchFamily="2" charset="-122"/>
                          </a:rPr>
                          <m:t>𝑝</m:t>
                        </m:r>
                      </m:sup>
                    </m:sSup>
                  </m:oMath>
                </a14:m>
                <a:r>
                  <a:rPr lang="zh-CN" altLang="zh-CN" sz="1800" dirty="0">
                    <a:latin typeface="Cambria" panose="02040503050406030204" pitchFamily="18" charset="0"/>
                    <a:ea typeface="华文细黑" panose="02010600040101010101" pitchFamily="2" charset="-122"/>
                  </a:rPr>
                  <a:t>的形式，也称幂变换或称指数变换，如果</a:t>
                </a:r>
                <a14:m>
                  <m:oMath xmlns:m="http://schemas.openxmlformats.org/officeDocument/2006/math">
                    <m:r>
                      <a:rPr lang="en-US" altLang="zh-CN" sz="1800">
                        <a:latin typeface="Cambria Math" panose="02040503050406030204" pitchFamily="18" charset="0"/>
                        <a:ea typeface="华文细黑" panose="02010600040101010101" pitchFamily="2" charset="-122"/>
                      </a:rPr>
                      <m:t>𝑝</m:t>
                    </m:r>
                    <m:r>
                      <a:rPr lang="en-US" altLang="zh-CN" sz="1800">
                        <a:latin typeface="Cambria Math" panose="02040503050406030204" pitchFamily="18" charset="0"/>
                        <a:ea typeface="华文细黑" panose="02010600040101010101" pitchFamily="2" charset="-122"/>
                      </a:rPr>
                      <m:t>=0</m:t>
                    </m:r>
                  </m:oMath>
                </a14:m>
                <a:r>
                  <a:rPr lang="zh-CN" altLang="zh-CN" sz="1800" dirty="0">
                    <a:latin typeface="Cambria" panose="02040503050406030204" pitchFamily="18" charset="0"/>
                    <a:ea typeface="华文细黑" panose="02010600040101010101" pitchFamily="2" charset="-122"/>
                  </a:rPr>
                  <a:t>，则用</a:t>
                </a:r>
                <a14:m>
                  <m:oMath xmlns:m="http://schemas.openxmlformats.org/officeDocument/2006/math">
                    <m:r>
                      <m:rPr>
                        <m:sty m:val="p"/>
                      </m:rPr>
                      <a:rPr lang="en-US" altLang="zh-CN" sz="1800">
                        <a:latin typeface="Cambria Math" panose="02040503050406030204" pitchFamily="18" charset="0"/>
                        <a:ea typeface="华文细黑" panose="02010600040101010101" pitchFamily="2" charset="-122"/>
                      </a:rPr>
                      <m:t>lg</m:t>
                    </m:r>
                    <m:r>
                      <a:rPr lang="en-US" altLang="zh-CN" sz="1800">
                        <a:latin typeface="Cambria Math" panose="02040503050406030204" pitchFamily="18" charset="0"/>
                        <a:ea typeface="华文细黑" panose="02010600040101010101" pitchFamily="2" charset="-122"/>
                      </a:rPr>
                      <m:t>⁡(</m:t>
                    </m:r>
                    <m:r>
                      <a:rPr lang="en-US" altLang="zh-CN" sz="1800">
                        <a:latin typeface="Cambria Math" panose="02040503050406030204" pitchFamily="18" charset="0"/>
                        <a:ea typeface="华文细黑" panose="02010600040101010101" pitchFamily="2" charset="-122"/>
                      </a:rPr>
                      <m:t>𝑥</m:t>
                    </m:r>
                    <m:r>
                      <a:rPr lang="en-US" altLang="zh-CN" sz="1800">
                        <a:latin typeface="Cambria Math" panose="02040503050406030204" pitchFamily="18" charset="0"/>
                        <a:ea typeface="华文细黑" panose="02010600040101010101" pitchFamily="2" charset="-122"/>
                      </a:rPr>
                      <m:t>)</m:t>
                    </m:r>
                  </m:oMath>
                </a14:m>
                <a:r>
                  <a:rPr lang="zh-CN" altLang="zh-CN" sz="1800" dirty="0">
                    <a:latin typeface="Cambria" panose="02040503050406030204" pitchFamily="18" charset="0"/>
                    <a:ea typeface="华文细黑" panose="02010600040101010101" pitchFamily="2" charset="-122"/>
                  </a:rPr>
                  <a:t>代替</a:t>
                </a:r>
                <a14:m>
                  <m:oMath xmlns:m="http://schemas.openxmlformats.org/officeDocument/2006/math">
                    <m:r>
                      <a:rPr lang="en-US" altLang="zh-CN" sz="1800">
                        <a:latin typeface="Cambria Math" panose="02040503050406030204" pitchFamily="18" charset="0"/>
                        <a:ea typeface="华文细黑" panose="02010600040101010101" pitchFamily="2" charset="-122"/>
                      </a:rPr>
                      <m:t>𝑥</m:t>
                    </m:r>
                  </m:oMath>
                </a14:m>
                <a:r>
                  <a:rPr lang="zh-CN" altLang="zh-CN" sz="1800" dirty="0">
                    <a:latin typeface="Cambria" panose="02040503050406030204" pitchFamily="18" charset="0"/>
                    <a:ea typeface="华文细黑" panose="02010600040101010101" pitchFamily="2" charset="-122"/>
                  </a:rPr>
                  <a:t>，也就是将原始数据作对数变换</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除对数变换外，非线性变换还有立方变换、平方变换、平方根变换等多种形式</a:t>
                </a:r>
                <a:endParaRPr lang="en-US" altLang="zh-CN" sz="1800" dirty="0">
                  <a:latin typeface="Cambria" panose="02040503050406030204" pitchFamily="18" charset="0"/>
                  <a:ea typeface="华文细黑" panose="02010600040101010101" pitchFamily="2" charset="-122"/>
                </a:endParaRPr>
              </a:p>
            </p:txBody>
          </p:sp>
        </mc:Choice>
        <mc:Fallback xmlns="">
          <p:sp>
            <p:nvSpPr>
              <p:cNvPr id="7" name="副标题 2">
                <a:extLst>
                  <a:ext uri="{FF2B5EF4-FFF2-40B4-BE49-F238E27FC236}">
                    <a16:creationId xmlns:a16="http://schemas.microsoft.com/office/drawing/2014/main" id="{BA5951A5-8868-4E80-A13C-91D2AC44CF97}"/>
                  </a:ext>
                </a:extLst>
              </p:cNvPr>
              <p:cNvSpPr txBox="1">
                <a:spLocks noRot="1" noChangeAspect="1" noMove="1" noResize="1" noEditPoints="1" noAdjustHandles="1" noChangeArrowheads="1" noChangeShapeType="1" noTextEdit="1"/>
              </p:cNvSpPr>
              <p:nvPr/>
            </p:nvSpPr>
            <p:spPr>
              <a:xfrm>
                <a:off x="6071180" y="1722474"/>
                <a:ext cx="5401339" cy="4617366"/>
              </a:xfrm>
              <a:prstGeom prst="rect">
                <a:avLst/>
              </a:prstGeom>
              <a:blipFill>
                <a:blip r:embed="rId3"/>
                <a:stretch>
                  <a:fillRect l="-789" r="-789"/>
                </a:stretch>
              </a:blipFill>
              <a:ln w="6350">
                <a:solidFill>
                  <a:schemeClr val="bg1">
                    <a:lumMod val="75000"/>
                  </a:schemeClr>
                </a:solidFill>
              </a:ln>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6671B136-FC55-3F35-0486-6FA1E07FB89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数据变换</a:t>
            </a:r>
          </a:p>
        </p:txBody>
      </p:sp>
    </p:spTree>
    <p:extLst>
      <p:ext uri="{BB962C8B-B14F-4D97-AF65-F5344CB8AC3E}">
        <p14:creationId xmlns:p14="http://schemas.microsoft.com/office/powerpoint/2010/main" val="3850215612"/>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数据变换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线性变换方法</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22474"/>
                <a:ext cx="5121352" cy="46478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本书可视化中用到的线性变换主要有</a:t>
                </a:r>
                <a:r>
                  <a:rPr lang="zh-CN" altLang="zh-CN" sz="1700" dirty="0">
                    <a:highlight>
                      <a:srgbClr val="FFFF99"/>
                    </a:highlight>
                    <a:latin typeface="Cambria" panose="02040503050406030204" pitchFamily="18" charset="0"/>
                    <a:ea typeface="华文细黑" panose="02010600040101010101" pitchFamily="2" charset="-122"/>
                  </a:rPr>
                  <a:t>标准化</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standardization</a:t>
                </a:r>
                <a:r>
                  <a:rPr lang="zh-CN" altLang="zh-CN" sz="1700" dirty="0">
                    <a:latin typeface="Cambria" panose="02040503050406030204" pitchFamily="18" charset="0"/>
                    <a:ea typeface="华文细黑" panose="02010600040101010101" pitchFamily="2" charset="-122"/>
                  </a:rPr>
                  <a:t>）变换和</a:t>
                </a:r>
                <a:r>
                  <a:rPr lang="zh-CN" altLang="zh-CN" sz="1700" b="1" dirty="0">
                    <a:highlight>
                      <a:srgbClr val="FFFF99"/>
                    </a:highlight>
                    <a:latin typeface="Cambria" panose="02040503050406030204" pitchFamily="18" charset="0"/>
                    <a:ea typeface="华文细黑" panose="02010600040101010101" pitchFamily="2" charset="-122"/>
                  </a:rPr>
                  <a:t>归一化</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normalization</a:t>
                </a:r>
                <a:r>
                  <a:rPr lang="zh-CN" altLang="zh-CN" sz="1700" dirty="0">
                    <a:latin typeface="Cambria" panose="02040503050406030204" pitchFamily="18" charset="0"/>
                    <a:ea typeface="华文细黑" panose="02010600040101010101" pitchFamily="2" charset="-122"/>
                  </a:rPr>
                  <a:t>）变换</a:t>
                </a:r>
                <a:endParaRPr lang="en-US" altLang="zh-CN" sz="17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标准化变换是将一组原始数据变换成均值为</a:t>
                </a:r>
                <a:r>
                  <a:rPr lang="en-US" altLang="zh-CN" sz="1700" dirty="0">
                    <a:latin typeface="Cambria" panose="02040503050406030204" pitchFamily="18" charset="0"/>
                    <a:ea typeface="华文细黑" panose="02010600040101010101" pitchFamily="2" charset="-122"/>
                  </a:rPr>
                  <a:t>0</a:t>
                </a:r>
                <a:r>
                  <a:rPr lang="zh-CN" altLang="zh-CN" sz="1700" dirty="0">
                    <a:latin typeface="Cambria" panose="02040503050406030204" pitchFamily="18" charset="0"/>
                    <a:ea typeface="华文细黑" panose="02010600040101010101" pitchFamily="2" charset="-122"/>
                  </a:rPr>
                  <a:t>、方差为</a:t>
                </a:r>
                <a:r>
                  <a:rPr lang="en-US" altLang="zh-CN" sz="1700" dirty="0">
                    <a:latin typeface="Cambria" panose="02040503050406030204" pitchFamily="18" charset="0"/>
                    <a:ea typeface="华文细黑" panose="02010600040101010101" pitchFamily="2" charset="-122"/>
                  </a:rPr>
                  <a:t>1 </a:t>
                </a:r>
                <a:r>
                  <a:rPr lang="zh-CN" altLang="zh-CN" sz="1700" dirty="0">
                    <a:latin typeface="Cambria" panose="02040503050406030204" pitchFamily="18" charset="0"/>
                    <a:ea typeface="华文细黑" panose="02010600040101010101" pitchFamily="2" charset="-122"/>
                  </a:rPr>
                  <a:t>的另一组数据。当有多个变量进行比较分析时，通常需要作标准化变换</a:t>
                </a:r>
                <a:endParaRPr lang="en-US" altLang="zh-CN" sz="17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设一组原始样本数据为</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1</m:t>
                        </m:r>
                      </m:sub>
                    </m:sSub>
                    <m:r>
                      <a:rPr lang="zh-CN"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2</m:t>
                        </m:r>
                      </m:sub>
                    </m:sSub>
                    <m:r>
                      <a:rPr lang="zh-CN" altLang="zh-CN" sz="1700">
                        <a:latin typeface="Cambria Math" panose="02040503050406030204" pitchFamily="18" charset="0"/>
                      </a:rPr>
                      <m:t>，</m:t>
                    </m:r>
                    <m:r>
                      <a:rPr lang="en-US" altLang="zh-CN" sz="1700">
                        <a:latin typeface="Cambria Math" panose="02040503050406030204" pitchFamily="18" charset="0"/>
                      </a:rPr>
                      <m:t>…</m:t>
                    </m:r>
                    <m:r>
                      <a:rPr lang="zh-CN"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𝑛</m:t>
                        </m:r>
                      </m:sub>
                    </m:sSub>
                  </m:oMath>
                </a14:m>
                <a:r>
                  <a:rPr lang="zh-CN" altLang="zh-CN" sz="1700" dirty="0">
                    <a:latin typeface="Cambria" panose="02040503050406030204" pitchFamily="18" charset="0"/>
                    <a:ea typeface="华文细黑" panose="02010600040101010101" pitchFamily="2" charset="-122"/>
                  </a:rPr>
                  <a:t>，样本量（样本数据的个数）为</a:t>
                </a:r>
                <a14:m>
                  <m:oMath xmlns:m="http://schemas.openxmlformats.org/officeDocument/2006/math">
                    <m:r>
                      <a:rPr lang="en-US" altLang="zh-CN" sz="1700">
                        <a:latin typeface="Cambria Math" panose="02040503050406030204" pitchFamily="18" charset="0"/>
                      </a:rPr>
                      <m:t>𝑛</m:t>
                    </m:r>
                  </m:oMath>
                </a14:m>
                <a:r>
                  <a:rPr lang="zh-CN" altLang="zh-CN" sz="1700" dirty="0">
                    <a:latin typeface="Cambria" panose="02040503050406030204" pitchFamily="18" charset="0"/>
                    <a:ea typeface="华文细黑" panose="02010600040101010101" pitchFamily="2" charset="-122"/>
                  </a:rPr>
                  <a:t>，样本平均数用</a:t>
                </a:r>
                <a14:m>
                  <m:oMath xmlns:m="http://schemas.openxmlformats.org/officeDocument/2006/math">
                    <m:acc>
                      <m:accPr>
                        <m:chr m:val="̅"/>
                        <m:ctrlPr>
                          <a:rPr lang="zh-CN" altLang="zh-CN" sz="1700" i="1">
                            <a:latin typeface="Cambria Math" panose="02040503050406030204" pitchFamily="18" charset="0"/>
                          </a:rPr>
                        </m:ctrlPr>
                      </m:accPr>
                      <m:e>
                        <m:r>
                          <a:rPr lang="en-US" altLang="zh-CN" sz="1700">
                            <a:latin typeface="Cambria Math" panose="02040503050406030204" pitchFamily="18" charset="0"/>
                          </a:rPr>
                          <m:t>𝑥</m:t>
                        </m:r>
                      </m:e>
                    </m:acc>
                  </m:oMath>
                </a14:m>
                <a:r>
                  <a:rPr lang="zh-CN" altLang="zh-CN" sz="1700" dirty="0">
                    <a:latin typeface="Cambria" panose="02040503050406030204" pitchFamily="18" charset="0"/>
                    <a:ea typeface="华文细黑" panose="02010600040101010101" pitchFamily="2" charset="-122"/>
                  </a:rPr>
                  <a:t>表示，样本标准差用</a:t>
                </a:r>
                <a14:m>
                  <m:oMath xmlns:m="http://schemas.openxmlformats.org/officeDocument/2006/math">
                    <m:r>
                      <a:rPr lang="en-US" altLang="zh-CN" sz="1700">
                        <a:latin typeface="Cambria Math" panose="02040503050406030204" pitchFamily="18" charset="0"/>
                      </a:rPr>
                      <m:t>𝑠</m:t>
                    </m:r>
                  </m:oMath>
                </a14:m>
                <a:r>
                  <a:rPr lang="zh-CN" altLang="zh-CN" sz="1700" dirty="0">
                    <a:latin typeface="Cambria" panose="02040503050406030204" pitchFamily="18" charset="0"/>
                    <a:ea typeface="华文细黑" panose="02010600040101010101" pitchFamily="2" charset="-122"/>
                  </a:rPr>
                  <a:t>表示，标准化公式为：</a:t>
                </a:r>
              </a:p>
              <a:p>
                <a:pPr algn="just"/>
                <a14:m>
                  <m:oMathPara xmlns:m="http://schemas.openxmlformats.org/officeDocument/2006/math">
                    <m:oMathParaPr>
                      <m:jc m:val="centerGroup"/>
                    </m:oMathParaPr>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𝑧</m:t>
                          </m:r>
                        </m:e>
                        <m:sub>
                          <m:r>
                            <a:rPr lang="en-US" altLang="zh-CN" sz="1700">
                              <a:latin typeface="Cambria Math" panose="02040503050406030204" pitchFamily="18" charset="0"/>
                            </a:rPr>
                            <m:t>𝑖</m:t>
                          </m:r>
                        </m:sub>
                      </m:sSub>
                      <m:r>
                        <a:rPr lang="en-US" altLang="zh-CN" sz="1700">
                          <a:latin typeface="Cambria Math" panose="02040503050406030204" pitchFamily="18" charset="0"/>
                        </a:rPr>
                        <m:t>=</m:t>
                      </m:r>
                      <m:f>
                        <m:fPr>
                          <m:ctrlPr>
                            <a:rPr lang="zh-CN" altLang="zh-CN" sz="1700" i="1">
                              <a:latin typeface="Cambria Math" panose="02040503050406030204" pitchFamily="18" charset="0"/>
                            </a:rPr>
                          </m:ctrlPr>
                        </m:fPr>
                        <m:num>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𝑖</m:t>
                              </m:r>
                            </m:sub>
                          </m:sSub>
                          <m:r>
                            <a:rPr lang="en-US" altLang="zh-CN" sz="1700">
                              <a:latin typeface="Cambria Math" panose="02040503050406030204" pitchFamily="18" charset="0"/>
                            </a:rPr>
                            <m:t>−</m:t>
                          </m:r>
                          <m:acc>
                            <m:accPr>
                              <m:chr m:val="̅"/>
                              <m:ctrlPr>
                                <a:rPr lang="zh-CN" altLang="zh-CN" sz="1700" i="1">
                                  <a:latin typeface="Cambria Math" panose="02040503050406030204" pitchFamily="18" charset="0"/>
                                </a:rPr>
                              </m:ctrlPr>
                            </m:accPr>
                            <m:e>
                              <m:r>
                                <a:rPr lang="en-US" altLang="zh-CN" sz="1700">
                                  <a:latin typeface="Cambria Math" panose="02040503050406030204" pitchFamily="18" charset="0"/>
                                </a:rPr>
                                <m:t>𝑥</m:t>
                              </m:r>
                            </m:e>
                          </m:acc>
                        </m:num>
                        <m:den>
                          <m:r>
                            <a:rPr lang="en-US" altLang="zh-CN" sz="1700">
                              <a:latin typeface="Cambria Math" panose="02040503050406030204" pitchFamily="18" charset="0"/>
                            </a:rPr>
                            <m:t>𝑠</m:t>
                          </m:r>
                        </m:den>
                      </m:f>
                    </m:oMath>
                  </m:oMathPara>
                </a14:m>
                <a:endParaRPr lang="zh-CN" altLang="zh-CN" sz="1700" dirty="0">
                  <a:latin typeface="Cambria" panose="02040503050406030204" pitchFamily="18" charset="0"/>
                  <a:ea typeface="华文细黑" panose="02010600040101010101" pitchFamily="2" charset="-122"/>
                </a:endParaRPr>
              </a:p>
              <a:p>
                <a:pPr algn="just"/>
                <a:r>
                  <a:rPr lang="zh-CN" altLang="zh-CN" sz="1700" dirty="0">
                    <a:latin typeface="Cambria" panose="02040503050406030204" pitchFamily="18" charset="0"/>
                    <a:ea typeface="华文细黑" panose="02010600040101010101" pitchFamily="2" charset="-122"/>
                  </a:rPr>
                  <a:t>标准化后的数值也称标准分数或</a:t>
                </a:r>
                <a14:m>
                  <m:oMath xmlns:m="http://schemas.openxmlformats.org/officeDocument/2006/math">
                    <m:r>
                      <a:rPr lang="en-US" altLang="zh-CN" sz="1700">
                        <a:latin typeface="Cambria Math" panose="02040503050406030204" pitchFamily="18" charset="0"/>
                      </a:rPr>
                      <m:t>𝑧</m:t>
                    </m:r>
                  </m:oMath>
                </a14:m>
                <a:r>
                  <a:rPr lang="zh-CN" altLang="zh-CN" sz="1700" dirty="0">
                    <a:latin typeface="Cambria" panose="02040503050406030204" pitchFamily="18" charset="0"/>
                    <a:ea typeface="华文细黑" panose="02010600040101010101" pitchFamily="2" charset="-122"/>
                  </a:rPr>
                  <a:t>分数</a:t>
                </a:r>
              </a:p>
              <a:p>
                <a:pPr algn="just" defTabSz="685800" eaLnBrk="0" hangingPunct="0">
                  <a:lnSpc>
                    <a:spcPct val="150000"/>
                  </a:lnSpc>
                  <a:spcBef>
                    <a:spcPct val="50000"/>
                  </a:spcBef>
                  <a:buClr>
                    <a:srgbClr val="000099"/>
                  </a:buClr>
                  <a:defRPr/>
                </a:pPr>
                <a:endParaRPr lang="en-US" altLang="zh-CN" sz="1700" dirty="0">
                  <a:effectLst/>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13" name="副标题 2">
                <a:extLst>
                  <a:ext uri="{FF2B5EF4-FFF2-40B4-BE49-F238E27FC236}">
                    <a16:creationId xmlns:a16="http://schemas.microsoft.com/office/drawing/2014/main" id="{594C2978-0D29-4EC6-8EBB-7A5E80A4D855}"/>
                  </a:ext>
                </a:extLst>
              </p:cNvPr>
              <p:cNvSpPr>
                <a:spLocks noGrp="1" noRot="1" noChangeAspect="1" noMove="1" noResize="1" noEditPoints="1" noAdjustHandles="1" noChangeArrowheads="1" noChangeShapeType="1" noTextEdit="1"/>
              </p:cNvSpPr>
              <p:nvPr>
                <p:ph type="subTitle" idx="1"/>
              </p:nvPr>
            </p:nvSpPr>
            <p:spPr>
              <a:xfrm>
                <a:off x="808076" y="1722474"/>
                <a:ext cx="5121352" cy="4647846"/>
              </a:xfrm>
              <a:blipFill>
                <a:blip r:embed="rId2"/>
                <a:stretch>
                  <a:fillRect l="-832" r="-595" b="-1573"/>
                </a:stretch>
              </a:blipFill>
              <a:ln w="6350">
                <a:solidFill>
                  <a:schemeClr val="bg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BA5951A5-8868-4E80-A13C-91D2AC44CF97}"/>
                  </a:ext>
                </a:extLst>
              </p:cNvPr>
              <p:cNvSpPr txBox="1">
                <a:spLocks/>
              </p:cNvSpPr>
              <p:nvPr/>
            </p:nvSpPr>
            <p:spPr>
              <a:xfrm>
                <a:off x="6071180" y="1722474"/>
                <a:ext cx="5401339" cy="464784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归一化变换也称极值标准化，它是将一组原始数据缩放到</a:t>
                </a:r>
                <a:r>
                  <a:rPr lang="en-US" altLang="zh-CN" sz="1700" dirty="0">
                    <a:latin typeface="Cambria" panose="02040503050406030204" pitchFamily="18" charset="0"/>
                    <a:ea typeface="华文细黑" panose="02010600040101010101" pitchFamily="2" charset="-122"/>
                  </a:rPr>
                  <a:t>[0</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1]</a:t>
                </a:r>
                <a:r>
                  <a:rPr lang="zh-CN" altLang="zh-CN" sz="1700" dirty="0">
                    <a:latin typeface="Cambria" panose="02040503050406030204" pitchFamily="18" charset="0"/>
                    <a:ea typeface="华文细黑" panose="02010600040101010101" pitchFamily="2" charset="-122"/>
                  </a:rPr>
                  <a:t>的范围内</a:t>
                </a:r>
                <a:endParaRPr lang="en-US" altLang="zh-CN" sz="17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当一组数据存在较大或较小的离群值时，通常需要作归一化变换</a:t>
                </a: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设一组原始数据为</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1</m:t>
                        </m:r>
                      </m:sub>
                    </m:sSub>
                    <m:r>
                      <a:rPr lang="zh-CN"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2</m:t>
                        </m:r>
                      </m:sub>
                    </m:sSub>
                    <m:r>
                      <a:rPr lang="zh-CN" altLang="zh-CN" sz="1700">
                        <a:latin typeface="Cambria Math" panose="02040503050406030204" pitchFamily="18" charset="0"/>
                      </a:rPr>
                      <m:t>，</m:t>
                    </m:r>
                    <m:r>
                      <a:rPr lang="en-US" altLang="zh-CN" sz="1700">
                        <a:latin typeface="Cambria Math" panose="02040503050406030204" pitchFamily="18" charset="0"/>
                      </a:rPr>
                      <m:t>…</m:t>
                    </m:r>
                    <m:r>
                      <a:rPr lang="zh-CN" altLang="zh-CN" sz="1700">
                        <a:latin typeface="Cambria Math" panose="02040503050406030204" pitchFamily="18" charset="0"/>
                      </a:rPr>
                      <m:t>，</m:t>
                    </m:r>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a:rPr lang="en-US" altLang="zh-CN" sz="1700">
                            <a:latin typeface="Cambria Math" panose="02040503050406030204" pitchFamily="18" charset="0"/>
                          </a:rPr>
                          <m:t>𝑛</m:t>
                        </m:r>
                      </m:sub>
                    </m:sSub>
                  </m:oMath>
                </a14:m>
                <a:r>
                  <a:rPr lang="zh-CN" altLang="zh-CN" sz="1700" dirty="0">
                    <a:latin typeface="Cambria" panose="02040503050406030204" pitchFamily="18" charset="0"/>
                    <a:ea typeface="华文细黑" panose="02010600040101010101" pitchFamily="2" charset="-122"/>
                  </a:rPr>
                  <a:t>，</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m:rPr>
                            <m:sty m:val="p"/>
                          </m:rPr>
                          <a:rPr lang="en-US" altLang="zh-CN" sz="1700">
                            <a:latin typeface="Cambria Math" panose="02040503050406030204" pitchFamily="18" charset="0"/>
                          </a:rPr>
                          <m:t>min</m:t>
                        </m:r>
                      </m:sub>
                    </m:sSub>
                  </m:oMath>
                </a14:m>
                <a:r>
                  <a:rPr lang="zh-CN" altLang="zh-CN" sz="1700" dirty="0">
                    <a:latin typeface="Cambria" panose="02040503050406030204" pitchFamily="18" charset="0"/>
                    <a:ea typeface="华文细黑" panose="02010600040101010101" pitchFamily="2" charset="-122"/>
                  </a:rPr>
                  <a:t>表示数据集的最小值，</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𝑥</m:t>
                        </m:r>
                      </m:e>
                      <m:sub>
                        <m:r>
                          <m:rPr>
                            <m:sty m:val="p"/>
                          </m:rPr>
                          <a:rPr lang="en-US" altLang="zh-CN" sz="1700">
                            <a:latin typeface="Cambria Math" panose="02040503050406030204" pitchFamily="18" charset="0"/>
                          </a:rPr>
                          <m:t>max</m:t>
                        </m:r>
                      </m:sub>
                    </m:sSub>
                  </m:oMath>
                </a14:m>
                <a:r>
                  <a:rPr lang="zh-CN" altLang="zh-CN" sz="1700" dirty="0">
                    <a:latin typeface="Cambria" panose="02040503050406030204" pitchFamily="18" charset="0"/>
                    <a:ea typeface="华文细黑" panose="02010600040101010101" pitchFamily="2" charset="-122"/>
                  </a:rPr>
                  <a:t>表示数据集的最大值，</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𝑇</m:t>
                        </m:r>
                      </m:e>
                      <m:sub>
                        <m:r>
                          <a:rPr lang="en-US" altLang="zh-CN" sz="1700">
                            <a:latin typeface="Cambria Math" panose="02040503050406030204" pitchFamily="18" charset="0"/>
                          </a:rPr>
                          <m:t>𝑖</m:t>
                        </m:r>
                      </m:sub>
                    </m:sSub>
                  </m:oMath>
                </a14:m>
                <a:r>
                  <a:rPr lang="zh-CN" altLang="zh-CN" sz="1700" dirty="0">
                    <a:latin typeface="Cambria" panose="02040503050406030204" pitchFamily="18" charset="0"/>
                    <a:ea typeface="华文细黑" panose="02010600040101010101" pitchFamily="2" charset="-122"/>
                  </a:rPr>
                  <a:t>表示归一化后的值，归一化的计算公式为：</a:t>
                </a:r>
              </a:p>
              <a:p>
                <a:pPr marL="269240" indent="-381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𝑇</m:t>
                          </m:r>
                        </m:e>
                        <m:sub>
                          <m:r>
                            <a:rPr lang="en-US" altLang="zh-CN" sz="1700" i="1">
                              <a:effectLst/>
                              <a:latin typeface="Cambria Math" panose="02040503050406030204" pitchFamily="18" charset="0"/>
                              <a:ea typeface="华文细黑" panose="02010600040101010101" pitchFamily="2" charset="-122"/>
                            </a:rPr>
                            <m:t>𝑖</m:t>
                          </m:r>
                        </m:sub>
                      </m:sSub>
                      <m:r>
                        <a:rPr lang="en-US" altLang="zh-CN" sz="1700" i="1">
                          <a:effectLst/>
                          <a:latin typeface="Cambria Math" panose="02040503050406030204" pitchFamily="18" charset="0"/>
                          <a:ea typeface="华文细黑" panose="02010600040101010101" pitchFamily="2" charset="-122"/>
                        </a:rPr>
                        <m:t>=</m:t>
                      </m:r>
                      <m:f>
                        <m:fPr>
                          <m:ctrlPr>
                            <a:rPr lang="zh-CN" altLang="zh-CN" sz="1700" i="1">
                              <a:effectLst/>
                              <a:latin typeface="Cambria Math" panose="02040503050406030204" pitchFamily="18" charset="0"/>
                              <a:ea typeface="Cambria Math" panose="02040503050406030204" pitchFamily="18" charset="0"/>
                            </a:rPr>
                          </m:ctrlPr>
                        </m:fPr>
                        <m:num>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a:rPr lang="en-US" altLang="zh-CN" sz="1700" i="1">
                                  <a:effectLst/>
                                  <a:latin typeface="Cambria Math" panose="02040503050406030204" pitchFamily="18" charset="0"/>
                                  <a:ea typeface="华文细黑" panose="02010600040101010101" pitchFamily="2" charset="-122"/>
                                </a:rPr>
                                <m:t>𝑖</m:t>
                              </m:r>
                            </m:sub>
                          </m:sSub>
                          <m:r>
                            <a:rPr lang="en-US" altLang="zh-CN" sz="1700" i="1">
                              <a:effectLst/>
                              <a:latin typeface="Cambria Math" panose="02040503050406030204" pitchFamily="18" charset="0"/>
                              <a:ea typeface="华文细黑" panose="02010600040101010101" pitchFamily="2" charset="-122"/>
                            </a:rPr>
                            <m:t>−</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m:rPr>
                                  <m:sty m:val="p"/>
                                </m:rPr>
                                <a:rPr lang="en-US" altLang="zh-CN" sz="1700">
                                  <a:effectLst/>
                                  <a:latin typeface="Cambria Math" panose="02040503050406030204" pitchFamily="18" charset="0"/>
                                  <a:ea typeface="华文细黑" panose="02010600040101010101" pitchFamily="2" charset="-122"/>
                                </a:rPr>
                                <m:t>min</m:t>
                              </m:r>
                            </m:sub>
                          </m:sSub>
                        </m:num>
                        <m:den>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m:rPr>
                                  <m:sty m:val="p"/>
                                </m:rPr>
                                <a:rPr lang="en-US" altLang="zh-CN" sz="1700">
                                  <a:effectLst/>
                                  <a:latin typeface="Cambria Math" panose="02040503050406030204" pitchFamily="18" charset="0"/>
                                  <a:ea typeface="华文细黑" panose="02010600040101010101" pitchFamily="2" charset="-122"/>
                                </a:rPr>
                                <m:t>max</m:t>
                              </m:r>
                            </m:sub>
                          </m:sSub>
                          <m:r>
                            <a:rPr lang="en-US" altLang="zh-CN" sz="1700" i="1">
                              <a:effectLst/>
                              <a:latin typeface="Cambria Math" panose="02040503050406030204" pitchFamily="18" charset="0"/>
                              <a:ea typeface="华文细黑" panose="02010600040101010101" pitchFamily="2" charset="-122"/>
                            </a:rPr>
                            <m:t>−</m:t>
                          </m:r>
                          <m:sSub>
                            <m:sSubPr>
                              <m:ctrlPr>
                                <a:rPr lang="zh-CN" altLang="zh-CN" sz="1700" i="1">
                                  <a:effectLst/>
                                  <a:latin typeface="Cambria Math" panose="02040503050406030204" pitchFamily="18" charset="0"/>
                                  <a:ea typeface="Cambria Math" panose="02040503050406030204" pitchFamily="18" charset="0"/>
                                </a:rPr>
                              </m:ctrlPr>
                            </m:sSubPr>
                            <m:e>
                              <m:r>
                                <a:rPr lang="en-US" altLang="zh-CN" sz="1700" i="1">
                                  <a:effectLst/>
                                  <a:latin typeface="Cambria Math" panose="02040503050406030204" pitchFamily="18" charset="0"/>
                                  <a:ea typeface="华文细黑" panose="02010600040101010101" pitchFamily="2" charset="-122"/>
                                </a:rPr>
                                <m:t>𝑥</m:t>
                              </m:r>
                            </m:e>
                            <m:sub>
                              <m:r>
                                <m:rPr>
                                  <m:sty m:val="p"/>
                                </m:rPr>
                                <a:rPr lang="en-US" altLang="zh-CN" sz="1700">
                                  <a:effectLst/>
                                  <a:latin typeface="Cambria Math" panose="02040503050406030204" pitchFamily="18" charset="0"/>
                                  <a:ea typeface="华文细黑" panose="02010600040101010101" pitchFamily="2" charset="-122"/>
                                </a:rPr>
                                <m:t>min</m:t>
                              </m:r>
                            </m:sub>
                          </m:sSub>
                        </m:den>
                      </m:f>
                    </m:oMath>
                  </m:oMathPara>
                </a14:m>
                <a:endParaRPr lang="zh-CN" altLang="zh-CN" sz="1700" dirty="0">
                  <a:effectLst/>
                  <a:latin typeface="Times New Roman" panose="02020603050405020304" pitchFamily="18" charset="0"/>
                  <a:ea typeface="宋体" panose="02010600030101010101" pitchFamily="2" charset="-122"/>
                </a:endParaRPr>
              </a:p>
            </p:txBody>
          </p:sp>
        </mc:Choice>
        <mc:Fallback xmlns="">
          <p:sp>
            <p:nvSpPr>
              <p:cNvPr id="7" name="副标题 2">
                <a:extLst>
                  <a:ext uri="{FF2B5EF4-FFF2-40B4-BE49-F238E27FC236}">
                    <a16:creationId xmlns:a16="http://schemas.microsoft.com/office/drawing/2014/main" id="{BA5951A5-8868-4E80-A13C-91D2AC44CF97}"/>
                  </a:ext>
                </a:extLst>
              </p:cNvPr>
              <p:cNvSpPr txBox="1">
                <a:spLocks noRot="1" noChangeAspect="1" noMove="1" noResize="1" noEditPoints="1" noAdjustHandles="1" noChangeArrowheads="1" noChangeShapeType="1" noTextEdit="1"/>
              </p:cNvSpPr>
              <p:nvPr/>
            </p:nvSpPr>
            <p:spPr>
              <a:xfrm>
                <a:off x="6071180" y="1722474"/>
                <a:ext cx="5401339" cy="4647846"/>
              </a:xfrm>
              <a:prstGeom prst="rect">
                <a:avLst/>
              </a:prstGeom>
              <a:blipFill>
                <a:blip r:embed="rId3"/>
                <a:stretch>
                  <a:fillRect l="-564" r="-564"/>
                </a:stretch>
              </a:blipFill>
              <a:ln w="6350">
                <a:solidFill>
                  <a:schemeClr val="bg1">
                    <a:lumMod val="75000"/>
                  </a:schemeClr>
                </a:solidFill>
              </a:ln>
            </p:spPr>
            <p:txBody>
              <a:bodyPr/>
              <a:lstStyle/>
              <a:p>
                <a:r>
                  <a:rPr lang="zh-CN" altLang="en-US">
                    <a:noFill/>
                  </a:rPr>
                  <a:t> </a:t>
                </a:r>
              </a:p>
            </p:txBody>
          </p:sp>
        </mc:Fallback>
      </mc:AlternateContent>
      <p:sp>
        <p:nvSpPr>
          <p:cNvPr id="2" name="Rectangle 2">
            <a:extLst>
              <a:ext uri="{FF2B5EF4-FFF2-40B4-BE49-F238E27FC236}">
                <a16:creationId xmlns:a16="http://schemas.microsoft.com/office/drawing/2014/main" id="{5C721FF3-E7A9-B14A-CD3C-FC8262E241B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数据变换</a:t>
            </a:r>
          </a:p>
        </p:txBody>
      </p:sp>
    </p:spTree>
    <p:extLst>
      <p:ext uri="{BB962C8B-B14F-4D97-AF65-F5344CB8AC3E}">
        <p14:creationId xmlns:p14="http://schemas.microsoft.com/office/powerpoint/2010/main" val="5261313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数据变换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变换示例</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3796581" cy="46416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设由</a:t>
            </a:r>
            <a:r>
              <a:rPr lang="en-US" altLang="zh-CN" sz="2200" dirty="0">
                <a:latin typeface="Cambria" panose="02040503050406030204" pitchFamily="18" charset="0"/>
                <a:ea typeface="华文细黑" panose="02010600040101010101" pitchFamily="2" charset="-122"/>
              </a:rPr>
              <a:t>12</a:t>
            </a:r>
            <a:r>
              <a:rPr lang="zh-CN" altLang="zh-CN" sz="2200" dirty="0">
                <a:latin typeface="Cambria" panose="02040503050406030204" pitchFamily="18" charset="0"/>
                <a:ea typeface="华文细黑" panose="02010600040101010101" pitchFamily="2" charset="-122"/>
              </a:rPr>
              <a:t>个数据构成的数据集为（</a:t>
            </a:r>
            <a:r>
              <a:rPr lang="en-US" altLang="zh-CN" sz="2200" dirty="0">
                <a:latin typeface="Cambria" panose="02040503050406030204" pitchFamily="18" charset="0"/>
                <a:ea typeface="华文细黑" panose="02010600040101010101" pitchFamily="2" charset="-122"/>
              </a:rPr>
              <a:t>44</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48</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66</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51</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51</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67</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55</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37</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43</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46</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62</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华文细黑" panose="02010600040101010101" pitchFamily="2" charset="-122"/>
              </a:rPr>
              <a:t>54</a:t>
            </a:r>
            <a:r>
              <a:rPr lang="zh-CN" altLang="zh-CN" sz="2200" dirty="0">
                <a:latin typeface="Cambria" panose="02040503050406030204" pitchFamily="18" charset="0"/>
                <a:ea typeface="华文细黑" panose="02010600040101010101" pitchFamily="2" charset="-122"/>
              </a:rPr>
              <a:t>）</a:t>
            </a:r>
            <a:endParaRPr lang="en-US" altLang="zh-CN" sz="22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根据原始数据、标准化和归一化后的数据绘制的点图、箱线图和核密度图如图</a:t>
            </a:r>
            <a:endParaRPr lang="en-US" altLang="zh-CN" sz="22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35E3C0C7-DDC6-150C-7A28-88A88E104F35}"/>
              </a:ext>
            </a:extLst>
          </p:cNvPr>
          <p:cNvPicPr>
            <a:picLocks noChangeAspect="1"/>
          </p:cNvPicPr>
          <p:nvPr/>
        </p:nvPicPr>
        <p:blipFill>
          <a:blip r:embed="rId2"/>
          <a:stretch>
            <a:fillRect/>
          </a:stretch>
        </p:blipFill>
        <p:spPr>
          <a:xfrm>
            <a:off x="4876800" y="1722473"/>
            <a:ext cx="6711677" cy="4617367"/>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57B9C16C-A2AE-6842-BBB1-6C4A7074301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数据变换</a:t>
            </a:r>
          </a:p>
        </p:txBody>
      </p:sp>
    </p:spTree>
    <p:extLst>
      <p:ext uri="{BB962C8B-B14F-4D97-AF65-F5344CB8AC3E}">
        <p14:creationId xmlns:p14="http://schemas.microsoft.com/office/powerpoint/2010/main" val="3146707950"/>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数据变换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变换示例</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7" y="1722474"/>
                <a:ext cx="2708010" cy="464784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假定原始数据集为</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a=c(1,10,100,1000)</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，对数变换后的数据集为</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b=</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rPr>
                        </m:ctrlPr>
                      </m:sSubPr>
                      <m:e>
                        <m:r>
                          <m:rPr>
                            <m:sty m:val="p"/>
                          </m:rPr>
                          <a:rPr lang="en-US" altLang="zh-CN" sz="2000">
                            <a:effectLst/>
                            <a:latin typeface="Cambria Math" panose="02040503050406030204" pitchFamily="18" charset="0"/>
                            <a:ea typeface="华文细黑" panose="02010600040101010101" pitchFamily="2" charset="-122"/>
                            <a:cs typeface="Times New Roman" panose="02020603050405020304" pitchFamily="18" charset="0"/>
                          </a:rPr>
                          <m:t>log</m:t>
                        </m:r>
                      </m:e>
                      <m:sub>
                        <m:r>
                          <a:rPr lang="en-US" altLang="zh-CN" sz="2000">
                            <a:effectLst/>
                            <a:latin typeface="Cambria Math" panose="02040503050406030204" pitchFamily="18" charset="0"/>
                            <a:ea typeface="华文细黑" panose="02010600040101010101" pitchFamily="2" charset="-122"/>
                            <a:cs typeface="Times New Roman" panose="02020603050405020304" pitchFamily="18" charset="0"/>
                          </a:rPr>
                          <m:t>10</m:t>
                        </m:r>
                      </m:sub>
                    </m:sSub>
                    <m:r>
                      <a:rPr lang="en-US" altLang="zh-CN" sz="2000">
                        <a:effectLst/>
                        <a:latin typeface="Cambria Math" panose="02040503050406030204" pitchFamily="18" charset="0"/>
                        <a:ea typeface="华文细黑" panose="02010600040101010101" pitchFamily="2" charset="-122"/>
                        <a:cs typeface="Times New Roman" panose="02020603050405020304" pitchFamily="18" charset="0"/>
                      </a:rPr>
                      <m:t>(</m:t>
                    </m:r>
                    <m:r>
                      <m:rPr>
                        <m:sty m:val="p"/>
                      </m:rPr>
                      <a:rPr lang="en-US" altLang="zh-CN" sz="2000">
                        <a:effectLst/>
                        <a:latin typeface="Cambria Math" panose="02040503050406030204" pitchFamily="18" charset="0"/>
                        <a:ea typeface="华文细黑" panose="02010600040101010101" pitchFamily="2" charset="-122"/>
                        <a:cs typeface="Times New Roman" panose="02020603050405020304" pitchFamily="18" charset="0"/>
                      </a:rPr>
                      <m:t>a</m:t>
                    </m:r>
                    <m:r>
                      <a:rPr lang="en-US" altLang="zh-CN" sz="2000">
                        <a:effectLst/>
                        <a:latin typeface="Cambria Math" panose="02040503050406030204" pitchFamily="18" charset="0"/>
                        <a:ea typeface="华文细黑" panose="02010600040101010101" pitchFamily="2" charset="-122"/>
                        <a:cs typeface="Times New Roman" panose="02020603050405020304" pitchFamily="18" charset="0"/>
                      </a:rPr>
                      <m:t>)</m:t>
                    </m:r>
                  </m:oMath>
                </a14:m>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，变换结果为</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b=c(0,1,2,3)</a:t>
                </a:r>
                <a:endParaRPr lang="en-US" altLang="zh-CN" sz="20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原始数据和对数变换后数据的点图和折线图如图</a:t>
                </a:r>
                <a:endParaRPr lang="en-US" altLang="zh-CN" sz="2000" dirty="0">
                  <a:latin typeface="Cambria" panose="02040503050406030204" pitchFamily="18" charset="0"/>
                  <a:ea typeface="华文细黑" panose="02010600040101010101" pitchFamily="2" charset="-122"/>
                </a:endParaRPr>
              </a:p>
            </p:txBody>
          </p:sp>
        </mc:Choice>
        <mc:Fallback xmlns="">
          <p:sp>
            <p:nvSpPr>
              <p:cNvPr id="13" name="副标题 2">
                <a:extLst>
                  <a:ext uri="{FF2B5EF4-FFF2-40B4-BE49-F238E27FC236}">
                    <a16:creationId xmlns:a16="http://schemas.microsoft.com/office/drawing/2014/main" id="{594C2978-0D29-4EC6-8EBB-7A5E80A4D855}"/>
                  </a:ext>
                </a:extLst>
              </p:cNvPr>
              <p:cNvSpPr>
                <a:spLocks noGrp="1" noRot="1" noChangeAspect="1" noMove="1" noResize="1" noEditPoints="1" noAdjustHandles="1" noChangeArrowheads="1" noChangeShapeType="1" noTextEdit="1"/>
              </p:cNvSpPr>
              <p:nvPr>
                <p:ph type="subTitle" idx="1"/>
              </p:nvPr>
            </p:nvSpPr>
            <p:spPr>
              <a:xfrm>
                <a:off x="808077" y="1722474"/>
                <a:ext cx="2708010" cy="4647846"/>
              </a:xfrm>
              <a:blipFill>
                <a:blip r:embed="rId2"/>
                <a:stretch>
                  <a:fillRect l="-2022" r="-2022"/>
                </a:stretch>
              </a:blipFill>
              <a:ln w="6350">
                <a:solidFill>
                  <a:schemeClr val="bg1">
                    <a:lumMod val="75000"/>
                  </a:schemeClr>
                </a:solid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DCBB4753-0C7B-E9AC-5DF8-0170140557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46715" y="1722472"/>
            <a:ext cx="7870372" cy="4647847"/>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E45B5A98-248D-B735-B056-9D8BB3B6D69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数据变换</a:t>
            </a:r>
          </a:p>
        </p:txBody>
      </p:sp>
    </p:spTree>
    <p:extLst>
      <p:ext uri="{BB962C8B-B14F-4D97-AF65-F5344CB8AC3E}">
        <p14:creationId xmlns:p14="http://schemas.microsoft.com/office/powerpoint/2010/main" val="3170695047"/>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数据变换</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变换示例</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7" y="1763487"/>
            <a:ext cx="1985924" cy="458651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2200" dirty="0">
                <a:effectLst/>
                <a:latin typeface="Cambria" panose="02040503050406030204" pitchFamily="18" charset="0"/>
                <a:ea typeface="华文细黑" panose="02010600040101010101" pitchFamily="2" charset="-122"/>
                <a:cs typeface="Times New Roman" panose="02020603050405020304" pitchFamily="18" charset="0"/>
              </a:rPr>
              <a:t>对数变换</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en-US" sz="2200" dirty="0">
                <a:effectLst/>
                <a:latin typeface="Cambria" panose="02040503050406030204" pitchFamily="18" charset="0"/>
                <a:ea typeface="华文细黑" panose="02010600040101010101" pitchFamily="2" charset="-122"/>
                <a:cs typeface="Times New Roman" panose="02020603050405020304" pitchFamily="18" charset="0"/>
              </a:rPr>
              <a:t>改变形状</a:t>
            </a:r>
            <a:endParaRPr lang="en-US" altLang="zh-CN" sz="22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D001C919-8B0B-8ED8-432E-33CE2722E587}"/>
              </a:ext>
            </a:extLst>
          </p:cNvPr>
          <p:cNvPicPr>
            <a:picLocks noChangeAspect="1"/>
          </p:cNvPicPr>
          <p:nvPr/>
        </p:nvPicPr>
        <p:blipFill>
          <a:blip r:embed="rId2"/>
          <a:stretch>
            <a:fillRect/>
          </a:stretch>
        </p:blipFill>
        <p:spPr>
          <a:xfrm>
            <a:off x="2946400" y="1763485"/>
            <a:ext cx="8523071" cy="4586515"/>
          </a:xfrm>
          <a:prstGeom prst="rect">
            <a:avLst/>
          </a:prstGeom>
          <a:ln w="6350">
            <a:solidFill>
              <a:schemeClr val="bg1">
                <a:lumMod val="75000"/>
              </a:schemeClr>
            </a:solidFill>
          </a:ln>
        </p:spPr>
      </p:pic>
      <p:sp>
        <p:nvSpPr>
          <p:cNvPr id="3" name="Rectangle 2">
            <a:extLst>
              <a:ext uri="{FF2B5EF4-FFF2-40B4-BE49-F238E27FC236}">
                <a16:creationId xmlns:a16="http://schemas.microsoft.com/office/drawing/2014/main" id="{68321AF3-D6C6-38DE-4CF0-5892B0340A6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数据变换</a:t>
            </a:r>
          </a:p>
        </p:txBody>
      </p:sp>
    </p:spTree>
    <p:extLst>
      <p:ext uri="{BB962C8B-B14F-4D97-AF65-F5344CB8AC3E}">
        <p14:creationId xmlns:p14="http://schemas.microsoft.com/office/powerpoint/2010/main" val="2477638141"/>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图形格式</a:t>
            </a:r>
            <a:r>
              <a:rPr lang="en-US" altLang="zh-CN" sz="2600" b="1" dirty="0">
                <a:solidFill>
                  <a:srgbClr val="002060"/>
                </a:solidFill>
                <a:ea typeface="华文细黑" panose="02010600040101010101" pitchFamily="2" charset="-122"/>
              </a:rPr>
              <a:t>——</a:t>
            </a:r>
            <a:r>
              <a:rPr lang="zh-CN" altLang="zh-CN" sz="2600" b="1" dirty="0">
                <a:solidFill>
                  <a:srgbClr val="002060"/>
                </a:solidFill>
                <a:ea typeface="华文细黑" panose="02010600040101010101" pitchFamily="2" charset="-122"/>
              </a:rPr>
              <a:t>位图（</a:t>
            </a:r>
            <a:r>
              <a:rPr lang="en-US" altLang="zh-CN" sz="2600" b="1" dirty="0">
                <a:solidFill>
                  <a:srgbClr val="002060"/>
                </a:solidFill>
                <a:ea typeface="华文细黑" panose="02010600040101010101" pitchFamily="2" charset="-122"/>
              </a:rPr>
              <a:t>bitmap</a:t>
            </a:r>
            <a:r>
              <a:rPr lang="zh-CN" altLang="zh-CN" sz="2600" b="1" dirty="0">
                <a:solidFill>
                  <a:srgbClr val="002060"/>
                </a:solidFill>
                <a:ea typeface="华文细黑" panose="02010600040101010101" pitchFamily="2" charset="-122"/>
              </a:rPr>
              <a:t>）和矢量图（</a:t>
            </a:r>
            <a:r>
              <a:rPr lang="en-US" altLang="zh-CN" sz="2600" b="1" dirty="0" err="1">
                <a:solidFill>
                  <a:srgbClr val="002060"/>
                </a:solidFill>
                <a:ea typeface="华文细黑" panose="02010600040101010101" pitchFamily="2" charset="-122"/>
              </a:rPr>
              <a:t>vectogram</a:t>
            </a:r>
            <a:r>
              <a:rPr lang="zh-CN" altLang="zh-CN" sz="2600" b="1" dirty="0">
                <a:solidFill>
                  <a:srgbClr val="002060"/>
                </a:solidFill>
                <a:ea typeface="华文细黑" panose="02010600040101010101" pitchFamily="2" charset="-122"/>
              </a:rPr>
              <a:t>）</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22474"/>
            <a:ext cx="5121352" cy="461736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的存储方式主要有</a:t>
            </a:r>
            <a:r>
              <a:rPr lang="zh-CN" altLang="zh-CN" sz="1700" b="1" dirty="0">
                <a:highlight>
                  <a:srgbClr val="FFFF99"/>
                </a:highlight>
                <a:latin typeface="Cambria" panose="02040503050406030204" pitchFamily="18" charset="0"/>
                <a:ea typeface="华文细黑" panose="02010600040101010101" pitchFamily="2" charset="-122"/>
              </a:rPr>
              <a:t>位图</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bitmap</a:t>
            </a:r>
            <a:r>
              <a:rPr lang="zh-CN" altLang="zh-CN" sz="1700" dirty="0">
                <a:latin typeface="Cambria" panose="02040503050406030204" pitchFamily="18" charset="0"/>
                <a:ea typeface="华文细黑" panose="02010600040101010101" pitchFamily="2" charset="-122"/>
              </a:rPr>
              <a:t>）和</a:t>
            </a:r>
            <a:r>
              <a:rPr lang="zh-CN" altLang="zh-CN" sz="1700" b="1" dirty="0">
                <a:highlight>
                  <a:srgbClr val="FFFF99"/>
                </a:highlight>
                <a:latin typeface="Cambria" panose="02040503050406030204" pitchFamily="18" charset="0"/>
                <a:ea typeface="华文细黑" panose="02010600040101010101" pitchFamily="2" charset="-122"/>
              </a:rPr>
              <a:t>矢量图</a:t>
            </a:r>
            <a:r>
              <a:rPr lang="zh-CN" altLang="zh-CN" sz="1700" dirty="0">
                <a:latin typeface="Cambria" panose="02040503050406030204" pitchFamily="18" charset="0"/>
                <a:ea typeface="华文细黑" panose="02010600040101010101" pitchFamily="2" charset="-122"/>
              </a:rPr>
              <a:t>（</a:t>
            </a:r>
            <a:r>
              <a:rPr lang="en-US" altLang="zh-CN" sz="1700" dirty="0" err="1">
                <a:latin typeface="Cambria" panose="02040503050406030204" pitchFamily="18" charset="0"/>
                <a:ea typeface="华文细黑" panose="02010600040101010101" pitchFamily="2" charset="-122"/>
              </a:rPr>
              <a:t>vectogram</a:t>
            </a:r>
            <a:r>
              <a:rPr lang="zh-CN" altLang="zh-CN" sz="1700" dirty="0">
                <a:latin typeface="Cambria" panose="02040503050406030204" pitchFamily="18" charset="0"/>
                <a:ea typeface="华文细黑" panose="02010600040101010101" pitchFamily="2" charset="-122"/>
              </a:rPr>
              <a:t>）。如</a:t>
            </a:r>
            <a:r>
              <a:rPr lang="en-US" altLang="zh-CN" sz="1700" dirty="0">
                <a:latin typeface="Cambria" panose="02040503050406030204" pitchFamily="18" charset="0"/>
                <a:ea typeface="华文细黑" panose="02010600040101010101" pitchFamily="2" charset="-122"/>
              </a:rPr>
              <a:t>PDF</a:t>
            </a:r>
            <a:r>
              <a:rPr lang="zh-CN" altLang="zh-CN" sz="1700" dirty="0">
                <a:latin typeface="Cambria" panose="02040503050406030204" pitchFamily="18" charset="0"/>
                <a:ea typeface="华文细黑" panose="02010600040101010101" pitchFamily="2" charset="-122"/>
              </a:rPr>
              <a:t>格式和</a:t>
            </a:r>
            <a:r>
              <a:rPr lang="en-US" altLang="zh-CN" sz="1700" dirty="0">
                <a:latin typeface="Cambria" panose="02040503050406030204" pitchFamily="18" charset="0"/>
                <a:ea typeface="华文细黑" panose="02010600040101010101" pitchFamily="2" charset="-122"/>
              </a:rPr>
              <a:t>SVG</a:t>
            </a:r>
            <a:r>
              <a:rPr lang="zh-CN" altLang="zh-CN" sz="1700" dirty="0">
                <a:latin typeface="Cambria" panose="02040503050406030204" pitchFamily="18" charset="0"/>
                <a:ea typeface="华文细黑" panose="02010600040101010101" pitchFamily="2" charset="-122"/>
              </a:rPr>
              <a:t>格式均为矢量图，</a:t>
            </a:r>
            <a:r>
              <a:rPr lang="en-US" altLang="zh-CN" sz="1700" dirty="0">
                <a:latin typeface="Cambria" panose="02040503050406030204" pitchFamily="18" charset="0"/>
                <a:ea typeface="华文细黑" panose="02010600040101010101" pitchFamily="2" charset="-122"/>
              </a:rPr>
              <a:t>PNG</a:t>
            </a:r>
            <a:r>
              <a:rPr lang="zh-CN" altLang="zh-CN" sz="1700" dirty="0">
                <a:latin typeface="Cambria" panose="02040503050406030204" pitchFamily="18" charset="0"/>
                <a:ea typeface="华文细黑" panose="02010600040101010101" pitchFamily="2" charset="-122"/>
              </a:rPr>
              <a:t>格式和</a:t>
            </a:r>
            <a:r>
              <a:rPr lang="en-US" altLang="zh-CN" sz="1700" dirty="0">
                <a:latin typeface="Cambria" panose="02040503050406030204" pitchFamily="18" charset="0"/>
                <a:ea typeface="华文细黑" panose="02010600040101010101" pitchFamily="2" charset="-122"/>
              </a:rPr>
              <a:t>JPEG/JPG</a:t>
            </a:r>
            <a:r>
              <a:rPr lang="zh-CN" altLang="zh-CN" sz="1700" dirty="0">
                <a:latin typeface="Cambria" panose="02040503050406030204" pitchFamily="18" charset="0"/>
                <a:ea typeface="华文细黑" panose="02010600040101010101" pitchFamily="2" charset="-122"/>
              </a:rPr>
              <a:t>格式则是位图</a:t>
            </a:r>
            <a:endParaRPr lang="en-US" altLang="zh-CN" sz="17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位图是将</a:t>
            </a: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存储为单个点（称为像素）的一个栅格，每个像素有一个指定的颜色，因此，放大位图的</a:t>
            </a: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时清晰度会下降</a:t>
            </a:r>
            <a:endParaRPr lang="en-US" altLang="zh-CN" sz="17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矢量图则是以几何排列方式存储</a:t>
            </a: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中各个图形的元素，而与像素无关。因此，任意放大矢量图都不会丢失</a:t>
            </a: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的细节或影响清晰度。但矢量图的</a:t>
            </a:r>
            <a:r>
              <a:rPr lang="zh-CN" altLang="en-US" sz="1700" dirty="0">
                <a:latin typeface="Cambria" panose="02040503050406030204" pitchFamily="18" charset="0"/>
                <a:ea typeface="华文细黑" panose="02010600040101010101" pitchFamily="2" charset="-122"/>
              </a:rPr>
              <a:t>图形</a:t>
            </a:r>
            <a:r>
              <a:rPr lang="zh-CN" altLang="zh-CN" sz="1700" dirty="0">
                <a:latin typeface="Cambria" panose="02040503050406030204" pitchFamily="18" charset="0"/>
                <a:ea typeface="华文细黑" panose="02010600040101010101" pitchFamily="2" charset="-122"/>
              </a:rPr>
              <a:t>文件相对于位图要偏大，会占用更多的计算机资源，运行也相对较慢</a:t>
            </a:r>
            <a:endParaRPr lang="en-US" altLang="zh-CN" sz="1700" dirty="0">
              <a:latin typeface="Cambria" panose="02040503050406030204" pitchFamily="18" charset="0"/>
              <a:ea typeface="华文细黑" panose="02010600040101010101" pitchFamily="2" charset="-122"/>
            </a:endParaRPr>
          </a:p>
        </p:txBody>
      </p:sp>
      <p:sp>
        <p:nvSpPr>
          <p:cNvPr id="7" name="副标题 2">
            <a:extLst>
              <a:ext uri="{FF2B5EF4-FFF2-40B4-BE49-F238E27FC236}">
                <a16:creationId xmlns:a16="http://schemas.microsoft.com/office/drawing/2014/main" id="{BA5951A5-8868-4E80-A13C-91D2AC44CF97}"/>
              </a:ext>
            </a:extLst>
          </p:cNvPr>
          <p:cNvSpPr txBox="1">
            <a:spLocks/>
          </p:cNvSpPr>
          <p:nvPr/>
        </p:nvSpPr>
        <p:spPr>
          <a:xfrm>
            <a:off x="6071180" y="1722474"/>
            <a:ext cx="5401339" cy="461736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en-US" altLang="zh-CN" sz="1800" dirty="0">
                <a:latin typeface="Cambria" panose="02040503050406030204" pitchFamily="18" charset="0"/>
                <a:ea typeface="华文细黑" panose="02010600040101010101" pitchFamily="2" charset="-122"/>
              </a:rPr>
              <a:t>R</a:t>
            </a:r>
            <a:r>
              <a:rPr lang="zh-CN" altLang="zh-CN" sz="1800" dirty="0">
                <a:latin typeface="Cambria" panose="02040503050406030204" pitchFamily="18" charset="0"/>
                <a:ea typeface="华文细黑" panose="02010600040101010101" pitchFamily="2" charset="-122"/>
              </a:rPr>
              <a:t>语言的图形输出格式有两种：一种是矢量图（图元文件），另一种是位图</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en-US" sz="1800" dirty="0">
                <a:latin typeface="Cambria" panose="02040503050406030204" pitchFamily="18" charset="0"/>
                <a:ea typeface="华文细黑" panose="02010600040101010101" pitchFamily="2" charset="-122"/>
              </a:rPr>
              <a:t>图形</a:t>
            </a:r>
            <a:r>
              <a:rPr lang="zh-CN" altLang="zh-CN" sz="1800" dirty="0">
                <a:latin typeface="Cambria" panose="02040503050406030204" pitchFamily="18" charset="0"/>
                <a:ea typeface="华文细黑" panose="02010600040101010101" pitchFamily="2" charset="-122"/>
              </a:rPr>
              <a:t>的存储方式有矢量图和以</a:t>
            </a:r>
            <a:r>
              <a:rPr lang="en-US" altLang="zh-CN" sz="1800" dirty="0">
                <a:latin typeface="Cambria" panose="02040503050406030204" pitchFamily="18" charset="0"/>
                <a:ea typeface="华文细黑" panose="02010600040101010101" pitchFamily="2" charset="-122"/>
              </a:rPr>
              <a:t>postscript</a:t>
            </a:r>
            <a:r>
              <a:rPr lang="zh-CN" altLang="zh-CN" sz="1800" dirty="0">
                <a:latin typeface="Cambria" panose="02040503050406030204" pitchFamily="18" charset="0"/>
                <a:ea typeface="华文细黑" panose="02010600040101010101" pitchFamily="2" charset="-122"/>
              </a:rPr>
              <a:t>语言存储的</a:t>
            </a:r>
            <a:r>
              <a:rPr lang="zh-CN" altLang="en-US" sz="1800" dirty="0">
                <a:latin typeface="Cambria" panose="02040503050406030204" pitchFamily="18" charset="0"/>
                <a:ea typeface="华文细黑" panose="02010600040101010101" pitchFamily="2" charset="-122"/>
              </a:rPr>
              <a:t>图形</a:t>
            </a:r>
            <a:r>
              <a:rPr lang="zh-CN" altLang="zh-CN" sz="1800" dirty="0">
                <a:latin typeface="Cambria" panose="02040503050406030204" pitchFamily="18" charset="0"/>
                <a:ea typeface="华文细黑" panose="02010600040101010101" pitchFamily="2" charset="-122"/>
              </a:rPr>
              <a:t>。</a:t>
            </a:r>
            <a:r>
              <a:rPr lang="en-US" altLang="zh-CN" sz="1800" dirty="0">
                <a:latin typeface="Cambria" panose="02040503050406030204" pitchFamily="18" charset="0"/>
                <a:ea typeface="华文细黑" panose="02010600040101010101" pitchFamily="2" charset="-122"/>
              </a:rPr>
              <a:t>R</a:t>
            </a:r>
            <a:r>
              <a:rPr lang="zh-CN" altLang="zh-CN" sz="1800" dirty="0">
                <a:latin typeface="Cambria" panose="02040503050406030204" pitchFamily="18" charset="0"/>
                <a:ea typeface="华文细黑" panose="02010600040101010101" pitchFamily="2" charset="-122"/>
              </a:rPr>
              <a:t>绘制的图形（包括表格）主要有两种输出方式：一种是静态图形或表格，一种是以</a:t>
            </a:r>
            <a:r>
              <a:rPr lang="en-US" altLang="zh-CN" sz="1800" dirty="0">
                <a:latin typeface="Cambria" panose="02040503050406030204" pitchFamily="18" charset="0"/>
                <a:ea typeface="华文细黑" panose="02010600040101010101" pitchFamily="2" charset="-122"/>
              </a:rPr>
              <a:t>HTML</a:t>
            </a:r>
            <a:r>
              <a:rPr lang="zh-CN" altLang="zh-CN" sz="1800" dirty="0">
                <a:latin typeface="Cambria" panose="02040503050406030204" pitchFamily="18" charset="0"/>
                <a:ea typeface="华文细黑" panose="02010600040101010101" pitchFamily="2" charset="-122"/>
              </a:rPr>
              <a:t>格式输出的动态交互图形或表格</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静态图主要用于论文、</a:t>
            </a:r>
            <a:r>
              <a:rPr lang="en-US" altLang="zh-CN" sz="1800" dirty="0">
                <a:latin typeface="Cambria" panose="02040503050406030204" pitchFamily="18" charset="0"/>
                <a:ea typeface="华文细黑" panose="02010600040101010101" pitchFamily="2" charset="-122"/>
              </a:rPr>
              <a:t>ppt</a:t>
            </a:r>
            <a:r>
              <a:rPr lang="zh-CN" altLang="zh-CN" sz="1800" dirty="0">
                <a:latin typeface="Cambria" panose="02040503050406030204" pitchFamily="18" charset="0"/>
                <a:ea typeface="华文细黑" panose="02010600040101010101" pitchFamily="2" charset="-122"/>
              </a:rPr>
              <a:t>或其他出版物</a:t>
            </a:r>
            <a:endParaRPr lang="en-US" altLang="zh-CN" sz="18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如果你要在其他设备上使用</a:t>
            </a:r>
            <a:r>
              <a:rPr lang="en-US" altLang="zh-CN" sz="1800" dirty="0">
                <a:latin typeface="Cambria" panose="02040503050406030204" pitchFamily="18" charset="0"/>
                <a:ea typeface="华文细黑" panose="02010600040101010101" pitchFamily="2" charset="-122"/>
              </a:rPr>
              <a:t>R</a:t>
            </a:r>
            <a:r>
              <a:rPr lang="zh-CN" altLang="zh-CN" sz="1800" dirty="0">
                <a:latin typeface="Cambria" panose="02040503050406030204" pitchFamily="18" charset="0"/>
                <a:ea typeface="华文细黑" panose="02010600040101010101" pitchFamily="2" charset="-122"/>
              </a:rPr>
              <a:t>输出的图形，可以将其保存为单独的图形文件，否则就没有必要保存图形，只需要保存图形绘制的</a:t>
            </a:r>
            <a:r>
              <a:rPr lang="en-US" altLang="zh-CN" sz="1800" dirty="0">
                <a:latin typeface="Cambria" panose="02040503050406030204" pitchFamily="18" charset="0"/>
                <a:ea typeface="华文细黑" panose="02010600040101010101" pitchFamily="2" charset="-122"/>
              </a:rPr>
              <a:t>R</a:t>
            </a:r>
            <a:r>
              <a:rPr lang="zh-CN" altLang="zh-CN" sz="1800" dirty="0">
                <a:latin typeface="Cambria" panose="02040503050406030204" pitchFamily="18" charset="0"/>
                <a:ea typeface="华文细黑" panose="02010600040101010101" pitchFamily="2" charset="-122"/>
              </a:rPr>
              <a:t>代码即可</a:t>
            </a:r>
          </a:p>
        </p:txBody>
      </p:sp>
      <p:sp>
        <p:nvSpPr>
          <p:cNvPr id="3" name="Rectangle 2">
            <a:extLst>
              <a:ext uri="{FF2B5EF4-FFF2-40B4-BE49-F238E27FC236}">
                <a16:creationId xmlns:a16="http://schemas.microsoft.com/office/drawing/2014/main" id="{BC67FE26-11CD-6DC8-5165-D3785CD9AFE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10.6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图形格式和图形导出</a:t>
            </a:r>
          </a:p>
        </p:txBody>
      </p:sp>
    </p:spTree>
    <p:extLst>
      <p:ext uri="{BB962C8B-B14F-4D97-AF65-F5344CB8AC3E}">
        <p14:creationId xmlns:p14="http://schemas.microsoft.com/office/powerpoint/2010/main" val="16372711"/>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图形导出</a:t>
            </a: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6" y="1722473"/>
            <a:ext cx="5908410" cy="4668167"/>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如果不是在其他设备上使用</a:t>
            </a:r>
            <a:r>
              <a:rPr lang="en-US" altLang="zh-CN" sz="1600" dirty="0">
                <a:latin typeface="Cambria" panose="02040503050406030204" pitchFamily="18" charset="0"/>
                <a:ea typeface="华文细黑" panose="02010600040101010101" pitchFamily="2" charset="-122"/>
              </a:rPr>
              <a:t>R</a:t>
            </a:r>
            <a:r>
              <a:rPr lang="zh-CN" altLang="zh-CN" sz="1600" dirty="0">
                <a:latin typeface="Cambria" panose="02040503050406030204" pitchFamily="18" charset="0"/>
                <a:ea typeface="华文细黑" panose="02010600040101010101" pitchFamily="2" charset="-122"/>
              </a:rPr>
              <a:t>绘制的图形，通常没有必要保存图形，只需要保存图形绘制的</a:t>
            </a:r>
            <a:r>
              <a:rPr lang="en-US" altLang="zh-CN" sz="1600" dirty="0">
                <a:latin typeface="Cambria" panose="02040503050406030204" pitchFamily="18" charset="0"/>
                <a:ea typeface="华文细黑" panose="02010600040101010101" pitchFamily="2" charset="-122"/>
              </a:rPr>
              <a:t>R</a:t>
            </a:r>
            <a:r>
              <a:rPr lang="zh-CN" altLang="zh-CN" sz="1600" dirty="0">
                <a:latin typeface="Cambria" panose="02040503050406030204" pitchFamily="18" charset="0"/>
                <a:ea typeface="华文细黑" panose="02010600040101010101" pitchFamily="2" charset="-122"/>
              </a:rPr>
              <a:t>代码即可，需要时再运行代码即可得到图形</a:t>
            </a:r>
            <a:endParaRPr lang="en-US" altLang="zh-CN" sz="16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使用</a:t>
            </a:r>
            <a:r>
              <a:rPr lang="en-US" altLang="zh-CN" sz="1600" dirty="0">
                <a:latin typeface="Cambria" panose="02040503050406030204" pitchFamily="18" charset="0"/>
                <a:ea typeface="华文细黑" panose="02010600040101010101" pitchFamily="2" charset="-122"/>
              </a:rPr>
              <a:t>ggplot2</a:t>
            </a:r>
            <a:r>
              <a:rPr lang="zh-CN" altLang="zh-CN" sz="1600" dirty="0">
                <a:latin typeface="Cambria" panose="02040503050406030204" pitchFamily="18" charset="0"/>
                <a:ea typeface="华文细黑" panose="02010600040101010101" pitchFamily="2" charset="-122"/>
              </a:rPr>
              <a:t>中的</a:t>
            </a:r>
            <a:r>
              <a:rPr lang="en-US" altLang="zh-CN" sz="1600" dirty="0" err="1">
                <a:latin typeface="Cambria" panose="02040503050406030204" pitchFamily="18" charset="0"/>
                <a:ea typeface="华文细黑" panose="02010600040101010101" pitchFamily="2" charset="-122"/>
              </a:rPr>
              <a:t>ggsave</a:t>
            </a:r>
            <a:r>
              <a:rPr lang="zh-CN" altLang="zh-CN" sz="1600" dirty="0">
                <a:latin typeface="Cambria" panose="02040503050406030204" pitchFamily="18" charset="0"/>
                <a:ea typeface="华文细黑" panose="02010600040101010101" pitchFamily="2" charset="-122"/>
              </a:rPr>
              <a:t>函数可以将</a:t>
            </a:r>
            <a:r>
              <a:rPr lang="en-US" altLang="zh-CN" sz="1600" dirty="0">
                <a:latin typeface="Cambria" panose="02040503050406030204" pitchFamily="18" charset="0"/>
                <a:ea typeface="华文细黑" panose="02010600040101010101" pitchFamily="2" charset="-122"/>
              </a:rPr>
              <a:t>ggplot2</a:t>
            </a:r>
            <a:r>
              <a:rPr lang="zh-CN" altLang="zh-CN" sz="1600" dirty="0">
                <a:latin typeface="Cambria" panose="02040503050406030204" pitchFamily="18" charset="0"/>
                <a:ea typeface="华文细黑" panose="02010600040101010101" pitchFamily="2" charset="-122"/>
              </a:rPr>
              <a:t>图形对象保存在不同的设备上。如果为</a:t>
            </a:r>
            <a:r>
              <a:rPr lang="en-US" altLang="zh-CN" sz="1600" dirty="0">
                <a:latin typeface="Cambria" panose="02040503050406030204" pitchFamily="18" charset="0"/>
                <a:ea typeface="华文细黑" panose="02010600040101010101" pitchFamily="2" charset="-122"/>
              </a:rPr>
              <a:t>NULL(</a:t>
            </a:r>
            <a:r>
              <a:rPr lang="zh-CN" altLang="zh-CN" sz="1600" dirty="0">
                <a:latin typeface="Cambria" panose="02040503050406030204" pitchFamily="18" charset="0"/>
                <a:ea typeface="华文细黑" panose="02010600040101010101" pitchFamily="2" charset="-122"/>
              </a:rPr>
              <a:t>默认值</a:t>
            </a:r>
            <a:r>
              <a:rPr lang="en-US" altLang="zh-CN" sz="1600" dirty="0">
                <a:latin typeface="Cambria" panose="02040503050406030204" pitchFamily="18" charset="0"/>
                <a:ea typeface="华文细黑" panose="02010600040101010101" pitchFamily="2" charset="-122"/>
              </a:rPr>
              <a:t>)</a:t>
            </a:r>
            <a:r>
              <a:rPr lang="zh-CN" altLang="zh-CN" sz="1600" dirty="0">
                <a:latin typeface="Cambria" panose="02040503050406030204" pitchFamily="18" charset="0"/>
                <a:ea typeface="华文细黑" panose="02010600040101010101" pitchFamily="2" charset="-122"/>
              </a:rPr>
              <a:t>，则根据文件扩展名猜测设备</a:t>
            </a:r>
            <a:endParaRPr lang="en-US" altLang="zh-CN" sz="16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除</a:t>
            </a:r>
            <a:r>
              <a:rPr lang="en-US" altLang="zh-CN" sz="1600" dirty="0" err="1">
                <a:latin typeface="Cambria" panose="02040503050406030204" pitchFamily="18" charset="0"/>
                <a:ea typeface="华文细黑" panose="02010600040101010101" pitchFamily="2" charset="-122"/>
              </a:rPr>
              <a:t>ggsave</a:t>
            </a:r>
            <a:r>
              <a:rPr lang="zh-CN" altLang="zh-CN" sz="1600" dirty="0">
                <a:latin typeface="Cambria" panose="02040503050406030204" pitchFamily="18" charset="0"/>
                <a:ea typeface="华文细黑" panose="02010600040101010101" pitchFamily="2" charset="-122"/>
              </a:rPr>
              <a:t>外，使用</a:t>
            </a:r>
            <a:r>
              <a:rPr lang="en-US" altLang="zh-CN" sz="1600" dirty="0">
                <a:latin typeface="Cambria" panose="02040503050406030204" pitchFamily="18" charset="0"/>
                <a:ea typeface="华文细黑" panose="02010600040101010101" pitchFamily="2" charset="-122"/>
              </a:rPr>
              <a:t>export</a:t>
            </a:r>
            <a:r>
              <a:rPr lang="zh-CN" altLang="zh-CN" sz="1600" dirty="0">
                <a:latin typeface="Cambria" panose="02040503050406030204" pitchFamily="18" charset="0"/>
                <a:ea typeface="华文细黑" panose="02010600040101010101" pitchFamily="2" charset="-122"/>
              </a:rPr>
              <a:t>包提供的函数可以将</a:t>
            </a:r>
            <a:r>
              <a:rPr lang="en-US" altLang="zh-CN" sz="1600" dirty="0">
                <a:latin typeface="Cambria" panose="02040503050406030204" pitchFamily="18" charset="0"/>
                <a:ea typeface="华文细黑" panose="02010600040101010101" pitchFamily="2" charset="-122"/>
              </a:rPr>
              <a:t>R</a:t>
            </a:r>
            <a:r>
              <a:rPr lang="zh-CN" altLang="zh-CN" sz="1600" dirty="0">
                <a:latin typeface="Cambria" panose="02040503050406030204" pitchFamily="18" charset="0"/>
                <a:ea typeface="华文细黑" panose="02010600040101010101" pitchFamily="2" charset="-122"/>
              </a:rPr>
              <a:t>图形和表格出导出到</a:t>
            </a:r>
            <a:r>
              <a:rPr lang="en-US" altLang="zh-CN" sz="1600" dirty="0">
                <a:latin typeface="Cambria" panose="02040503050406030204" pitchFamily="18" charset="0"/>
                <a:ea typeface="华文细黑" panose="02010600040101010101" pitchFamily="2" charset="-122"/>
              </a:rPr>
              <a:t>“Microsoft Office”/“libre Office”</a:t>
            </a:r>
            <a:r>
              <a:rPr lang="zh-CN" altLang="zh-CN" sz="1600" dirty="0">
                <a:latin typeface="Cambria" panose="02040503050406030204" pitchFamily="18" charset="0"/>
                <a:ea typeface="华文细黑" panose="02010600040101010101" pitchFamily="2" charset="-122"/>
              </a:rPr>
              <a:t>、</a:t>
            </a:r>
            <a:r>
              <a:rPr lang="en-US" altLang="zh-CN" sz="1600" dirty="0">
                <a:latin typeface="Cambria" panose="02040503050406030204" pitchFamily="18" charset="0"/>
                <a:ea typeface="华文细黑" panose="02010600040101010101" pitchFamily="2" charset="-122"/>
              </a:rPr>
              <a:t>“Latex”</a:t>
            </a:r>
            <a:r>
              <a:rPr lang="zh-CN" altLang="zh-CN" sz="1600" dirty="0">
                <a:latin typeface="Cambria" panose="02040503050406030204" pitchFamily="18" charset="0"/>
                <a:ea typeface="华文细黑" panose="02010600040101010101" pitchFamily="2" charset="-122"/>
              </a:rPr>
              <a:t>和</a:t>
            </a:r>
            <a:r>
              <a:rPr lang="en-US" altLang="zh-CN" sz="1600" dirty="0">
                <a:latin typeface="Cambria" panose="02040503050406030204" pitchFamily="18" charset="0"/>
                <a:ea typeface="华文细黑" panose="02010600040101010101" pitchFamily="2" charset="-122"/>
              </a:rPr>
              <a:t>“HTML”</a:t>
            </a:r>
            <a:r>
              <a:rPr lang="zh-CN" altLang="zh-CN" sz="1600" dirty="0">
                <a:latin typeface="Cambria" panose="02040503050406030204" pitchFamily="18" charset="0"/>
                <a:ea typeface="华文细黑" panose="02010600040101010101" pitchFamily="2" charset="-122"/>
              </a:rPr>
              <a:t>文档</a:t>
            </a:r>
            <a:endParaRPr lang="en-US" altLang="zh-CN" sz="1600" dirty="0">
              <a:latin typeface="Cambria" panose="02040503050406030204" pitchFamily="18" charset="0"/>
              <a:ea typeface="华文细黑" panose="02010600040101010101" pitchFamily="2" charset="-122"/>
            </a:endParaRPr>
          </a:p>
          <a:p>
            <a:pPr marL="442913" indent="-442913" algn="just" defTabSz="685800"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输出到</a:t>
            </a:r>
            <a:r>
              <a:rPr lang="en-US" altLang="zh-CN" sz="1600" dirty="0">
                <a:latin typeface="Cambria" panose="02040503050406030204" pitchFamily="18" charset="0"/>
                <a:ea typeface="华文细黑" panose="02010600040101010101" pitchFamily="2" charset="-122"/>
              </a:rPr>
              <a:t>“Microsoft Office”</a:t>
            </a:r>
            <a:r>
              <a:rPr lang="zh-CN" altLang="zh-CN" sz="1600" dirty="0">
                <a:latin typeface="Cambria" panose="02040503050406030204" pitchFamily="18" charset="0"/>
                <a:ea typeface="华文细黑" panose="02010600040101010101" pitchFamily="2" charset="-122"/>
              </a:rPr>
              <a:t>的图形是可编辑的</a:t>
            </a:r>
            <a:r>
              <a:rPr lang="en-US" altLang="zh-CN" sz="1600" dirty="0">
                <a:latin typeface="Cambria" panose="02040503050406030204" pitchFamily="18" charset="0"/>
                <a:ea typeface="华文细黑" panose="02010600040101010101" pitchFamily="2" charset="-122"/>
              </a:rPr>
              <a:t>“</a:t>
            </a:r>
            <a:r>
              <a:rPr lang="en-US" altLang="zh-CN" sz="1600" dirty="0" err="1">
                <a:latin typeface="Cambria" panose="02040503050406030204" pitchFamily="18" charset="0"/>
                <a:ea typeface="华文细黑" panose="02010600040101010101" pitchFamily="2" charset="-122"/>
              </a:rPr>
              <a:t>DrawingML</a:t>
            </a:r>
            <a:r>
              <a:rPr lang="en-US" altLang="zh-CN" sz="1600" dirty="0">
                <a:latin typeface="Cambria" panose="02040503050406030204" pitchFamily="18" charset="0"/>
                <a:ea typeface="华文细黑" panose="02010600040101010101" pitchFamily="2" charset="-122"/>
              </a:rPr>
              <a:t>”</a:t>
            </a:r>
            <a:r>
              <a:rPr lang="zh-CN" altLang="zh-CN" sz="1600" dirty="0">
                <a:latin typeface="Cambria" panose="02040503050406030204" pitchFamily="18" charset="0"/>
                <a:ea typeface="华文细黑" panose="02010600040101010101" pitchFamily="2" charset="-122"/>
              </a:rPr>
              <a:t>矢量格式</a:t>
            </a:r>
            <a:endParaRPr lang="en-US" altLang="zh-CN" sz="1600" dirty="0">
              <a:latin typeface="Cambria" panose="02040503050406030204" pitchFamily="18" charset="0"/>
              <a:ea typeface="华文细黑" panose="02010600040101010101" pitchFamily="2" charset="-122"/>
            </a:endParaRPr>
          </a:p>
          <a:p>
            <a:pPr algn="just" defTabSz="685800" eaLnBrk="0" hangingPunct="0">
              <a:lnSpc>
                <a:spcPct val="150000"/>
              </a:lnSpc>
              <a:spcBef>
                <a:spcPct val="50000"/>
              </a:spcBef>
              <a:buClr>
                <a:srgbClr val="000099"/>
              </a:buClr>
              <a:defRPr/>
            </a:pPr>
            <a:endParaRPr lang="zh-CN" altLang="zh-CN" sz="1600" dirty="0">
              <a:latin typeface="Cambria" panose="02040503050406030204" pitchFamily="18" charset="0"/>
              <a:ea typeface="华文细黑" panose="02010600040101010101" pitchFamily="2" charset="-122"/>
            </a:endParaRPr>
          </a:p>
        </p:txBody>
      </p:sp>
      <p:sp>
        <p:nvSpPr>
          <p:cNvPr id="3" name="副标题 2">
            <a:extLst>
              <a:ext uri="{FF2B5EF4-FFF2-40B4-BE49-F238E27FC236}">
                <a16:creationId xmlns:a16="http://schemas.microsoft.com/office/drawing/2014/main" id="{3760F30E-21FD-BCB7-64AB-EC8CAC3CFECD}"/>
              </a:ext>
            </a:extLst>
          </p:cNvPr>
          <p:cNvSpPr txBox="1">
            <a:spLocks/>
          </p:cNvSpPr>
          <p:nvPr/>
        </p:nvSpPr>
        <p:spPr>
          <a:xfrm>
            <a:off x="6858000" y="1722474"/>
            <a:ext cx="4693920" cy="466816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15000"/>
              </a:lnSpc>
            </a:pPr>
            <a:r>
              <a:rPr lang="en-US"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 </a:t>
            </a:r>
            <a:r>
              <a:rPr lang="zh-CN"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b="1" dirty="0" err="1">
                <a:solidFill>
                  <a:srgbClr val="E36C0A"/>
                </a:solidFill>
                <a:latin typeface="Cambria" panose="02040503050406030204" pitchFamily="18" charset="0"/>
                <a:ea typeface="华文细黑" panose="02010600040101010101" pitchFamily="2" charset="-122"/>
                <a:cs typeface="Arial" panose="020B0604020202020204" pitchFamily="34" charset="0"/>
              </a:rPr>
              <a:t>ggsave</a:t>
            </a:r>
            <a:r>
              <a:rPr lang="zh-CN"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函数保存图形（未运行）</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library(ggplot2);library(patchwork)</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latin typeface="Cambria" panose="02040503050406030204" pitchFamily="18" charset="0"/>
                <a:ea typeface="华文细黑" panose="02010600040101010101" pitchFamily="2" charset="-122"/>
                <a:cs typeface="Arial" panose="020B0604020202020204" pitchFamily="34" charset="0"/>
              </a:rPr>
              <a:t> </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绘制图形</a:t>
            </a:r>
            <a:endParaRPr lang="en-US"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set.seed</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(123)</a:t>
            </a:r>
            <a:endParaRPr lang="en-US"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df</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&lt;-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data.frame</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(x=</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rnorm</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(1000))</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p1&lt;-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ggplot</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df,aes</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(x=x))+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绘制直方图</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geom_histogram</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(fill="</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lightgreen</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",color="gray50")</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p2&lt;-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ggplot</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df,aes</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(x=x))+</a:t>
            </a: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geom_density</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(fill="</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skyblue</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绘制核密度图</a:t>
            </a:r>
            <a:endParaRPr lang="en-US"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pp=p1+p2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组合图形</a:t>
            </a:r>
            <a:endParaRPr lang="zh-CN" altLang="zh-CN" sz="1600" dirty="0">
              <a:latin typeface="Times New Roman" panose="02020603050405020304" pitchFamily="18" charset="0"/>
              <a:ea typeface="宋体" panose="02010600030101010101" pitchFamily="2" charset="-122"/>
            </a:endParaRPr>
          </a:p>
        </p:txBody>
      </p:sp>
      <p:sp>
        <p:nvSpPr>
          <p:cNvPr id="4" name="Rectangle 2">
            <a:extLst>
              <a:ext uri="{FF2B5EF4-FFF2-40B4-BE49-F238E27FC236}">
                <a16:creationId xmlns:a16="http://schemas.microsoft.com/office/drawing/2014/main" id="{D4E28BFD-4E7B-FABF-F379-30293D86EEB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10.6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图形格式和图形导出</a:t>
            </a:r>
          </a:p>
        </p:txBody>
      </p:sp>
    </p:spTree>
    <p:extLst>
      <p:ext uri="{BB962C8B-B14F-4D97-AF65-F5344CB8AC3E}">
        <p14:creationId xmlns:p14="http://schemas.microsoft.com/office/powerpoint/2010/main" val="4092019246"/>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图形导出</a:t>
            </a:r>
            <a:endParaRPr lang="en-US" altLang="zh-CN" sz="2600" b="1" dirty="0">
              <a:solidFill>
                <a:srgbClr val="002060"/>
              </a:solidFill>
              <a:ea typeface="华文细黑" panose="02010600040101010101" pitchFamily="2" charset="-122"/>
            </a:endParaRPr>
          </a:p>
        </p:txBody>
      </p:sp>
      <p:sp>
        <p:nvSpPr>
          <p:cNvPr id="3" name="副标题 2">
            <a:extLst>
              <a:ext uri="{FF2B5EF4-FFF2-40B4-BE49-F238E27FC236}">
                <a16:creationId xmlns:a16="http://schemas.microsoft.com/office/drawing/2014/main" id="{632D64EE-2691-7781-7C24-E71865847824}"/>
              </a:ext>
            </a:extLst>
          </p:cNvPr>
          <p:cNvSpPr txBox="1">
            <a:spLocks/>
          </p:cNvSpPr>
          <p:nvPr/>
        </p:nvSpPr>
        <p:spPr>
          <a:xfrm>
            <a:off x="653145" y="1730829"/>
            <a:ext cx="4441370" cy="4629331"/>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保存图形</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p1</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ggsave</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("p1.pdf",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保存成</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pdf</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文件</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path="C:/mydata",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设置路径</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width=20,height=20,units="cm")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设置图片大小</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如果未提供，则使用当前图形设备的大小</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latin typeface="Cambria" panose="02040503050406030204" pitchFamily="18" charset="0"/>
                <a:ea typeface="华文细黑" panose="02010600040101010101" pitchFamily="2" charset="-122"/>
                <a:cs typeface="Arial" panose="020B0604020202020204" pitchFamily="34" charset="0"/>
              </a:rPr>
              <a:t> </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保存图形</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p2</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ggsave</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("p2.png", path="C:/mydata")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保存成</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png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文件</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latin typeface="Cambria" panose="02040503050406030204" pitchFamily="18" charset="0"/>
                <a:ea typeface="华文细黑" panose="02010600040101010101" pitchFamily="2" charset="-122"/>
                <a:cs typeface="Arial" panose="020B0604020202020204" pitchFamily="34" charset="0"/>
              </a:rPr>
              <a:t> </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保存图形</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pp</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ggsave</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pp.svg</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path="C:/mydata")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保存成</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svg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文件</a:t>
            </a:r>
            <a:endParaRPr lang="zh-CN" altLang="zh-CN" sz="1600" dirty="0">
              <a:latin typeface="Times New Roman" panose="02020603050405020304" pitchFamily="18" charset="0"/>
              <a:ea typeface="宋体" panose="02010600030101010101" pitchFamily="2" charset="-122"/>
            </a:endParaRPr>
          </a:p>
        </p:txBody>
      </p:sp>
      <p:sp>
        <p:nvSpPr>
          <p:cNvPr id="8" name="副标题 2">
            <a:extLst>
              <a:ext uri="{FF2B5EF4-FFF2-40B4-BE49-F238E27FC236}">
                <a16:creationId xmlns:a16="http://schemas.microsoft.com/office/drawing/2014/main" id="{FD6C9491-06D5-027C-4574-80D8954148DB}"/>
              </a:ext>
            </a:extLst>
          </p:cNvPr>
          <p:cNvSpPr txBox="1">
            <a:spLocks/>
          </p:cNvSpPr>
          <p:nvPr/>
        </p:nvSpPr>
        <p:spPr>
          <a:xfrm>
            <a:off x="5192486" y="1730829"/>
            <a:ext cx="6466114" cy="4629331"/>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15000"/>
              </a:lnSpc>
            </a:pPr>
            <a:r>
              <a:rPr lang="en-US" altLang="zh-CN" sz="1600" dirty="0">
                <a:latin typeface="Cambria" panose="02040503050406030204" pitchFamily="18" charset="0"/>
                <a:ea typeface="华文细黑" panose="02010600040101010101" pitchFamily="2" charset="-122"/>
                <a:cs typeface="Arial" panose="020B0604020202020204" pitchFamily="34" charset="0"/>
              </a:rPr>
              <a:t> </a:t>
            </a:r>
            <a:r>
              <a:rPr lang="en-US"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 </a:t>
            </a:r>
            <a:r>
              <a:rPr lang="zh-CN"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export</a:t>
            </a:r>
            <a:r>
              <a:rPr lang="zh-CN" altLang="zh-CN" sz="1600" b="1" dirty="0">
                <a:solidFill>
                  <a:srgbClr val="E36C0A"/>
                </a:solidFill>
                <a:latin typeface="Cambria" panose="02040503050406030204" pitchFamily="18" charset="0"/>
                <a:ea typeface="华文细黑" panose="02010600040101010101" pitchFamily="2" charset="-122"/>
                <a:cs typeface="Arial" panose="020B0604020202020204" pitchFamily="34" charset="0"/>
              </a:rPr>
              <a:t>包导出图形（未运行）</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graph2ppt</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函数将图形导出到</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PowerPoint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graph2ppt(x=p1,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要输出的图形对象（</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p1</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file="output.pptx")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导出的图形文件类型（</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PPT</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graph2doc</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函数将图形导出到</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Word</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文档</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graph2doc(x=p1,file="output.docx")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导出的图形文件类型（</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Word.docx</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graph2svg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函数将图形导出为</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SVG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格式</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graph2svg(x=p1,file="</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output.svg</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导出的图形文件类型（</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svg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使用</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graph2png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函数将图形导出为</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PNG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图片</a:t>
            </a:r>
            <a:endParaRPr lang="zh-CN" altLang="zh-CN" sz="1600" dirty="0">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graph2png(</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your_plot</a:t>
            </a:r>
            <a:r>
              <a:rPr lang="en-US"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 "output.png")    # </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导出的图形文件类型（</a:t>
            </a:r>
            <a:r>
              <a:rPr lang="en-US" altLang="zh-CN" sz="1600" dirty="0" err="1">
                <a:solidFill>
                  <a:srgbClr val="000000"/>
                </a:solidFill>
                <a:latin typeface="Cambria" panose="02040503050406030204" pitchFamily="18" charset="0"/>
                <a:ea typeface="华文细黑" panose="02010600040101010101" pitchFamily="2" charset="-122"/>
                <a:cs typeface="Arial" panose="020B0604020202020204" pitchFamily="34" charset="0"/>
              </a:rPr>
              <a:t>png</a:t>
            </a:r>
            <a:r>
              <a:rPr lang="zh-CN" altLang="zh-CN" sz="1600" dirty="0">
                <a:solidFill>
                  <a:srgbClr val="000000"/>
                </a:solidFill>
                <a:latin typeface="Cambria" panose="02040503050406030204" pitchFamily="18" charset="0"/>
                <a:ea typeface="华文细黑" panose="02010600040101010101" pitchFamily="2" charset="-122"/>
                <a:cs typeface="Arial" panose="020B0604020202020204" pitchFamily="34" charset="0"/>
              </a:rPr>
              <a:t>）</a:t>
            </a:r>
            <a:endParaRPr lang="zh-CN" altLang="zh-CN" sz="1600" dirty="0">
              <a:latin typeface="Times New Roman" panose="02020603050405020304" pitchFamily="18" charset="0"/>
              <a:ea typeface="宋体" panose="02010600030101010101" pitchFamily="2" charset="-122"/>
            </a:endParaRPr>
          </a:p>
        </p:txBody>
      </p:sp>
      <p:sp>
        <p:nvSpPr>
          <p:cNvPr id="4" name="Rectangle 2">
            <a:extLst>
              <a:ext uri="{FF2B5EF4-FFF2-40B4-BE49-F238E27FC236}">
                <a16:creationId xmlns:a16="http://schemas.microsoft.com/office/drawing/2014/main" id="{3364520B-345A-95D0-D1D1-E25EDFB4613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10.6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图形格式和图形导出</a:t>
            </a:r>
          </a:p>
        </p:txBody>
      </p:sp>
    </p:spTree>
    <p:extLst>
      <p:ext uri="{BB962C8B-B14F-4D97-AF65-F5344CB8AC3E}">
        <p14:creationId xmlns:p14="http://schemas.microsoft.com/office/powerpoint/2010/main" val="2655969971"/>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5589514" y="1677093"/>
            <a:ext cx="5968912" cy="464671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本章主要介绍与可视化相关的一些问题，包括图形元素、图形比例、图形配色等可视化中应注意的问题</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数据变换是数据分析和可视化中的常见做法，目的是统一数据的量纲以便于比较分析。在可视化中，有很多图形都是对数据变换后绘制的</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中的</a:t>
            </a:r>
            <a:r>
              <a:rPr lang="en-US" altLang="zh-CN" sz="1800" dirty="0" err="1">
                <a:latin typeface="Cambria" panose="02040503050406030204" pitchFamily="18" charset="0"/>
                <a:ea typeface="华文细黑" panose="02010600040101010101" pitchFamily="2" charset="-122"/>
                <a:cs typeface="Times New Roman" panose="02020603050405020304" pitchFamily="18" charset="0"/>
              </a:rPr>
              <a:t>ggsave</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函数可以将</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图形对象保存在不同的设备上；使用</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export</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包提供的函数可以将</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R</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图形和表格以不同格式导出到其他设备上</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82D4832C-7FF0-4473-32F6-7ED65B3B60C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4" name="图片 3">
            <a:extLst>
              <a:ext uri="{FF2B5EF4-FFF2-40B4-BE49-F238E27FC236}">
                <a16:creationId xmlns:a16="http://schemas.microsoft.com/office/drawing/2014/main" id="{87C6C47B-82D9-7EDD-C4DE-1A644CBE3F0C}"/>
              </a:ext>
            </a:extLst>
          </p:cNvPr>
          <p:cNvPicPr>
            <a:picLocks noChangeAspect="1"/>
          </p:cNvPicPr>
          <p:nvPr/>
        </p:nvPicPr>
        <p:blipFill>
          <a:blip r:embed="rId2"/>
          <a:stretch>
            <a:fillRect/>
          </a:stretch>
        </p:blipFill>
        <p:spPr>
          <a:xfrm>
            <a:off x="665385" y="1677093"/>
            <a:ext cx="4924129" cy="4646712"/>
          </a:xfrm>
          <a:prstGeom prst="rect">
            <a:avLst/>
          </a:prstGeom>
        </p:spPr>
      </p:pic>
    </p:spTree>
    <p:extLst>
      <p:ext uri="{BB962C8B-B14F-4D97-AF65-F5344CB8AC3E}">
        <p14:creationId xmlns:p14="http://schemas.microsoft.com/office/powerpoint/2010/main" val="3040481407"/>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2025/9/7</a:t>
            </a:fld>
            <a:endParaRPr lang="zh-CN" altLang="en-US"/>
          </a:p>
        </p:txBody>
      </p:sp>
    </p:spTree>
    <p:extLst>
      <p:ext uri="{BB962C8B-B14F-4D97-AF65-F5344CB8AC3E}">
        <p14:creationId xmlns:p14="http://schemas.microsoft.com/office/powerpoint/2010/main" val="2430434470"/>
      </p:ext>
    </p:extLst>
  </p:cSld>
  <p:clrMapOvr>
    <a:masterClrMapping/>
  </p:clrMapOvr>
  <p:transition>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3575</TotalTime>
  <Words>2505</Words>
  <Application>Microsoft Office PowerPoint</Application>
  <PresentationFormat>宽屏</PresentationFormat>
  <Paragraphs>176</Paragraphs>
  <Slides>25</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42" baseType="lpstr">
      <vt:lpstr>等线</vt:lpstr>
      <vt:lpstr>等线 Light</vt:lpstr>
      <vt:lpstr>华文琥珀</vt:lpstr>
      <vt:lpstr>华文细黑</vt:lpstr>
      <vt:lpstr>华文行楷</vt:lpstr>
      <vt:lpstr>微软雅黑</vt:lpstr>
      <vt:lpstr>Arial</vt:lpstr>
      <vt:lpstr>Arial Black</vt:lpstr>
      <vt:lpstr>Calibri</vt:lpstr>
      <vt:lpstr>Cambria</vt:lpstr>
      <vt:lpstr>Cambria Math</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405</cp:revision>
  <dcterms:created xsi:type="dcterms:W3CDTF">2020-11-21T11:10:03Z</dcterms:created>
  <dcterms:modified xsi:type="dcterms:W3CDTF">2025-09-07T06:34:29Z</dcterms:modified>
</cp:coreProperties>
</file>