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1534" r:id="rId2"/>
    <p:sldId id="761" r:id="rId3"/>
    <p:sldId id="1421" r:id="rId4"/>
    <p:sldId id="1464" r:id="rId5"/>
    <p:sldId id="1419" r:id="rId6"/>
    <p:sldId id="1450" r:id="rId7"/>
    <p:sldId id="1451" r:id="rId8"/>
    <p:sldId id="1454" r:id="rId9"/>
    <p:sldId id="1465" r:id="rId10"/>
    <p:sldId id="1453" r:id="rId11"/>
    <p:sldId id="1466" r:id="rId12"/>
    <p:sldId id="1458" r:id="rId13"/>
    <p:sldId id="1461" r:id="rId14"/>
    <p:sldId id="1467" r:id="rId15"/>
    <p:sldId id="1459" r:id="rId16"/>
    <p:sldId id="1468" r:id="rId17"/>
    <p:sldId id="1536" r:id="rId18"/>
    <p:sldId id="1535" r:id="rId19"/>
    <p:sldId id="1537" r:id="rId20"/>
    <p:sldId id="1538" r:id="rId21"/>
    <p:sldId id="1470" r:id="rId22"/>
    <p:sldId id="1469" r:id="rId23"/>
    <p:sldId id="1472" r:id="rId24"/>
    <p:sldId id="1532" r:id="rId25"/>
    <p:sldId id="1480" r:id="rId26"/>
    <p:sldId id="1481" r:id="rId27"/>
    <p:sldId id="1473" r:id="rId28"/>
    <p:sldId id="1471" r:id="rId29"/>
    <p:sldId id="1475" r:id="rId30"/>
    <p:sldId id="1533" r:id="rId31"/>
    <p:sldId id="1477" r:id="rId32"/>
    <p:sldId id="1478" r:id="rId33"/>
    <p:sldId id="1530" r:id="rId34"/>
    <p:sldId id="1463"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jp99@126.com" initials="j" lastIdx="1" clrIdx="0">
    <p:extLst>
      <p:ext uri="{19B8F6BF-5375-455C-9EA6-DF929625EA0E}">
        <p15:presenceInfo xmlns:p15="http://schemas.microsoft.com/office/powerpoint/2012/main" userId="e55687fcb66d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000099"/>
    <a:srgbClr val="00FFFF"/>
    <a:srgbClr val="0033CC"/>
    <a:srgbClr val="FFFF99"/>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758" autoAdjust="0"/>
    <p:restoredTop sz="93724" autoAdjust="0"/>
  </p:normalViewPr>
  <p:slideViewPr>
    <p:cSldViewPr snapToGrid="0">
      <p:cViewPr varScale="1">
        <p:scale>
          <a:sx n="63" d="100"/>
          <a:sy n="63" d="100"/>
        </p:scale>
        <p:origin x="156" y="48"/>
      </p:cViewPr>
      <p:guideLst/>
    </p:cSldViewPr>
  </p:slideViewPr>
  <p:outlineViewPr>
    <p:cViewPr>
      <p:scale>
        <a:sx n="33" d="100"/>
        <a:sy n="33" d="100"/>
      </p:scale>
      <p:origin x="0" y="-2150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2460"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5EED25C-2B63-7E2E-CBF0-117AE223D9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4B69571B-0688-BA5F-63CC-90639D47F2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8DDE50-F98F-40FC-B99C-11DA78DF080E}" type="datetimeFigureOut">
              <a:rPr lang="zh-CN" altLang="en-US" smtClean="0"/>
              <a:t>2025/9/7</a:t>
            </a:fld>
            <a:endParaRPr lang="zh-CN" altLang="en-US"/>
          </a:p>
        </p:txBody>
      </p:sp>
      <p:sp>
        <p:nvSpPr>
          <p:cNvPr id="4" name="页脚占位符 3">
            <a:extLst>
              <a:ext uri="{FF2B5EF4-FFF2-40B4-BE49-F238E27FC236}">
                <a16:creationId xmlns:a16="http://schemas.microsoft.com/office/drawing/2014/main" id="{56563090-E124-2C8C-5D7A-57125807AD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D23B5BE6-4E67-E0B7-BA6D-F747C7F6E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A7068-E624-4839-8322-D605A0EC3A50}" type="slidenum">
              <a:rPr lang="zh-CN" altLang="en-US" smtClean="0"/>
              <a:t>‹#›</a:t>
            </a:fld>
            <a:endParaRPr lang="zh-CN" altLang="en-US"/>
          </a:p>
        </p:txBody>
      </p:sp>
    </p:spTree>
    <p:extLst>
      <p:ext uri="{BB962C8B-B14F-4D97-AF65-F5344CB8AC3E}">
        <p14:creationId xmlns:p14="http://schemas.microsoft.com/office/powerpoint/2010/main" val="217277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4936-C32E-4B5F-9C00-DE18EC293E6D}"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0304E-243D-4FB6-884F-3E6061F00E76}" type="slidenum">
              <a:rPr lang="zh-CN" altLang="en-US" smtClean="0"/>
              <a:t>‹#›</a:t>
            </a:fld>
            <a:endParaRPr lang="zh-CN" altLang="en-US"/>
          </a:p>
        </p:txBody>
      </p:sp>
    </p:spTree>
    <p:extLst>
      <p:ext uri="{BB962C8B-B14F-4D97-AF65-F5344CB8AC3E}">
        <p14:creationId xmlns:p14="http://schemas.microsoft.com/office/powerpoint/2010/main" val="14636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3</a:t>
            </a:fld>
            <a:endParaRPr lang="zh-CN" altLang="en-US"/>
          </a:p>
        </p:txBody>
      </p:sp>
    </p:spTree>
    <p:extLst>
      <p:ext uri="{BB962C8B-B14F-4D97-AF65-F5344CB8AC3E}">
        <p14:creationId xmlns:p14="http://schemas.microsoft.com/office/powerpoint/2010/main" val="337978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13</a:t>
            </a:fld>
            <a:endParaRPr lang="zh-CN" altLang="en-US"/>
          </a:p>
        </p:txBody>
      </p:sp>
    </p:spTree>
    <p:extLst>
      <p:ext uri="{BB962C8B-B14F-4D97-AF65-F5344CB8AC3E}">
        <p14:creationId xmlns:p14="http://schemas.microsoft.com/office/powerpoint/2010/main" val="3790019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14</a:t>
            </a:fld>
            <a:endParaRPr lang="zh-CN" altLang="en-US"/>
          </a:p>
        </p:txBody>
      </p:sp>
    </p:spTree>
    <p:extLst>
      <p:ext uri="{BB962C8B-B14F-4D97-AF65-F5344CB8AC3E}">
        <p14:creationId xmlns:p14="http://schemas.microsoft.com/office/powerpoint/2010/main" val="407278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15</a:t>
            </a:fld>
            <a:endParaRPr lang="zh-CN" altLang="en-US"/>
          </a:p>
        </p:txBody>
      </p:sp>
    </p:spTree>
    <p:extLst>
      <p:ext uri="{BB962C8B-B14F-4D97-AF65-F5344CB8AC3E}">
        <p14:creationId xmlns:p14="http://schemas.microsoft.com/office/powerpoint/2010/main" val="2705507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16</a:t>
            </a:fld>
            <a:endParaRPr lang="zh-CN" altLang="en-US"/>
          </a:p>
        </p:txBody>
      </p:sp>
    </p:spTree>
    <p:extLst>
      <p:ext uri="{BB962C8B-B14F-4D97-AF65-F5344CB8AC3E}">
        <p14:creationId xmlns:p14="http://schemas.microsoft.com/office/powerpoint/2010/main" val="4118521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E7428-7654-F3E1-DEB3-5129152839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9A7642-9DD4-83CB-2965-3EB0A6DB06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A17CCD-A8B8-AF44-17CC-412DBE493B4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C5FE5AE-9CE9-2F48-FA26-F3E45277956B}"/>
              </a:ext>
            </a:extLst>
          </p:cNvPr>
          <p:cNvSpPr>
            <a:spLocks noGrp="1"/>
          </p:cNvSpPr>
          <p:nvPr>
            <p:ph type="sldNum" sz="quarter" idx="5"/>
          </p:nvPr>
        </p:nvSpPr>
        <p:spPr/>
        <p:txBody>
          <a:bodyPr/>
          <a:lstStyle/>
          <a:p>
            <a:fld id="{5630304E-243D-4FB6-884F-3E6061F00E76}" type="slidenum">
              <a:rPr lang="zh-CN" altLang="en-US" smtClean="0"/>
              <a:t>17</a:t>
            </a:fld>
            <a:endParaRPr lang="zh-CN" altLang="en-US"/>
          </a:p>
        </p:txBody>
      </p:sp>
    </p:spTree>
    <p:extLst>
      <p:ext uri="{BB962C8B-B14F-4D97-AF65-F5344CB8AC3E}">
        <p14:creationId xmlns:p14="http://schemas.microsoft.com/office/powerpoint/2010/main" val="2295467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E7428-7654-F3E1-DEB3-5129152839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9A7642-9DD4-83CB-2965-3EB0A6DB06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A17CCD-A8B8-AF44-17CC-412DBE493B4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C5FE5AE-9CE9-2F48-FA26-F3E45277956B}"/>
              </a:ext>
            </a:extLst>
          </p:cNvPr>
          <p:cNvSpPr>
            <a:spLocks noGrp="1"/>
          </p:cNvSpPr>
          <p:nvPr>
            <p:ph type="sldNum" sz="quarter" idx="5"/>
          </p:nvPr>
        </p:nvSpPr>
        <p:spPr/>
        <p:txBody>
          <a:bodyPr/>
          <a:lstStyle/>
          <a:p>
            <a:fld id="{5630304E-243D-4FB6-884F-3E6061F00E76}" type="slidenum">
              <a:rPr lang="zh-CN" altLang="en-US" smtClean="0"/>
              <a:t>18</a:t>
            </a:fld>
            <a:endParaRPr lang="zh-CN" altLang="en-US"/>
          </a:p>
        </p:txBody>
      </p:sp>
    </p:spTree>
    <p:extLst>
      <p:ext uri="{BB962C8B-B14F-4D97-AF65-F5344CB8AC3E}">
        <p14:creationId xmlns:p14="http://schemas.microsoft.com/office/powerpoint/2010/main" val="2930723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19</a:t>
            </a:fld>
            <a:endParaRPr lang="zh-CN" altLang="en-US"/>
          </a:p>
        </p:txBody>
      </p:sp>
    </p:spTree>
    <p:extLst>
      <p:ext uri="{BB962C8B-B14F-4D97-AF65-F5344CB8AC3E}">
        <p14:creationId xmlns:p14="http://schemas.microsoft.com/office/powerpoint/2010/main" val="376653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20</a:t>
            </a:fld>
            <a:endParaRPr lang="zh-CN" altLang="en-US"/>
          </a:p>
        </p:txBody>
      </p:sp>
    </p:spTree>
    <p:extLst>
      <p:ext uri="{BB962C8B-B14F-4D97-AF65-F5344CB8AC3E}">
        <p14:creationId xmlns:p14="http://schemas.microsoft.com/office/powerpoint/2010/main" val="1269701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21</a:t>
            </a:fld>
            <a:endParaRPr lang="zh-CN" altLang="en-US"/>
          </a:p>
        </p:txBody>
      </p:sp>
    </p:spTree>
    <p:extLst>
      <p:ext uri="{BB962C8B-B14F-4D97-AF65-F5344CB8AC3E}">
        <p14:creationId xmlns:p14="http://schemas.microsoft.com/office/powerpoint/2010/main" val="4215219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22</a:t>
            </a:fld>
            <a:endParaRPr lang="zh-CN" altLang="en-US"/>
          </a:p>
        </p:txBody>
      </p:sp>
    </p:spTree>
    <p:extLst>
      <p:ext uri="{BB962C8B-B14F-4D97-AF65-F5344CB8AC3E}">
        <p14:creationId xmlns:p14="http://schemas.microsoft.com/office/powerpoint/2010/main" val="848674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23</a:t>
            </a:fld>
            <a:endParaRPr lang="zh-CN" altLang="en-US"/>
          </a:p>
        </p:txBody>
      </p:sp>
    </p:spTree>
    <p:extLst>
      <p:ext uri="{BB962C8B-B14F-4D97-AF65-F5344CB8AC3E}">
        <p14:creationId xmlns:p14="http://schemas.microsoft.com/office/powerpoint/2010/main" val="3940909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24</a:t>
            </a:fld>
            <a:endParaRPr lang="zh-CN" altLang="en-US"/>
          </a:p>
        </p:txBody>
      </p:sp>
    </p:spTree>
    <p:extLst>
      <p:ext uri="{BB962C8B-B14F-4D97-AF65-F5344CB8AC3E}">
        <p14:creationId xmlns:p14="http://schemas.microsoft.com/office/powerpoint/2010/main" val="121297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25</a:t>
            </a:fld>
            <a:endParaRPr lang="zh-CN" altLang="en-US"/>
          </a:p>
        </p:txBody>
      </p:sp>
    </p:spTree>
    <p:extLst>
      <p:ext uri="{BB962C8B-B14F-4D97-AF65-F5344CB8AC3E}">
        <p14:creationId xmlns:p14="http://schemas.microsoft.com/office/powerpoint/2010/main" val="1633433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26</a:t>
            </a:fld>
            <a:endParaRPr lang="zh-CN" altLang="en-US"/>
          </a:p>
        </p:txBody>
      </p:sp>
    </p:spTree>
    <p:extLst>
      <p:ext uri="{BB962C8B-B14F-4D97-AF65-F5344CB8AC3E}">
        <p14:creationId xmlns:p14="http://schemas.microsoft.com/office/powerpoint/2010/main" val="1981520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27</a:t>
            </a:fld>
            <a:endParaRPr lang="zh-CN" altLang="en-US"/>
          </a:p>
        </p:txBody>
      </p:sp>
    </p:spTree>
    <p:extLst>
      <p:ext uri="{BB962C8B-B14F-4D97-AF65-F5344CB8AC3E}">
        <p14:creationId xmlns:p14="http://schemas.microsoft.com/office/powerpoint/2010/main" val="3517131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28</a:t>
            </a:fld>
            <a:endParaRPr lang="zh-CN" altLang="en-US"/>
          </a:p>
        </p:txBody>
      </p:sp>
    </p:spTree>
    <p:extLst>
      <p:ext uri="{BB962C8B-B14F-4D97-AF65-F5344CB8AC3E}">
        <p14:creationId xmlns:p14="http://schemas.microsoft.com/office/powerpoint/2010/main" val="3532464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29</a:t>
            </a:fld>
            <a:endParaRPr lang="zh-CN" altLang="en-US"/>
          </a:p>
        </p:txBody>
      </p:sp>
    </p:spTree>
    <p:extLst>
      <p:ext uri="{BB962C8B-B14F-4D97-AF65-F5344CB8AC3E}">
        <p14:creationId xmlns:p14="http://schemas.microsoft.com/office/powerpoint/2010/main" val="2516934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30</a:t>
            </a:fld>
            <a:endParaRPr lang="zh-CN" altLang="en-US"/>
          </a:p>
        </p:txBody>
      </p:sp>
    </p:spTree>
    <p:extLst>
      <p:ext uri="{BB962C8B-B14F-4D97-AF65-F5344CB8AC3E}">
        <p14:creationId xmlns:p14="http://schemas.microsoft.com/office/powerpoint/2010/main" val="4056076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31</a:t>
            </a:fld>
            <a:endParaRPr lang="zh-CN" altLang="en-US"/>
          </a:p>
        </p:txBody>
      </p:sp>
    </p:spTree>
    <p:extLst>
      <p:ext uri="{BB962C8B-B14F-4D97-AF65-F5344CB8AC3E}">
        <p14:creationId xmlns:p14="http://schemas.microsoft.com/office/powerpoint/2010/main" val="1641668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32</a:t>
            </a:fld>
            <a:endParaRPr lang="zh-CN" altLang="en-US"/>
          </a:p>
        </p:txBody>
      </p:sp>
    </p:spTree>
    <p:extLst>
      <p:ext uri="{BB962C8B-B14F-4D97-AF65-F5344CB8AC3E}">
        <p14:creationId xmlns:p14="http://schemas.microsoft.com/office/powerpoint/2010/main" val="2048796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56C0ED60-2263-4EAE-A32E-1C3FDB03FC51}" type="slidenum">
              <a:rPr lang="en-US" altLang="zh-CN" b="0" smtClean="0"/>
              <a:pPr eaLnBrk="1" hangingPunct="1"/>
              <a:t>34</a:t>
            </a:fld>
            <a:endParaRPr lang="en-US" altLang="zh-CN" b="0" dirty="0"/>
          </a:p>
        </p:txBody>
      </p:sp>
      <p:sp>
        <p:nvSpPr>
          <p:cNvPr id="47107"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a:p>
        </p:txBody>
      </p:sp>
      <p:sp>
        <p:nvSpPr>
          <p:cNvPr id="47108"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extLst>
      <p:ext uri="{BB962C8B-B14F-4D97-AF65-F5344CB8AC3E}">
        <p14:creationId xmlns:p14="http://schemas.microsoft.com/office/powerpoint/2010/main" val="154307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03911-1325-4990-9323-67866A3DA82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52D08E5B-80E4-4FD0-9CDA-5500B9FC9A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1137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33017-8E63-40AD-BA89-BBB2DF064723}"/>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41B9A-6066-437C-A37E-12AA3A77CB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B60100-748D-4E91-93CA-D72E09123083}"/>
              </a:ext>
            </a:extLst>
          </p:cNvPr>
          <p:cNvSpPr>
            <a:spLocks noGrp="1"/>
          </p:cNvSpPr>
          <p:nvPr>
            <p:ph type="dt" sz="half" idx="10"/>
          </p:nvPr>
        </p:nvSpPr>
        <p:spPr>
          <a:xfrm>
            <a:off x="649359" y="6356350"/>
            <a:ext cx="2743200" cy="365125"/>
          </a:xfrm>
          <a:prstGeom prst="rect">
            <a:avLst/>
          </a:prstGeom>
        </p:spPr>
        <p:txBody>
          <a:bodyPr/>
          <a:lstStyle/>
          <a:p>
            <a:fld id="{C1B5C0A2-AE1A-4240-B327-42A20908623E}" type="datetime1">
              <a:rPr lang="zh-CN" altLang="en-US" smtClean="0"/>
              <a:t>2025/9/7</a:t>
            </a:fld>
            <a:endParaRPr lang="zh-CN" altLang="en-US"/>
          </a:p>
        </p:txBody>
      </p:sp>
      <p:sp>
        <p:nvSpPr>
          <p:cNvPr id="5" name="页脚占位符 4">
            <a:extLst>
              <a:ext uri="{FF2B5EF4-FFF2-40B4-BE49-F238E27FC236}">
                <a16:creationId xmlns:a16="http://schemas.microsoft.com/office/drawing/2014/main" id="{42C4AB81-A6C4-44EF-926A-6AA9872FC7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2AF1667-2E90-4C92-8C58-6F859444EEE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48592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41E1B-492C-44FB-9CA3-2420D12815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6ED9EAE-AE6C-44FA-9A23-7CBD630885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0415E1-0EE9-494C-87CA-A87BAD08F018}"/>
              </a:ext>
            </a:extLst>
          </p:cNvPr>
          <p:cNvSpPr>
            <a:spLocks noGrp="1"/>
          </p:cNvSpPr>
          <p:nvPr>
            <p:ph type="dt" sz="half" idx="10"/>
          </p:nvPr>
        </p:nvSpPr>
        <p:spPr>
          <a:xfrm>
            <a:off x="649359" y="6356350"/>
            <a:ext cx="2743200" cy="365125"/>
          </a:xfrm>
          <a:prstGeom prst="rect">
            <a:avLst/>
          </a:prstGeom>
        </p:spPr>
        <p:txBody>
          <a:bodyPr/>
          <a:lstStyle/>
          <a:p>
            <a:fld id="{408CFB45-BD77-42C2-B43B-9CCE57C43804}" type="datetime1">
              <a:rPr lang="zh-CN" altLang="en-US" smtClean="0"/>
              <a:t>2025/9/7</a:t>
            </a:fld>
            <a:endParaRPr lang="zh-CN" altLang="en-US"/>
          </a:p>
        </p:txBody>
      </p:sp>
      <p:sp>
        <p:nvSpPr>
          <p:cNvPr id="5" name="页脚占位符 4">
            <a:extLst>
              <a:ext uri="{FF2B5EF4-FFF2-40B4-BE49-F238E27FC236}">
                <a16:creationId xmlns:a16="http://schemas.microsoft.com/office/drawing/2014/main" id="{6AEED9C1-6D6B-43B1-88E7-CF357750F94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9F2E4E-68A6-44F0-89F1-9069558E0052}"/>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20476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DCF85-EA79-4E15-B212-198BA5E0A644}"/>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D22BAC-4316-4B37-83C8-3CFFCFEE965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57768D-8B1B-4A40-8A1B-0AC0323E33F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533FB19-A5D7-478C-8B7B-8299F44454D8}"/>
              </a:ext>
            </a:extLst>
          </p:cNvPr>
          <p:cNvSpPr>
            <a:spLocks noGrp="1"/>
          </p:cNvSpPr>
          <p:nvPr>
            <p:ph type="dt" sz="half" idx="10"/>
          </p:nvPr>
        </p:nvSpPr>
        <p:spPr>
          <a:xfrm>
            <a:off x="649359" y="6356350"/>
            <a:ext cx="2743200" cy="365125"/>
          </a:xfrm>
          <a:prstGeom prst="rect">
            <a:avLst/>
          </a:prstGeom>
        </p:spPr>
        <p:txBody>
          <a:bodyPr/>
          <a:lstStyle/>
          <a:p>
            <a:fld id="{EAAE7C0A-51A3-489C-9A57-4ED5AAA198D8}" type="datetime1">
              <a:rPr lang="zh-CN" altLang="en-US" smtClean="0"/>
              <a:t>2025/9/7</a:t>
            </a:fld>
            <a:endParaRPr lang="zh-CN" altLang="en-US"/>
          </a:p>
        </p:txBody>
      </p:sp>
      <p:sp>
        <p:nvSpPr>
          <p:cNvPr id="6" name="页脚占位符 5">
            <a:extLst>
              <a:ext uri="{FF2B5EF4-FFF2-40B4-BE49-F238E27FC236}">
                <a16:creationId xmlns:a16="http://schemas.microsoft.com/office/drawing/2014/main" id="{17CED81C-AAD8-40C0-A43F-9D9FB9351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8C24794-BF6C-4771-8DBA-AAC07BC3C2A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32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DD335-5E95-437F-8BB9-A5F5CC0208B2}"/>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1372A5-726C-4D76-98A6-013BEE003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A37AF2-BF75-4C37-A2FE-D332194D34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A0C6B-D138-4ACC-9E98-4920C2EAF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BCEC55-53FB-427F-A3DA-B4D5A728B8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999D13-5648-462B-A233-9E2CB0C7FF60}"/>
              </a:ext>
            </a:extLst>
          </p:cNvPr>
          <p:cNvSpPr>
            <a:spLocks noGrp="1"/>
          </p:cNvSpPr>
          <p:nvPr>
            <p:ph type="dt" sz="half" idx="10"/>
          </p:nvPr>
        </p:nvSpPr>
        <p:spPr>
          <a:xfrm>
            <a:off x="649359" y="6356350"/>
            <a:ext cx="2743200" cy="365125"/>
          </a:xfrm>
          <a:prstGeom prst="rect">
            <a:avLst/>
          </a:prstGeom>
        </p:spPr>
        <p:txBody>
          <a:bodyPr/>
          <a:lstStyle/>
          <a:p>
            <a:fld id="{2D763D98-5F04-4BA9-AB85-97856237DB98}" type="datetime1">
              <a:rPr lang="zh-CN" altLang="en-US" smtClean="0"/>
              <a:t>2025/9/7</a:t>
            </a:fld>
            <a:endParaRPr lang="zh-CN" altLang="en-US"/>
          </a:p>
        </p:txBody>
      </p:sp>
      <p:sp>
        <p:nvSpPr>
          <p:cNvPr id="8" name="页脚占位符 7">
            <a:extLst>
              <a:ext uri="{FF2B5EF4-FFF2-40B4-BE49-F238E27FC236}">
                <a16:creationId xmlns:a16="http://schemas.microsoft.com/office/drawing/2014/main" id="{C3BD894E-170B-492B-B70A-EDD9A7FB4C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115CA6A-9FA6-4365-870E-2DA48DC4A39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25746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BF246-4037-441C-876F-777CC926DCCA}"/>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FFBA47-D15B-4A7D-90C5-3FF2B94B5B55}"/>
              </a:ext>
            </a:extLst>
          </p:cNvPr>
          <p:cNvSpPr>
            <a:spLocks noGrp="1"/>
          </p:cNvSpPr>
          <p:nvPr>
            <p:ph type="dt" sz="half" idx="10"/>
          </p:nvPr>
        </p:nvSpPr>
        <p:spPr>
          <a:xfrm>
            <a:off x="649359" y="6356350"/>
            <a:ext cx="2743200" cy="365125"/>
          </a:xfrm>
          <a:prstGeom prst="rect">
            <a:avLst/>
          </a:prstGeom>
        </p:spPr>
        <p:txBody>
          <a:bodyPr/>
          <a:lstStyle/>
          <a:p>
            <a:fld id="{9E233C68-0546-46EF-826F-31AB21D0E22F}" type="datetime1">
              <a:rPr lang="zh-CN" altLang="en-US" smtClean="0"/>
              <a:t>2025/9/7</a:t>
            </a:fld>
            <a:endParaRPr lang="zh-CN" altLang="en-US"/>
          </a:p>
        </p:txBody>
      </p:sp>
      <p:sp>
        <p:nvSpPr>
          <p:cNvPr id="4" name="页脚占位符 3">
            <a:extLst>
              <a:ext uri="{FF2B5EF4-FFF2-40B4-BE49-F238E27FC236}">
                <a16:creationId xmlns:a16="http://schemas.microsoft.com/office/drawing/2014/main" id="{2F7BC1F9-EF67-4B0A-96D1-EF168C9E48E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9AE28D9-605D-4CD2-B34B-BF76CDF03FF6}"/>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97863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F4973FC-C444-49AD-8778-F5595432A35C}"/>
              </a:ext>
            </a:extLst>
          </p:cNvPr>
          <p:cNvSpPr>
            <a:spLocks noGrp="1"/>
          </p:cNvSpPr>
          <p:nvPr>
            <p:ph type="dt" sz="half" idx="10"/>
          </p:nvPr>
        </p:nvSpPr>
        <p:spPr>
          <a:xfrm>
            <a:off x="649359" y="6356350"/>
            <a:ext cx="2743200" cy="365125"/>
          </a:xfrm>
          <a:prstGeom prst="rect">
            <a:avLst/>
          </a:prstGeom>
        </p:spPr>
        <p:txBody>
          <a:bodyPr/>
          <a:lstStyle/>
          <a:p>
            <a:fld id="{59C15AE0-43B3-4320-AFBE-87214D5BB912}" type="datetime1">
              <a:rPr lang="zh-CN" altLang="en-US" smtClean="0"/>
              <a:t>2025/9/7</a:t>
            </a:fld>
            <a:endParaRPr lang="zh-CN" altLang="en-US"/>
          </a:p>
        </p:txBody>
      </p:sp>
      <p:sp>
        <p:nvSpPr>
          <p:cNvPr id="3" name="页脚占位符 2">
            <a:extLst>
              <a:ext uri="{FF2B5EF4-FFF2-40B4-BE49-F238E27FC236}">
                <a16:creationId xmlns:a16="http://schemas.microsoft.com/office/drawing/2014/main" id="{0BEC1063-A3F0-4172-BCFB-CD827E2B660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FAC6608-BFA7-48AD-A590-0E85E9BF9860}"/>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7874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C89A-E0B7-4981-8F0B-4A7A37DFE7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0E238-74BD-4EA3-996E-32B10590B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769AF6-4E84-4D70-98D9-479DF698C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D74493-971D-42F5-91FF-A5917C2D234D}"/>
              </a:ext>
            </a:extLst>
          </p:cNvPr>
          <p:cNvSpPr>
            <a:spLocks noGrp="1"/>
          </p:cNvSpPr>
          <p:nvPr>
            <p:ph type="dt" sz="half" idx="10"/>
          </p:nvPr>
        </p:nvSpPr>
        <p:spPr>
          <a:xfrm>
            <a:off x="649359" y="6356350"/>
            <a:ext cx="2743200" cy="365125"/>
          </a:xfrm>
          <a:prstGeom prst="rect">
            <a:avLst/>
          </a:prstGeom>
        </p:spPr>
        <p:txBody>
          <a:bodyPr/>
          <a:lstStyle/>
          <a:p>
            <a:fld id="{76331374-E5A2-4981-B795-16EF6DE65827}" type="datetime1">
              <a:rPr lang="zh-CN" altLang="en-US" smtClean="0"/>
              <a:t>2025/9/7</a:t>
            </a:fld>
            <a:endParaRPr lang="zh-CN" altLang="en-US"/>
          </a:p>
        </p:txBody>
      </p:sp>
      <p:sp>
        <p:nvSpPr>
          <p:cNvPr id="6" name="页脚占位符 5">
            <a:extLst>
              <a:ext uri="{FF2B5EF4-FFF2-40B4-BE49-F238E27FC236}">
                <a16:creationId xmlns:a16="http://schemas.microsoft.com/office/drawing/2014/main" id="{B4CDA75E-D89E-4AE1-8D91-7605D574EEC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DF8901A-E4E6-4A7D-8E8C-9057C44E14FA}"/>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43803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84D86-098B-45E7-8693-7E2DE79847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28C271-481B-4D73-8474-75D6D49B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DE7F4-849E-4963-9100-C8B9B0A081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5913C3-07E4-4E81-AC28-DB4080626D75}"/>
              </a:ext>
            </a:extLst>
          </p:cNvPr>
          <p:cNvSpPr>
            <a:spLocks noGrp="1"/>
          </p:cNvSpPr>
          <p:nvPr>
            <p:ph type="dt" sz="half" idx="10"/>
          </p:nvPr>
        </p:nvSpPr>
        <p:spPr>
          <a:xfrm>
            <a:off x="649359" y="6356350"/>
            <a:ext cx="2743200" cy="365125"/>
          </a:xfrm>
          <a:prstGeom prst="rect">
            <a:avLst/>
          </a:prstGeom>
        </p:spPr>
        <p:txBody>
          <a:bodyPr/>
          <a:lstStyle/>
          <a:p>
            <a:fld id="{C7EF558D-81CA-4B76-8F12-A95764433413}" type="datetime1">
              <a:rPr lang="zh-CN" altLang="en-US" smtClean="0"/>
              <a:t>2025/9/7</a:t>
            </a:fld>
            <a:endParaRPr lang="zh-CN" altLang="en-US"/>
          </a:p>
        </p:txBody>
      </p:sp>
      <p:sp>
        <p:nvSpPr>
          <p:cNvPr id="6" name="页脚占位符 5">
            <a:extLst>
              <a:ext uri="{FF2B5EF4-FFF2-40B4-BE49-F238E27FC236}">
                <a16:creationId xmlns:a16="http://schemas.microsoft.com/office/drawing/2014/main" id="{3FF2ECCF-DF52-4A0B-9088-6CD8439B447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5079631-3376-40BB-8D99-D13069AD4F8C}"/>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80534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782D-E973-4A4C-9768-5AF63655E35E}"/>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7AED1F-4B71-4171-BEF5-E90CF2DBB7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3CF74F-5A81-42A8-BFDE-9DF8D20D7C32}"/>
              </a:ext>
            </a:extLst>
          </p:cNvPr>
          <p:cNvSpPr>
            <a:spLocks noGrp="1"/>
          </p:cNvSpPr>
          <p:nvPr>
            <p:ph type="dt" sz="half" idx="10"/>
          </p:nvPr>
        </p:nvSpPr>
        <p:spPr>
          <a:xfrm>
            <a:off x="649359" y="6356350"/>
            <a:ext cx="2743200" cy="365125"/>
          </a:xfrm>
          <a:prstGeom prst="rect">
            <a:avLst/>
          </a:prstGeom>
        </p:spPr>
        <p:txBody>
          <a:bodyPr/>
          <a:lstStyle/>
          <a:p>
            <a:fld id="{FA0449A0-A72F-4DFF-AC68-836BF414A89D}" type="datetime1">
              <a:rPr lang="zh-CN" altLang="en-US" smtClean="0"/>
              <a:t>2025/9/7</a:t>
            </a:fld>
            <a:endParaRPr lang="zh-CN" altLang="en-US"/>
          </a:p>
        </p:txBody>
      </p:sp>
      <p:sp>
        <p:nvSpPr>
          <p:cNvPr id="5" name="页脚占位符 4">
            <a:extLst>
              <a:ext uri="{FF2B5EF4-FFF2-40B4-BE49-F238E27FC236}">
                <a16:creationId xmlns:a16="http://schemas.microsoft.com/office/drawing/2014/main" id="{D25E0F45-E0D1-46EA-B198-5F3003E2E7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BFA175A-B4E7-4A78-94E6-0A03CE8065E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96447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B2054-169E-46FC-87FF-00644348A8A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503AE-1314-4E68-BF61-5DAB31ED9D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4084A-FB51-4F63-B403-370B4F13DC58}"/>
              </a:ext>
            </a:extLst>
          </p:cNvPr>
          <p:cNvSpPr>
            <a:spLocks noGrp="1"/>
          </p:cNvSpPr>
          <p:nvPr>
            <p:ph type="dt" sz="half" idx="10"/>
          </p:nvPr>
        </p:nvSpPr>
        <p:spPr>
          <a:xfrm>
            <a:off x="649359" y="6356350"/>
            <a:ext cx="2743200" cy="365125"/>
          </a:xfrm>
          <a:prstGeom prst="rect">
            <a:avLst/>
          </a:prstGeom>
        </p:spPr>
        <p:txBody>
          <a:bodyPr/>
          <a:lstStyle/>
          <a:p>
            <a:fld id="{C9D7C6E1-5A4D-4ECE-B124-9762BAA7798B}" type="datetime1">
              <a:rPr lang="zh-CN" altLang="en-US" smtClean="0"/>
              <a:t>2025/9/7</a:t>
            </a:fld>
            <a:endParaRPr lang="zh-CN" altLang="en-US"/>
          </a:p>
        </p:txBody>
      </p:sp>
      <p:sp>
        <p:nvSpPr>
          <p:cNvPr id="5" name="页脚占位符 4">
            <a:extLst>
              <a:ext uri="{FF2B5EF4-FFF2-40B4-BE49-F238E27FC236}">
                <a16:creationId xmlns:a16="http://schemas.microsoft.com/office/drawing/2014/main" id="{33699ED0-3608-4FCB-96BE-FFB5DD2CD30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90F967E-32DE-45B6-9C75-1157F0E4927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73617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6061B1B-A662-4CB0-DE30-74E81581F2B6}"/>
              </a:ext>
            </a:extLst>
          </p:cNvPr>
          <p:cNvSpPr txBox="1">
            <a:spLocks noChangeArrowheads="1"/>
          </p:cNvSpPr>
          <p:nvPr userDrawn="1"/>
        </p:nvSpPr>
        <p:spPr>
          <a:xfrm>
            <a:off x="1285460" y="9940"/>
            <a:ext cx="10896605" cy="1017622"/>
          </a:xfrm>
          <a:prstGeom prst="rect">
            <a:avLst/>
          </a:prstGeom>
          <a:solidFill>
            <a:schemeClr val="bg1">
              <a:lumMod val="95000"/>
            </a:schemeClr>
          </a:solidFill>
          <a:ln>
            <a:noFill/>
          </a:ln>
          <a:effec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endParaRPr lang="zh-CN" altLang="en-US" sz="3200" b="1" dirty="0">
              <a:solidFill>
                <a:srgbClr val="002060"/>
              </a:solidFill>
              <a:latin typeface="华文细黑" panose="02010600040101010101" pitchFamily="2" charset="-122"/>
              <a:ea typeface="华文细黑" panose="02010600040101010101" pitchFamily="2" charset="-122"/>
            </a:endParaRPr>
          </a:p>
        </p:txBody>
      </p:sp>
      <p:sp>
        <p:nvSpPr>
          <p:cNvPr id="3" name="文本占位符 2">
            <a:extLst>
              <a:ext uri="{FF2B5EF4-FFF2-40B4-BE49-F238E27FC236}">
                <a16:creationId xmlns:a16="http://schemas.microsoft.com/office/drawing/2014/main" id="{8A7BBF2C-F801-4650-BCBF-3E6A2B1F447C}"/>
              </a:ext>
            </a:extLst>
          </p:cNvPr>
          <p:cNvSpPr>
            <a:spLocks noGrp="1"/>
          </p:cNvSpPr>
          <p:nvPr>
            <p:ph type="body" idx="1"/>
          </p:nvPr>
        </p:nvSpPr>
        <p:spPr>
          <a:xfrm>
            <a:off x="629480" y="1672313"/>
            <a:ext cx="10959546" cy="45046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1205F5E1-C922-4E5A-89F4-6F2B58D16289}"/>
              </a:ext>
            </a:extLst>
          </p:cNvPr>
          <p:cNvSpPr/>
          <p:nvPr userDrawn="1"/>
        </p:nvSpPr>
        <p:spPr>
          <a:xfrm>
            <a:off x="9935" y="1"/>
            <a:ext cx="1275525" cy="1053548"/>
          </a:xfrm>
          <a:prstGeom prst="rect">
            <a:avLst/>
          </a:prstGeom>
          <a:solidFill>
            <a:srgbClr val="0070C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en-US" altLang="zh-CN"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a:t>
            </a:r>
            <a:r>
              <a:rPr lang="zh-CN" altLang="en-US"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语言绘图基础</a:t>
            </a:r>
          </a:p>
        </p:txBody>
      </p:sp>
      <p:cxnSp>
        <p:nvCxnSpPr>
          <p:cNvPr id="10" name="直接连接符 9">
            <a:extLst>
              <a:ext uri="{FF2B5EF4-FFF2-40B4-BE49-F238E27FC236}">
                <a16:creationId xmlns:a16="http://schemas.microsoft.com/office/drawing/2014/main" id="{AADC6794-BAC4-49B1-8B9A-A91B2A78D5FE}"/>
              </a:ext>
            </a:extLst>
          </p:cNvPr>
          <p:cNvCxnSpPr>
            <a:cxnSpLocks/>
          </p:cNvCxnSpPr>
          <p:nvPr userDrawn="1"/>
        </p:nvCxnSpPr>
        <p:spPr>
          <a:xfrm flipV="1">
            <a:off x="1470992" y="1043609"/>
            <a:ext cx="10721008" cy="2"/>
          </a:xfrm>
          <a:prstGeom prst="line">
            <a:avLst/>
          </a:prstGeom>
          <a:ln w="285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D5EAEA1C-2B82-4DF5-B721-B18A8CF883DD}"/>
              </a:ext>
            </a:extLst>
          </p:cNvPr>
          <p:cNvSpPr/>
          <p:nvPr userDrawn="1"/>
        </p:nvSpPr>
        <p:spPr>
          <a:xfrm>
            <a:off x="1441171" y="1"/>
            <a:ext cx="238540" cy="1053548"/>
          </a:xfrm>
          <a:prstGeom prst="rect">
            <a:avLst/>
          </a:prstGeom>
          <a:solidFill>
            <a:srgbClr val="0070C0"/>
          </a:solidFill>
          <a:ln>
            <a:solidFill>
              <a:srgbClr val="0070C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a:extLst>
              <a:ext uri="{FF2B5EF4-FFF2-40B4-BE49-F238E27FC236}">
                <a16:creationId xmlns:a16="http://schemas.microsoft.com/office/drawing/2014/main" id="{8B230C6B-BACC-4B1C-9DFC-332C0E60FE19}"/>
              </a:ext>
            </a:extLst>
          </p:cNvPr>
          <p:cNvSpPr txBox="1">
            <a:spLocks noChangeArrowheads="1"/>
          </p:cNvSpPr>
          <p:nvPr userDrawn="1"/>
        </p:nvSpPr>
        <p:spPr>
          <a:xfrm>
            <a:off x="0" y="1059044"/>
            <a:ext cx="12192000" cy="50394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endParaRPr lang="en-US" altLang="zh-CN" sz="2600" b="1" dirty="0">
              <a:solidFill>
                <a:schemeClr val="bg1"/>
              </a:solidFill>
              <a:effectLst>
                <a:outerShdw blurRad="38100" dist="38100" dir="2700000" algn="tl">
                  <a:srgbClr val="000000">
                    <a:alpha val="43137"/>
                  </a:srgbClr>
                </a:outerShdw>
              </a:effectLst>
              <a:ea typeface="华文细黑" panose="02010600040101010101" pitchFamily="2" charset="-122"/>
            </a:endParaRPr>
          </a:p>
        </p:txBody>
      </p:sp>
      <p:sp>
        <p:nvSpPr>
          <p:cNvPr id="6" name="副标题 2">
            <a:extLst>
              <a:ext uri="{FF2B5EF4-FFF2-40B4-BE49-F238E27FC236}">
                <a16:creationId xmlns:a16="http://schemas.microsoft.com/office/drawing/2014/main" id="{AF36E802-BB77-65C2-A840-4374B9EE81D3}"/>
              </a:ext>
            </a:extLst>
          </p:cNvPr>
          <p:cNvSpPr txBox="1">
            <a:spLocks/>
          </p:cNvSpPr>
          <p:nvPr userDrawn="1"/>
        </p:nvSpPr>
        <p:spPr>
          <a:xfrm>
            <a:off x="23188" y="6461539"/>
            <a:ext cx="12172130" cy="396460"/>
          </a:xfrm>
          <a:prstGeom prst="rect">
            <a:avLst/>
          </a:prstGeom>
          <a:solidFill>
            <a:schemeClr val="bg1">
              <a:lumMod val="95000"/>
            </a:schemeClr>
          </a:solidFill>
          <a:ln>
            <a:noFill/>
          </a:ln>
        </p:spPr>
        <p:txBody>
          <a:bodyPr vert="horz" lIns="91440" tIns="45720" rIns="91440" bIns="4572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fld id="{40D7A12C-C48C-4203-A694-F2B6F5190069}" type="datetime1">
              <a:rPr lang="zh-CN" altLang="en-US" sz="1300" b="1" smtClean="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2025/9/7</a:t>
            </a:fld>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数据可视化分析</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基于 </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R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语言</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贾俊平                                                                        </a:t>
            </a:r>
            <a:r>
              <a:rPr lang="en-US" altLang="zh-CN" sz="1300" b="0" dirty="0">
                <a:solidFill>
                  <a:schemeClr val="bg1">
                    <a:lumMod val="65000"/>
                  </a:schemeClr>
                </a:solidFill>
                <a:latin typeface="微软雅黑" panose="020B0503020204020204" pitchFamily="34" charset="-122"/>
                <a:ea typeface="微软雅黑" panose="020B0503020204020204" pitchFamily="34" charset="-122"/>
              </a:rPr>
              <a:t>1 - </a:t>
            </a:r>
            <a:fld id="{16EAF49E-217F-4E01-A667-C6B4D41E8F57}" type="slidenum">
              <a:rPr lang="en-US" altLang="zh-CN" sz="1300" b="0" smtClean="0">
                <a:solidFill>
                  <a:schemeClr val="bg1">
                    <a:lumMod val="65000"/>
                  </a:schemeClr>
                </a:solidFill>
                <a:latin typeface="微软雅黑" panose="020B0503020204020204" pitchFamily="34" charset="-122"/>
                <a:ea typeface="微软雅黑" panose="020B0503020204020204" pitchFamily="34" charset="-122"/>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a:t>
            </a:fld>
            <a:endParaRPr lang="en-US" altLang="zh-CN" sz="1300" b="0" dirty="0">
              <a:solidFill>
                <a:schemeClr val="bg1">
                  <a:lumMod val="6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zh-CN" altLang="en-US" sz="13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2" name="椭圆 1">
            <a:extLst>
              <a:ext uri="{FF2B5EF4-FFF2-40B4-BE49-F238E27FC236}">
                <a16:creationId xmlns:a16="http://schemas.microsoft.com/office/drawing/2014/main" id="{3F4D1DED-F9F4-2A94-1030-9628241C93B8}"/>
              </a:ext>
            </a:extLst>
          </p:cNvPr>
          <p:cNvSpPr/>
          <p:nvPr userDrawn="1"/>
        </p:nvSpPr>
        <p:spPr>
          <a:xfrm>
            <a:off x="212036" y="1163320"/>
            <a:ext cx="294859" cy="312382"/>
          </a:xfrm>
          <a:prstGeom prst="ellipse">
            <a:avLst/>
          </a:prstGeom>
          <a:solidFill>
            <a:schemeClr val="accent5">
              <a:lumMod val="40000"/>
              <a:lumOff val="6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095A70AF-3469-C8B1-DA50-5C628E875AA3}"/>
              </a:ext>
            </a:extLst>
          </p:cNvPr>
          <p:cNvPicPr>
            <a:picLocks noChangeAspect="1"/>
          </p:cNvPicPr>
          <p:nvPr userDrawn="1"/>
        </p:nvPicPr>
        <p:blipFill>
          <a:blip r:embed="rId13"/>
          <a:stretch>
            <a:fillRect/>
          </a:stretch>
        </p:blipFill>
        <p:spPr>
          <a:xfrm>
            <a:off x="10893728" y="27655"/>
            <a:ext cx="1275525" cy="995633"/>
          </a:xfrm>
          <a:prstGeom prst="rect">
            <a:avLst/>
          </a:prstGeom>
        </p:spPr>
      </p:pic>
    </p:spTree>
    <p:extLst>
      <p:ext uri="{BB962C8B-B14F-4D97-AF65-F5344CB8AC3E}">
        <p14:creationId xmlns:p14="http://schemas.microsoft.com/office/powerpoint/2010/main" val="19977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800" kern="1200">
          <a:solidFill>
            <a:schemeClr val="tx1"/>
          </a:solidFill>
          <a:latin typeface="+mn-lt"/>
          <a:ea typeface="华文细黑"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40A239C-459A-7748-18ED-9D9FCF06E658}"/>
              </a:ext>
            </a:extLst>
          </p:cNvPr>
          <p:cNvGrpSpPr/>
          <p:nvPr/>
        </p:nvGrpSpPr>
        <p:grpSpPr>
          <a:xfrm>
            <a:off x="-57405" y="0"/>
            <a:ext cx="12271508" cy="6858000"/>
            <a:chOff x="-57405" y="0"/>
            <a:chExt cx="12271508" cy="685800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85445D0-CE9B-A4CC-30B0-668A63D7F5B6}"/>
                </a:ext>
              </a:extLst>
            </p:cNvPr>
            <p:cNvSpPr/>
            <p:nvPr/>
          </p:nvSpPr>
          <p:spPr>
            <a:xfrm>
              <a:off x="8533234" y="2415386"/>
              <a:ext cx="2307048" cy="861774"/>
            </a:xfrm>
            <a:prstGeom prst="rect">
              <a:avLst/>
            </a:prstGeom>
          </p:spPr>
          <p:txBody>
            <a:bodyPr wrap="square">
              <a:spAutoFit/>
            </a:bodyPr>
            <a:lstStyle/>
            <a:p>
              <a:pPr algn="r"/>
              <a:r>
                <a:rPr lang="en-US" altLang="zh-CN"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16" name="文本框 15">
              <a:extLst>
                <a:ext uri="{FF2B5EF4-FFF2-40B4-BE49-F238E27FC236}">
                  <a16:creationId xmlns:a16="http://schemas.microsoft.com/office/drawing/2014/main" id="{574B7932-FC4D-9E74-8C2D-407E06788E45}"/>
                </a:ext>
              </a:extLst>
            </p:cNvPr>
            <p:cNvSpPr txBox="1"/>
            <p:nvPr/>
          </p:nvSpPr>
          <p:spPr>
            <a:xfrm>
              <a:off x="5018314" y="1352666"/>
              <a:ext cx="5821968" cy="1015663"/>
            </a:xfrm>
            <a:prstGeom prst="rect">
              <a:avLst/>
            </a:prstGeom>
            <a:noFill/>
            <a:scene3d>
              <a:camera prst="orthographicFront"/>
              <a:lightRig rig="threePt" dir="t"/>
            </a:scene3d>
            <a:sp3d>
              <a:bevelT/>
            </a:sp3d>
          </p:spPr>
          <p:txBody>
            <a:bodyPr wrap="square" rtlCol="0">
              <a:spAutoFit/>
            </a:bodyPr>
            <a:lstStyle/>
            <a:p>
              <a:pPr algn="dist"/>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17" name="副标题 2">
              <a:extLst>
                <a:ext uri="{FF2B5EF4-FFF2-40B4-BE49-F238E27FC236}">
                  <a16:creationId xmlns:a16="http://schemas.microsoft.com/office/drawing/2014/main" id="{D7ED5E4C-E3FE-4A85-6B41-62F1AA059163}"/>
                </a:ext>
              </a:extLst>
            </p:cNvPr>
            <p:cNvSpPr txBox="1">
              <a:spLocks/>
            </p:cNvSpPr>
            <p:nvPr/>
          </p:nvSpPr>
          <p:spPr>
            <a:xfrm>
              <a:off x="9100901" y="5201655"/>
              <a:ext cx="1879415" cy="1196834"/>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2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2025/9/7</a:t>
              </a:fld>
              <a:endPar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18" name="矩形 17">
              <a:extLst>
                <a:ext uri="{FF2B5EF4-FFF2-40B4-BE49-F238E27FC236}">
                  <a16:creationId xmlns:a16="http://schemas.microsoft.com/office/drawing/2014/main" id="{0A77711A-D9C3-862C-970B-1304CBB42097}"/>
                </a:ext>
              </a:extLst>
            </p:cNvPr>
            <p:cNvSpPr/>
            <p:nvPr/>
          </p:nvSpPr>
          <p:spPr>
            <a:xfrm>
              <a:off x="348344" y="359229"/>
              <a:ext cx="11506200" cy="6150428"/>
            </a:xfrm>
            <a:prstGeom prst="rect">
              <a:avLst/>
            </a:prstGeom>
            <a:solidFill>
              <a:schemeClr val="accent1">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DCC974D1-DCEA-DAD9-BA84-A0C1B340842C}"/>
                </a:ext>
              </a:extLst>
            </p:cNvPr>
            <p:cNvGraphicFramePr>
              <a:graphicFrameLocks noChangeAspect="1"/>
            </p:cNvGraphicFramePr>
            <p:nvPr/>
          </p:nvGraphicFramePr>
          <p:xfrm>
            <a:off x="664029" y="598713"/>
            <a:ext cx="10874828" cy="5660574"/>
          </p:xfrm>
          <a:graphic>
            <a:graphicData uri="http://schemas.openxmlformats.org/presentationml/2006/ole">
              <mc:AlternateContent xmlns:mc="http://schemas.openxmlformats.org/markup-compatibility/2006">
                <mc:Choice xmlns:v="urn:schemas-microsoft-com:vml" Requires="v">
                  <p:oleObj name="Bitmap Image" r:id="rId2" imgW="6108840" imgH="4280040" progId="PBrush">
                    <p:embed/>
                  </p:oleObj>
                </mc:Choice>
                <mc:Fallback>
                  <p:oleObj name="Bitmap Image" r:id="rId2" imgW="6108840" imgH="4280040" progId="PBrush">
                    <p:embed/>
                    <p:pic>
                      <p:nvPicPr>
                        <p:cNvPr id="5" name="对象 4">
                          <a:extLst>
                            <a:ext uri="{FF2B5EF4-FFF2-40B4-BE49-F238E27FC236}">
                              <a16:creationId xmlns:a16="http://schemas.microsoft.com/office/drawing/2014/main" id="{DCC974D1-DCEA-DAD9-BA84-A0C1B340842C}"/>
                            </a:ext>
                          </a:extLst>
                        </p:cNvPr>
                        <p:cNvPicPr/>
                        <p:nvPr/>
                      </p:nvPicPr>
                      <p:blipFill>
                        <a:blip r:embed="rId3"/>
                        <a:stretch>
                          <a:fillRect/>
                        </a:stretch>
                      </p:blipFill>
                      <p:spPr>
                        <a:xfrm>
                          <a:off x="664029" y="598713"/>
                          <a:ext cx="10874828" cy="5660574"/>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D38CC3B9-D273-DA53-3D51-7097270B8979}"/>
                </a:ext>
              </a:extLst>
            </p:cNvPr>
            <p:cNvSpPr/>
            <p:nvPr/>
          </p:nvSpPr>
          <p:spPr>
            <a:xfrm>
              <a:off x="7206344" y="2622251"/>
              <a:ext cx="3718954" cy="861774"/>
            </a:xfrm>
            <a:prstGeom prst="rect">
              <a:avLst/>
            </a:prstGeom>
          </p:spPr>
          <p:txBody>
            <a:bodyPr wrap="square">
              <a:spAutoFit/>
            </a:bodyPr>
            <a:lstStyle/>
            <a:p>
              <a:pPr algn="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基于 </a:t>
              </a:r>
              <a:r>
                <a:rPr lang="en-US" altLang="zh-CN"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20" name="文本框 19">
              <a:extLst>
                <a:ext uri="{FF2B5EF4-FFF2-40B4-BE49-F238E27FC236}">
                  <a16:creationId xmlns:a16="http://schemas.microsoft.com/office/drawing/2014/main" id="{878B0296-8DCD-A0D4-E6A8-49A8022C13B3}"/>
                </a:ext>
              </a:extLst>
            </p:cNvPr>
            <p:cNvSpPr txBox="1"/>
            <p:nvPr/>
          </p:nvSpPr>
          <p:spPr>
            <a:xfrm>
              <a:off x="5323114" y="1559531"/>
              <a:ext cx="5602183" cy="1015663"/>
            </a:xfrm>
            <a:prstGeom prst="rect">
              <a:avLst/>
            </a:prstGeom>
            <a:noFill/>
            <a:scene3d>
              <a:camera prst="orthographicFront"/>
              <a:lightRig rig="threePt" dir="t"/>
            </a:scene3d>
            <a:sp3d>
              <a:bevelT/>
            </a:sp3d>
          </p:spPr>
          <p:txBody>
            <a:bodyPr wrap="square" rtlCol="0">
              <a:spAutoFit/>
            </a:bodyPr>
            <a:lstStyle/>
            <a:p>
              <a:pPr algn="r"/>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21" name="副标题 2">
              <a:extLst>
                <a:ext uri="{FF2B5EF4-FFF2-40B4-BE49-F238E27FC236}">
                  <a16:creationId xmlns:a16="http://schemas.microsoft.com/office/drawing/2014/main" id="{982694FD-A4ED-A422-06B2-71C13249BACF}"/>
                </a:ext>
              </a:extLst>
            </p:cNvPr>
            <p:cNvSpPr txBox="1">
              <a:spLocks/>
            </p:cNvSpPr>
            <p:nvPr/>
          </p:nvSpPr>
          <p:spPr>
            <a:xfrm>
              <a:off x="10319657" y="5505334"/>
              <a:ext cx="1333499" cy="753953"/>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00000"/>
                </a:lnSpc>
              </a:pPr>
              <a:fld id="{40D7A12C-C48C-4203-A694-F2B6F5190069}" type="datetime1">
                <a:rPr lang="zh-CN" altLang="en-US" sz="16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00000"/>
                  </a:lnSpc>
                </a:pPr>
                <a:t>2025/9/7</a:t>
              </a:fld>
              <a:endPar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24" name="Rectangle 3">
              <a:extLst>
                <a:ext uri="{FF2B5EF4-FFF2-40B4-BE49-F238E27FC236}">
                  <a16:creationId xmlns:a16="http://schemas.microsoft.com/office/drawing/2014/main" id="{9D668F91-5A97-DC14-A87D-94ECEC1AF98D}"/>
                </a:ext>
              </a:extLst>
            </p:cNvPr>
            <p:cNvSpPr txBox="1">
              <a:spLocks noChangeArrowheads="1"/>
            </p:cNvSpPr>
            <p:nvPr/>
          </p:nvSpPr>
          <p:spPr>
            <a:xfrm>
              <a:off x="7543801" y="3604606"/>
              <a:ext cx="3296482" cy="2610697"/>
            </a:xfrm>
            <a:prstGeom prst="rect">
              <a:avLst/>
            </a:prstGeom>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本书特色</a:t>
              </a:r>
              <a:endParaRPr lang="en-US" altLang="zh-CN" sz="2400" dirty="0">
                <a:effectLs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新颖的写作视角</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严谨的组织结构</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完备的绘制代码</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详尽的图形解读</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14193952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a:extLst>
              <a:ext uri="{FF2B5EF4-FFF2-40B4-BE49-F238E27FC236}">
                <a16:creationId xmlns:a16="http://schemas.microsoft.com/office/drawing/2014/main" id="{CD5BFEA8-D60A-4E4F-BEA7-36EF403C3802}"/>
              </a:ext>
            </a:extLst>
          </p:cNvPr>
          <p:cNvSpPr txBox="1">
            <a:spLocks/>
          </p:cNvSpPr>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2025/9/7</a:t>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a:extLst>
              <a:ext uri="{FF2B5EF4-FFF2-40B4-BE49-F238E27FC236}">
                <a16:creationId xmlns:a16="http://schemas.microsoft.com/office/drawing/2014/main" id="{57BE89BD-ACBF-40B9-AAFA-85C15C6AD30F}"/>
              </a:ext>
            </a:extLst>
          </p:cNvPr>
          <p:cNvPicPr>
            <a:picLocks noChangeAspect="1"/>
          </p:cNvPicPr>
          <p:nvPr/>
        </p:nvPicPr>
        <p:blipFill>
          <a:blip r:embed="rId2"/>
          <a:stretch>
            <a:fillRect/>
          </a:stretch>
        </p:blipFill>
        <p:spPr>
          <a:xfrm>
            <a:off x="-57405" y="-85059"/>
            <a:ext cx="12423070" cy="6943059"/>
          </a:xfrm>
          <a:prstGeom prst="rect">
            <a:avLst/>
          </a:prstGeom>
        </p:spPr>
      </p:pic>
      <p:sp>
        <p:nvSpPr>
          <p:cNvPr id="9" name="圆角矩形 4">
            <a:extLst>
              <a:ext uri="{FF2B5EF4-FFF2-40B4-BE49-F238E27FC236}">
                <a16:creationId xmlns:a16="http://schemas.microsoft.com/office/drawing/2014/main" id="{5B463439-9290-46DE-AF62-1FC729B957BF}"/>
              </a:ext>
            </a:extLst>
          </p:cNvPr>
          <p:cNvSpPr/>
          <p:nvPr/>
        </p:nvSpPr>
        <p:spPr>
          <a:xfrm>
            <a:off x="1318437" y="2428240"/>
            <a:ext cx="4692382" cy="3732028"/>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2.1</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graphics </a:t>
            </a:r>
            <a:r>
              <a:rPr lang="zh-CN" altLang="en-US" sz="32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简介</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基本绘图函数</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图形参数</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图形颜色</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页面布局</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打开多个窗口</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42FE301-88C8-43EE-B4E5-A0F8BAC93B90}"/>
              </a:ext>
            </a:extLst>
          </p:cNvPr>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en-US" altLang="zh-CN"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R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语言绘图基础</a:t>
            </a:r>
            <a:r>
              <a:rPr lang="en-US" altLang="zh-CN" sz="4000" b="1" spc="1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 name="圆角矩形 4">
            <a:extLst>
              <a:ext uri="{FF2B5EF4-FFF2-40B4-BE49-F238E27FC236}">
                <a16:creationId xmlns:a16="http://schemas.microsoft.com/office/drawing/2014/main" id="{620EF2F0-C0DF-DEFA-C4D3-8E8409198A59}"/>
              </a:ext>
            </a:extLst>
          </p:cNvPr>
          <p:cNvSpPr/>
          <p:nvPr/>
        </p:nvSpPr>
        <p:spPr>
          <a:xfrm>
            <a:off x="6317524" y="2428240"/>
            <a:ext cx="4692382" cy="3732028"/>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2.2</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ggplot2 </a:t>
            </a:r>
            <a:r>
              <a:rPr lang="zh-CN" altLang="en-US" sz="3200" b="1"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简介</a:t>
            </a:r>
            <a:endPar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绘图语法</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图形外观</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图形注释</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图形分面</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1341438" lvl="1" indent="-447675">
              <a:lnSpc>
                <a:spcPct val="150000"/>
              </a:lnSpc>
              <a:buClr>
                <a:srgbClr val="00FFFF"/>
              </a:buClr>
              <a:buFont typeface="Wingdings" panose="05000000000000000000" pitchFamily="2" charset="2"/>
              <a:buChar char="l"/>
              <a:defRPr/>
            </a:pPr>
            <a:r>
              <a:rPr lang="zh-CN" altLang="en-US"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图形组合</a:t>
            </a:r>
            <a:endParaRPr lang="en-US" altLang="zh-CN" sz="2400" b="1" dirty="0">
              <a:solidFill>
                <a:schemeClr val="bg1">
                  <a:lumMod val="9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724412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0C7693BA-2500-E55D-0E73-AE816CF49B66}"/>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概要</a:t>
            </a:r>
            <a:endParaRPr lang="en-US" altLang="zh-CN" sz="2600" b="1" dirty="0">
              <a:solidFill>
                <a:srgbClr val="002060"/>
              </a:solidFill>
              <a:ea typeface="华文细黑" panose="02010600040101010101" pitchFamily="2" charset="-122"/>
            </a:endParaRPr>
          </a:p>
        </p:txBody>
      </p:sp>
      <p:sp>
        <p:nvSpPr>
          <p:cNvPr id="4" name="Rectangle 3">
            <a:extLst>
              <a:ext uri="{FF2B5EF4-FFF2-40B4-BE49-F238E27FC236}">
                <a16:creationId xmlns:a16="http://schemas.microsoft.com/office/drawing/2014/main" id="{922425C2-227D-28C5-3D68-02B9D58595AF}"/>
              </a:ext>
            </a:extLst>
          </p:cNvPr>
          <p:cNvSpPr txBox="1">
            <a:spLocks noChangeArrowheads="1"/>
          </p:cNvSpPr>
          <p:nvPr/>
        </p:nvSpPr>
        <p:spPr>
          <a:xfrm>
            <a:off x="741680" y="1717040"/>
            <a:ext cx="10786291" cy="464311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en-US"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R</a:t>
            </a:r>
            <a:r>
              <a:rPr lang="zh-CN"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的绘图系统主要有</a:t>
            </a:r>
            <a:r>
              <a:rPr lang="en-US"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a:t>
            </a:r>
            <a:r>
              <a:rPr lang="zh-CN"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个</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一是基础安装时自带的</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graphics</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绘图系统或称</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graphics</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包，该系统提供了多个绘图函数，可以绘制常用的一些图形，用于快速的数据探索</a:t>
            </a:r>
            <a:endParaRPr lang="en-US" altLang="zh-CN" sz="24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二是</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lattice</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系统或称</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lattice</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包，该系统提供了绘制网格图形的高级函数</a:t>
            </a:r>
            <a:endParaRPr lang="en-US" altLang="zh-CN" sz="24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三是</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系统或称</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包，该系统使用独特的绘图语法，可绘制多种二维图形</a:t>
            </a:r>
            <a:r>
              <a:rPr lang="zh-CN" altLang="en-US" sz="24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4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400" dirty="0">
                <a:effectLst/>
                <a:latin typeface="Cambria" panose="02040503050406030204" pitchFamily="18" charset="0"/>
                <a:ea typeface="华文细黑" panose="02010600040101010101" pitchFamily="2" charset="-122"/>
                <a:cs typeface="Times New Roman" panose="02020603050405020304" pitchFamily="18" charset="0"/>
              </a:rPr>
              <a:t>包使用前需要先下载并安装后才能使用</a:t>
            </a:r>
            <a:r>
              <a:rPr lang="zh-CN" altLang="en-US" sz="240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24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7" name="Rectangle 2">
            <a:extLst>
              <a:ext uri="{FF2B5EF4-FFF2-40B4-BE49-F238E27FC236}">
                <a16:creationId xmlns:a16="http://schemas.microsoft.com/office/drawing/2014/main" id="{1C23F813-B510-3577-1009-AFF8CD65F69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本章导读</a:t>
            </a:r>
          </a:p>
        </p:txBody>
      </p:sp>
    </p:spTree>
    <p:extLst>
      <p:ext uri="{BB962C8B-B14F-4D97-AF65-F5344CB8AC3E}">
        <p14:creationId xmlns:p14="http://schemas.microsoft.com/office/powerpoint/2010/main" val="3440715431"/>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0" y="1687252"/>
            <a:ext cx="10707236" cy="46932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2400" dirty="0">
                <a:latin typeface="Cambria" panose="02040503050406030204" pitchFamily="18" charset="0"/>
                <a:ea typeface="Cambria" panose="02040503050406030204" pitchFamily="18" charset="0"/>
              </a:rPr>
              <a:t>graphics</a:t>
            </a:r>
            <a:r>
              <a:rPr lang="zh-CN" altLang="zh-CN" sz="2400" dirty="0">
                <a:latin typeface="Cambria" panose="02040503050406030204" pitchFamily="18" charset="0"/>
                <a:ea typeface="华文细黑" panose="02010600040101010101" pitchFamily="2" charset="-122"/>
              </a:rPr>
              <a:t>包也称为基础绘图统或传统绘图系统，该包提供了大量的基本绘图函数，可用于快速探索数据</a:t>
            </a:r>
            <a:endParaRPr lang="en-US" altLang="zh-CN" sz="24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latin typeface="Cambria" panose="02040503050406030204" pitchFamily="18" charset="0"/>
                <a:ea typeface="华文细黑" panose="02010600040101010101" pitchFamily="2" charset="-122"/>
              </a:rPr>
              <a:t>最初安装</a:t>
            </a:r>
            <a:r>
              <a:rPr lang="en-US" altLang="zh-CN" sz="2400" dirty="0">
                <a:latin typeface="Cambria" panose="02040503050406030204" pitchFamily="18" charset="0"/>
                <a:ea typeface="Cambria" panose="02040503050406030204" pitchFamily="18" charset="0"/>
              </a:rPr>
              <a:t>R</a:t>
            </a:r>
            <a:r>
              <a:rPr lang="zh-CN" altLang="zh-CN" sz="2400" dirty="0">
                <a:latin typeface="Cambria" panose="02040503050406030204" pitchFamily="18" charset="0"/>
                <a:ea typeface="华文细黑" panose="02010600040101010101" pitchFamily="2" charset="-122"/>
              </a:rPr>
              <a:t>软件时，该包就已经安装在</a:t>
            </a:r>
            <a:r>
              <a:rPr lang="en-US" altLang="zh-CN" sz="2400" dirty="0">
                <a:latin typeface="Cambria" panose="02040503050406030204" pitchFamily="18" charset="0"/>
                <a:ea typeface="Cambria" panose="02040503050406030204" pitchFamily="18" charset="0"/>
              </a:rPr>
              <a:t>R</a:t>
            </a:r>
            <a:r>
              <a:rPr lang="zh-CN" altLang="zh-CN" sz="2400" dirty="0">
                <a:latin typeface="Cambria" panose="02040503050406030204" pitchFamily="18" charset="0"/>
                <a:ea typeface="华文细黑" panose="02010600040101010101" pitchFamily="2" charset="-122"/>
              </a:rPr>
              <a:t>中，其中的绘图函数可以直接使用</a:t>
            </a: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2400" dirty="0">
                <a:latin typeface="Cambria" panose="02040503050406030204" pitchFamily="18" charset="0"/>
                <a:ea typeface="Cambria" panose="02040503050406030204" pitchFamily="18" charset="0"/>
              </a:rPr>
              <a:t>graphics</a:t>
            </a:r>
            <a:r>
              <a:rPr lang="zh-CN" altLang="zh-CN" sz="2400" dirty="0">
                <a:latin typeface="Cambria" panose="02040503050406030204" pitchFamily="18" charset="0"/>
                <a:ea typeface="华文细黑" panose="02010600040101010101" pitchFamily="2" charset="-122"/>
              </a:rPr>
              <a:t>包中的绘图函数可分为两大类：一类是高级绘图函数，这类函数可以产生一幅独立的图形；另一类是低级绘图函数，这类函数不产生独立的图形，而是在高级函数绘制的图形上添加一些图形元素，如图例、注释文本、线段、数学表达式等</a:t>
            </a:r>
          </a:p>
        </p:txBody>
      </p:sp>
      <p:sp>
        <p:nvSpPr>
          <p:cNvPr id="3" name="Rectangle 3">
            <a:extLst>
              <a:ext uri="{FF2B5EF4-FFF2-40B4-BE49-F238E27FC236}">
                <a16:creationId xmlns:a16="http://schemas.microsoft.com/office/drawing/2014/main" id="{0200D4E3-60F7-820A-6160-75150B7C4161}"/>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latin typeface="Cambria" panose="02040503050406030204" pitchFamily="18" charset="0"/>
                <a:ea typeface="华文细黑" panose="02010600040101010101" pitchFamily="2" charset="-122"/>
              </a:rPr>
              <a:t>         </a:t>
            </a:r>
            <a:r>
              <a:rPr lang="en-US" altLang="zh-CN" sz="2600" b="1" dirty="0">
                <a:solidFill>
                  <a:srgbClr val="002060"/>
                </a:solidFill>
                <a:latin typeface="Cambria" panose="02040503050406030204" pitchFamily="18" charset="0"/>
                <a:ea typeface="Cambria" panose="02040503050406030204" pitchFamily="18" charset="0"/>
              </a:rPr>
              <a:t>graphics</a:t>
            </a:r>
            <a:r>
              <a:rPr lang="zh-CN" altLang="en-US" sz="2600" b="1" dirty="0">
                <a:solidFill>
                  <a:srgbClr val="002060"/>
                </a:solidFill>
                <a:latin typeface="Cambria" panose="02040503050406030204" pitchFamily="18" charset="0"/>
                <a:ea typeface="华文细黑" panose="02010600040101010101" pitchFamily="2" charset="-122"/>
              </a:rPr>
              <a:t>系统（包）</a:t>
            </a:r>
            <a:endParaRPr lang="en-US" altLang="zh-CN" sz="2600" b="1" dirty="0">
              <a:solidFill>
                <a:srgbClr val="002060"/>
              </a:solidFill>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E55AC7D9-E936-3F0E-EC11-6A4F3438977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408795663"/>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latin typeface="Cambria" panose="02040503050406030204" pitchFamily="18" charset="0"/>
                <a:ea typeface="华文细黑" panose="02010600040101010101" pitchFamily="2" charset="-122"/>
              </a:rPr>
              <a:t>         基本绘图函数</a:t>
            </a:r>
            <a:r>
              <a:rPr lang="en-US" altLang="zh-CN" sz="2600" b="1" dirty="0">
                <a:solidFill>
                  <a:srgbClr val="002060"/>
                </a:solidFill>
                <a:latin typeface="Cambria" panose="02040503050406030204" pitchFamily="18" charset="0"/>
                <a:ea typeface="Cambria" panose="02040503050406030204" pitchFamily="18" charset="0"/>
              </a:rPr>
              <a:t>—</a:t>
            </a:r>
            <a:r>
              <a:rPr lang="zh-CN" altLang="en-US" sz="2600" b="1" dirty="0">
                <a:solidFill>
                  <a:srgbClr val="002060"/>
                </a:solidFill>
                <a:latin typeface="Cambria" panose="02040503050406030204" pitchFamily="18" charset="0"/>
                <a:ea typeface="华文细黑" panose="02010600040101010101" pitchFamily="2" charset="-122"/>
              </a:rPr>
              <a:t>高级绘图函数</a:t>
            </a:r>
            <a:r>
              <a:rPr lang="en-US" altLang="zh-CN" sz="2600" b="1" dirty="0">
                <a:solidFill>
                  <a:srgbClr val="002060"/>
                </a:solidFill>
                <a:latin typeface="Cambria" panose="02040503050406030204" pitchFamily="18" charset="0"/>
                <a:ea typeface="Cambria" panose="02040503050406030204" pitchFamily="18" charset="0"/>
              </a:rPr>
              <a:t>—plot</a:t>
            </a: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827314" y="1690914"/>
            <a:ext cx="4273006" cy="183460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highlight>
                  <a:srgbClr val="008080"/>
                </a:highlight>
                <a:latin typeface="Cambria" panose="02040503050406030204" pitchFamily="18" charset="0"/>
                <a:ea typeface="Cambria" panose="02040503050406030204" pitchFamily="18" charset="0"/>
              </a:rPr>
              <a:t> 2-1】</a:t>
            </a:r>
            <a:r>
              <a:rPr lang="en-US" altLang="zh-CN" sz="2200" dirty="0">
                <a:latin typeface="Cambria" panose="02040503050406030204" pitchFamily="18" charset="0"/>
                <a:ea typeface="华文细黑" panose="02010600040101010101" pitchFamily="2" charset="-122"/>
              </a:rPr>
              <a:t>   </a:t>
            </a:r>
            <a:r>
              <a:rPr lang="en-US" altLang="zh-CN" sz="2200" dirty="0">
                <a:latin typeface="Cambria" panose="02040503050406030204" pitchFamily="18" charset="0"/>
                <a:ea typeface="Cambria" panose="02040503050406030204" pitchFamily="18" charset="0"/>
              </a:rPr>
              <a:t>30</a:t>
            </a:r>
            <a:r>
              <a:rPr lang="zh-CN" altLang="zh-CN" sz="2200" dirty="0">
                <a:latin typeface="Cambria" panose="02040503050406030204" pitchFamily="18" charset="0"/>
                <a:ea typeface="华文细黑" panose="02010600040101010101" pitchFamily="2" charset="-122"/>
              </a:rPr>
              <a:t>名学生选修</a:t>
            </a:r>
            <a:r>
              <a:rPr lang="en-US" altLang="zh-CN" sz="2200" dirty="0">
                <a:latin typeface="Cambria" panose="02040503050406030204" pitchFamily="18" charset="0"/>
                <a:ea typeface="Cambria" panose="02040503050406030204" pitchFamily="18" charset="0"/>
              </a:rPr>
              <a:t>R</a:t>
            </a:r>
            <a:r>
              <a:rPr lang="zh-CN" altLang="zh-CN" sz="2200" dirty="0">
                <a:latin typeface="Cambria" panose="02040503050406030204" pitchFamily="18" charset="0"/>
                <a:ea typeface="华文细黑" panose="02010600040101010101" pitchFamily="2" charset="-122"/>
              </a:rPr>
              <a:t>语言和</a:t>
            </a:r>
            <a:r>
              <a:rPr lang="en-US" altLang="zh-CN" sz="2200" dirty="0">
                <a:latin typeface="Cambria" panose="02040503050406030204" pitchFamily="18" charset="0"/>
                <a:ea typeface="Cambria" panose="02040503050406030204" pitchFamily="18" charset="0"/>
              </a:rPr>
              <a:t>Python</a:t>
            </a:r>
            <a:r>
              <a:rPr lang="zh-CN" altLang="zh-CN" sz="2200" dirty="0">
                <a:latin typeface="Cambria" panose="02040503050406030204" pitchFamily="18" charset="0"/>
                <a:ea typeface="华文细黑" panose="02010600040101010101" pitchFamily="2" charset="-122"/>
              </a:rPr>
              <a:t>语言课程的</a:t>
            </a:r>
            <a:r>
              <a:rPr lang="zh-CN" altLang="en-US" sz="2200" dirty="0">
                <a:latin typeface="Cambria" panose="02040503050406030204" pitchFamily="18" charset="0"/>
                <a:ea typeface="华文细黑" panose="02010600040101010101" pitchFamily="2" charset="-122"/>
              </a:rPr>
              <a:t>分数</a:t>
            </a:r>
            <a:endParaRPr lang="zh-CN" altLang="zh-CN" sz="2200" dirty="0">
              <a:latin typeface="Cambria" panose="02040503050406030204" pitchFamily="18" charset="0"/>
              <a:ea typeface="华文细黑" panose="02010600040101010101" pitchFamily="2" charset="-122"/>
            </a:endParaRPr>
          </a:p>
        </p:txBody>
      </p:sp>
      <p:pic>
        <p:nvPicPr>
          <p:cNvPr id="3" name="图片 2">
            <a:extLst>
              <a:ext uri="{FF2B5EF4-FFF2-40B4-BE49-F238E27FC236}">
                <a16:creationId xmlns:a16="http://schemas.microsoft.com/office/drawing/2014/main" id="{3013419E-C73E-6082-D3AA-BC03CF7C2C7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7314" y="3576320"/>
            <a:ext cx="10765972" cy="2834640"/>
          </a:xfrm>
          <a:prstGeom prst="rect">
            <a:avLst/>
          </a:prstGeom>
          <a:noFill/>
          <a:ln w="6350">
            <a:solidFill>
              <a:schemeClr val="bg1">
                <a:lumMod val="75000"/>
              </a:schemeClr>
            </a:solidFill>
          </a:ln>
        </p:spPr>
      </p:pic>
      <p:graphicFrame>
        <p:nvGraphicFramePr>
          <p:cNvPr id="4" name="表格 3">
            <a:extLst>
              <a:ext uri="{FF2B5EF4-FFF2-40B4-BE49-F238E27FC236}">
                <a16:creationId xmlns:a16="http://schemas.microsoft.com/office/drawing/2014/main" id="{9A218606-F0A0-0030-4671-D02D1BCD0DCF}"/>
              </a:ext>
            </a:extLst>
          </p:cNvPr>
          <p:cNvGraphicFramePr>
            <a:graphicFrameLocks noGrp="1"/>
          </p:cNvGraphicFramePr>
          <p:nvPr>
            <p:extLst>
              <p:ext uri="{D42A27DB-BD31-4B8C-83A1-F6EECF244321}">
                <p14:modId xmlns:p14="http://schemas.microsoft.com/office/powerpoint/2010/main" val="335531664"/>
              </p:ext>
            </p:extLst>
          </p:nvPr>
        </p:nvGraphicFramePr>
        <p:xfrm>
          <a:off x="5212081" y="1670594"/>
          <a:ext cx="6381206" cy="1834608"/>
        </p:xfrm>
        <a:graphic>
          <a:graphicData uri="http://schemas.openxmlformats.org/drawingml/2006/table">
            <a:tbl>
              <a:tblPr firstRow="1" firstCol="1" bandRow="1">
                <a:tableStyleId>{5C22544A-7EE6-4342-B048-85BDC9FD1C3A}</a:tableStyleId>
              </a:tblPr>
              <a:tblGrid>
                <a:gridCol w="1352896">
                  <a:extLst>
                    <a:ext uri="{9D8B030D-6E8A-4147-A177-3AD203B41FA5}">
                      <a16:colId xmlns:a16="http://schemas.microsoft.com/office/drawing/2014/main" val="632433297"/>
                    </a:ext>
                  </a:extLst>
                </a:gridCol>
                <a:gridCol w="1231058">
                  <a:extLst>
                    <a:ext uri="{9D8B030D-6E8A-4147-A177-3AD203B41FA5}">
                      <a16:colId xmlns:a16="http://schemas.microsoft.com/office/drawing/2014/main" val="1432925627"/>
                    </a:ext>
                  </a:extLst>
                </a:gridCol>
                <a:gridCol w="1475315">
                  <a:extLst>
                    <a:ext uri="{9D8B030D-6E8A-4147-A177-3AD203B41FA5}">
                      <a16:colId xmlns:a16="http://schemas.microsoft.com/office/drawing/2014/main" val="3568426332"/>
                    </a:ext>
                  </a:extLst>
                </a:gridCol>
                <a:gridCol w="2321937">
                  <a:extLst>
                    <a:ext uri="{9D8B030D-6E8A-4147-A177-3AD203B41FA5}">
                      <a16:colId xmlns:a16="http://schemas.microsoft.com/office/drawing/2014/main" val="2500015488"/>
                    </a:ext>
                  </a:extLst>
                </a:gridCol>
              </a:tblGrid>
              <a:tr h="229326">
                <a:tc>
                  <a:txBody>
                    <a:bodyPr/>
                    <a:lstStyle/>
                    <a:p>
                      <a:pPr algn="ctr">
                        <a:lnSpc>
                          <a:spcPct val="115000"/>
                        </a:lnSpc>
                      </a:pPr>
                      <a:r>
                        <a:rPr lang="zh-CN" sz="1200" b="1">
                          <a:effectLst/>
                        </a:rPr>
                        <a:t>性别</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dirty="0">
                          <a:effectLst/>
                        </a:rPr>
                        <a:t>专业</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R</a:t>
                      </a:r>
                      <a:r>
                        <a:rPr lang="zh-CN" sz="1200" b="1" dirty="0">
                          <a:effectLst/>
                        </a:rPr>
                        <a:t>语言</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Python</a:t>
                      </a:r>
                      <a:r>
                        <a:rPr lang="zh-CN" sz="1200" b="1" dirty="0">
                          <a:effectLst/>
                        </a:rPr>
                        <a:t>语言</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032314460"/>
                  </a:ext>
                </a:extLst>
              </a:tr>
              <a:tr h="229326">
                <a:tc>
                  <a:txBody>
                    <a:bodyPr/>
                    <a:lstStyle/>
                    <a:p>
                      <a:pPr algn="ctr">
                        <a:lnSpc>
                          <a:spcPct val="115000"/>
                        </a:lnSpc>
                      </a:pPr>
                      <a:r>
                        <a:rPr lang="zh-CN" sz="1200" b="1" dirty="0">
                          <a:effectLst/>
                        </a:rPr>
                        <a:t>男</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a:effectLst/>
                        </a:rPr>
                        <a:t>金融</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93</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76</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025302266"/>
                  </a:ext>
                </a:extLst>
              </a:tr>
              <a:tr h="229326">
                <a:tc>
                  <a:txBody>
                    <a:bodyPr/>
                    <a:lstStyle/>
                    <a:p>
                      <a:pPr algn="ctr">
                        <a:lnSpc>
                          <a:spcPct val="115000"/>
                        </a:lnSpc>
                      </a:pPr>
                      <a:r>
                        <a:rPr lang="zh-CN" sz="1200" b="1">
                          <a:effectLst/>
                        </a:rPr>
                        <a:t>女</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a:effectLst/>
                        </a:rPr>
                        <a:t>管理</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a:effectLst/>
                        </a:rPr>
                        <a:t>90</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73</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86405876"/>
                  </a:ext>
                </a:extLst>
              </a:tr>
              <a:tr h="229326">
                <a:tc>
                  <a:txBody>
                    <a:bodyPr/>
                    <a:lstStyle/>
                    <a:p>
                      <a:pPr algn="ctr">
                        <a:lnSpc>
                          <a:spcPct val="115000"/>
                        </a:lnSpc>
                      </a:pPr>
                      <a:r>
                        <a:rPr lang="zh-CN" sz="1200" b="1">
                          <a:effectLst/>
                        </a:rPr>
                        <a:t>男</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a:effectLst/>
                        </a:rPr>
                        <a:t>金融</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a:effectLst/>
                        </a:rPr>
                        <a:t>72</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63</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675433637"/>
                  </a:ext>
                </a:extLst>
              </a:tr>
              <a:tr h="229326">
                <a:tc>
                  <a:txBody>
                    <a:bodyPr/>
                    <a:lstStyle/>
                    <a:p>
                      <a:pPr algn="ctr">
                        <a:lnSpc>
                          <a:spcPct val="115000"/>
                        </a:lnSpc>
                      </a:pPr>
                      <a:r>
                        <a:rPr lang="en-US" sz="1200" b="1">
                          <a:effectLst/>
                        </a:rPr>
                        <a:t>……</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a:effectLst/>
                        </a:rPr>
                        <a:t>……</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a:effectLst/>
                        </a:rPr>
                        <a:t>……</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954632567"/>
                  </a:ext>
                </a:extLst>
              </a:tr>
              <a:tr h="229326">
                <a:tc>
                  <a:txBody>
                    <a:bodyPr/>
                    <a:lstStyle/>
                    <a:p>
                      <a:pPr algn="ctr">
                        <a:lnSpc>
                          <a:spcPct val="115000"/>
                        </a:lnSpc>
                      </a:pPr>
                      <a:r>
                        <a:rPr lang="zh-CN" sz="1200" b="1">
                          <a:effectLst/>
                        </a:rPr>
                        <a:t>男</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a:effectLst/>
                        </a:rPr>
                        <a:t>金融</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a:effectLst/>
                        </a:rPr>
                        <a:t>83</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71</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099630217"/>
                  </a:ext>
                </a:extLst>
              </a:tr>
              <a:tr h="229326">
                <a:tc>
                  <a:txBody>
                    <a:bodyPr/>
                    <a:lstStyle/>
                    <a:p>
                      <a:pPr algn="ctr">
                        <a:lnSpc>
                          <a:spcPct val="115000"/>
                        </a:lnSpc>
                      </a:pPr>
                      <a:r>
                        <a:rPr lang="zh-CN" sz="1200" b="1">
                          <a:effectLst/>
                        </a:rPr>
                        <a:t>男</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a:effectLst/>
                        </a:rPr>
                        <a:t>金融</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a:effectLst/>
                        </a:rPr>
                        <a:t>86</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75</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825154111"/>
                  </a:ext>
                </a:extLst>
              </a:tr>
              <a:tr h="229326">
                <a:tc>
                  <a:txBody>
                    <a:bodyPr/>
                    <a:lstStyle/>
                    <a:p>
                      <a:pPr algn="ctr">
                        <a:lnSpc>
                          <a:spcPct val="115000"/>
                        </a:lnSpc>
                      </a:pPr>
                      <a:r>
                        <a:rPr lang="zh-CN" sz="1200" b="1">
                          <a:effectLst/>
                        </a:rPr>
                        <a:t>女</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zh-CN" sz="1200" b="1">
                          <a:effectLst/>
                        </a:rPr>
                        <a:t>管理</a:t>
                      </a:r>
                      <a:endParaRPr lang="zh-CN" sz="12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83</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ct val="115000"/>
                        </a:lnSpc>
                      </a:pPr>
                      <a:r>
                        <a:rPr lang="en-US" sz="1200" b="1" dirty="0">
                          <a:effectLst/>
                        </a:rPr>
                        <a:t>71</a:t>
                      </a:r>
                      <a:endParaRPr lang="zh-CN" sz="12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319404229"/>
                  </a:ext>
                </a:extLst>
              </a:tr>
            </a:tbl>
          </a:graphicData>
        </a:graphic>
      </p:graphicFrame>
      <p:sp>
        <p:nvSpPr>
          <p:cNvPr id="6" name="Rectangle 2">
            <a:extLst>
              <a:ext uri="{FF2B5EF4-FFF2-40B4-BE49-F238E27FC236}">
                <a16:creationId xmlns:a16="http://schemas.microsoft.com/office/drawing/2014/main" id="{A566E25E-2D38-8D2C-16EF-86820271D99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1386383162"/>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基本绘图函数</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其他高级绘图函数</a:t>
            </a:r>
            <a:endParaRPr lang="en-US" altLang="zh-CN" sz="2600" b="1" dirty="0">
              <a:solidFill>
                <a:srgbClr val="002060"/>
              </a:solidFill>
              <a:ea typeface="华文细黑" panose="02010600040101010101" pitchFamily="2" charset="-122"/>
            </a:endParaRPr>
          </a:p>
        </p:txBody>
      </p:sp>
      <p:graphicFrame>
        <p:nvGraphicFramePr>
          <p:cNvPr id="7" name="表格 6">
            <a:extLst>
              <a:ext uri="{FF2B5EF4-FFF2-40B4-BE49-F238E27FC236}">
                <a16:creationId xmlns:a16="http://schemas.microsoft.com/office/drawing/2014/main" id="{359691DD-3A7A-4993-AA95-3BF940806FB7}"/>
              </a:ext>
            </a:extLst>
          </p:cNvPr>
          <p:cNvGraphicFramePr>
            <a:graphicFrameLocks noGrp="1"/>
          </p:cNvGraphicFramePr>
          <p:nvPr>
            <p:extLst>
              <p:ext uri="{D42A27DB-BD31-4B8C-83A1-F6EECF244321}">
                <p14:modId xmlns:p14="http://schemas.microsoft.com/office/powerpoint/2010/main" val="2166069540"/>
              </p:ext>
            </p:extLst>
          </p:nvPr>
        </p:nvGraphicFramePr>
        <p:xfrm>
          <a:off x="721430" y="1722980"/>
          <a:ext cx="5083946" cy="4667660"/>
        </p:xfrm>
        <a:graphic>
          <a:graphicData uri="http://schemas.openxmlformats.org/drawingml/2006/table">
            <a:tbl>
              <a:tblPr firstRow="1" firstCol="1" bandRow="1">
                <a:tableStyleId>{5C22544A-7EE6-4342-B048-85BDC9FD1C3A}</a:tableStyleId>
              </a:tblPr>
              <a:tblGrid>
                <a:gridCol w="1234961">
                  <a:extLst>
                    <a:ext uri="{9D8B030D-6E8A-4147-A177-3AD203B41FA5}">
                      <a16:colId xmlns:a16="http://schemas.microsoft.com/office/drawing/2014/main" val="20000"/>
                    </a:ext>
                  </a:extLst>
                </a:gridCol>
                <a:gridCol w="2328530">
                  <a:extLst>
                    <a:ext uri="{9D8B030D-6E8A-4147-A177-3AD203B41FA5}">
                      <a16:colId xmlns:a16="http://schemas.microsoft.com/office/drawing/2014/main" val="20001"/>
                    </a:ext>
                  </a:extLst>
                </a:gridCol>
                <a:gridCol w="1520455">
                  <a:extLst>
                    <a:ext uri="{9D8B030D-6E8A-4147-A177-3AD203B41FA5}">
                      <a16:colId xmlns:a16="http://schemas.microsoft.com/office/drawing/2014/main" val="20002"/>
                    </a:ext>
                  </a:extLst>
                </a:gridCol>
              </a:tblGrid>
              <a:tr h="466766">
                <a:tc>
                  <a:txBody>
                    <a:bodyPr/>
                    <a:lstStyle/>
                    <a:p>
                      <a:pPr algn="ctr">
                        <a:lnSpc>
                          <a:spcPts val="1800"/>
                        </a:lnSpc>
                        <a:spcAft>
                          <a:spcPts val="0"/>
                        </a:spcAft>
                      </a:pPr>
                      <a:r>
                        <a:rPr lang="zh-CN" sz="1400" b="1" dirty="0">
                          <a:effectLst/>
                          <a:latin typeface="Cambria" panose="02040503050406030204" pitchFamily="18" charset="0"/>
                          <a:ea typeface="华文细黑" panose="02010600040101010101" pitchFamily="2" charset="-122"/>
                        </a:rPr>
                        <a:t>函数</a:t>
                      </a:r>
                    </a:p>
                  </a:txBody>
                  <a:tcPr marL="59336" marR="59336" marT="0" marB="0" anchor="ctr"/>
                </a:tc>
                <a:tc>
                  <a:txBody>
                    <a:bodyPr/>
                    <a:lstStyle/>
                    <a:p>
                      <a:pPr algn="ctr">
                        <a:lnSpc>
                          <a:spcPts val="1800"/>
                        </a:lnSpc>
                        <a:spcAft>
                          <a:spcPts val="0"/>
                        </a:spcAft>
                      </a:pPr>
                      <a:r>
                        <a:rPr lang="zh-CN" sz="1400" b="1">
                          <a:effectLst/>
                          <a:latin typeface="Cambria" panose="02040503050406030204" pitchFamily="18" charset="0"/>
                          <a:ea typeface="华文细黑" panose="02010600040101010101" pitchFamily="2" charset="-122"/>
                        </a:rPr>
                        <a:t>数据类型</a:t>
                      </a:r>
                    </a:p>
                  </a:txBody>
                  <a:tcPr marL="59336" marR="59336" marT="0" marB="0" anchor="ctr"/>
                </a:tc>
                <a:tc>
                  <a:txBody>
                    <a:bodyPr/>
                    <a:lstStyle/>
                    <a:p>
                      <a:pPr algn="ctr">
                        <a:lnSpc>
                          <a:spcPts val="1800"/>
                        </a:lnSpc>
                        <a:spcAft>
                          <a:spcPts val="0"/>
                        </a:spcAft>
                      </a:pPr>
                      <a:r>
                        <a:rPr lang="zh-CN" sz="1400" b="1" dirty="0">
                          <a:effectLst/>
                          <a:latin typeface="Cambria" panose="02040503050406030204" pitchFamily="18" charset="0"/>
                          <a:ea typeface="华文细黑" panose="02010600040101010101" pitchFamily="2" charset="-122"/>
                        </a:rPr>
                        <a:t>图形</a:t>
                      </a:r>
                    </a:p>
                  </a:txBody>
                  <a:tcPr marL="59336" marR="59336" marT="0" marB="0" anchor="ctr"/>
                </a:tc>
                <a:extLst>
                  <a:ext uri="{0D108BD9-81ED-4DB2-BD59-A6C34878D82A}">
                    <a16:rowId xmlns:a16="http://schemas.microsoft.com/office/drawing/2014/main" val="10000"/>
                  </a:ext>
                </a:extLst>
              </a:tr>
              <a:tr h="466766">
                <a:tc>
                  <a:txBody>
                    <a:bodyPr/>
                    <a:lstStyle/>
                    <a:p>
                      <a:pPr algn="just">
                        <a:lnSpc>
                          <a:spcPts val="1800"/>
                        </a:lnSpc>
                        <a:spcAft>
                          <a:spcPts val="0"/>
                        </a:spcAft>
                      </a:pPr>
                      <a:r>
                        <a:rPr lang="en-US" sz="1400" b="1" dirty="0" err="1">
                          <a:effectLst/>
                          <a:latin typeface="Cambria" panose="02040503050406030204" pitchFamily="18" charset="0"/>
                          <a:ea typeface="Cambria" panose="02040503050406030204" pitchFamily="18" charset="0"/>
                        </a:rPr>
                        <a:t>assocplot</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二维列联表</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关联图</a:t>
                      </a:r>
                    </a:p>
                  </a:txBody>
                  <a:tcPr marL="59336" marR="59336" marT="0" marB="0" anchor="ctr"/>
                </a:tc>
                <a:extLst>
                  <a:ext uri="{0D108BD9-81ED-4DB2-BD59-A6C34878D82A}">
                    <a16:rowId xmlns:a16="http://schemas.microsoft.com/office/drawing/2014/main" val="10001"/>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barplot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数值向量；矩阵；列联表</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条形图</a:t>
                      </a:r>
                    </a:p>
                  </a:txBody>
                  <a:tcPr marL="59336" marR="59336" marT="0" marB="0" anchor="ctr"/>
                </a:tc>
                <a:extLst>
                  <a:ext uri="{0D108BD9-81ED-4DB2-BD59-A6C34878D82A}">
                    <a16:rowId xmlns:a16="http://schemas.microsoft.com/office/drawing/2014/main" val="10002"/>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boxplot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数值向量；列表；数据框</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箱线图</a:t>
                      </a:r>
                    </a:p>
                  </a:txBody>
                  <a:tcPr marL="59336" marR="59336" marT="0" marB="0" anchor="ctr"/>
                </a:tc>
                <a:extLst>
                  <a:ext uri="{0D108BD9-81ED-4DB2-BD59-A6C34878D82A}">
                    <a16:rowId xmlns:a16="http://schemas.microsoft.com/office/drawing/2014/main" val="10003"/>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cdplot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单一数值向量；一个对象</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条件密度图</a:t>
                      </a:r>
                    </a:p>
                  </a:txBody>
                  <a:tcPr marL="59336" marR="59336" marT="0" marB="0" anchor="ctr"/>
                </a:tc>
                <a:extLst>
                  <a:ext uri="{0D108BD9-81ED-4DB2-BD59-A6C34878D82A}">
                    <a16:rowId xmlns:a16="http://schemas.microsoft.com/office/drawing/2014/main" val="10004"/>
                  </a:ext>
                </a:extLst>
              </a:tr>
              <a:tr h="466766">
                <a:tc>
                  <a:txBody>
                    <a:bodyPr/>
                    <a:lstStyle/>
                    <a:p>
                      <a:pPr algn="just">
                        <a:lnSpc>
                          <a:spcPts val="1800"/>
                        </a:lnSpc>
                        <a:spcAft>
                          <a:spcPts val="0"/>
                        </a:spcAft>
                      </a:pPr>
                      <a:r>
                        <a:rPr lang="en-US" sz="1400" b="1" dirty="0">
                          <a:effectLst/>
                          <a:latin typeface="Cambria" panose="02040503050406030204" pitchFamily="18" charset="0"/>
                          <a:ea typeface="Cambria" panose="02040503050406030204" pitchFamily="18" charset="0"/>
                        </a:rPr>
                        <a:t>contour</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数值，数值，数值</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等高线图</a:t>
                      </a:r>
                    </a:p>
                  </a:txBody>
                  <a:tcPr marL="59336" marR="59336" marT="0" marB="0" anchor="ctr"/>
                </a:tc>
                <a:extLst>
                  <a:ext uri="{0D108BD9-81ED-4DB2-BD59-A6C34878D82A}">
                    <a16:rowId xmlns:a16="http://schemas.microsoft.com/office/drawing/2014/main" val="10005"/>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coplot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表达式</a:t>
                      </a: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条件图</a:t>
                      </a:r>
                    </a:p>
                  </a:txBody>
                  <a:tcPr marL="59336" marR="59336" marT="0" marB="0" anchor="ctr"/>
                </a:tc>
                <a:extLst>
                  <a:ext uri="{0D108BD9-81ED-4DB2-BD59-A6C34878D82A}">
                    <a16:rowId xmlns:a16="http://schemas.microsoft.com/office/drawing/2014/main" val="10006"/>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curve</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表达式</a:t>
                      </a: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曲线</a:t>
                      </a:r>
                    </a:p>
                  </a:txBody>
                  <a:tcPr marL="59336" marR="59336" marT="0" marB="0" anchor="ctr"/>
                </a:tc>
                <a:extLst>
                  <a:ext uri="{0D108BD9-81ED-4DB2-BD59-A6C34878D82A}">
                    <a16:rowId xmlns:a16="http://schemas.microsoft.com/office/drawing/2014/main" val="10007"/>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dotchart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数值向量；矩阵</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点图</a:t>
                      </a:r>
                    </a:p>
                  </a:txBody>
                  <a:tcPr marL="59336" marR="59336" marT="0" marB="0" anchor="ctr"/>
                </a:tc>
                <a:extLst>
                  <a:ext uri="{0D108BD9-81ED-4DB2-BD59-A6C34878D82A}">
                    <a16:rowId xmlns:a16="http://schemas.microsoft.com/office/drawing/2014/main" val="10008"/>
                  </a:ext>
                </a:extLst>
              </a:tr>
              <a:tr h="466766">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fourfoldplot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2×2</a:t>
                      </a:r>
                      <a:r>
                        <a:rPr lang="zh-CN" sz="1400" b="1">
                          <a:effectLst/>
                          <a:latin typeface="Cambria" panose="02040503050406030204" pitchFamily="18" charset="0"/>
                          <a:ea typeface="华文细黑" panose="02010600040101010101" pitchFamily="2" charset="-122"/>
                        </a:rPr>
                        <a:t>表</a:t>
                      </a: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四折图</a:t>
                      </a:r>
                    </a:p>
                  </a:txBody>
                  <a:tcPr marL="59336" marR="59336" marT="0" marB="0" anchor="ctr"/>
                </a:tc>
                <a:extLst>
                  <a:ext uri="{0D108BD9-81ED-4DB2-BD59-A6C34878D82A}">
                    <a16:rowId xmlns:a16="http://schemas.microsoft.com/office/drawing/2014/main" val="10009"/>
                  </a:ext>
                </a:extLst>
              </a:tr>
            </a:tbl>
          </a:graphicData>
        </a:graphic>
      </p:graphicFrame>
      <p:graphicFrame>
        <p:nvGraphicFramePr>
          <p:cNvPr id="10" name="表格 9">
            <a:extLst>
              <a:ext uri="{FF2B5EF4-FFF2-40B4-BE49-F238E27FC236}">
                <a16:creationId xmlns:a16="http://schemas.microsoft.com/office/drawing/2014/main" id="{3D8DABB5-46EF-455B-A9AF-B66520A27C27}"/>
              </a:ext>
            </a:extLst>
          </p:cNvPr>
          <p:cNvGraphicFramePr>
            <a:graphicFrameLocks noGrp="1"/>
          </p:cNvGraphicFramePr>
          <p:nvPr>
            <p:extLst>
              <p:ext uri="{D42A27DB-BD31-4B8C-83A1-F6EECF244321}">
                <p14:modId xmlns:p14="http://schemas.microsoft.com/office/powerpoint/2010/main" val="3002212265"/>
              </p:ext>
            </p:extLst>
          </p:nvPr>
        </p:nvGraphicFramePr>
        <p:xfrm>
          <a:off x="5922334" y="1722474"/>
          <a:ext cx="5548236" cy="4667659"/>
        </p:xfrm>
        <a:graphic>
          <a:graphicData uri="http://schemas.openxmlformats.org/drawingml/2006/table">
            <a:tbl>
              <a:tblPr firstRow="1" firstCol="1" bandRow="1">
                <a:tableStyleId>{5C22544A-7EE6-4342-B048-85BDC9FD1C3A}</a:tableStyleId>
              </a:tblPr>
              <a:tblGrid>
                <a:gridCol w="1371601">
                  <a:extLst>
                    <a:ext uri="{9D8B030D-6E8A-4147-A177-3AD203B41FA5}">
                      <a16:colId xmlns:a16="http://schemas.microsoft.com/office/drawing/2014/main" val="20000"/>
                    </a:ext>
                  </a:extLst>
                </a:gridCol>
                <a:gridCol w="2594344">
                  <a:extLst>
                    <a:ext uri="{9D8B030D-6E8A-4147-A177-3AD203B41FA5}">
                      <a16:colId xmlns:a16="http://schemas.microsoft.com/office/drawing/2014/main" val="20001"/>
                    </a:ext>
                  </a:extLst>
                </a:gridCol>
                <a:gridCol w="1582291">
                  <a:extLst>
                    <a:ext uri="{9D8B030D-6E8A-4147-A177-3AD203B41FA5}">
                      <a16:colId xmlns:a16="http://schemas.microsoft.com/office/drawing/2014/main" val="20002"/>
                    </a:ext>
                  </a:extLst>
                </a:gridCol>
              </a:tblGrid>
              <a:tr h="294607">
                <a:tc>
                  <a:txBody>
                    <a:bodyPr/>
                    <a:lstStyle/>
                    <a:p>
                      <a:pPr algn="ctr">
                        <a:lnSpc>
                          <a:spcPts val="1800"/>
                        </a:lnSpc>
                        <a:spcAft>
                          <a:spcPts val="0"/>
                        </a:spcAft>
                      </a:pPr>
                      <a:r>
                        <a:rPr lang="zh-CN" sz="1400" b="1" dirty="0">
                          <a:effectLst/>
                          <a:latin typeface="Cambria" panose="02040503050406030204" pitchFamily="18" charset="0"/>
                          <a:ea typeface="华文细黑" panose="02010600040101010101" pitchFamily="2" charset="-122"/>
                        </a:rPr>
                        <a:t>函数</a:t>
                      </a:r>
                    </a:p>
                  </a:txBody>
                  <a:tcPr marL="59336" marR="59336" marT="0" marB="0" anchor="ctr"/>
                </a:tc>
                <a:tc>
                  <a:txBody>
                    <a:bodyPr/>
                    <a:lstStyle/>
                    <a:p>
                      <a:pPr algn="ctr">
                        <a:lnSpc>
                          <a:spcPts val="1800"/>
                        </a:lnSpc>
                        <a:spcAft>
                          <a:spcPts val="0"/>
                        </a:spcAft>
                      </a:pPr>
                      <a:r>
                        <a:rPr lang="zh-CN" sz="1400" b="1">
                          <a:effectLst/>
                          <a:latin typeface="Cambria" panose="02040503050406030204" pitchFamily="18" charset="0"/>
                          <a:ea typeface="华文细黑" panose="02010600040101010101" pitchFamily="2" charset="-122"/>
                        </a:rPr>
                        <a:t>数据类型</a:t>
                      </a:r>
                    </a:p>
                  </a:txBody>
                  <a:tcPr marL="59336" marR="59336" marT="0" marB="0" anchor="ctr"/>
                </a:tc>
                <a:tc>
                  <a:txBody>
                    <a:bodyPr/>
                    <a:lstStyle/>
                    <a:p>
                      <a:pPr algn="ctr">
                        <a:lnSpc>
                          <a:spcPts val="1800"/>
                        </a:lnSpc>
                        <a:spcAft>
                          <a:spcPts val="0"/>
                        </a:spcAft>
                      </a:pPr>
                      <a:r>
                        <a:rPr lang="zh-CN" sz="1400" b="1">
                          <a:effectLst/>
                          <a:latin typeface="Cambria" panose="02040503050406030204" pitchFamily="18" charset="0"/>
                          <a:ea typeface="华文细黑" panose="02010600040101010101" pitchFamily="2" charset="-122"/>
                        </a:rPr>
                        <a:t>图形</a:t>
                      </a:r>
                    </a:p>
                  </a:txBody>
                  <a:tcPr marL="59336" marR="59336" marT="0" marB="0" anchor="ctr"/>
                </a:tc>
                <a:extLst>
                  <a:ext uri="{0D108BD9-81ED-4DB2-BD59-A6C34878D82A}">
                    <a16:rowId xmlns:a16="http://schemas.microsoft.com/office/drawing/2014/main" val="10000"/>
                  </a:ext>
                </a:extLst>
              </a:tr>
              <a:tr h="294607">
                <a:tc>
                  <a:txBody>
                    <a:bodyPr/>
                    <a:lstStyle/>
                    <a:p>
                      <a:pPr algn="just">
                        <a:lnSpc>
                          <a:spcPts val="1800"/>
                        </a:lnSpc>
                        <a:spcAft>
                          <a:spcPts val="0"/>
                        </a:spcAft>
                      </a:pPr>
                      <a:r>
                        <a:rPr lang="en-US" sz="1400" b="1" dirty="0" err="1">
                          <a:effectLst/>
                          <a:latin typeface="Cambria" panose="02040503050406030204" pitchFamily="18" charset="0"/>
                          <a:ea typeface="Cambria" panose="02040503050406030204" pitchFamily="18" charset="0"/>
                        </a:rPr>
                        <a:t>hist</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直方图</a:t>
                      </a:r>
                    </a:p>
                  </a:txBody>
                  <a:tcPr marL="59336" marR="59336" marT="0" marB="0" anchor="ctr"/>
                </a:tc>
                <a:extLst>
                  <a:ext uri="{0D108BD9-81ED-4DB2-BD59-A6C34878D82A}">
                    <a16:rowId xmlns:a16="http://schemas.microsoft.com/office/drawing/2014/main" val="10001"/>
                  </a:ext>
                </a:extLst>
              </a:tr>
              <a:tr h="434235">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image</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数值，数值，数值</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色阵图</a:t>
                      </a:r>
                    </a:p>
                  </a:txBody>
                  <a:tcPr marL="59336" marR="59336" marT="0" marB="0" anchor="ctr"/>
                </a:tc>
                <a:extLst>
                  <a:ext uri="{0D108BD9-81ED-4DB2-BD59-A6C34878D82A}">
                    <a16:rowId xmlns:a16="http://schemas.microsoft.com/office/drawing/2014/main" val="10002"/>
                  </a:ext>
                </a:extLst>
              </a:tr>
              <a:tr h="294607">
                <a:tc>
                  <a:txBody>
                    <a:bodyPr/>
                    <a:lstStyle/>
                    <a:p>
                      <a:pPr algn="just">
                        <a:lnSpc>
                          <a:spcPts val="1800"/>
                        </a:lnSpc>
                        <a:spcAft>
                          <a:spcPts val="0"/>
                        </a:spcAft>
                      </a:pPr>
                      <a:r>
                        <a:rPr lang="en-US" sz="1400" b="1" dirty="0" err="1">
                          <a:effectLst/>
                          <a:latin typeface="Cambria" panose="02040503050406030204" pitchFamily="18" charset="0"/>
                          <a:ea typeface="Cambria" panose="02040503050406030204" pitchFamily="18" charset="0"/>
                        </a:rPr>
                        <a:t>matplot</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数值向量；矩阵</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矩阵列图</a:t>
                      </a:r>
                    </a:p>
                  </a:txBody>
                  <a:tcPr marL="59336" marR="59336" marT="0" marB="0" anchor="ctr"/>
                </a:tc>
                <a:extLst>
                  <a:ext uri="{0D108BD9-81ED-4DB2-BD59-A6C34878D82A}">
                    <a16:rowId xmlns:a16="http://schemas.microsoft.com/office/drawing/2014/main" val="10003"/>
                  </a:ext>
                </a:extLst>
              </a:tr>
              <a:tr h="434235">
                <a:tc>
                  <a:txBody>
                    <a:bodyPr/>
                    <a:lstStyle/>
                    <a:p>
                      <a:pPr algn="just">
                        <a:lnSpc>
                          <a:spcPts val="1800"/>
                        </a:lnSpc>
                        <a:spcAft>
                          <a:spcPts val="0"/>
                        </a:spcAft>
                      </a:pPr>
                      <a:r>
                        <a:rPr lang="en-US" sz="1400" b="1" dirty="0" err="1">
                          <a:effectLst/>
                          <a:latin typeface="Cambria" panose="02040503050406030204" pitchFamily="18" charset="0"/>
                          <a:ea typeface="Cambria" panose="02040503050406030204" pitchFamily="18" charset="0"/>
                        </a:rPr>
                        <a:t>mosaicplot</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二维列联表，</a:t>
                      </a:r>
                      <a:r>
                        <a:rPr lang="en-US" sz="1400" b="1" dirty="0">
                          <a:effectLst/>
                          <a:latin typeface="Cambria" panose="02040503050406030204" pitchFamily="18" charset="0"/>
                          <a:ea typeface="Cambria" panose="02040503050406030204" pitchFamily="18" charset="0"/>
                        </a:rPr>
                        <a:t>N</a:t>
                      </a:r>
                      <a:r>
                        <a:rPr lang="zh-CN" sz="1400" b="1" dirty="0">
                          <a:effectLst/>
                          <a:latin typeface="Cambria" panose="02040503050406030204" pitchFamily="18" charset="0"/>
                          <a:ea typeface="华文细黑" panose="02010600040101010101" pitchFamily="2" charset="-122"/>
                        </a:rPr>
                        <a:t>维列联表</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马赛克图</a:t>
                      </a:r>
                    </a:p>
                  </a:txBody>
                  <a:tcPr marL="59336" marR="59336" marT="0" marB="0" anchor="ctr"/>
                </a:tc>
                <a:extLst>
                  <a:ext uri="{0D108BD9-81ED-4DB2-BD59-A6C34878D82A}">
                    <a16:rowId xmlns:a16="http://schemas.microsoft.com/office/drawing/2014/main" val="10004"/>
                  </a:ext>
                </a:extLst>
              </a:tr>
              <a:tr h="294607">
                <a:tc>
                  <a:txBody>
                    <a:bodyPr/>
                    <a:lstStyle/>
                    <a:p>
                      <a:pPr algn="just">
                        <a:lnSpc>
                          <a:spcPts val="1800"/>
                        </a:lnSpc>
                        <a:spcAft>
                          <a:spcPts val="0"/>
                        </a:spcAft>
                      </a:pPr>
                      <a:r>
                        <a:rPr lang="en-US" sz="1400" b="1" dirty="0">
                          <a:effectLst/>
                          <a:latin typeface="Cambria" panose="02040503050406030204" pitchFamily="18" charset="0"/>
                          <a:ea typeface="Cambria" panose="02040503050406030204" pitchFamily="18" charset="0"/>
                        </a:rPr>
                        <a:t>pairs</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矩阵；数据框</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散点图矩阵</a:t>
                      </a:r>
                    </a:p>
                  </a:txBody>
                  <a:tcPr marL="59336" marR="59336" marT="0" marB="0" anchor="ctr"/>
                </a:tc>
                <a:extLst>
                  <a:ext uri="{0D108BD9-81ED-4DB2-BD59-A6C34878D82A}">
                    <a16:rowId xmlns:a16="http://schemas.microsoft.com/office/drawing/2014/main" val="10005"/>
                  </a:ext>
                </a:extLst>
              </a:tr>
              <a:tr h="434235">
                <a:tc>
                  <a:txBody>
                    <a:bodyPr/>
                    <a:lstStyle/>
                    <a:p>
                      <a:pPr algn="just">
                        <a:lnSpc>
                          <a:spcPts val="1800"/>
                        </a:lnSpc>
                        <a:spcAft>
                          <a:spcPts val="0"/>
                        </a:spcAft>
                      </a:pPr>
                      <a:r>
                        <a:rPr lang="en-US" sz="1400" b="1" dirty="0" err="1">
                          <a:effectLst/>
                          <a:latin typeface="Cambria" panose="02040503050406030204" pitchFamily="18" charset="0"/>
                          <a:ea typeface="Cambria" panose="02040503050406030204" pitchFamily="18" charset="0"/>
                        </a:rPr>
                        <a:t>persp</a:t>
                      </a:r>
                      <a:endParaRPr lang="zh-CN" sz="1400" b="1" dirty="0">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数值，数值，数值</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三维透视图</a:t>
                      </a:r>
                    </a:p>
                  </a:txBody>
                  <a:tcPr marL="59336" marR="59336" marT="0" marB="0" anchor="ctr"/>
                </a:tc>
                <a:extLst>
                  <a:ext uri="{0D108BD9-81ED-4DB2-BD59-A6C34878D82A}">
                    <a16:rowId xmlns:a16="http://schemas.microsoft.com/office/drawing/2014/main" val="10006"/>
                  </a:ext>
                </a:extLst>
              </a:tr>
              <a:tr h="434235">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pie</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非负的数值向量；列联表</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饼图</a:t>
                      </a:r>
                    </a:p>
                  </a:txBody>
                  <a:tcPr marL="59336" marR="59336" marT="0" marB="0" anchor="ctr"/>
                </a:tc>
                <a:extLst>
                  <a:ext uri="{0D108BD9-81ED-4DB2-BD59-A6C34878D82A}">
                    <a16:rowId xmlns:a16="http://schemas.microsoft.com/office/drawing/2014/main" val="10007"/>
                  </a:ext>
                </a:extLst>
              </a:tr>
              <a:tr h="294607">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stars</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矩阵；数据框</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星图</a:t>
                      </a:r>
                    </a:p>
                  </a:txBody>
                  <a:tcPr marL="59336" marR="59336" marT="0" marB="0" anchor="ctr"/>
                </a:tc>
                <a:extLst>
                  <a:ext uri="{0D108BD9-81ED-4DB2-BD59-A6C34878D82A}">
                    <a16:rowId xmlns:a16="http://schemas.microsoft.com/office/drawing/2014/main" val="10008"/>
                  </a:ext>
                </a:extLst>
              </a:tr>
              <a:tr h="294607">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stem</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茎叶图</a:t>
                      </a:r>
                    </a:p>
                  </a:txBody>
                  <a:tcPr marL="59336" marR="59336" marT="0" marB="0" anchor="ctr"/>
                </a:tc>
                <a:extLst>
                  <a:ext uri="{0D108BD9-81ED-4DB2-BD59-A6C34878D82A}">
                    <a16:rowId xmlns:a16="http://schemas.microsoft.com/office/drawing/2014/main" val="10009"/>
                  </a:ext>
                </a:extLst>
              </a:tr>
              <a:tr h="434235">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stripchart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数值向量；数值向量列表</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带状图</a:t>
                      </a:r>
                    </a:p>
                  </a:txBody>
                  <a:tcPr marL="59336" marR="59336" marT="0" marB="0" anchor="ctr"/>
                </a:tc>
                <a:extLst>
                  <a:ext uri="{0D108BD9-81ED-4DB2-BD59-A6C34878D82A}">
                    <a16:rowId xmlns:a16="http://schemas.microsoft.com/office/drawing/2014/main" val="10010"/>
                  </a:ext>
                </a:extLst>
              </a:tr>
              <a:tr h="294607">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sun flower plot</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数值向量，因子</a:t>
                      </a:r>
                    </a:p>
                  </a:txBody>
                  <a:tcPr marL="59336" marR="59336" marT="0" marB="0" anchor="ctr"/>
                </a:tc>
                <a:tc>
                  <a:txBody>
                    <a:bodyPr/>
                    <a:lstStyle/>
                    <a:p>
                      <a:pPr algn="just">
                        <a:lnSpc>
                          <a:spcPts val="1800"/>
                        </a:lnSpc>
                        <a:spcAft>
                          <a:spcPts val="0"/>
                        </a:spcAft>
                      </a:pPr>
                      <a:r>
                        <a:rPr lang="zh-CN" sz="1400" b="1">
                          <a:effectLst/>
                          <a:latin typeface="Cambria" panose="02040503050406030204" pitchFamily="18" charset="0"/>
                          <a:ea typeface="华文细黑" panose="02010600040101010101" pitchFamily="2" charset="-122"/>
                        </a:rPr>
                        <a:t>太阳花图</a:t>
                      </a:r>
                    </a:p>
                  </a:txBody>
                  <a:tcPr marL="59336" marR="59336" marT="0" marB="0" anchor="ctr"/>
                </a:tc>
                <a:extLst>
                  <a:ext uri="{0D108BD9-81ED-4DB2-BD59-A6C34878D82A}">
                    <a16:rowId xmlns:a16="http://schemas.microsoft.com/office/drawing/2014/main" val="10011"/>
                  </a:ext>
                </a:extLst>
              </a:tr>
              <a:tr h="434235">
                <a:tc>
                  <a:txBody>
                    <a:bodyPr/>
                    <a:lstStyle/>
                    <a:p>
                      <a:pPr algn="just">
                        <a:lnSpc>
                          <a:spcPts val="1800"/>
                        </a:lnSpc>
                        <a:spcAft>
                          <a:spcPts val="0"/>
                        </a:spcAft>
                      </a:pPr>
                      <a:r>
                        <a:rPr lang="en-US" sz="1400" b="1">
                          <a:effectLst/>
                          <a:latin typeface="Cambria" panose="02040503050406030204" pitchFamily="18" charset="0"/>
                          <a:ea typeface="Cambria" panose="02040503050406030204" pitchFamily="18" charset="0"/>
                        </a:rPr>
                        <a:t>symbols</a:t>
                      </a:r>
                      <a:endParaRPr lang="zh-CN" sz="1400" b="1">
                        <a:effectLst/>
                        <a:latin typeface="Cambria" panose="02040503050406030204" pitchFamily="18" charset="0"/>
                        <a:ea typeface="华文细黑" panose="02010600040101010101" pitchFamily="2" charset="-122"/>
                      </a:endParaRP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数值，数值，数值</a:t>
                      </a:r>
                    </a:p>
                  </a:txBody>
                  <a:tcPr marL="59336" marR="59336" marT="0" marB="0" anchor="ctr"/>
                </a:tc>
                <a:tc>
                  <a:txBody>
                    <a:bodyPr/>
                    <a:lstStyle/>
                    <a:p>
                      <a:pPr algn="just">
                        <a:lnSpc>
                          <a:spcPts val="1800"/>
                        </a:lnSpc>
                        <a:spcAft>
                          <a:spcPts val="0"/>
                        </a:spcAft>
                      </a:pPr>
                      <a:r>
                        <a:rPr lang="zh-CN" sz="1400" b="1" dirty="0">
                          <a:effectLst/>
                          <a:latin typeface="Cambria" panose="02040503050406030204" pitchFamily="18" charset="0"/>
                          <a:ea typeface="华文细黑" panose="02010600040101010101" pitchFamily="2" charset="-122"/>
                        </a:rPr>
                        <a:t>符号图</a:t>
                      </a:r>
                    </a:p>
                  </a:txBody>
                  <a:tcPr marL="59336" marR="59336" marT="0" marB="0" anchor="ctr"/>
                </a:tc>
                <a:extLst>
                  <a:ext uri="{0D108BD9-81ED-4DB2-BD59-A6C34878D82A}">
                    <a16:rowId xmlns:a16="http://schemas.microsoft.com/office/drawing/2014/main" val="10012"/>
                  </a:ext>
                </a:extLst>
              </a:tr>
            </a:tbl>
          </a:graphicData>
        </a:graphic>
      </p:graphicFrame>
      <p:sp>
        <p:nvSpPr>
          <p:cNvPr id="3" name="Rectangle 2">
            <a:extLst>
              <a:ext uri="{FF2B5EF4-FFF2-40B4-BE49-F238E27FC236}">
                <a16:creationId xmlns:a16="http://schemas.microsoft.com/office/drawing/2014/main" id="{6BC6B9B9-7340-26F6-D6EC-1B49FA7B468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2035361690"/>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基本绘图函数</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低级绘图函数</a:t>
            </a:r>
            <a:endParaRPr lang="en-US" altLang="zh-CN" sz="2600" b="1" dirty="0">
              <a:solidFill>
                <a:srgbClr val="002060"/>
              </a:solidFill>
              <a:ea typeface="华文细黑" panose="02010600040101010101" pitchFamily="2" charset="-122"/>
            </a:endParaRPr>
          </a:p>
        </p:txBody>
      </p:sp>
      <p:graphicFrame>
        <p:nvGraphicFramePr>
          <p:cNvPr id="8" name="表格 7">
            <a:extLst>
              <a:ext uri="{FF2B5EF4-FFF2-40B4-BE49-F238E27FC236}">
                <a16:creationId xmlns:a16="http://schemas.microsoft.com/office/drawing/2014/main" id="{4BE253F4-EEF2-4A75-9860-3E60D1BE8077}"/>
              </a:ext>
            </a:extLst>
          </p:cNvPr>
          <p:cNvGraphicFramePr>
            <a:graphicFrameLocks noGrp="1"/>
          </p:cNvGraphicFramePr>
          <p:nvPr>
            <p:extLst>
              <p:ext uri="{D42A27DB-BD31-4B8C-83A1-F6EECF244321}">
                <p14:modId xmlns:p14="http://schemas.microsoft.com/office/powerpoint/2010/main" val="1424373706"/>
              </p:ext>
            </p:extLst>
          </p:nvPr>
        </p:nvGraphicFramePr>
        <p:xfrm>
          <a:off x="4540102" y="1722474"/>
          <a:ext cx="6858000" cy="4627517"/>
        </p:xfrm>
        <a:graphic>
          <a:graphicData uri="http://schemas.openxmlformats.org/drawingml/2006/table">
            <a:tbl>
              <a:tblPr firstRow="1" firstCol="1" bandRow="1">
                <a:tableStyleId>{5C22544A-7EE6-4342-B048-85BDC9FD1C3A}</a:tableStyleId>
              </a:tblPr>
              <a:tblGrid>
                <a:gridCol w="1436222">
                  <a:extLst>
                    <a:ext uri="{9D8B030D-6E8A-4147-A177-3AD203B41FA5}">
                      <a16:colId xmlns:a16="http://schemas.microsoft.com/office/drawing/2014/main" val="20000"/>
                    </a:ext>
                  </a:extLst>
                </a:gridCol>
                <a:gridCol w="5421778">
                  <a:extLst>
                    <a:ext uri="{9D8B030D-6E8A-4147-A177-3AD203B41FA5}">
                      <a16:colId xmlns:a16="http://schemas.microsoft.com/office/drawing/2014/main" val="20001"/>
                    </a:ext>
                  </a:extLst>
                </a:gridCol>
              </a:tblGrid>
              <a:tr h="246674">
                <a:tc>
                  <a:txBody>
                    <a:bodyPr/>
                    <a:lstStyle/>
                    <a:p>
                      <a:pPr algn="ctr">
                        <a:lnSpc>
                          <a:spcPts val="1800"/>
                        </a:lnSpc>
                        <a:spcAft>
                          <a:spcPts val="0"/>
                        </a:spcAft>
                      </a:pPr>
                      <a:r>
                        <a:rPr lang="zh-CN" sz="1200" b="1">
                          <a:effectLst/>
                          <a:latin typeface="Cambria" panose="02040503050406030204" pitchFamily="18" charset="0"/>
                        </a:rPr>
                        <a:t>函数</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ctr">
                        <a:lnSpc>
                          <a:spcPts val="1800"/>
                        </a:lnSpc>
                        <a:spcAft>
                          <a:spcPts val="0"/>
                        </a:spcAft>
                      </a:pPr>
                      <a:r>
                        <a:rPr lang="zh-CN" sz="1200" b="1">
                          <a:effectLst/>
                          <a:latin typeface="Cambria" panose="02040503050406030204" pitchFamily="18" charset="0"/>
                        </a:rPr>
                        <a:t>描述</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abline</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为图形添加截距为</a:t>
                      </a:r>
                      <a:r>
                        <a:rPr lang="en-US" sz="1200" b="1">
                          <a:effectLst/>
                          <a:latin typeface="Cambria" panose="02040503050406030204" pitchFamily="18" charset="0"/>
                          <a:ea typeface="Cambria" panose="02040503050406030204" pitchFamily="18" charset="0"/>
                        </a:rPr>
                        <a:t>a</a:t>
                      </a:r>
                      <a:r>
                        <a:rPr lang="zh-CN" sz="1200" b="1">
                          <a:effectLst/>
                          <a:latin typeface="Cambria" panose="02040503050406030204" pitchFamily="18" charset="0"/>
                        </a:rPr>
                        <a:t>、斜率为</a:t>
                      </a:r>
                      <a:r>
                        <a:rPr lang="en-US" sz="1200" b="1">
                          <a:effectLst/>
                          <a:latin typeface="Cambria" panose="02040503050406030204" pitchFamily="18" charset="0"/>
                          <a:ea typeface="Cambria" panose="02040503050406030204" pitchFamily="18" charset="0"/>
                        </a:rPr>
                        <a:t>b</a:t>
                      </a:r>
                      <a:r>
                        <a:rPr lang="zh-CN" sz="1200" b="1">
                          <a:effectLst/>
                          <a:latin typeface="Cambria" panose="02040503050406030204" pitchFamily="18" charset="0"/>
                        </a:rPr>
                        <a:t>的直线。</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arrows</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在坐标点（</a:t>
                      </a:r>
                      <a:r>
                        <a:rPr lang="en-US" sz="1200" b="1">
                          <a:effectLst/>
                          <a:latin typeface="Cambria" panose="02040503050406030204" pitchFamily="18" charset="0"/>
                          <a:ea typeface="Cambria" panose="02040503050406030204" pitchFamily="18" charset="0"/>
                        </a:rPr>
                        <a:t>x0,y0</a:t>
                      </a:r>
                      <a:r>
                        <a:rPr lang="zh-CN" sz="1200" b="1">
                          <a:effectLst/>
                          <a:latin typeface="Cambria" panose="02040503050406030204" pitchFamily="18" charset="0"/>
                        </a:rPr>
                        <a:t>）和（</a:t>
                      </a:r>
                      <a:r>
                        <a:rPr lang="en-US" sz="1200" b="1">
                          <a:effectLst/>
                          <a:latin typeface="Cambria" panose="02040503050406030204" pitchFamily="18" charset="0"/>
                          <a:ea typeface="Cambria" panose="02040503050406030204" pitchFamily="18" charset="0"/>
                        </a:rPr>
                        <a:t>x1,y1</a:t>
                      </a:r>
                      <a:r>
                        <a:rPr lang="zh-CN" sz="1200" b="1">
                          <a:effectLst/>
                          <a:latin typeface="Cambria" panose="02040503050406030204" pitchFamily="18" charset="0"/>
                        </a:rPr>
                        <a:t>）之间绘制线段，并在端点处添加箭头。</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box</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绘制图形的边框。</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layout</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布局图形页面。</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246674">
                <a:tc>
                  <a:txBody>
                    <a:bodyPr/>
                    <a:lstStyle/>
                    <a:p>
                      <a:pPr algn="just">
                        <a:lnSpc>
                          <a:spcPts val="1800"/>
                        </a:lnSpc>
                        <a:spcAft>
                          <a:spcPts val="0"/>
                        </a:spcAft>
                      </a:pPr>
                      <a:r>
                        <a:rPr lang="en-US" sz="1200" b="1" dirty="0">
                          <a:effectLst/>
                          <a:latin typeface="Cambria" panose="02040503050406030204" pitchFamily="18" charset="0"/>
                          <a:ea typeface="Cambria" panose="02040503050406030204" pitchFamily="18" charset="0"/>
                        </a:rPr>
                        <a:t>legend</a:t>
                      </a:r>
                      <a:endParaRPr lang="zh-CN" sz="1200" b="1" dirty="0">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在坐标点（</a:t>
                      </a:r>
                      <a:r>
                        <a:rPr lang="en-US" sz="1200" b="1">
                          <a:effectLst/>
                          <a:latin typeface="Cambria" panose="02040503050406030204" pitchFamily="18" charset="0"/>
                          <a:ea typeface="Cambria" panose="02040503050406030204" pitchFamily="18" charset="0"/>
                        </a:rPr>
                        <a:t>x,y</a:t>
                      </a:r>
                      <a:r>
                        <a:rPr lang="zh-CN" sz="1200" b="1">
                          <a:effectLst/>
                          <a:latin typeface="Cambria" panose="02040503050406030204" pitchFamily="18" charset="0"/>
                        </a:rPr>
                        <a:t>）处添加图例。</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lines</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在坐标点（</a:t>
                      </a:r>
                      <a:r>
                        <a:rPr lang="en-US" sz="1200" b="1">
                          <a:effectLst/>
                          <a:latin typeface="Cambria" panose="02040503050406030204" pitchFamily="18" charset="0"/>
                          <a:ea typeface="Cambria" panose="02040503050406030204" pitchFamily="18" charset="0"/>
                        </a:rPr>
                        <a:t>x,y</a:t>
                      </a:r>
                      <a:r>
                        <a:rPr lang="zh-CN" sz="1200" b="1">
                          <a:effectLst/>
                          <a:latin typeface="Cambria" panose="02040503050406030204" pitchFamily="18" charset="0"/>
                        </a:rPr>
                        <a:t>）之间添加直线。</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mtext</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dirty="0">
                          <a:effectLst/>
                          <a:latin typeface="Cambria" panose="02040503050406030204" pitchFamily="18" charset="0"/>
                        </a:rPr>
                        <a:t>在图形区域的边距或区域的外部边距添加文本。</a:t>
                      </a:r>
                      <a:endParaRPr lang="zh-CN" sz="1200" b="1" dirty="0">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246674">
                <a:tc>
                  <a:txBody>
                    <a:bodyPr/>
                    <a:lstStyle/>
                    <a:p>
                      <a:pPr algn="just">
                        <a:lnSpc>
                          <a:spcPts val="1800"/>
                        </a:lnSpc>
                        <a:spcAft>
                          <a:spcPts val="0"/>
                        </a:spcAft>
                      </a:pPr>
                      <a:r>
                        <a:rPr lang="en-US" sz="1200" b="1" dirty="0">
                          <a:effectLst/>
                          <a:latin typeface="Cambria" panose="02040503050406030204" pitchFamily="18" charset="0"/>
                          <a:ea typeface="Cambria" panose="02040503050406030204" pitchFamily="18" charset="0"/>
                        </a:rPr>
                        <a:t>points</a:t>
                      </a:r>
                      <a:endParaRPr lang="zh-CN" sz="1200" b="1" dirty="0">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在坐标点（</a:t>
                      </a:r>
                      <a:r>
                        <a:rPr lang="en-US" sz="1200" b="1">
                          <a:effectLst/>
                          <a:latin typeface="Cambria" panose="02040503050406030204" pitchFamily="18" charset="0"/>
                          <a:ea typeface="Cambria" panose="02040503050406030204" pitchFamily="18" charset="0"/>
                        </a:rPr>
                        <a:t>x,y</a:t>
                      </a:r>
                      <a:r>
                        <a:rPr lang="zh-CN" sz="1200" b="1">
                          <a:effectLst/>
                          <a:latin typeface="Cambria" panose="02040503050406030204" pitchFamily="18" charset="0"/>
                        </a:rPr>
                        <a:t>）处添加点。</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polygon</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沿着坐标点（</a:t>
                      </a:r>
                      <a:r>
                        <a:rPr lang="en-US" sz="1200" b="1">
                          <a:effectLst/>
                          <a:latin typeface="Cambria" panose="02040503050406030204" pitchFamily="18" charset="0"/>
                          <a:ea typeface="Cambria" panose="02040503050406030204" pitchFamily="18" charset="0"/>
                        </a:rPr>
                        <a:t>x,y</a:t>
                      </a:r>
                      <a:r>
                        <a:rPr lang="zh-CN" sz="1200" b="1">
                          <a:effectLst/>
                          <a:latin typeface="Cambria" panose="02040503050406030204" pitchFamily="18" charset="0"/>
                        </a:rPr>
                        <a:t>）绘制多边形。</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09"/>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polypath</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绘制由一个或多个连接坐标点的路径组成的多边形。</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0"/>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rasterlmaga</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绘制一个或多个网格图像。</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1"/>
                  </a:ext>
                </a:extLst>
              </a:tr>
              <a:tr h="434059">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rect</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绘制一个左下角在（</a:t>
                      </a:r>
                      <a:r>
                        <a:rPr lang="en-US" sz="1200" b="1">
                          <a:effectLst/>
                          <a:latin typeface="Cambria" panose="02040503050406030204" pitchFamily="18" charset="0"/>
                          <a:ea typeface="Cambria" panose="02040503050406030204" pitchFamily="18" charset="0"/>
                        </a:rPr>
                        <a:t>xleft,ybottom</a:t>
                      </a:r>
                      <a:r>
                        <a:rPr lang="zh-CN" sz="1200" b="1">
                          <a:effectLst/>
                          <a:latin typeface="Cambria" panose="02040503050406030204" pitchFamily="18" charset="0"/>
                        </a:rPr>
                        <a:t>）处、右上角在（</a:t>
                      </a:r>
                      <a:r>
                        <a:rPr lang="en-US" sz="1200" b="1">
                          <a:effectLst/>
                          <a:latin typeface="Cambria" panose="02040503050406030204" pitchFamily="18" charset="0"/>
                          <a:ea typeface="Cambria" panose="02040503050406030204" pitchFamily="18" charset="0"/>
                        </a:rPr>
                        <a:t>xright,ytop</a:t>
                      </a:r>
                      <a:r>
                        <a:rPr lang="zh-CN" sz="1200" b="1">
                          <a:effectLst/>
                          <a:latin typeface="Cambria" panose="02040503050406030204" pitchFamily="18" charset="0"/>
                        </a:rPr>
                        <a:t>）处的矩形。</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2"/>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rug</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添加地毯图。</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3"/>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segments</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在坐标点（</a:t>
                      </a:r>
                      <a:r>
                        <a:rPr lang="en-US" sz="1200" b="1">
                          <a:effectLst/>
                          <a:latin typeface="Cambria" panose="02040503050406030204" pitchFamily="18" charset="0"/>
                          <a:ea typeface="Cambria" panose="02040503050406030204" pitchFamily="18" charset="0"/>
                        </a:rPr>
                        <a:t>x0,y0</a:t>
                      </a:r>
                      <a:r>
                        <a:rPr lang="zh-CN" sz="1200" b="1">
                          <a:effectLst/>
                          <a:latin typeface="Cambria" panose="02040503050406030204" pitchFamily="18" charset="0"/>
                        </a:rPr>
                        <a:t>）和（</a:t>
                      </a:r>
                      <a:r>
                        <a:rPr lang="en-US" sz="1200" b="1">
                          <a:effectLst/>
                          <a:latin typeface="Cambria" panose="02040503050406030204" pitchFamily="18" charset="0"/>
                          <a:ea typeface="Cambria" panose="02040503050406030204" pitchFamily="18" charset="0"/>
                        </a:rPr>
                        <a:t>x1,y1</a:t>
                      </a:r>
                      <a:r>
                        <a:rPr lang="zh-CN" sz="1200" b="1">
                          <a:effectLst/>
                          <a:latin typeface="Cambria" panose="02040503050406030204" pitchFamily="18" charset="0"/>
                        </a:rPr>
                        <a:t>）之间绘制线段。</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4"/>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text</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在坐标点（</a:t>
                      </a:r>
                      <a:r>
                        <a:rPr lang="en-US" sz="1200" b="1">
                          <a:effectLst/>
                          <a:latin typeface="Cambria" panose="02040503050406030204" pitchFamily="18" charset="0"/>
                          <a:ea typeface="Cambria" panose="02040503050406030204" pitchFamily="18" charset="0"/>
                        </a:rPr>
                        <a:t>x,y</a:t>
                      </a:r>
                      <a:r>
                        <a:rPr lang="zh-CN" sz="1200" b="1">
                          <a:effectLst/>
                          <a:latin typeface="Cambria" panose="02040503050406030204" pitchFamily="18" charset="0"/>
                        </a:rPr>
                        <a:t>）处添加文本。</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5"/>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title</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a:effectLst/>
                          <a:latin typeface="Cambria" panose="02040503050406030204" pitchFamily="18" charset="0"/>
                        </a:rPr>
                        <a:t>为图形添加标题。</a:t>
                      </a:r>
                      <a:endParaRPr lang="zh-CN" sz="1200" b="1">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6"/>
                  </a:ext>
                </a:extLst>
              </a:tr>
              <a:tr h="246674">
                <a:tc>
                  <a:txBody>
                    <a:bodyPr/>
                    <a:lstStyle/>
                    <a:p>
                      <a:pPr algn="just">
                        <a:lnSpc>
                          <a:spcPts val="1800"/>
                        </a:lnSpc>
                        <a:spcAft>
                          <a:spcPts val="0"/>
                        </a:spcAft>
                      </a:pPr>
                      <a:r>
                        <a:rPr lang="en-US" sz="1200" b="1">
                          <a:effectLst/>
                          <a:latin typeface="Cambria" panose="02040503050406030204" pitchFamily="18" charset="0"/>
                          <a:ea typeface="Cambria" panose="02040503050406030204" pitchFamily="18" charset="0"/>
                        </a:rPr>
                        <a:t>xspline</a:t>
                      </a:r>
                      <a:endParaRPr lang="zh-CN" sz="1200" b="1">
                        <a:effectLst/>
                        <a:latin typeface="Cambria" panose="02040503050406030204" pitchFamily="18" charset="0"/>
                        <a:ea typeface="宋体" panose="02010600030101010101" pitchFamily="2" charset="-122"/>
                      </a:endParaRPr>
                    </a:p>
                  </a:txBody>
                  <a:tcPr marL="68580" marR="68580" marT="0" marB="0" anchor="ctr"/>
                </a:tc>
                <a:tc>
                  <a:txBody>
                    <a:bodyPr/>
                    <a:lstStyle/>
                    <a:p>
                      <a:pPr algn="just">
                        <a:lnSpc>
                          <a:spcPts val="1800"/>
                        </a:lnSpc>
                        <a:spcAft>
                          <a:spcPts val="0"/>
                        </a:spcAft>
                      </a:pPr>
                      <a:r>
                        <a:rPr lang="zh-CN" sz="1200" b="1" dirty="0">
                          <a:effectLst/>
                          <a:latin typeface="Cambria" panose="02040503050406030204" pitchFamily="18" charset="0"/>
                        </a:rPr>
                        <a:t>根据控制点（</a:t>
                      </a:r>
                      <a:r>
                        <a:rPr lang="en-US" sz="1200" b="1" dirty="0" err="1">
                          <a:effectLst/>
                          <a:latin typeface="Cambria" panose="02040503050406030204" pitchFamily="18" charset="0"/>
                          <a:ea typeface="Cambria" panose="02040503050406030204" pitchFamily="18" charset="0"/>
                        </a:rPr>
                        <a:t>x,y</a:t>
                      </a:r>
                      <a:r>
                        <a:rPr lang="zh-CN" sz="1200" b="1" dirty="0">
                          <a:effectLst/>
                          <a:latin typeface="Cambria" panose="02040503050406030204" pitchFamily="18" charset="0"/>
                        </a:rPr>
                        <a:t>）绘制</a:t>
                      </a:r>
                      <a:r>
                        <a:rPr lang="en-US" sz="1200" b="1" dirty="0">
                          <a:effectLst/>
                          <a:latin typeface="Cambria" panose="02040503050406030204" pitchFamily="18" charset="0"/>
                          <a:ea typeface="Cambria" panose="02040503050406030204" pitchFamily="18" charset="0"/>
                        </a:rPr>
                        <a:t>x</a:t>
                      </a:r>
                      <a:r>
                        <a:rPr lang="zh-CN" sz="1200" b="1" dirty="0">
                          <a:effectLst/>
                          <a:latin typeface="Cambria" panose="02040503050406030204" pitchFamily="18" charset="0"/>
                        </a:rPr>
                        <a:t>样条曲线（平滑曲线）。</a:t>
                      </a:r>
                      <a:endParaRPr lang="zh-CN" sz="1200" b="1" dirty="0">
                        <a:effectLst/>
                        <a:latin typeface="Cambria" panose="020405030504060302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017"/>
                  </a:ext>
                </a:extLst>
              </a:tr>
            </a:tbl>
          </a:graphicData>
        </a:graphic>
      </p:graphicFrame>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08075" y="1722473"/>
            <a:ext cx="3604437" cy="4627523"/>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en-US" sz="2200" dirty="0">
                <a:latin typeface="Calibri" panose="020F0502020204030204" pitchFamily="34" charset="0"/>
                <a:ea typeface="华文细黑" panose="02010600040101010101" pitchFamily="2" charset="-122"/>
                <a:cs typeface="Times New Roman" panose="02020603050405020304" pitchFamily="18" charset="0"/>
              </a:rPr>
              <a:t>低级</a:t>
            </a:r>
            <a:r>
              <a:rPr lang="zh-CN" altLang="zh-CN" sz="2200" dirty="0">
                <a:latin typeface="Calibri" panose="020F0502020204030204" pitchFamily="34" charset="0"/>
                <a:ea typeface="华文细黑" panose="02010600040101010101" pitchFamily="2" charset="-122"/>
                <a:cs typeface="Times New Roman" panose="02020603050405020304" pitchFamily="18" charset="0"/>
              </a:rPr>
              <a:t>绘图函数</a:t>
            </a:r>
            <a:r>
              <a:rPr lang="zh-CN" altLang="en-US" sz="2200" dirty="0">
                <a:latin typeface="Calibri" panose="020F0502020204030204" pitchFamily="34" charset="0"/>
                <a:ea typeface="华文细黑" panose="02010600040101010101" pitchFamily="2" charset="-122"/>
                <a:cs typeface="Times New Roman" panose="02020603050405020304" pitchFamily="18" charset="0"/>
              </a:rPr>
              <a:t>不</a:t>
            </a:r>
            <a:r>
              <a:rPr lang="zh-CN" altLang="zh-CN" sz="2200" dirty="0">
                <a:latin typeface="Calibri" panose="020F0502020204030204" pitchFamily="34" charset="0"/>
                <a:ea typeface="华文细黑" panose="02010600040101010101" pitchFamily="2" charset="-122"/>
                <a:cs typeface="Times New Roman" panose="02020603050405020304" pitchFamily="18" charset="0"/>
              </a:rPr>
              <a:t>以产生独立的图形</a:t>
            </a:r>
            <a:endParaRPr lang="en-US" altLang="zh-CN" sz="2200" dirty="0">
              <a:latin typeface="Calibri" panose="020F0502020204030204" pitchFamily="34" charset="0"/>
              <a:ea typeface="华文细黑" panose="02010600040101010101" pitchFamily="2" charset="-122"/>
              <a:cs typeface="Times New Roman" panose="02020603050405020304" pitchFamily="18" charset="0"/>
            </a:endParaRPr>
          </a:p>
          <a:p>
            <a:pPr marL="442913" indent="-442913"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en-US" sz="2200" dirty="0">
                <a:latin typeface="Calibri" panose="020F0502020204030204" pitchFamily="34" charset="0"/>
                <a:ea typeface="华文细黑" panose="02010600040101010101" pitchFamily="2" charset="-122"/>
                <a:cs typeface="Times New Roman" panose="02020603050405020304" pitchFamily="18" charset="0"/>
              </a:rPr>
              <a:t>主要</a:t>
            </a:r>
            <a:r>
              <a:rPr lang="zh-CN" altLang="zh-CN" sz="2200" dirty="0">
                <a:latin typeface="Calibri" panose="020F0502020204030204" pitchFamily="34" charset="0"/>
                <a:ea typeface="华文细黑" panose="02010600040101010101" pitchFamily="2" charset="-122"/>
                <a:cs typeface="Times New Roman" panose="02020603050405020304" pitchFamily="18" charset="0"/>
              </a:rPr>
              <a:t>为现有的图形添加新的元素，如添加线段、标题、图例、注释文本、多边形、坐标轴等</a:t>
            </a:r>
            <a:endParaRPr lang="en-US" altLang="zh-CN" sz="22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D677D524-7843-60F4-11F7-75596C0794E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2517218009"/>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基本绘图函数</a:t>
            </a:r>
            <a:r>
              <a:rPr lang="en-US" altLang="zh-CN" sz="2600" b="1" dirty="0">
                <a:solidFill>
                  <a:srgbClr val="002060"/>
                </a:solidFill>
                <a:ea typeface="华文细黑" panose="02010600040101010101" pitchFamily="2" charset="-122"/>
              </a:rPr>
              <a:t>——plot</a:t>
            </a:r>
            <a:r>
              <a:rPr lang="zh-CN" altLang="en-US" sz="2600" b="1" dirty="0">
                <a:solidFill>
                  <a:srgbClr val="002060"/>
                </a:solidFill>
                <a:ea typeface="华文细黑" panose="02010600040101010101" pitchFamily="2" charset="-122"/>
              </a:rPr>
              <a:t>与低级函数的结合使用</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08075" y="1722474"/>
            <a:ext cx="4454805" cy="465800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3200" dirty="0">
                <a:latin typeface="Cambria" panose="02040503050406030204" pitchFamily="18" charset="0"/>
                <a:ea typeface="Cambria" panose="02040503050406030204" pitchFamily="18" charset="0"/>
                <a:cs typeface="Times New Roman" panose="02020603050405020304" pitchFamily="18" charset="0"/>
              </a:rPr>
              <a:t>plot </a:t>
            </a:r>
            <a:r>
              <a:rPr lang="zh-CN" altLang="en-US" sz="3200" dirty="0">
                <a:latin typeface="Cambria" panose="02040503050406030204" pitchFamily="18" charset="0"/>
                <a:ea typeface="华文细黑" panose="02010600040101010101" pitchFamily="2" charset="-122"/>
                <a:cs typeface="Times New Roman" panose="02020603050405020304" pitchFamily="18" charset="0"/>
              </a:rPr>
              <a:t>函数与低级绘图函数的结合应用</a:t>
            </a:r>
            <a:endParaRPr lang="zh-CN" altLang="zh-CN" sz="320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998050DD-FD5D-AD17-285F-D36BEA6277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35600" y="1722474"/>
            <a:ext cx="6059714" cy="4658006"/>
          </a:xfrm>
          <a:prstGeom prst="rect">
            <a:avLst/>
          </a:prstGeom>
          <a:solidFill>
            <a:schemeClr val="bg1"/>
          </a:solidFill>
          <a:ln w="6350">
            <a:solidFill>
              <a:schemeClr val="bg1">
                <a:lumMod val="75000"/>
              </a:schemeClr>
            </a:solidFill>
          </a:ln>
        </p:spPr>
      </p:pic>
      <p:sp>
        <p:nvSpPr>
          <p:cNvPr id="3" name="Rectangle 2">
            <a:extLst>
              <a:ext uri="{FF2B5EF4-FFF2-40B4-BE49-F238E27FC236}">
                <a16:creationId xmlns:a16="http://schemas.microsoft.com/office/drawing/2014/main" id="{E770DC7C-BAA9-021A-DEFA-01B7031A1FE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3715252365"/>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图形参数</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08076" y="1722474"/>
            <a:ext cx="10741667" cy="4617366"/>
          </a:xfrm>
          <a:noFill/>
          <a:ln w="6350">
            <a:solidFill>
              <a:schemeClr val="bg1">
                <a:lumMod val="75000"/>
              </a:schemeClr>
            </a:solidFill>
          </a:ln>
        </p:spPr>
        <p:txBody>
          <a:bodyPr>
            <a:noAutofit/>
          </a:bodyPr>
          <a:lstStyle/>
          <a:p>
            <a:pPr marL="442913" indent="-442913" algn="just" defTabSz="685800" eaLnBrk="0" hangingPunct="0">
              <a:lnSpc>
                <a:spcPct val="100000"/>
              </a:lnSpc>
              <a:spcBef>
                <a:spcPct val="50000"/>
              </a:spcBef>
              <a:spcAft>
                <a:spcPts val="300"/>
              </a:spcAft>
              <a:buClr>
                <a:srgbClr val="000099"/>
              </a:buClr>
              <a:buSzPct val="100000"/>
              <a:buFont typeface="Wingdings" panose="05000000000000000000" pitchFamily="2" charset="2"/>
              <a:buChar char="l"/>
              <a:defRPr/>
            </a:pPr>
            <a:r>
              <a:rPr lang="en-US" altLang="zh-CN" sz="2000" dirty="0">
                <a:latin typeface="Calibri" panose="020F0502020204030204" pitchFamily="34" charset="0"/>
                <a:ea typeface="华文细黑" panose="02010600040101010101" pitchFamily="2" charset="-122"/>
                <a:cs typeface="Times New Roman" panose="02020603050405020304" pitchFamily="18" charset="0"/>
              </a:rPr>
              <a:t>graphics</a:t>
            </a:r>
            <a:r>
              <a:rPr lang="zh-CN" altLang="zh-CN" sz="2000" dirty="0">
                <a:latin typeface="Calibri" panose="020F0502020204030204" pitchFamily="34" charset="0"/>
                <a:ea typeface="华文细黑" panose="02010600040101010101" pitchFamily="2" charset="-122"/>
                <a:cs typeface="Times New Roman" panose="02020603050405020304" pitchFamily="18" charset="0"/>
              </a:rPr>
              <a:t>包中的每个绘图函数都有多个参数，图形的输出是由这些参数控制的绘图时，若不对参数做任何修改，则函数使用默认参数绘制图形。如果默认设置不能满足需要，可对其进行修改，以改善图形输出</a:t>
            </a:r>
          </a:p>
          <a:p>
            <a:pPr marL="442913" indent="-442913" algn="just" defTabSz="685800" eaLnBrk="0" hangingPunct="0">
              <a:lnSpc>
                <a:spcPct val="100000"/>
              </a:lnSpc>
              <a:spcBef>
                <a:spcPct val="50000"/>
              </a:spcBef>
              <a:spcAft>
                <a:spcPts val="300"/>
              </a:spcAft>
              <a:buClr>
                <a:srgbClr val="000099"/>
              </a:buClr>
              <a:buSzPct val="100000"/>
              <a:buFont typeface="Wingdings" panose="05000000000000000000" pitchFamily="2" charset="2"/>
              <a:buChar char="l"/>
              <a:defRPr/>
            </a:pPr>
            <a:r>
              <a:rPr lang="zh-CN" altLang="zh-CN" sz="2000" dirty="0">
                <a:latin typeface="Calibri" panose="020F0502020204030204" pitchFamily="34" charset="0"/>
                <a:ea typeface="华文细黑" panose="02010600040101010101" pitchFamily="2" charset="-122"/>
                <a:cs typeface="Times New Roman" panose="02020603050405020304" pitchFamily="18" charset="0"/>
              </a:rPr>
              <a:t>绘制图形时可根据需要调整参数，根据图形变化决定参数是否要修改以及如何修改。不同函数具有不同的参数及参数设置，这样的参数属于函数的特定参数</a:t>
            </a:r>
            <a:endParaRPr lang="en-US" altLang="zh-CN" sz="2000" dirty="0">
              <a:latin typeface="Calibri" panose="020F0502020204030204" pitchFamily="34" charset="0"/>
              <a:ea typeface="华文细黑" panose="02010600040101010101" pitchFamily="2" charset="-122"/>
              <a:cs typeface="Times New Roman" panose="02020603050405020304" pitchFamily="18" charset="0"/>
            </a:endParaRPr>
          </a:p>
          <a:p>
            <a:pPr marL="442913" indent="-442913" algn="just" defTabSz="685800" eaLnBrk="0" hangingPunct="0">
              <a:lnSpc>
                <a:spcPct val="100000"/>
              </a:lnSpc>
              <a:spcBef>
                <a:spcPct val="50000"/>
              </a:spcBef>
              <a:spcAft>
                <a:spcPts val="300"/>
              </a:spcAft>
              <a:buClr>
                <a:srgbClr val="000099"/>
              </a:buClr>
              <a:buSzPct val="100000"/>
              <a:buFont typeface="Wingdings" panose="05000000000000000000" pitchFamily="2" charset="2"/>
              <a:buChar char="l"/>
              <a:defRPr/>
            </a:pPr>
            <a:r>
              <a:rPr lang="zh-CN" altLang="zh-CN" sz="2000" dirty="0">
                <a:latin typeface="Calibri" panose="020F0502020204030204" pitchFamily="34" charset="0"/>
                <a:ea typeface="华文细黑" panose="02010600040101010101" pitchFamily="2" charset="-122"/>
                <a:cs typeface="Times New Roman" panose="02020603050405020304" pitchFamily="18" charset="0"/>
              </a:rPr>
              <a:t>有些参数在不同函数中都可以使用</a:t>
            </a:r>
            <a:r>
              <a:rPr lang="zh-CN" altLang="en-US" sz="2000" dirty="0">
                <a:latin typeface="Calibri" panose="020F0502020204030204" pitchFamily="34" charset="0"/>
                <a:ea typeface="华文细黑" panose="02010600040101010101" pitchFamily="2" charset="-122"/>
                <a:cs typeface="Times New Roman" panose="02020603050405020304" pitchFamily="18" charset="0"/>
              </a:rPr>
              <a:t>，</a:t>
            </a:r>
            <a:r>
              <a:rPr lang="zh-CN" altLang="zh-CN" sz="2000" dirty="0">
                <a:latin typeface="Calibri" panose="020F0502020204030204" pitchFamily="34" charset="0"/>
                <a:ea typeface="华文细黑" panose="02010600040101010101" pitchFamily="2" charset="-122"/>
                <a:cs typeface="Times New Roman" panose="02020603050405020304" pitchFamily="18" charset="0"/>
              </a:rPr>
              <a:t>这样的参数属于绘图函数的标准参数</a:t>
            </a:r>
            <a:endParaRPr lang="en-US" altLang="zh-CN" sz="2000" dirty="0">
              <a:latin typeface="Calibri" panose="020F0502020204030204" pitchFamily="34" charset="0"/>
              <a:ea typeface="华文细黑" panose="02010600040101010101" pitchFamily="2" charset="-122"/>
              <a:cs typeface="Times New Roman" panose="02020603050405020304" pitchFamily="18" charset="0"/>
            </a:endParaRPr>
          </a:p>
          <a:p>
            <a:pPr marL="442913" indent="-442913" algn="just" defTabSz="685800" eaLnBrk="0" hangingPunct="0">
              <a:lnSpc>
                <a:spcPct val="100000"/>
              </a:lnSpc>
              <a:spcBef>
                <a:spcPct val="50000"/>
              </a:spcBef>
              <a:spcAft>
                <a:spcPts val="300"/>
              </a:spcAft>
              <a:buClr>
                <a:srgbClr val="000099"/>
              </a:buClr>
              <a:buSzPct val="100000"/>
              <a:buFont typeface="Wingdings" panose="05000000000000000000" pitchFamily="2" charset="2"/>
              <a:buChar char="l"/>
              <a:defRPr/>
            </a:pPr>
            <a:r>
              <a:rPr lang="zh-CN" altLang="zh-CN" sz="2000" dirty="0">
                <a:latin typeface="Calibri" panose="020F0502020204030204" pitchFamily="34" charset="0"/>
                <a:ea typeface="华文细黑" panose="02010600040101010101" pitchFamily="2" charset="-122"/>
                <a:cs typeface="Times New Roman" panose="02020603050405020304" pitchFamily="18" charset="0"/>
              </a:rPr>
              <a:t>有的标准参数在不同函数中的作用是不同的，比如，</a:t>
            </a:r>
            <a:r>
              <a:rPr lang="en-US" altLang="zh-CN" sz="2000" dirty="0">
                <a:latin typeface="Calibri" panose="020F0502020204030204" pitchFamily="34" charset="0"/>
                <a:ea typeface="华文细黑" panose="02010600040101010101" pitchFamily="2" charset="-122"/>
                <a:cs typeface="Times New Roman" panose="02020603050405020304" pitchFamily="18" charset="0"/>
              </a:rPr>
              <a:t>col</a:t>
            </a:r>
            <a:r>
              <a:rPr lang="zh-CN" altLang="zh-CN" sz="2000" dirty="0">
                <a:latin typeface="Calibri" panose="020F0502020204030204" pitchFamily="34" charset="0"/>
                <a:ea typeface="华文细黑" panose="02010600040101010101" pitchFamily="2" charset="-122"/>
                <a:cs typeface="Times New Roman" panose="02020603050405020304" pitchFamily="18" charset="0"/>
              </a:rPr>
              <a:t>参数在有些函数中用于设置点、符号等的颜色，但在条形图、直方图、箱线图等函数中，</a:t>
            </a:r>
            <a:r>
              <a:rPr lang="en-US" altLang="zh-CN" sz="2000" dirty="0">
                <a:latin typeface="Calibri" panose="020F0502020204030204" pitchFamily="34" charset="0"/>
                <a:ea typeface="华文细黑" panose="02010600040101010101" pitchFamily="2" charset="-122"/>
                <a:cs typeface="Times New Roman" panose="02020603050405020304" pitchFamily="18" charset="0"/>
              </a:rPr>
              <a:t>col</a:t>
            </a:r>
            <a:r>
              <a:rPr lang="zh-CN" altLang="zh-CN" sz="2000" dirty="0">
                <a:latin typeface="Calibri" panose="020F0502020204030204" pitchFamily="34" charset="0"/>
                <a:ea typeface="华文细黑" panose="02010600040101010101" pitchFamily="2" charset="-122"/>
                <a:cs typeface="Times New Roman" panose="02020603050405020304" pitchFamily="18" charset="0"/>
              </a:rPr>
              <a:t>参数用来填充条、箱子的颜色，使用时需要注意。</a:t>
            </a:r>
            <a:endParaRPr lang="en-US" altLang="zh-CN" sz="2000" dirty="0">
              <a:latin typeface="Calibri" panose="020F0502020204030204" pitchFamily="34" charset="0"/>
              <a:ea typeface="华文细黑" panose="02010600040101010101" pitchFamily="2" charset="-122"/>
              <a:cs typeface="Times New Roman" panose="02020603050405020304" pitchFamily="18" charset="0"/>
            </a:endParaRPr>
          </a:p>
          <a:p>
            <a:pPr marL="442913" indent="-442913" algn="just" defTabSz="685800" eaLnBrk="0" hangingPunct="0">
              <a:lnSpc>
                <a:spcPct val="100000"/>
              </a:lnSpc>
              <a:spcBef>
                <a:spcPct val="50000"/>
              </a:spcBef>
              <a:spcAft>
                <a:spcPts val="300"/>
              </a:spcAft>
              <a:buClr>
                <a:srgbClr val="000099"/>
              </a:buClr>
              <a:buSzPct val="100000"/>
              <a:buFont typeface="Wingdings" panose="05000000000000000000" pitchFamily="2" charset="2"/>
              <a:buChar char="l"/>
              <a:defRPr/>
            </a:pP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除绘图函数本身的参数外，</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graphics</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包中绘制函数的参数也可以使用</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par</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函数来控制</a:t>
            </a:r>
            <a:r>
              <a:rPr lang="zh-CN" altLang="en-US" sz="20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dirty="0">
                <a:latin typeface="Calibri" panose="020F0502020204030204" pitchFamily="34" charset="0"/>
                <a:ea typeface="华文细黑" panose="02010600040101010101" pitchFamily="2" charset="-122"/>
                <a:cs typeface="Times New Roman" panose="02020603050405020304" pitchFamily="18" charset="0"/>
              </a:rPr>
              <a:t>使用</a:t>
            </a:r>
            <a:r>
              <a:rPr lang="en-US" altLang="zh-CN" sz="2000" dirty="0">
                <a:latin typeface="Calibri" panose="020F0502020204030204" pitchFamily="34" charset="0"/>
                <a:ea typeface="华文细黑" panose="02010600040101010101" pitchFamily="2" charset="-122"/>
                <a:cs typeface="Times New Roman" panose="02020603050405020304" pitchFamily="18" charset="0"/>
              </a:rPr>
              <a:t>help(par)</a:t>
            </a:r>
            <a:r>
              <a:rPr lang="zh-CN" altLang="zh-CN" sz="2000" dirty="0">
                <a:latin typeface="Calibri" panose="020F0502020204030204" pitchFamily="34" charset="0"/>
                <a:ea typeface="华文细黑" panose="02010600040101010101" pitchFamily="2" charset="-122"/>
                <a:cs typeface="Times New Roman" panose="02020603050405020304" pitchFamily="18" charset="0"/>
              </a:rPr>
              <a:t>可以查阅详细信息</a:t>
            </a:r>
            <a:endParaRPr lang="en-US" altLang="zh-CN" sz="20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695A9385-B3FA-CCC8-C842-BDE4D69FC0E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585117074"/>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图形参数</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08076" y="1722474"/>
            <a:ext cx="3665953" cy="4561368"/>
          </a:xfrm>
          <a:noFill/>
          <a:ln w="6350">
            <a:solidFill>
              <a:schemeClr val="bg1">
                <a:lumMod val="75000"/>
              </a:schemeClr>
            </a:solidFill>
          </a:ln>
        </p:spPr>
        <p:txBody>
          <a:bodyPr>
            <a:noAutofit/>
          </a:bodyPr>
          <a:lstStyle/>
          <a:p>
            <a:pPr algn="just" defTabSz="685800" eaLnBrk="0" hangingPunct="0">
              <a:lnSpc>
                <a:spcPct val="150000"/>
              </a:lnSpc>
              <a:spcBef>
                <a:spcPct val="50000"/>
              </a:spcBef>
              <a:buClr>
                <a:srgbClr val="000099"/>
              </a:buClr>
              <a:buSzPct val="100000"/>
              <a:defRPr/>
            </a:pPr>
            <a:r>
              <a:rPr lang="en-US" altLang="zh-CN" sz="3200" kern="0" dirty="0">
                <a:effectLst/>
                <a:latin typeface="Cambria" panose="02040503050406030204" pitchFamily="18" charset="0"/>
                <a:ea typeface="华文细黑" panose="02010600040101010101" pitchFamily="2" charset="-122"/>
                <a:cs typeface="Times New Roman" panose="02020603050405020304" pitchFamily="18" charset="0"/>
              </a:rPr>
              <a:t>par</a:t>
            </a:r>
            <a:r>
              <a:rPr lang="zh-CN" altLang="zh-CN" sz="3200" kern="0" dirty="0">
                <a:effectLst/>
                <a:latin typeface="Cambria" panose="02040503050406030204" pitchFamily="18" charset="0"/>
                <a:ea typeface="华文细黑" panose="02010600040101010101" pitchFamily="2" charset="-122"/>
                <a:cs typeface="Times New Roman" panose="02020603050405020304" pitchFamily="18" charset="0"/>
              </a:rPr>
              <a:t>函数的常用参数及其对应的数字</a:t>
            </a:r>
            <a:endParaRPr lang="zh-CN" altLang="zh-CN" sz="3200" dirty="0">
              <a:latin typeface="Calibri" panose="020F0502020204030204" pitchFamily="34" charset="0"/>
              <a:ea typeface="华文细黑" panose="02010600040101010101" pitchFamily="2" charset="-122"/>
              <a:cs typeface="Times New Roman" panose="02020603050405020304" pitchFamily="18" charset="0"/>
            </a:endParaRPr>
          </a:p>
        </p:txBody>
      </p:sp>
      <p:pic>
        <p:nvPicPr>
          <p:cNvPr id="12" name="图片 11">
            <a:extLst>
              <a:ext uri="{FF2B5EF4-FFF2-40B4-BE49-F238E27FC236}">
                <a16:creationId xmlns:a16="http://schemas.microsoft.com/office/drawing/2014/main" id="{B091EB91-227C-49FA-ADB1-221E28526F6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26429" y="1722474"/>
            <a:ext cx="6874691" cy="4561367"/>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7886BDE3-7675-3278-A879-8F4711FD0CE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3985366587"/>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图形颜色</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08076" y="1722474"/>
            <a:ext cx="10703204" cy="4617366"/>
          </a:xfrm>
          <a:noFill/>
          <a:ln w="6350">
            <a:solidFill>
              <a:schemeClr val="bg1">
                <a:lumMod val="75000"/>
              </a:schemeClr>
            </a:solidFill>
          </a:ln>
        </p:spPr>
        <p:txBody>
          <a:bodyPr>
            <a:noAutofit/>
          </a:bodyPr>
          <a:lstStyle/>
          <a:p>
            <a:pPr marL="442913" indent="-442913" algn="just" defTabSz="685800" eaLnBrk="0" hangingPunct="0">
              <a:lnSpc>
                <a:spcPct val="150000"/>
              </a:lnSpc>
              <a:spcBef>
                <a:spcPct val="50000"/>
              </a:spcBef>
              <a:spcAft>
                <a:spcPts val="300"/>
              </a:spcAft>
              <a:buClr>
                <a:srgbClr val="000099"/>
              </a:buClr>
              <a:buSzPct val="100000"/>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使用</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函数可以查看</a:t>
            </a:r>
            <a:r>
              <a:rPr lang="en-US" altLang="zh-CN" sz="1800" dirty="0">
                <a:latin typeface="Cambria" panose="02040503050406030204" pitchFamily="18" charset="0"/>
                <a:ea typeface="Cambria" panose="02040503050406030204" pitchFamily="18" charset="0"/>
                <a:cs typeface="Times New Roman" panose="02020603050405020304" pitchFamily="18" charset="0"/>
              </a:rPr>
              <a:t>R</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全部</a:t>
            </a:r>
            <a:r>
              <a:rPr lang="en-US" altLang="zh-CN" sz="1800" dirty="0">
                <a:latin typeface="Cambria" panose="02040503050406030204" pitchFamily="18" charset="0"/>
                <a:ea typeface="Cambria" panose="02040503050406030204" pitchFamily="18" charset="0"/>
                <a:cs typeface="Times New Roman" panose="02020603050405020304" pitchFamily="18" charset="0"/>
              </a:rPr>
              <a:t>657</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种颜色的名称列表</a:t>
            </a:r>
            <a:endParaRPr lang="en-US" altLang="zh-CN" sz="1800" dirty="0">
              <a:latin typeface="Cambria" panose="02040503050406030204" pitchFamily="18" charset="0"/>
              <a:ea typeface="Cambria" panose="02040503050406030204" pitchFamily="18" charset="0"/>
              <a:cs typeface="Times New Roman" panose="02020603050405020304" pitchFamily="18" charset="0"/>
            </a:endParaRPr>
          </a:p>
          <a:p>
            <a:pPr marL="442913" indent="-442913" algn="just" defTabSz="685800" eaLnBrk="0" hangingPunct="0">
              <a:lnSpc>
                <a:spcPct val="150000"/>
              </a:lnSpc>
              <a:spcBef>
                <a:spcPct val="50000"/>
              </a:spcBef>
              <a:spcAft>
                <a:spcPts val="300"/>
              </a:spcAft>
              <a:buClr>
                <a:srgbClr val="000099"/>
              </a:buClr>
              <a:buSzPct val="100000"/>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使用</a:t>
            </a:r>
            <a:r>
              <a:rPr lang="en-US" altLang="zh-CN" sz="1800" dirty="0">
                <a:latin typeface="Cambria" panose="02040503050406030204" pitchFamily="18" charset="0"/>
                <a:ea typeface="Cambria" panose="02040503050406030204" pitchFamily="18" charset="0"/>
                <a:cs typeface="Times New Roman" panose="02020603050405020304" pitchFamily="18" charset="0"/>
              </a:rPr>
              <a:t>graphics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包绘图时，设置绘图颜色的参数主要有</a:t>
            </a:r>
            <a:r>
              <a:rPr lang="en-US" altLang="zh-CN" sz="1800" dirty="0">
                <a:latin typeface="Cambria" panose="02040503050406030204" pitchFamily="18" charset="0"/>
                <a:ea typeface="Cambria" panose="02040503050406030204" pitchFamily="18" charset="0"/>
                <a:cs typeface="Times New Roman" panose="02020603050405020304" pitchFamily="18" charset="0"/>
              </a:rPr>
              <a:t>3</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个：</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bg</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和</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fg</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主要用于设置绘图区域中绘制的数据符号、线条、文本等元素的颜色；</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bg</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用于设置图形的前景颜色，如坐标轴、图形的边框等；</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fg</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用于设置图形的背景颜色，如图形区域的颜色等</a:t>
            </a:r>
          </a:p>
          <a:p>
            <a:pPr marL="442913" indent="-442913" algn="just" defTabSz="685800" eaLnBrk="0" hangingPunct="0">
              <a:lnSpc>
                <a:spcPct val="150000"/>
              </a:lnSpc>
              <a:spcBef>
                <a:spcPct val="50000"/>
              </a:spcBef>
              <a:spcAft>
                <a:spcPts val="300"/>
              </a:spcAft>
              <a:buClr>
                <a:srgbClr val="000099"/>
              </a:buClr>
              <a:buSzPct val="100000"/>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除以上名称外，要使用多种颜色绘图时，也可以使用</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grDevices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包提供的调色板函数，如</a:t>
            </a:r>
            <a:r>
              <a:rPr lang="en-US" altLang="zh-CN" sz="1800" dirty="0">
                <a:latin typeface="Cambria" panose="02040503050406030204" pitchFamily="18" charset="0"/>
                <a:ea typeface="Cambria" panose="02040503050406030204" pitchFamily="18" charset="0"/>
                <a:cs typeface="Times New Roman" panose="02020603050405020304" pitchFamily="18" charset="0"/>
              </a:rPr>
              <a:t>rainbow</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heat.colors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terrain.colors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topo.colors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cm.colors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gray.colors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等。绘图时可以将颜色设置为这些函数，如</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col=colors(256)</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col=rainbow(</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n,start</a:t>
            </a:r>
            <a:r>
              <a:rPr lang="en-US" altLang="zh-CN" sz="1800" dirty="0">
                <a:latin typeface="Cambria" panose="02040503050406030204" pitchFamily="18" charset="0"/>
                <a:ea typeface="Cambria" panose="02040503050406030204" pitchFamily="18" charset="0"/>
                <a:cs typeface="Times New Roman" panose="02020603050405020304" pitchFamily="18" charset="0"/>
              </a:rPr>
              <a:t>=0.4, end =0.5)</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latin typeface="Cambria" panose="02040503050406030204" pitchFamily="18" charset="0"/>
                <a:ea typeface="Cambria" panose="02040503050406030204" pitchFamily="18" charset="0"/>
                <a:cs typeface="Times New Roman" panose="02020603050405020304" pitchFamily="18" charset="0"/>
              </a:rPr>
              <a:t>col=</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heat.colors</a:t>
            </a:r>
            <a:r>
              <a:rPr lang="en-US" altLang="zh-CN" sz="1800" dirty="0">
                <a:latin typeface="Cambria" panose="02040503050406030204" pitchFamily="18" charset="0"/>
                <a:ea typeface="Cambria" panose="02040503050406030204" pitchFamily="18" charset="0"/>
                <a:cs typeface="Times New Roman" panose="02020603050405020304" pitchFamily="18" charset="0"/>
              </a:rPr>
              <a:t>()</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等 </a:t>
            </a:r>
            <a:endParaRPr lang="en-US" altLang="zh-CN" sz="1800" dirty="0">
              <a:latin typeface="Cambria" panose="02040503050406030204" pitchFamily="18" charset="0"/>
              <a:ea typeface="Cambria" panose="02040503050406030204" pitchFamily="18" charset="0"/>
              <a:cs typeface="Times New Roman" panose="02020603050405020304" pitchFamily="18" charset="0"/>
            </a:endParaRPr>
          </a:p>
          <a:p>
            <a:pPr marL="442913" indent="-442913" algn="just" defTabSz="685800" eaLnBrk="0" hangingPunct="0">
              <a:lnSpc>
                <a:spcPct val="150000"/>
              </a:lnSpc>
              <a:spcBef>
                <a:spcPct val="50000"/>
              </a:spcBef>
              <a:spcAft>
                <a:spcPts val="300"/>
              </a:spcAft>
              <a:buClr>
                <a:srgbClr val="000099"/>
              </a:buClr>
              <a:buSzPct val="100000"/>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1800" kern="0" dirty="0" err="1">
                <a:effectLst/>
                <a:latin typeface="Cambria" panose="02040503050406030204" pitchFamily="18" charset="0"/>
                <a:ea typeface="Cambria" panose="02040503050406030204" pitchFamily="18" charset="0"/>
                <a:cs typeface="Times New Roman" panose="02020603050405020304" pitchFamily="18" charset="0"/>
              </a:rPr>
              <a:t>RColorBrewer</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1800" kern="0" dirty="0" err="1">
                <a:effectLst/>
                <a:latin typeface="Cambria" panose="02040503050406030204" pitchFamily="18" charset="0"/>
                <a:ea typeface="Cambria" panose="02040503050406030204" pitchFamily="18" charset="0"/>
                <a:cs typeface="Times New Roman" panose="02020603050405020304" pitchFamily="18" charset="0"/>
              </a:rPr>
              <a:t>display.brewer.all</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函数可以查看</a:t>
            </a:r>
            <a:r>
              <a:rPr lang="en-US" altLang="zh-CN" sz="1800" kern="0" dirty="0">
                <a:effectLst/>
                <a:latin typeface="Cambria" panose="02040503050406030204" pitchFamily="18" charset="0"/>
                <a:ea typeface="Cambria" panose="02040503050406030204" pitchFamily="18" charset="0"/>
                <a:cs typeface="Times New Roman" panose="02020603050405020304" pitchFamily="18" charset="0"/>
              </a:rPr>
              <a:t>R</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的调色板，其中包括连续型部分（单色系）、离散型部分（多色系）和极端值部分（双色系）</a:t>
            </a:r>
            <a:endParaRPr lang="zh-CN" altLang="zh-CN" sz="180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B6A2A044-15A9-F61A-72AB-49D96824729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1053998853"/>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图形颜色</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调色板</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例题分析</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08076" y="1722474"/>
            <a:ext cx="10676353" cy="946232"/>
          </a:xfrm>
          <a:noFill/>
          <a:ln w="6350">
            <a:solidFill>
              <a:schemeClr val="bg1">
                <a:lumMod val="75000"/>
              </a:schemeClr>
            </a:solidFill>
          </a:ln>
        </p:spPr>
        <p:txBody>
          <a:bodyPr>
            <a:noAutofit/>
          </a:bodyPr>
          <a:lstStyle/>
          <a:p>
            <a:pPr algn="just" defTabSz="685800" eaLnBrk="0" hangingPunct="0">
              <a:lnSpc>
                <a:spcPct val="150000"/>
              </a:lnSpc>
              <a:spcBef>
                <a:spcPct val="50000"/>
              </a:spcBef>
              <a:buClr>
                <a:srgbClr val="000099"/>
              </a:buClr>
              <a:buSzPct val="100000"/>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使用</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RColorBrewer</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1800" dirty="0" err="1">
                <a:latin typeface="Cambria" panose="02040503050406030204" pitchFamily="18" charset="0"/>
                <a:ea typeface="Cambria" panose="02040503050406030204" pitchFamily="18" charset="0"/>
                <a:cs typeface="Times New Roman" panose="02020603050405020304" pitchFamily="18" charset="0"/>
              </a:rPr>
              <a:t>display.brewer.all</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函数可以查看</a:t>
            </a:r>
            <a:r>
              <a:rPr lang="en-US" altLang="zh-CN" sz="1800" dirty="0">
                <a:latin typeface="Cambria" panose="02040503050406030204" pitchFamily="18" charset="0"/>
                <a:ea typeface="Cambria" panose="02040503050406030204" pitchFamily="18" charset="0"/>
                <a:cs typeface="Times New Roman" panose="02020603050405020304" pitchFamily="18" charset="0"/>
              </a:rPr>
              <a:t>R</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的调色板，也可以只展示其中的连续型部分、离散型部分或极端值部分</a:t>
            </a:r>
            <a:endParaRPr lang="zh-CN" altLang="en-US" sz="180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B8A1F9E3-3E6B-2CEE-B876-A786FEAAFD7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8076" y="2787722"/>
            <a:ext cx="4471650" cy="3582597"/>
          </a:xfrm>
          <a:prstGeom prst="rect">
            <a:avLst/>
          </a:prstGeom>
          <a:noFill/>
          <a:ln w="6350">
            <a:solidFill>
              <a:schemeClr val="bg1">
                <a:lumMod val="75000"/>
              </a:schemeClr>
            </a:solidFill>
          </a:ln>
        </p:spPr>
      </p:pic>
      <p:pic>
        <p:nvPicPr>
          <p:cNvPr id="4" name="图片 3">
            <a:extLst>
              <a:ext uri="{FF2B5EF4-FFF2-40B4-BE49-F238E27FC236}">
                <a16:creationId xmlns:a16="http://schemas.microsoft.com/office/drawing/2014/main" id="{09B7BC07-C073-3925-4622-F21D4A7886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15280" y="3320759"/>
            <a:ext cx="6069149" cy="1598495"/>
          </a:xfrm>
          <a:prstGeom prst="rect">
            <a:avLst/>
          </a:prstGeom>
          <a:noFill/>
          <a:ln w="6350">
            <a:solidFill>
              <a:schemeClr val="bg1">
                <a:lumMod val="75000"/>
              </a:schemeClr>
            </a:solidFill>
          </a:ln>
        </p:spPr>
      </p:pic>
      <p:pic>
        <p:nvPicPr>
          <p:cNvPr id="5" name="图片 4">
            <a:extLst>
              <a:ext uri="{FF2B5EF4-FFF2-40B4-BE49-F238E27FC236}">
                <a16:creationId xmlns:a16="http://schemas.microsoft.com/office/drawing/2014/main" id="{A8E59DCD-7723-DD74-43AF-18215A44705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454465" y="5457270"/>
            <a:ext cx="6069149" cy="896994"/>
          </a:xfrm>
          <a:prstGeom prst="rect">
            <a:avLst/>
          </a:prstGeom>
          <a:noFill/>
          <a:ln w="6350">
            <a:solidFill>
              <a:schemeClr val="bg1">
                <a:lumMod val="75000"/>
              </a:schemeClr>
            </a:solidFill>
          </a:ln>
        </p:spPr>
      </p:pic>
      <p:sp>
        <p:nvSpPr>
          <p:cNvPr id="8" name="文本框 7">
            <a:extLst>
              <a:ext uri="{FF2B5EF4-FFF2-40B4-BE49-F238E27FC236}">
                <a16:creationId xmlns:a16="http://schemas.microsoft.com/office/drawing/2014/main" id="{0B2F5EC8-B6FE-581D-C74D-5E3D9F70225D}"/>
              </a:ext>
            </a:extLst>
          </p:cNvPr>
          <p:cNvSpPr txBox="1"/>
          <p:nvPr/>
        </p:nvSpPr>
        <p:spPr>
          <a:xfrm>
            <a:off x="5562446" y="5010172"/>
            <a:ext cx="5680118" cy="369332"/>
          </a:xfrm>
          <a:prstGeom prst="rect">
            <a:avLst/>
          </a:prstGeom>
          <a:noFill/>
        </p:spPr>
        <p:txBody>
          <a:bodyPr wrap="square">
            <a:spAutoFit/>
          </a:bodyPr>
          <a:lstStyle/>
          <a:p>
            <a:pPr algn="ctr"/>
            <a:r>
              <a:rPr lang="en-US" altLang="zh-CN" sz="18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16</a:t>
            </a:r>
            <a:r>
              <a:rPr lang="zh-CN" altLang="en-US" sz="18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进制颜色代码</a:t>
            </a:r>
            <a:endParaRPr lang="zh-CN" altLang="en-US" dirty="0"/>
          </a:p>
        </p:txBody>
      </p:sp>
      <p:sp>
        <p:nvSpPr>
          <p:cNvPr id="10" name="文本框 9">
            <a:extLst>
              <a:ext uri="{FF2B5EF4-FFF2-40B4-BE49-F238E27FC236}">
                <a16:creationId xmlns:a16="http://schemas.microsoft.com/office/drawing/2014/main" id="{5CCAD6D1-9703-849A-C5D5-7156BA79C244}"/>
              </a:ext>
            </a:extLst>
          </p:cNvPr>
          <p:cNvSpPr txBox="1"/>
          <p:nvPr/>
        </p:nvSpPr>
        <p:spPr>
          <a:xfrm>
            <a:off x="5415280" y="2787722"/>
            <a:ext cx="6069149" cy="369332"/>
          </a:xfrm>
          <a:prstGeom prst="rect">
            <a:avLst/>
          </a:prstGeom>
          <a:noFill/>
        </p:spPr>
        <p:txBody>
          <a:bodyPr wrap="square">
            <a:spAutoFit/>
          </a:bodyPr>
          <a:lstStyle/>
          <a:p>
            <a:pPr algn="ctr"/>
            <a:r>
              <a:rPr lang="zh-CN" altLang="en-US" sz="18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不同调色板绘制的条形图</a:t>
            </a:r>
            <a:endParaRPr lang="zh-CN" altLang="en-US" dirty="0"/>
          </a:p>
        </p:txBody>
      </p:sp>
      <p:sp>
        <p:nvSpPr>
          <p:cNvPr id="6" name="Rectangle 2">
            <a:extLst>
              <a:ext uri="{FF2B5EF4-FFF2-40B4-BE49-F238E27FC236}">
                <a16:creationId xmlns:a16="http://schemas.microsoft.com/office/drawing/2014/main" id="{FB046A5B-15EE-D485-572F-1B239E5E7A5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2633013001"/>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页面布局</a:t>
            </a:r>
            <a:r>
              <a:rPr lang="en-US" altLang="zh-CN" sz="2600" b="1" dirty="0">
                <a:solidFill>
                  <a:srgbClr val="002060"/>
                </a:solidFill>
                <a:ea typeface="华文细黑" panose="02010600040101010101" pitchFamily="2" charset="-122"/>
              </a:rPr>
              <a:t>——par</a:t>
            </a:r>
            <a:r>
              <a:rPr lang="zh-CN" altLang="en-US" sz="2600" b="1" dirty="0">
                <a:solidFill>
                  <a:srgbClr val="002060"/>
                </a:solidFill>
                <a:ea typeface="华文细黑" panose="02010600040101010101" pitchFamily="2" charset="-122"/>
              </a:rPr>
              <a:t>函数和</a:t>
            </a:r>
            <a:r>
              <a:rPr lang="en-US" altLang="zh-CN" sz="2600" b="1" dirty="0">
                <a:solidFill>
                  <a:srgbClr val="002060"/>
                </a:solidFill>
                <a:ea typeface="华文细黑" panose="02010600040101010101" pitchFamily="2" charset="-122"/>
              </a:rPr>
              <a:t>layout</a:t>
            </a:r>
            <a:r>
              <a:rPr lang="zh-CN" altLang="en-US" sz="2600" b="1" dirty="0">
                <a:solidFill>
                  <a:srgbClr val="002060"/>
                </a:solidFill>
                <a:ea typeface="华文细黑" panose="02010600040101010101" pitchFamily="2" charset="-122"/>
              </a:rPr>
              <a:t>函数析</a:t>
            </a: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8" y="1722473"/>
                <a:ext cx="5277292" cy="4627525"/>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par</a:t>
                </a: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函数</a:t>
                </a:r>
                <a:r>
                  <a:rPr lang="zh-CN" altLang="en-US"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布局</a:t>
                </a:r>
                <a:r>
                  <a:rPr lang="en-US" altLang="zh-CN" sz="2000" dirty="0">
                    <a:latin typeface="Cambria" panose="02040503050406030204" pitchFamily="18" charset="0"/>
                    <a:ea typeface="Cambria" panose="02040503050406030204" pitchFamily="18" charset="0"/>
                    <a:cs typeface="Times New Roman" panose="02020603050405020304" pitchFamily="18" charset="0"/>
                  </a:rPr>
                  <a:t>——</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中的参数</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mfrow</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或</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mfcol</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可以将一个绘图页面分割成</a:t>
                </a:r>
                <a14:m>
                  <m:oMath xmlns:m="http://schemas.openxmlformats.org/officeDocument/2006/math">
                    <m:r>
                      <m:rPr>
                        <m:sty m:val="p"/>
                      </m:rPr>
                      <a:rPr lang="en-US" altLang="zh-CN" sz="2000" b="0">
                        <a:latin typeface="Cambria Math" panose="02040503050406030204" pitchFamily="18" charset="0"/>
                        <a:ea typeface="华文细黑" panose="02010600040101010101" pitchFamily="2" charset="-122"/>
                        <a:cs typeface="Times New Roman" panose="02020603050405020304" pitchFamily="18" charset="0"/>
                      </a:rPr>
                      <m:t>nr</m:t>
                    </m:r>
                    <m:r>
                      <a:rPr lang="en-US" altLang="zh-CN" sz="2000" b="0">
                        <a:latin typeface="Cambria Math" panose="02040503050406030204" pitchFamily="18" charset="0"/>
                        <a:ea typeface="华文细黑" panose="02010600040101010101" pitchFamily="2" charset="-122"/>
                        <a:cs typeface="Times New Roman" panose="02020603050405020304" pitchFamily="18" charset="0"/>
                      </a:rPr>
                      <m:t>×</m:t>
                    </m:r>
                    <m:r>
                      <m:rPr>
                        <m:sty m:val="p"/>
                      </m:rPr>
                      <a:rPr lang="en-US" altLang="zh-CN" sz="2000" b="0">
                        <a:latin typeface="Cambria Math" panose="02040503050406030204" pitchFamily="18" charset="0"/>
                        <a:ea typeface="华文细黑" panose="02010600040101010101" pitchFamily="2" charset="-122"/>
                        <a:cs typeface="Times New Roman" panose="02020603050405020304" pitchFamily="18" charset="0"/>
                      </a:rPr>
                      <m:t>nc</m:t>
                    </m:r>
                  </m:oMath>
                </a14:m>
                <a:r>
                  <a:rPr lang="zh-CN" altLang="zh-CN" sz="2000" dirty="0">
                    <a:latin typeface="Cambria" panose="02040503050406030204" pitchFamily="18" charset="0"/>
                    <a:ea typeface="华文细黑" panose="02010600040101010101" pitchFamily="2" charset="-122"/>
                    <a:cs typeface="Times New Roman" panose="02020603050405020304" pitchFamily="18" charset="0"/>
                  </a:rPr>
                  <a:t>的矩阵，然后在每个分割的区域填充一幅图。参数</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mfrow</a:t>
                </a:r>
                <a:r>
                  <a:rPr lang="en-US" altLang="zh-CN" sz="2000" dirty="0">
                    <a:latin typeface="Cambria" panose="02040503050406030204" pitchFamily="18" charset="0"/>
                    <a:ea typeface="Cambria" panose="02040503050406030204" pitchFamily="18" charset="0"/>
                    <a:cs typeface="Times New Roman" panose="02020603050405020304" pitchFamily="18" charset="0"/>
                  </a:rPr>
                  <a:t>=c(</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nr,nc</a:t>
                </a:r>
                <a:r>
                  <a:rPr lang="en-US" altLang="zh-CN" sz="2000" dirty="0">
                    <a:latin typeface="Cambria" panose="02040503050406030204" pitchFamily="18" charset="0"/>
                    <a:ea typeface="Cambria" panose="02040503050406030204" pitchFamily="18" charset="0"/>
                    <a:cs typeface="Times New Roman" panose="02020603050405020304" pitchFamily="18" charset="0"/>
                  </a:rPr>
                  <a:t>)</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表示按行填充各图，</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mfcol</a:t>
                </a:r>
                <a:r>
                  <a:rPr lang="en-US" altLang="zh-CN" sz="2000" dirty="0">
                    <a:latin typeface="Cambria" panose="02040503050406030204" pitchFamily="18" charset="0"/>
                    <a:ea typeface="Cambria" panose="02040503050406030204" pitchFamily="18" charset="0"/>
                    <a:cs typeface="Times New Roman" panose="02020603050405020304" pitchFamily="18" charset="0"/>
                  </a:rPr>
                  <a:t>=c(</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nr,nc</a:t>
                </a:r>
                <a:r>
                  <a:rPr lang="en-US" altLang="zh-CN" sz="2000" dirty="0">
                    <a:latin typeface="Cambria" panose="02040503050406030204" pitchFamily="18" charset="0"/>
                    <a:ea typeface="Cambria" panose="02040503050406030204" pitchFamily="18" charset="0"/>
                    <a:cs typeface="Times New Roman" panose="02020603050405020304" pitchFamily="18" charset="0"/>
                  </a:rPr>
                  <a:t>)</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则表示按列填充各图</a:t>
                </a:r>
                <a:endParaRPr lang="en-US" altLang="zh-CN" sz="2000" dirty="0">
                  <a:latin typeface="Cambria" panose="02040503050406030204" pitchFamily="18" charset="0"/>
                  <a:ea typeface="Cambria" panose="02040503050406030204" pitchFamily="18" charset="0"/>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layout</a:t>
                </a:r>
                <a:r>
                  <a:rPr lang="zh-CN" altLang="en-US"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函数</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rPr>
                  <a:t>—</a:t>
                </a:r>
                <a:r>
                  <a:rPr lang="zh-CN" altLang="en-US"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布局的例子</a:t>
                </a:r>
                <a:endPar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cs typeface="Times New Roman" panose="02020603050405020304" pitchFamily="18" charset="0"/>
                </a:endParaRPr>
              </a:p>
              <a:p>
                <a:pPr algn="just" defTabSz="685800" eaLnBrk="0" hangingPunct="0">
                  <a:lnSpc>
                    <a:spcPct val="150000"/>
                  </a:lnSpc>
                  <a:spcBef>
                    <a:spcPct val="50000"/>
                  </a:spcBef>
                  <a:buClr>
                    <a:srgbClr val="000099"/>
                  </a:buClr>
                  <a:buSzPct val="100000"/>
                  <a:defRPr/>
                </a:pPr>
                <a:r>
                  <a:rPr lang="en-US" altLang="zh-CN" sz="2000">
                    <a:latin typeface="Cambria" panose="02040503050406030204" pitchFamily="18" charset="0"/>
                    <a:ea typeface="华文细黑" panose="02010600040101010101" pitchFamily="2" charset="-122"/>
                    <a:cs typeface="Times New Roman" panose="02020603050405020304" pitchFamily="18" charset="0"/>
                  </a:rPr>
                  <a:t>      </a:t>
                </a:r>
                <a:r>
                  <a:rPr lang="zh-CN" altLang="zh-CN" sz="2000">
                    <a:latin typeface="Cambria" panose="02040503050406030204" pitchFamily="18" charset="0"/>
                    <a:ea typeface="华文细黑" panose="02010600040101010101" pitchFamily="2" charset="-122"/>
                    <a:cs typeface="Times New Roman" panose="02020603050405020304" pitchFamily="18" charset="0"/>
                  </a:rPr>
                  <a:t>将</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绘图区域划分为</a:t>
                </a:r>
                <a:r>
                  <a:rPr lang="en-US" altLang="zh-CN" sz="2000" dirty="0">
                    <a:latin typeface="Cambria" panose="02040503050406030204" pitchFamily="18" charset="0"/>
                    <a:ea typeface="Cambria" panose="02040503050406030204" pitchFamily="18" charset="0"/>
                    <a:cs typeface="Times New Roman" panose="02020603050405020304" pitchFamily="18" charset="0"/>
                  </a:rPr>
                  <a:t>nr</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行</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nc</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列的矩阵，并可以通过设置参数</a:t>
                </a:r>
                <a:r>
                  <a:rPr lang="en-US" altLang="zh-CN" sz="2000" dirty="0">
                    <a:latin typeface="Cambria" panose="02040503050406030204" pitchFamily="18" charset="0"/>
                    <a:ea typeface="Cambria" panose="02040503050406030204" pitchFamily="18" charset="0"/>
                    <a:cs typeface="Times New Roman" panose="02020603050405020304" pitchFamily="18" charset="0"/>
                  </a:rPr>
                  <a:t>widths</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和</a:t>
                </a:r>
                <a:r>
                  <a:rPr lang="en-US" altLang="zh-CN" sz="2000" dirty="0">
                    <a:latin typeface="Cambria" panose="02040503050406030204" pitchFamily="18" charset="0"/>
                    <a:ea typeface="Cambria" panose="02040503050406030204" pitchFamily="18" charset="0"/>
                    <a:cs typeface="Times New Roman" panose="02020603050405020304" pitchFamily="18" charset="0"/>
                  </a:rPr>
                  <a:t>heights</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将矩阵分割成大小不同的区域</a:t>
                </a:r>
                <a:endParaRPr lang="en-US" altLang="zh-CN" sz="2000" dirty="0">
                  <a:latin typeface="Cambria" panose="02040503050406030204" pitchFamily="18" charset="0"/>
                  <a:ea typeface="Cambria" panose="02040503050406030204" pitchFamily="18" charset="0"/>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endParaRPr lang="en-US" altLang="zh-CN" sz="2000" dirty="0">
                  <a:latin typeface="Cambria" panose="02040503050406030204" pitchFamily="18" charset="0"/>
                  <a:ea typeface="Cambria" panose="02040503050406030204" pitchFamily="18" charset="0"/>
                  <a:cs typeface="Times New Roman" panose="02020603050405020304" pitchFamily="18" charset="0"/>
                </a:endParaRPr>
              </a:p>
            </p:txBody>
          </p:sp>
        </mc:Choice>
        <mc:Fallback xmlns="">
          <p:sp>
            <p:nvSpPr>
              <p:cNvPr id="11" name="副标题 2">
                <a:extLst>
                  <a:ext uri="{FF2B5EF4-FFF2-40B4-BE49-F238E27FC236}">
                    <a16:creationId xmlns:a16="http://schemas.microsoft.com/office/drawing/2014/main" id="{BF75E58F-730E-47A7-81AE-448C94943A6E}"/>
                  </a:ext>
                </a:extLst>
              </p:cNvPr>
              <p:cNvSpPr>
                <a:spLocks noGrp="1" noRot="1" noChangeAspect="1" noMove="1" noResize="1" noEditPoints="1" noAdjustHandles="1" noChangeArrowheads="1" noChangeShapeType="1" noTextEdit="1"/>
              </p:cNvSpPr>
              <p:nvPr>
                <p:ph type="subTitle" idx="1"/>
              </p:nvPr>
            </p:nvSpPr>
            <p:spPr>
              <a:xfrm>
                <a:off x="818708" y="1722473"/>
                <a:ext cx="5277292" cy="4627525"/>
              </a:xfrm>
              <a:blipFill>
                <a:blip r:embed="rId3"/>
                <a:stretch>
                  <a:fillRect l="-1153" r="-1153"/>
                </a:stretch>
              </a:blipFill>
              <a:ln w="6350">
                <a:solidFill>
                  <a:schemeClr val="bg1">
                    <a:lumMod val="75000"/>
                  </a:schemeClr>
                </a:solidFill>
              </a:ln>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046D676A-7D90-D475-8963-F6C73203896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43002" y="1722474"/>
            <a:ext cx="5277292" cy="4627525"/>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67AC8E08-3D34-FEBC-3F5B-F0769E3B6CE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3141166453"/>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打开多个绘图窗口</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8" y="1722475"/>
            <a:ext cx="10709262" cy="581120"/>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en-US" sz="2000" dirty="0">
                <a:latin typeface="Cambria" panose="02040503050406030204" pitchFamily="18" charset="0"/>
                <a:ea typeface="华文细黑" panose="02010600040101010101" pitchFamily="2" charset="-122"/>
                <a:cs typeface="Times New Roman" panose="02020603050405020304" pitchFamily="18" charset="0"/>
              </a:rPr>
              <a:t>用</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dev.new</a:t>
            </a:r>
            <a:r>
              <a:rPr lang="en-US" altLang="zh-CN" sz="2000" dirty="0">
                <a:latin typeface="Cambria" panose="02040503050406030204" pitchFamily="18" charset="0"/>
                <a:ea typeface="Cambria" panose="02040503050406030204" pitchFamily="18" charset="0"/>
                <a:cs typeface="Times New Roman" panose="02020603050405020304" pitchFamily="18" charset="0"/>
              </a:rPr>
              <a:t>()</a:t>
            </a:r>
            <a:r>
              <a:rPr lang="zh-CN" altLang="en-US" sz="2000" dirty="0">
                <a:latin typeface="Cambria" panose="02040503050406030204" pitchFamily="18" charset="0"/>
                <a:ea typeface="华文细黑" panose="02010600040101010101" pitchFamily="2" charset="-122"/>
                <a:cs typeface="Times New Roman" panose="02020603050405020304" pitchFamily="18" charset="0"/>
              </a:rPr>
              <a:t>函数</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打开一个新的绘图窗口</a:t>
            </a:r>
            <a:r>
              <a:rPr lang="zh-CN" altLang="en-US" sz="20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用函数</a:t>
            </a:r>
            <a:r>
              <a:rPr lang="en-US" altLang="zh-CN" sz="2000" dirty="0" err="1">
                <a:latin typeface="Cambria" panose="02040503050406030204" pitchFamily="18" charset="0"/>
                <a:ea typeface="Cambria" panose="02040503050406030204" pitchFamily="18" charset="0"/>
                <a:cs typeface="Times New Roman" panose="02020603050405020304" pitchFamily="18" charset="0"/>
              </a:rPr>
              <a:t>dev.off</a:t>
            </a:r>
            <a:r>
              <a:rPr lang="en-US" altLang="zh-CN" sz="2000" dirty="0">
                <a:latin typeface="Cambria" panose="02040503050406030204" pitchFamily="18" charset="0"/>
                <a:ea typeface="Cambria" panose="02040503050406030204" pitchFamily="18" charset="0"/>
                <a:cs typeface="Times New Roman" panose="02020603050405020304" pitchFamily="18" charset="0"/>
              </a:rPr>
              <a:t>()</a:t>
            </a:r>
            <a:r>
              <a:rPr lang="zh-CN" altLang="zh-CN" sz="2000" dirty="0">
                <a:latin typeface="Cambria" panose="02040503050406030204" pitchFamily="18" charset="0"/>
                <a:ea typeface="华文细黑" panose="02010600040101010101" pitchFamily="2" charset="-122"/>
                <a:cs typeface="Times New Roman" panose="02020603050405020304" pitchFamily="18" charset="0"/>
              </a:rPr>
              <a:t>关闭新的绘图窗口</a:t>
            </a:r>
            <a:endParaRPr lang="en-US" altLang="zh-CN" sz="2000" dirty="0">
              <a:latin typeface="Cambria" panose="02040503050406030204" pitchFamily="18" charset="0"/>
              <a:ea typeface="Cambria" panose="020405030504060302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E41D7A00-80C6-F60B-56BE-BB994F70AA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708" y="2463086"/>
            <a:ext cx="10709262" cy="3927554"/>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177CE5B3-F723-4EBE-E1AF-1735A7D087D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2.1                      </a:t>
            </a:r>
            <a:r>
              <a:rPr lang="en-US" altLang="zh-CN" sz="3200" b="1" dirty="0">
                <a:solidFill>
                  <a:srgbClr val="002060"/>
                </a:solidFill>
                <a:latin typeface="微软雅黑" panose="020B0503020204020204" pitchFamily="34" charset="-122"/>
                <a:ea typeface="微软雅黑" panose="020B0503020204020204" pitchFamily="34" charset="-122"/>
              </a:rPr>
              <a:t>graphics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3947791412"/>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绘图语法</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8" y="1691994"/>
            <a:ext cx="10844972" cy="464784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包是由</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Hadley Wickham</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2009</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）编写的绘图包</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该包提供了一种基于语法的图形绘制系统，因其图形漂亮、语法规范受到人们广泛喜爱</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用</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包绘图十分方便，尤其适合绘制二维图形</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与传统绘图包</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graphics</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相比，不需要太多的细节设置就可以绘制出满意的图形</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基于</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开发的绘图包也有很多，如</a:t>
            </a:r>
            <a:r>
              <a:rPr lang="en-US" altLang="zh-CN" sz="2200" kern="0" dirty="0" err="1">
                <a:latin typeface="Cambria" panose="02040503050406030204" pitchFamily="18" charset="0"/>
                <a:ea typeface="华文细黑" panose="02010600040101010101" pitchFamily="2" charset="-122"/>
                <a:cs typeface="Times New Roman" panose="02020603050405020304" pitchFamily="18" charset="0"/>
              </a:rPr>
              <a:t>ggiraphExtra</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err="1">
                <a:latin typeface="Cambria" panose="02040503050406030204" pitchFamily="18" charset="0"/>
                <a:ea typeface="华文细黑" panose="02010600040101010101" pitchFamily="2" charset="-122"/>
                <a:cs typeface="Times New Roman" panose="02020603050405020304" pitchFamily="18" charset="0"/>
              </a:rPr>
              <a:t>ggpubr</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err="1">
                <a:latin typeface="Cambria" panose="02040503050406030204" pitchFamily="18" charset="0"/>
                <a:ea typeface="华文细黑" panose="02010600040101010101" pitchFamily="2" charset="-122"/>
                <a:cs typeface="Times New Roman" panose="02020603050405020304" pitchFamily="18" charset="0"/>
              </a:rPr>
              <a:t>tidyplots</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等，其中的函数兼容</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的语法，而参数设置相对较少，方便快速绘图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77FBC2F5-33BA-0BDA-9A4B-5FAFF69C877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79079844"/>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绘图语法</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9" y="1671672"/>
            <a:ext cx="2219131" cy="4698648"/>
          </a:xfrm>
          <a:noFill/>
          <a:ln w="6350">
            <a:solidFill>
              <a:schemeClr val="bg1">
                <a:lumMod val="75000"/>
              </a:schemeClr>
            </a:solidFill>
          </a:ln>
        </p:spPr>
        <p:txBody>
          <a:bodyPr>
            <a:noAutofit/>
          </a:bodyPr>
          <a:lstStyle/>
          <a:p>
            <a:pPr algn="just" defTabSz="685800" eaLnBrk="0" hangingPunct="0">
              <a:lnSpc>
                <a:spcPct val="150000"/>
              </a:lnSpc>
              <a:spcBef>
                <a:spcPct val="50000"/>
              </a:spcBef>
              <a:buClr>
                <a:srgbClr val="000099"/>
              </a:buClr>
              <a:buSzPct val="100000"/>
              <a:defRPr/>
            </a:pPr>
            <a:r>
              <a:rPr lang="en-US" altLang="zh-CN" sz="2200" b="1" dirty="0">
                <a:solidFill>
                  <a:schemeClr val="bg1"/>
                </a:solidFill>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200" b="1" dirty="0">
                <a:solidFill>
                  <a:schemeClr val="bg1"/>
                </a:solidFill>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200" b="1" dirty="0">
                <a:solidFill>
                  <a:schemeClr val="bg1"/>
                </a:solidFill>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2-1】</a:t>
            </a:r>
            <a:endParaRPr lang="en-US" altLang="zh-CN" sz="2200" b="1" dirty="0">
              <a:solidFill>
                <a:schemeClr val="bg1"/>
              </a:solidFill>
              <a:highlight>
                <a:srgbClr val="008080"/>
              </a:highlight>
              <a:latin typeface="Calibri" panose="020F0502020204030204" pitchFamily="34"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BF62C996-7C1B-70BA-1629-020AF51C3BA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3" name="图片 2">
            <a:extLst>
              <a:ext uri="{FF2B5EF4-FFF2-40B4-BE49-F238E27FC236}">
                <a16:creationId xmlns:a16="http://schemas.microsoft.com/office/drawing/2014/main" id="{A48A4BA7-1809-948A-399E-94E52C8C04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08654" y="1671672"/>
            <a:ext cx="8302626" cy="4698648"/>
          </a:xfrm>
          <a:prstGeom prst="rect">
            <a:avLst/>
          </a:prstGeom>
          <a:ln w="6350">
            <a:solidFill>
              <a:schemeClr val="bg1">
                <a:lumMod val="75000"/>
              </a:schemeClr>
            </a:solidFill>
          </a:ln>
        </p:spPr>
      </p:pic>
    </p:spTree>
    <p:extLst>
      <p:ext uri="{BB962C8B-B14F-4D97-AF65-F5344CB8AC3E}">
        <p14:creationId xmlns:p14="http://schemas.microsoft.com/office/powerpoint/2010/main" val="4086940763"/>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D0332-B079-67F7-D080-967E1175695B}"/>
            </a:ext>
          </a:extLst>
        </p:cNvPr>
        <p:cNvGrpSpPr/>
        <p:nvPr/>
      </p:nvGrpSpPr>
      <p:grpSpPr>
        <a:xfrm>
          <a:off x="0" y="0"/>
          <a:ext cx="0" cy="0"/>
          <a:chOff x="0" y="0"/>
          <a:chExt cx="0" cy="0"/>
        </a:xfrm>
      </p:grpSpPr>
      <p:sp>
        <p:nvSpPr>
          <p:cNvPr id="9" name="Rectangle 3">
            <a:extLst>
              <a:ext uri="{FF2B5EF4-FFF2-40B4-BE49-F238E27FC236}">
                <a16:creationId xmlns:a16="http://schemas.microsoft.com/office/drawing/2014/main" id="{AC55DECF-60E5-7692-46C1-D8B22D46CDA8}"/>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绘图语法</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959AE1CF-B219-424F-8B77-141773BC047C}"/>
              </a:ext>
            </a:extLst>
          </p:cNvPr>
          <p:cNvSpPr>
            <a:spLocks noGrp="1"/>
          </p:cNvSpPr>
          <p:nvPr>
            <p:ph type="subTitle" idx="1"/>
          </p:nvPr>
        </p:nvSpPr>
        <p:spPr>
          <a:xfrm>
            <a:off x="727268" y="1681834"/>
            <a:ext cx="4352732" cy="469864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的绘图过程类似于创作一幅油画的过程：先准备画布、颜料等原材料，然后构思画面，再一层一层绘制</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绘图使用</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图层</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layer</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）概念，各图层之间用“</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”连接，后面的图层叠加在前面的图层之上。图层包括</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数据</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data</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映射</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mapping</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几何对象</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geom_xx</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统计变换</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stat_xx</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标度</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scale</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坐标系</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coord</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分面</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facet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主题</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theme</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）等</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图层可分为数据绘图和细节美化两大部分。绘图代码的基本结构大致如下</a:t>
            </a:r>
            <a:endParaRPr lang="en-US" altLang="zh-CN" sz="16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47769E29-6C7D-4445-28CC-0E410D919BE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
        <p:nvSpPr>
          <p:cNvPr id="5" name="副标题 2">
            <a:extLst>
              <a:ext uri="{FF2B5EF4-FFF2-40B4-BE49-F238E27FC236}">
                <a16:creationId xmlns:a16="http://schemas.microsoft.com/office/drawing/2014/main" id="{EFD3BAF6-A353-C910-893F-6F3DABEA4039}"/>
              </a:ext>
            </a:extLst>
          </p:cNvPr>
          <p:cNvSpPr txBox="1">
            <a:spLocks/>
          </p:cNvSpPr>
          <p:nvPr/>
        </p:nvSpPr>
        <p:spPr>
          <a:xfrm>
            <a:off x="5171440" y="1681834"/>
            <a:ext cx="6461760" cy="4698646"/>
          </a:xfrm>
          <a:prstGeom prst="rect">
            <a:avLst/>
          </a:prstGeom>
          <a:solidFill>
            <a:srgbClr val="FFFFCC"/>
          </a:solid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15000"/>
              </a:lnSpc>
            </a:pPr>
            <a:r>
              <a:rPr lang="en-US" altLang="zh-CN" sz="1600" b="1" dirty="0">
                <a:solidFill>
                  <a:srgbClr val="E36C0A"/>
                </a:solidFill>
                <a:effectLst/>
                <a:latin typeface="Cambria" panose="02040503050406030204" pitchFamily="18" charset="0"/>
                <a:ea typeface="华文细黑" panose="02010600040101010101" pitchFamily="2" charset="-122"/>
                <a:cs typeface="Arial" panose="020B0604020202020204" pitchFamily="34" charset="0"/>
              </a:rPr>
              <a:t>#  ggplot2</a:t>
            </a:r>
            <a:r>
              <a:rPr lang="zh-CN" altLang="zh-CN" sz="1600" b="1" dirty="0">
                <a:solidFill>
                  <a:srgbClr val="E36C0A"/>
                </a:solidFill>
                <a:effectLst/>
                <a:latin typeface="Cambria" panose="02040503050406030204" pitchFamily="18" charset="0"/>
                <a:ea typeface="华文细黑" panose="02010600040101010101" pitchFamily="2" charset="-122"/>
                <a:cs typeface="Arial" panose="020B0604020202020204" pitchFamily="34" charset="0"/>
              </a:rPr>
              <a:t>绘图代码的基本结构</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ggplot</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(data, </a:t>
            </a: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aes</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基础图层，不生成图形元素（必需）</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geom_xxx</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几何图层，生成图形元素（必需）</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scale_xxx</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标度调整，如颜色、坐标轴等（可选）</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coord_xxx</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坐标变换，默认为笛卡儿坐标系（可选）</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facet_xxx</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图形分面，按因子或变量绘制面板图形（可选）</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a:t>
            </a:r>
            <a:r>
              <a:rPr lang="en-US" altLang="zh-CN" sz="1600" dirty="0" err="1">
                <a:solidFill>
                  <a:srgbClr val="000000"/>
                </a:solidFill>
                <a:effectLst/>
                <a:latin typeface="Cambria" panose="02040503050406030204" pitchFamily="18" charset="0"/>
                <a:ea typeface="华文细黑" panose="02010600040101010101" pitchFamily="2" charset="-122"/>
                <a:cs typeface="Arial" panose="020B0604020202020204" pitchFamily="34" charset="0"/>
              </a:rPr>
              <a:t>theme_xxx</a:t>
            </a: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主题设置，用于调整图形细节（可选）</a:t>
            </a:r>
            <a:endParaRPr lang="zh-CN" altLang="zh-CN" sz="1600" dirty="0">
              <a:effectLst/>
              <a:latin typeface="Times New Roman" panose="02020603050405020304" pitchFamily="18" charset="0"/>
              <a:ea typeface="宋体" panose="02010600030101010101" pitchFamily="2" charset="-122"/>
            </a:endParaRPr>
          </a:p>
          <a:p>
            <a:pPr algn="just">
              <a:lnSpc>
                <a:spcPct val="115000"/>
              </a:lnSpc>
            </a:pPr>
            <a:r>
              <a:rPr lang="en-US"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     labs()                        # </a:t>
            </a:r>
            <a:r>
              <a:rPr lang="zh-CN" altLang="zh-CN" sz="1600" dirty="0">
                <a:solidFill>
                  <a:srgbClr val="000000"/>
                </a:solidFill>
                <a:effectLst/>
                <a:latin typeface="Cambria" panose="02040503050406030204" pitchFamily="18" charset="0"/>
                <a:ea typeface="华文细黑" panose="02010600040101010101" pitchFamily="2" charset="-122"/>
                <a:cs typeface="Arial" panose="020B0604020202020204" pitchFamily="34" charset="0"/>
              </a:rPr>
              <a:t>添加标签，如图形标题、坐标轴标题等（可选）</a:t>
            </a:r>
            <a:endParaRPr lang="zh-CN" altLang="zh-CN" sz="1600" dirty="0">
              <a:effectLst/>
              <a:latin typeface="Times New Roman" panose="02020603050405020304" pitchFamily="18" charset="0"/>
              <a:ea typeface="宋体" panose="0201060003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endParaRPr lang="en-US" altLang="zh-CN" sz="1600" dirty="0">
              <a:latin typeface="Cambria" panose="02040503050406030204" pitchFamily="18" charset="0"/>
              <a:ea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867992741"/>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D0332-B079-67F7-D080-967E1175695B}"/>
            </a:ext>
          </a:extLst>
        </p:cNvPr>
        <p:cNvGrpSpPr/>
        <p:nvPr/>
      </p:nvGrpSpPr>
      <p:grpSpPr>
        <a:xfrm>
          <a:off x="0" y="0"/>
          <a:ext cx="0" cy="0"/>
          <a:chOff x="0" y="0"/>
          <a:chExt cx="0" cy="0"/>
        </a:xfrm>
      </p:grpSpPr>
      <p:sp>
        <p:nvSpPr>
          <p:cNvPr id="9" name="Rectangle 3">
            <a:extLst>
              <a:ext uri="{FF2B5EF4-FFF2-40B4-BE49-F238E27FC236}">
                <a16:creationId xmlns:a16="http://schemas.microsoft.com/office/drawing/2014/main" id="{AC55DECF-60E5-7692-46C1-D8B22D46CDA8}"/>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绘图语法</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959AE1CF-B219-424F-8B77-141773BC047C}"/>
              </a:ext>
            </a:extLst>
          </p:cNvPr>
          <p:cNvSpPr>
            <a:spLocks noGrp="1"/>
          </p:cNvSpPr>
          <p:nvPr>
            <p:ph type="subTitle" idx="1"/>
          </p:nvPr>
        </p:nvSpPr>
        <p:spPr>
          <a:xfrm>
            <a:off x="727268" y="1681834"/>
            <a:ext cx="5795452" cy="469864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rPr>
              <a:t>首先，使用</a:t>
            </a:r>
            <a:r>
              <a:rPr lang="en-US" altLang="zh-CN" sz="2000" dirty="0" err="1">
                <a:effectLst/>
                <a:latin typeface="Cambria" panose="02040503050406030204" pitchFamily="18" charset="0"/>
                <a:ea typeface="华文细黑" panose="02010600040101010101" pitchFamily="2" charset="-122"/>
              </a:rPr>
              <a:t>ggplot</a:t>
            </a:r>
            <a:r>
              <a:rPr lang="en-US" altLang="zh-CN" sz="2000" dirty="0">
                <a:effectLst/>
                <a:latin typeface="Cambria" panose="02040503050406030204" pitchFamily="18" charset="0"/>
                <a:ea typeface="华文细黑" panose="02010600040101010101" pitchFamily="2" charset="-122"/>
              </a:rPr>
              <a:t>()</a:t>
            </a:r>
            <a:r>
              <a:rPr lang="zh-CN" altLang="zh-CN" sz="2000" dirty="0">
                <a:effectLst/>
                <a:latin typeface="Cambria" panose="02040503050406030204" pitchFamily="18" charset="0"/>
                <a:ea typeface="华文细黑" panose="02010600040101010101" pitchFamily="2" charset="-122"/>
              </a:rPr>
              <a:t>函数创建图形对象。该函数有</a:t>
            </a:r>
            <a:r>
              <a:rPr lang="en-US" altLang="zh-CN" sz="2000" dirty="0">
                <a:effectLst/>
                <a:latin typeface="Cambria" panose="02040503050406030204" pitchFamily="18" charset="0"/>
                <a:ea typeface="华文细黑" panose="02010600040101010101" pitchFamily="2" charset="-122"/>
              </a:rPr>
              <a:t>data</a:t>
            </a:r>
            <a:r>
              <a:rPr lang="zh-CN" altLang="zh-CN" sz="2000" dirty="0">
                <a:effectLst/>
                <a:latin typeface="Cambria" panose="02040503050406030204" pitchFamily="18" charset="0"/>
                <a:ea typeface="华文细黑" panose="02010600040101010101" pitchFamily="2" charset="-122"/>
              </a:rPr>
              <a:t>和</a:t>
            </a:r>
            <a:r>
              <a:rPr lang="en-US" altLang="zh-CN" sz="2000" dirty="0">
                <a:effectLst/>
                <a:latin typeface="Cambria" panose="02040503050406030204" pitchFamily="18" charset="0"/>
                <a:ea typeface="华文细黑" panose="02010600040101010101" pitchFamily="2" charset="-122"/>
              </a:rPr>
              <a:t>mapping</a:t>
            </a:r>
            <a:r>
              <a:rPr lang="zh-CN" altLang="zh-CN" sz="2000" dirty="0">
                <a:effectLst/>
                <a:latin typeface="Cambria" panose="02040503050406030204" pitchFamily="18" charset="0"/>
                <a:ea typeface="华文细黑" panose="02010600040101010101" pitchFamily="2" charset="-122"/>
              </a:rPr>
              <a:t>两个主要参数，用于定义绘图时使用的数据以及图形属性映射。其中</a:t>
            </a:r>
            <a:r>
              <a:rPr lang="en-US" altLang="zh-CN" sz="2000" dirty="0">
                <a:effectLst/>
                <a:latin typeface="Cambria" panose="02040503050406030204" pitchFamily="18" charset="0"/>
                <a:ea typeface="华文细黑" panose="02010600040101010101" pitchFamily="2" charset="-122"/>
              </a:rPr>
              <a:t>data</a:t>
            </a:r>
            <a:r>
              <a:rPr lang="zh-CN" altLang="zh-CN" sz="2000" dirty="0">
                <a:effectLst/>
                <a:latin typeface="Cambria" panose="02040503050406030204" pitchFamily="18" charset="0"/>
                <a:ea typeface="华文细黑" panose="02010600040101010101" pitchFamily="2" charset="-122"/>
              </a:rPr>
              <a:t>的数据格式为数据框；</a:t>
            </a:r>
            <a:r>
              <a:rPr lang="en-US" altLang="zh-CN" sz="2000" dirty="0">
                <a:effectLst/>
                <a:latin typeface="Cambria" panose="02040503050406030204" pitchFamily="18" charset="0"/>
                <a:ea typeface="华文细黑" panose="02010600040101010101" pitchFamily="2" charset="-122"/>
              </a:rPr>
              <a:t>mapping</a:t>
            </a:r>
            <a:r>
              <a:rPr lang="zh-CN" altLang="zh-CN" sz="2000" dirty="0">
                <a:effectLst/>
                <a:latin typeface="Cambria" panose="02040503050406030204" pitchFamily="18" charset="0"/>
                <a:ea typeface="华文细黑" panose="02010600040101010101" pitchFamily="2" charset="-122"/>
              </a:rPr>
              <a:t>为变量的属性映射，主要使用</a:t>
            </a:r>
            <a:r>
              <a:rPr lang="en-US" altLang="zh-CN" sz="2000" dirty="0" err="1">
                <a:effectLst/>
                <a:latin typeface="Cambria" panose="02040503050406030204" pitchFamily="18" charset="0"/>
                <a:ea typeface="华文细黑" panose="02010600040101010101" pitchFamily="2" charset="-122"/>
              </a:rPr>
              <a:t>aes</a:t>
            </a:r>
            <a:r>
              <a:rPr lang="zh-CN" altLang="zh-CN" sz="2000" dirty="0">
                <a:effectLst/>
                <a:latin typeface="Cambria" panose="02040503050406030204" pitchFamily="18" charset="0"/>
                <a:ea typeface="华文细黑" panose="02010600040101010101" pitchFamily="2" charset="-122"/>
              </a:rPr>
              <a:t>函数来映射变量</a:t>
            </a:r>
            <a:r>
              <a:rPr lang="en-US" altLang="zh-CN" sz="2000" dirty="0">
                <a:effectLst/>
                <a:latin typeface="Cambria" panose="02040503050406030204" pitchFamily="18" charset="0"/>
                <a:ea typeface="华文细黑" panose="02010600040101010101" pitchFamily="2" charset="-122"/>
              </a:rPr>
              <a:t>x</a:t>
            </a:r>
            <a:r>
              <a:rPr lang="zh-CN" altLang="zh-CN" sz="2000" dirty="0">
                <a:effectLst/>
                <a:latin typeface="Cambria" panose="02040503050406030204" pitchFamily="18" charset="0"/>
                <a:ea typeface="华文细黑" panose="02010600040101010101" pitchFamily="2" charset="-122"/>
              </a:rPr>
              <a:t>和</a:t>
            </a:r>
            <a:r>
              <a:rPr lang="en-US" altLang="zh-CN" sz="2000" dirty="0">
                <a:effectLst/>
                <a:latin typeface="Cambria" panose="02040503050406030204" pitchFamily="18" charset="0"/>
                <a:ea typeface="华文细黑" panose="02010600040101010101" pitchFamily="2" charset="-122"/>
              </a:rPr>
              <a:t>y</a:t>
            </a:r>
            <a:r>
              <a:rPr lang="zh-CN" altLang="zh-CN" sz="2000" dirty="0">
                <a:effectLst/>
                <a:latin typeface="Cambria" panose="02040503050406030204" pitchFamily="18" charset="0"/>
                <a:ea typeface="华文细黑" panose="02010600040101010101" pitchFamily="2" charset="-122"/>
              </a:rPr>
              <a:t>的位置（坐标轴），也以用来控制颜色（</a:t>
            </a:r>
            <a:r>
              <a:rPr lang="en-US" altLang="zh-CN" sz="2000" dirty="0">
                <a:effectLst/>
                <a:latin typeface="Cambria" panose="02040503050406030204" pitchFamily="18" charset="0"/>
                <a:ea typeface="华文细黑" panose="02010600040101010101" pitchFamily="2" charset="-122"/>
              </a:rPr>
              <a:t>color</a:t>
            </a:r>
            <a:r>
              <a:rPr lang="zh-CN" altLang="zh-CN" sz="2000" dirty="0">
                <a:effectLst/>
                <a:latin typeface="Cambria" panose="02040503050406030204" pitchFamily="18" charset="0"/>
                <a:ea typeface="华文细黑" panose="02010600040101010101" pitchFamily="2" charset="-122"/>
              </a:rPr>
              <a:t>）、大小（</a:t>
            </a:r>
            <a:r>
              <a:rPr lang="en-US" altLang="zh-CN" sz="2000" dirty="0">
                <a:effectLst/>
                <a:latin typeface="Cambria" panose="02040503050406030204" pitchFamily="18" charset="0"/>
                <a:ea typeface="华文细黑" panose="02010600040101010101" pitchFamily="2" charset="-122"/>
              </a:rPr>
              <a:t>size</a:t>
            </a:r>
            <a:r>
              <a:rPr lang="zh-CN" altLang="zh-CN" sz="2000" dirty="0">
                <a:effectLst/>
                <a:latin typeface="Cambria" panose="02040503050406030204" pitchFamily="18" charset="0"/>
                <a:ea typeface="华文细黑" panose="02010600040101010101" pitchFamily="2" charset="-122"/>
              </a:rPr>
              <a:t>）或形状（</a:t>
            </a:r>
            <a:r>
              <a:rPr lang="en-US" altLang="zh-CN" sz="2000" dirty="0">
                <a:effectLst/>
                <a:latin typeface="Cambria" panose="02040503050406030204" pitchFamily="18" charset="0"/>
                <a:ea typeface="华文细黑" panose="02010600040101010101" pitchFamily="2" charset="-122"/>
              </a:rPr>
              <a:t>shape</a:t>
            </a:r>
            <a:r>
              <a:rPr lang="zh-CN" altLang="zh-CN" sz="2000" dirty="0">
                <a:effectLst/>
                <a:latin typeface="Cambria" panose="02040503050406030204" pitchFamily="18" charset="0"/>
                <a:ea typeface="华文细黑" panose="02010600040101010101" pitchFamily="2" charset="-122"/>
              </a:rPr>
              <a:t>）、填充变量等</a:t>
            </a:r>
            <a:endParaRPr lang="en-US" altLang="zh-CN" sz="2000" dirty="0">
              <a:effectLst/>
              <a:latin typeface="Cambria" panose="02040503050406030204" pitchFamily="18" charset="0"/>
              <a:ea typeface="华文细黑" panose="0201060004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rPr>
              <a:t>其次，使用</a:t>
            </a:r>
            <a:r>
              <a:rPr lang="en-US" altLang="zh-CN" sz="2000" dirty="0" err="1">
                <a:effectLst/>
                <a:latin typeface="Cambria" panose="02040503050406030204" pitchFamily="18" charset="0"/>
                <a:ea typeface="华文细黑" panose="02010600040101010101" pitchFamily="2" charset="-122"/>
              </a:rPr>
              <a:t>geom_xxx</a:t>
            </a:r>
            <a:r>
              <a:rPr lang="en-US" altLang="zh-CN" sz="2000" dirty="0">
                <a:effectLst/>
                <a:latin typeface="Cambria" panose="02040503050406030204" pitchFamily="18" charset="0"/>
                <a:ea typeface="华文细黑" panose="02010600040101010101" pitchFamily="2" charset="-122"/>
              </a:rPr>
              <a:t>()</a:t>
            </a:r>
            <a:r>
              <a:rPr lang="zh-CN" altLang="zh-CN" sz="2000" dirty="0">
                <a:effectLst/>
                <a:latin typeface="Cambria" panose="02040503050406030204" pitchFamily="18" charset="0"/>
                <a:ea typeface="华文细黑" panose="02010600040101010101" pitchFamily="2" charset="-122"/>
              </a:rPr>
              <a:t>函数用于创建图形。</a:t>
            </a:r>
            <a:r>
              <a:rPr lang="en-US" altLang="zh-CN" sz="2000" dirty="0" err="1">
                <a:effectLst/>
                <a:latin typeface="Cambria" panose="02040503050406030204" pitchFamily="18" charset="0"/>
                <a:ea typeface="华文细黑" panose="02010600040101010101" pitchFamily="2" charset="-122"/>
              </a:rPr>
              <a:t>geom_xxx</a:t>
            </a:r>
            <a:r>
              <a:rPr lang="en-US" altLang="zh-CN" sz="2000" dirty="0">
                <a:effectLst/>
                <a:latin typeface="Cambria" panose="02040503050406030204" pitchFamily="18" charset="0"/>
                <a:ea typeface="华文细黑" panose="02010600040101010101" pitchFamily="2" charset="-122"/>
              </a:rPr>
              <a:t>()</a:t>
            </a:r>
            <a:r>
              <a:rPr lang="zh-CN" altLang="zh-CN" sz="2000" dirty="0">
                <a:effectLst/>
                <a:latin typeface="Cambria" panose="02040503050406030204" pitchFamily="18" charset="0"/>
                <a:ea typeface="华文细黑" panose="02010600040101010101" pitchFamily="2" charset="-122"/>
              </a:rPr>
              <a:t>下划线后面指定要绘制的图形</a:t>
            </a:r>
            <a:endParaRPr lang="zh-CN" altLang="zh-CN" sz="2000" dirty="0">
              <a:effectLst/>
              <a:latin typeface="Times New Roman" panose="02020603050405020304" pitchFamily="18" charset="0"/>
              <a:ea typeface="宋体" panose="02010600030101010101" pitchFamily="2" charset="-122"/>
            </a:endParaRPr>
          </a:p>
        </p:txBody>
      </p:sp>
      <p:sp>
        <p:nvSpPr>
          <p:cNvPr id="3" name="Rectangle 2">
            <a:extLst>
              <a:ext uri="{FF2B5EF4-FFF2-40B4-BE49-F238E27FC236}">
                <a16:creationId xmlns:a16="http://schemas.microsoft.com/office/drawing/2014/main" id="{47769E29-6C7D-4445-28CC-0E410D919BE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
        <p:nvSpPr>
          <p:cNvPr id="6" name="副标题 2">
            <a:extLst>
              <a:ext uri="{FF2B5EF4-FFF2-40B4-BE49-F238E27FC236}">
                <a16:creationId xmlns:a16="http://schemas.microsoft.com/office/drawing/2014/main" id="{635391D3-E36D-376D-07E6-E054EC332563}"/>
              </a:ext>
            </a:extLst>
          </p:cNvPr>
          <p:cNvSpPr txBox="1">
            <a:spLocks/>
          </p:cNvSpPr>
          <p:nvPr/>
        </p:nvSpPr>
        <p:spPr>
          <a:xfrm>
            <a:off x="6624320" y="1681834"/>
            <a:ext cx="4927600" cy="4698646"/>
          </a:xfrm>
          <a:prstGeom prst="rect">
            <a:avLst/>
          </a:prstGeom>
          <a:noFill/>
          <a:ln w="6350">
            <a:solidFill>
              <a:schemeClr val="bg1">
                <a:lumMod val="75000"/>
              </a:schemeClr>
            </a:solid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j-ea"/>
                <a:ea typeface="+mj-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j-ea"/>
                <a:ea typeface="+mj-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j-ea"/>
                <a:ea typeface="+mj-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j-ea"/>
                <a:ea typeface="+mj-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latin typeface="Cambria" panose="02040503050406030204" pitchFamily="18" charset="0"/>
                <a:ea typeface="华文细黑" panose="02010600040101010101" pitchFamily="2" charset="-122"/>
              </a:rPr>
              <a:t>可选部分主要用于图形的修改和美化等设置</a:t>
            </a:r>
            <a:endParaRPr lang="en-US" altLang="zh-CN" sz="2000" dirty="0">
              <a:latin typeface="Cambria" panose="02040503050406030204" pitchFamily="18" charset="0"/>
              <a:ea typeface="华文细黑" panose="0201060004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latin typeface="Cambria" panose="02040503050406030204" pitchFamily="18" charset="0"/>
                <a:ea typeface="华文细黑" panose="02010600040101010101" pitchFamily="2" charset="-122"/>
              </a:rPr>
              <a:t>比如，使用标度函数</a:t>
            </a:r>
            <a:r>
              <a:rPr lang="en-US" altLang="zh-CN" sz="2000" dirty="0" err="1">
                <a:latin typeface="Cambria" panose="02040503050406030204" pitchFamily="18" charset="0"/>
                <a:ea typeface="华文细黑" panose="02010600040101010101" pitchFamily="2" charset="-122"/>
              </a:rPr>
              <a:t>scale_xxx</a:t>
            </a:r>
            <a:r>
              <a:rPr lang="en-US" altLang="zh-CN" sz="2000" dirty="0">
                <a:latin typeface="Cambria" panose="02040503050406030204" pitchFamily="18" charset="0"/>
                <a:ea typeface="华文细黑" panose="02010600040101010101" pitchFamily="2" charset="-122"/>
              </a:rPr>
              <a:t>()</a:t>
            </a:r>
            <a:r>
              <a:rPr lang="zh-CN" altLang="zh-CN" sz="2000" dirty="0">
                <a:latin typeface="Cambria" panose="02040503050406030204" pitchFamily="18" charset="0"/>
                <a:ea typeface="华文细黑" panose="02010600040101010101" pitchFamily="2" charset="-122"/>
              </a:rPr>
              <a:t>来设置颜色、坐标轴等；使用</a:t>
            </a:r>
            <a:r>
              <a:rPr lang="en-US" altLang="zh-CN" sz="2000" dirty="0" err="1">
                <a:latin typeface="Cambria" panose="02040503050406030204" pitchFamily="18" charset="0"/>
                <a:ea typeface="华文细黑" panose="02010600040101010101" pitchFamily="2" charset="-122"/>
              </a:rPr>
              <a:t>coord_xxx</a:t>
            </a:r>
            <a:r>
              <a:rPr lang="en-US" altLang="zh-CN" sz="2000" dirty="0">
                <a:latin typeface="Cambria" panose="02040503050406030204" pitchFamily="18" charset="0"/>
                <a:ea typeface="华文细黑" panose="02010600040101010101" pitchFamily="2" charset="-122"/>
              </a:rPr>
              <a:t>()</a:t>
            </a:r>
            <a:r>
              <a:rPr lang="zh-CN" altLang="zh-CN" sz="2000" dirty="0">
                <a:latin typeface="Cambria" panose="02040503050406030204" pitchFamily="18" charset="0"/>
                <a:ea typeface="华文细黑" panose="02010600040101010101" pitchFamily="2" charset="-122"/>
              </a:rPr>
              <a:t>函数将直角坐标转换成极坐标、将</a:t>
            </a:r>
            <a:r>
              <a:rPr lang="en-US" altLang="zh-CN" sz="2000" dirty="0">
                <a:latin typeface="Cambria" panose="02040503050406030204" pitchFamily="18" charset="0"/>
                <a:ea typeface="华文细黑" panose="02010600040101010101" pitchFamily="2" charset="-122"/>
              </a:rPr>
              <a:t>x</a:t>
            </a:r>
            <a:r>
              <a:rPr lang="zh-CN" altLang="zh-CN" sz="2000" dirty="0">
                <a:latin typeface="Cambria" panose="02040503050406030204" pitchFamily="18" charset="0"/>
                <a:ea typeface="华文细黑" panose="02010600040101010101" pitchFamily="2" charset="-122"/>
              </a:rPr>
              <a:t>轴和</a:t>
            </a:r>
            <a:r>
              <a:rPr lang="en-US" altLang="zh-CN" sz="2000" dirty="0">
                <a:latin typeface="Cambria" panose="02040503050406030204" pitchFamily="18" charset="0"/>
                <a:ea typeface="华文细黑" panose="02010600040101010101" pitchFamily="2" charset="-122"/>
              </a:rPr>
              <a:t>y</a:t>
            </a:r>
            <a:r>
              <a:rPr lang="zh-CN" altLang="zh-CN" sz="2000" dirty="0">
                <a:latin typeface="Cambria" panose="02040503050406030204" pitchFamily="18" charset="0"/>
                <a:ea typeface="华文细黑" panose="02010600040101010101" pitchFamily="2" charset="-122"/>
              </a:rPr>
              <a:t>轴互换等；使用</a:t>
            </a:r>
            <a:r>
              <a:rPr lang="en-US" altLang="zh-CN" sz="2000" dirty="0" err="1">
                <a:latin typeface="Cambria" panose="02040503050406030204" pitchFamily="18" charset="0"/>
                <a:ea typeface="华文细黑" panose="02010600040101010101" pitchFamily="2" charset="-122"/>
              </a:rPr>
              <a:t>theme_xxx</a:t>
            </a:r>
            <a:r>
              <a:rPr lang="en-US" altLang="zh-CN" sz="2000" dirty="0">
                <a:latin typeface="Cambria" panose="02040503050406030204" pitchFamily="18" charset="0"/>
                <a:ea typeface="华文细黑" panose="02010600040101010101" pitchFamily="2" charset="-122"/>
              </a:rPr>
              <a:t>()</a:t>
            </a:r>
            <a:r>
              <a:rPr lang="zh-CN" altLang="zh-CN" sz="2000" dirty="0">
                <a:latin typeface="Cambria" panose="02040503050406030204" pitchFamily="18" charset="0"/>
                <a:ea typeface="华文细黑" panose="02010600040101010101" pitchFamily="2" charset="-122"/>
              </a:rPr>
              <a:t>函数设置图形主题；使用</a:t>
            </a:r>
            <a:r>
              <a:rPr lang="en-US" altLang="zh-CN" sz="2000" dirty="0">
                <a:latin typeface="Cambria" panose="02040503050406030204" pitchFamily="18" charset="0"/>
                <a:ea typeface="华文细黑" panose="02010600040101010101" pitchFamily="2" charset="-122"/>
              </a:rPr>
              <a:t>labs()</a:t>
            </a:r>
            <a:r>
              <a:rPr lang="zh-CN" altLang="zh-CN" sz="2000" dirty="0">
                <a:latin typeface="Cambria" panose="02040503050406030204" pitchFamily="18" charset="0"/>
                <a:ea typeface="华文细黑" panose="02010600040101010101" pitchFamily="2" charset="-122"/>
              </a:rPr>
              <a:t>函数设置图形标题，等等</a:t>
            </a:r>
            <a:endParaRPr lang="en-US" altLang="zh-CN" sz="2000" dirty="0">
              <a:latin typeface="Cambria" panose="02040503050406030204" pitchFamily="18" charset="0"/>
              <a:ea typeface="华文细黑" panose="02010600040101010101" pitchFamily="2" charset="-122"/>
            </a:endParaRPr>
          </a:p>
        </p:txBody>
      </p:sp>
    </p:spTree>
    <p:extLst>
      <p:ext uri="{BB962C8B-B14F-4D97-AF65-F5344CB8AC3E}">
        <p14:creationId xmlns:p14="http://schemas.microsoft.com/office/powerpoint/2010/main" val="3789702945"/>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坐标轴设置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727267" y="1722474"/>
            <a:ext cx="10743373" cy="4628183"/>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rPr>
              <a:t>图形外观主要是指图形中各种元素的设置</a:t>
            </a:r>
            <a:endParaRPr lang="en-US" altLang="zh-CN" sz="2200" dirty="0">
              <a:effectLst/>
              <a:latin typeface="Cambria" panose="02040503050406030204" pitchFamily="18" charset="0"/>
              <a:ea typeface="华文细黑" panose="0201060004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b="1" dirty="0">
                <a:solidFill>
                  <a:srgbClr val="E36C0A"/>
                </a:solidFill>
                <a:effectLst/>
                <a:latin typeface="Cambria" panose="02040503050406030204" pitchFamily="18" charset="0"/>
                <a:ea typeface="华文细黑" panose="02010600040101010101" pitchFamily="2" charset="-122"/>
              </a:rPr>
              <a:t>图形元素</a:t>
            </a:r>
            <a:r>
              <a:rPr lang="zh-CN" altLang="zh-CN" sz="2200" dirty="0">
                <a:effectLst/>
                <a:latin typeface="Cambria" panose="02040503050406030204" pitchFamily="18" charset="0"/>
                <a:ea typeface="华文细黑" panose="02010600040101010101" pitchFamily="2" charset="-122"/>
              </a:rPr>
              <a:t>（</a:t>
            </a:r>
            <a:r>
              <a:rPr lang="en-US" altLang="zh-CN" sz="2200" dirty="0">
                <a:effectLst/>
                <a:latin typeface="Cambria" panose="02040503050406030204" pitchFamily="18" charset="0"/>
                <a:ea typeface="华文细黑" panose="02010600040101010101" pitchFamily="2" charset="-122"/>
              </a:rPr>
              <a:t>graphic element</a:t>
            </a:r>
            <a:r>
              <a:rPr lang="zh-CN" altLang="zh-CN" sz="2200" dirty="0">
                <a:effectLst/>
                <a:latin typeface="Cambria" panose="02040503050406030204" pitchFamily="18" charset="0"/>
                <a:ea typeface="华文细黑" panose="02010600040101010101" pitchFamily="2" charset="-122"/>
              </a:rPr>
              <a:t>）包括两大类</a:t>
            </a:r>
            <a:endParaRPr lang="en-US" altLang="zh-CN" sz="2200" dirty="0">
              <a:effectLst/>
              <a:latin typeface="Cambria" panose="02040503050406030204" pitchFamily="18" charset="0"/>
              <a:ea typeface="华文细黑" panose="02010600040101010101" pitchFamily="2" charset="-122"/>
            </a:endParaRPr>
          </a:p>
          <a:p>
            <a:pPr marL="819150" lvl="1" indent="-361950" algn="just" defTabSz="685800" eaLnBrk="0" hangingPunct="0">
              <a:lnSpc>
                <a:spcPct val="150000"/>
              </a:lnSpc>
              <a:spcBef>
                <a:spcPct val="50000"/>
              </a:spcBef>
              <a:buClr>
                <a:srgbClr val="C00000"/>
              </a:buClr>
              <a:buSzPct val="100000"/>
              <a:buFont typeface="Wingdings" panose="05000000000000000000" pitchFamily="2" charset="2"/>
              <a:buChar char="Ø"/>
              <a:defRPr/>
            </a:pPr>
            <a:r>
              <a:rPr lang="zh-CN" altLang="zh-CN" sz="1800" dirty="0">
                <a:effectLst/>
                <a:latin typeface="Cambria" panose="02040503050406030204" pitchFamily="18" charset="0"/>
                <a:ea typeface="华文细黑" panose="02010600040101010101" pitchFamily="2" charset="-122"/>
              </a:rPr>
              <a:t>表示数据的元素，如条形图中的条、散点图中的点、折线图中的线等</a:t>
            </a:r>
            <a:endParaRPr lang="en-US" altLang="zh-CN" sz="1800" dirty="0">
              <a:effectLst/>
              <a:latin typeface="Cambria" panose="02040503050406030204" pitchFamily="18" charset="0"/>
              <a:ea typeface="华文细黑" panose="02010600040101010101" pitchFamily="2" charset="-122"/>
            </a:endParaRPr>
          </a:p>
          <a:p>
            <a:pPr marL="819150" lvl="1" indent="-361950" algn="just" defTabSz="685800" eaLnBrk="0" hangingPunct="0">
              <a:lnSpc>
                <a:spcPct val="150000"/>
              </a:lnSpc>
              <a:spcBef>
                <a:spcPct val="50000"/>
              </a:spcBef>
              <a:buClr>
                <a:srgbClr val="C00000"/>
              </a:buClr>
              <a:buSzPct val="100000"/>
              <a:buFont typeface="Wingdings" panose="05000000000000000000" pitchFamily="2" charset="2"/>
              <a:buChar char="Ø"/>
              <a:defRPr/>
            </a:pPr>
            <a:r>
              <a:rPr lang="zh-CN" altLang="zh-CN" sz="1800" dirty="0">
                <a:effectLst/>
                <a:latin typeface="Cambria" panose="02040503050406030204" pitchFamily="18" charset="0"/>
                <a:ea typeface="华文细黑" panose="02010600040101010101" pitchFamily="2" charset="-122"/>
              </a:rPr>
              <a:t>不表示数据的元素（非数据的元素），如图形的</a:t>
            </a:r>
            <a:r>
              <a:rPr lang="zh-CN" altLang="zh-CN" sz="1800" b="1" dirty="0">
                <a:solidFill>
                  <a:srgbClr val="E36C0A"/>
                </a:solidFill>
                <a:effectLst/>
                <a:latin typeface="Cambria" panose="02040503050406030204" pitchFamily="18" charset="0"/>
                <a:ea typeface="华文细黑" panose="02010600040101010101" pitchFamily="2" charset="-122"/>
              </a:rPr>
              <a:t>坐标轴</a:t>
            </a:r>
            <a:r>
              <a:rPr lang="zh-CN" altLang="zh-CN" sz="1800" dirty="0">
                <a:effectLst/>
                <a:latin typeface="Cambria" panose="02040503050406030204" pitchFamily="18" charset="0"/>
                <a:ea typeface="华文细黑" panose="02010600040101010101" pitchFamily="2" charset="-122"/>
              </a:rPr>
              <a:t>（</a:t>
            </a:r>
            <a:r>
              <a:rPr lang="en-US" altLang="zh-CN" sz="1800" dirty="0">
                <a:effectLst/>
                <a:latin typeface="Cambria" panose="02040503050406030204" pitchFamily="18" charset="0"/>
                <a:ea typeface="华文细黑" panose="02010600040101010101" pitchFamily="2" charset="-122"/>
              </a:rPr>
              <a:t>axis</a:t>
            </a:r>
            <a:r>
              <a:rPr lang="zh-CN" altLang="zh-CN" sz="1800" dirty="0">
                <a:effectLst/>
                <a:latin typeface="Cambria" panose="02040503050406030204" pitchFamily="18" charset="0"/>
                <a:ea typeface="华文细黑" panose="02010600040101010101" pitchFamily="2" charset="-122"/>
              </a:rPr>
              <a:t>）、</a:t>
            </a:r>
            <a:r>
              <a:rPr lang="zh-CN" altLang="zh-CN" sz="1800" b="1" dirty="0">
                <a:solidFill>
                  <a:srgbClr val="E36C0A"/>
                </a:solidFill>
                <a:effectLst/>
                <a:latin typeface="Cambria" panose="02040503050406030204" pitchFamily="18" charset="0"/>
                <a:ea typeface="华文细黑" panose="02010600040101010101" pitchFamily="2" charset="-122"/>
              </a:rPr>
              <a:t>标签</a:t>
            </a:r>
            <a:r>
              <a:rPr lang="zh-CN" altLang="zh-CN" sz="1800" dirty="0">
                <a:effectLst/>
                <a:latin typeface="Cambria" panose="02040503050406030204" pitchFamily="18" charset="0"/>
                <a:ea typeface="华文细黑" panose="02010600040101010101" pitchFamily="2" charset="-122"/>
              </a:rPr>
              <a:t>（</a:t>
            </a:r>
            <a:r>
              <a:rPr lang="en-US" altLang="zh-CN" sz="1800" dirty="0">
                <a:effectLst/>
                <a:latin typeface="Cambria" panose="02040503050406030204" pitchFamily="18" charset="0"/>
                <a:ea typeface="华文细黑" panose="02010600040101010101" pitchFamily="2" charset="-122"/>
              </a:rPr>
              <a:t>label</a:t>
            </a:r>
            <a:r>
              <a:rPr lang="zh-CN" altLang="zh-CN" sz="1800" dirty="0">
                <a:effectLst/>
                <a:latin typeface="Cambria" panose="02040503050406030204" pitchFamily="18" charset="0"/>
                <a:ea typeface="华文细黑" panose="02010600040101010101" pitchFamily="2" charset="-122"/>
              </a:rPr>
              <a:t>）、</a:t>
            </a:r>
            <a:r>
              <a:rPr lang="zh-CN" altLang="zh-CN" sz="1800" b="1" dirty="0">
                <a:solidFill>
                  <a:srgbClr val="E36C0A"/>
                </a:solidFill>
                <a:effectLst/>
                <a:latin typeface="Cambria" panose="02040503050406030204" pitchFamily="18" charset="0"/>
                <a:ea typeface="华文细黑" panose="02010600040101010101" pitchFamily="2" charset="-122"/>
              </a:rPr>
              <a:t>标题</a:t>
            </a:r>
            <a:r>
              <a:rPr lang="zh-CN" altLang="zh-CN" sz="1800" dirty="0">
                <a:effectLst/>
                <a:latin typeface="Cambria" panose="02040503050406030204" pitchFamily="18" charset="0"/>
                <a:ea typeface="华文细黑" panose="02010600040101010101" pitchFamily="2" charset="-122"/>
              </a:rPr>
              <a:t>（</a:t>
            </a:r>
            <a:r>
              <a:rPr lang="en-US" altLang="zh-CN" sz="1800" dirty="0">
                <a:effectLst/>
                <a:latin typeface="Cambria" panose="02040503050406030204" pitchFamily="18" charset="0"/>
                <a:ea typeface="华文细黑" panose="02010600040101010101" pitchFamily="2" charset="-122"/>
              </a:rPr>
              <a:t>title</a:t>
            </a:r>
            <a:r>
              <a:rPr lang="zh-CN" altLang="zh-CN" sz="1800" dirty="0">
                <a:effectLst/>
                <a:latin typeface="Cambria" panose="02040503050406030204" pitchFamily="18" charset="0"/>
                <a:ea typeface="华文细黑" panose="02010600040101010101" pitchFamily="2" charset="-122"/>
              </a:rPr>
              <a:t>）、</a:t>
            </a:r>
            <a:r>
              <a:rPr lang="zh-CN" altLang="zh-CN" sz="1800" b="1" dirty="0">
                <a:solidFill>
                  <a:srgbClr val="E36C0A"/>
                </a:solidFill>
                <a:effectLst/>
                <a:latin typeface="Cambria" panose="02040503050406030204" pitchFamily="18" charset="0"/>
                <a:ea typeface="华文细黑" panose="02010600040101010101" pitchFamily="2" charset="-122"/>
              </a:rPr>
              <a:t>图例</a:t>
            </a:r>
            <a:r>
              <a:rPr lang="zh-CN" altLang="zh-CN" sz="1800" dirty="0">
                <a:effectLst/>
                <a:latin typeface="Cambria" panose="02040503050406030204" pitchFamily="18" charset="0"/>
                <a:ea typeface="华文细黑" panose="02010600040101010101" pitchFamily="2" charset="-122"/>
              </a:rPr>
              <a:t>（</a:t>
            </a:r>
            <a:r>
              <a:rPr lang="en-US" altLang="zh-CN" sz="1800" dirty="0">
                <a:effectLst/>
                <a:latin typeface="Cambria" panose="02040503050406030204" pitchFamily="18" charset="0"/>
                <a:ea typeface="华文细黑" panose="02010600040101010101" pitchFamily="2" charset="-122"/>
              </a:rPr>
              <a:t>legend</a:t>
            </a:r>
            <a:r>
              <a:rPr lang="zh-CN" altLang="zh-CN" sz="1800" dirty="0">
                <a:effectLst/>
                <a:latin typeface="Cambria" panose="02040503050406030204" pitchFamily="18" charset="0"/>
                <a:ea typeface="华文细黑" panose="02010600040101010101" pitchFamily="2" charset="-122"/>
              </a:rPr>
              <a:t>）、</a:t>
            </a:r>
            <a:r>
              <a:rPr lang="zh-CN" altLang="zh-CN" sz="1800" b="1" dirty="0">
                <a:solidFill>
                  <a:srgbClr val="E36C0A"/>
                </a:solidFill>
                <a:effectLst/>
                <a:latin typeface="Cambria" panose="02040503050406030204" pitchFamily="18" charset="0"/>
                <a:ea typeface="华文细黑" panose="02010600040101010101" pitchFamily="2" charset="-122"/>
              </a:rPr>
              <a:t>主题</a:t>
            </a:r>
            <a:r>
              <a:rPr lang="zh-CN" altLang="zh-CN" sz="1800" dirty="0">
                <a:effectLst/>
                <a:latin typeface="Cambria" panose="02040503050406030204" pitchFamily="18" charset="0"/>
                <a:ea typeface="华文细黑" panose="02010600040101010101" pitchFamily="2" charset="-122"/>
              </a:rPr>
              <a:t>（</a:t>
            </a:r>
            <a:r>
              <a:rPr lang="en-US" altLang="zh-CN" sz="1800" dirty="0">
                <a:effectLst/>
                <a:latin typeface="Cambria" panose="02040503050406030204" pitchFamily="18" charset="0"/>
                <a:ea typeface="华文细黑" panose="02010600040101010101" pitchFamily="2" charset="-122"/>
              </a:rPr>
              <a:t>theme</a:t>
            </a:r>
            <a:r>
              <a:rPr lang="zh-CN" altLang="zh-CN" sz="1800" dirty="0">
                <a:effectLst/>
                <a:latin typeface="Cambria" panose="02040503050406030204" pitchFamily="18" charset="0"/>
                <a:ea typeface="华文细黑" panose="02010600040101010101" pitchFamily="2" charset="-122"/>
              </a:rPr>
              <a:t>）等</a:t>
            </a:r>
            <a:endParaRPr lang="en-US" altLang="zh-CN" sz="1800" dirty="0">
              <a:effectLst/>
              <a:latin typeface="Cambria" panose="02040503050406030204" pitchFamily="18" charset="0"/>
              <a:ea typeface="华文细黑" panose="02010600040101010101" pitchFamily="2" charset="-122"/>
            </a:endParaRPr>
          </a:p>
          <a:p>
            <a:pPr marL="361950" lvl="1"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dirty="0">
                <a:latin typeface="Cambria" panose="02040503050406030204" pitchFamily="18" charset="0"/>
                <a:ea typeface="华文细黑" panose="02010600040101010101" pitchFamily="2" charset="-122"/>
              </a:rPr>
              <a:t>本节只介绍图形中非数据元素的设置，数据元素的设置将在以后各章的绘图中得以体现</a:t>
            </a:r>
          </a:p>
        </p:txBody>
      </p:sp>
      <p:sp>
        <p:nvSpPr>
          <p:cNvPr id="2" name="Rectangle 2">
            <a:extLst>
              <a:ext uri="{FF2B5EF4-FFF2-40B4-BE49-F238E27FC236}">
                <a16:creationId xmlns:a16="http://schemas.microsoft.com/office/drawing/2014/main" id="{1664C9DD-57D4-AFC3-7BE5-548E5EBE84C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3176441179"/>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坐标轴设置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778067" y="1722474"/>
            <a:ext cx="10672253" cy="4628183"/>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坐标轴包括坐标轴刻度（如刻度线的位置和数量）、数值范围、刻度标签（如数值变量刻度位置表示的数值或类别变量刻度位置表示的类别名称）、坐标轴标题（坐标轴表示的变量名称）等</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通常情况下，</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默认设置的坐标轴基本上能满足需要，但有时也要做适当修改。比如，修改坐标轴刻度线的数量和位置，刻度标签字体大小和角度，</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轴和</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y</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轴的数值范围，坐标轴标题的字体大小、顺序和摆放方式，等等</a:t>
            </a:r>
            <a:endParaRPr lang="en-US" altLang="zh-CN" sz="22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1664C9DD-57D4-AFC3-7BE5-548E5EBE84C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2887410871"/>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坐标轴设置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778067" y="1722474"/>
            <a:ext cx="5076861" cy="4628183"/>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300" kern="0" dirty="0">
                <a:effectLst/>
                <a:latin typeface="Cambria" panose="02040503050406030204" pitchFamily="18" charset="0"/>
                <a:ea typeface="华文细黑" panose="02010600040101010101" pitchFamily="2" charset="-122"/>
              </a:rPr>
              <a:t>图（</a:t>
            </a:r>
            <a:r>
              <a:rPr lang="en-US" altLang="zh-CN" sz="1300" kern="0" dirty="0">
                <a:effectLst/>
                <a:latin typeface="Cambria" panose="02040503050406030204" pitchFamily="18" charset="0"/>
                <a:ea typeface="华文细黑" panose="02010600040101010101" pitchFamily="2" charset="-122"/>
              </a:rPr>
              <a:t>a</a:t>
            </a:r>
            <a:r>
              <a:rPr lang="zh-CN" altLang="zh-CN" sz="1300" kern="0" dirty="0">
                <a:effectLst/>
                <a:latin typeface="Cambria" panose="02040503050406030204" pitchFamily="18" charset="0"/>
                <a:ea typeface="华文细黑" panose="02010600040101010101" pitchFamily="2" charset="-122"/>
              </a:rPr>
              <a:t>）</a:t>
            </a:r>
            <a:r>
              <a:rPr lang="zh-CN" altLang="en-US" sz="1300" kern="0" dirty="0">
                <a:effectLst/>
                <a:latin typeface="Cambria" panose="02040503050406030204" pitchFamily="18" charset="0"/>
                <a:ea typeface="华文细黑" panose="02010600040101010101" pitchFamily="2" charset="-122"/>
              </a:rPr>
              <a:t>是</a:t>
            </a:r>
            <a:r>
              <a:rPr lang="zh-CN" altLang="zh-CN" sz="1300" kern="0" dirty="0">
                <a:effectLst/>
                <a:latin typeface="Cambria" panose="02040503050406030204" pitchFamily="18" charset="0"/>
                <a:ea typeface="华文细黑" panose="02010600040101010101" pitchFamily="2" charset="-122"/>
              </a:rPr>
              <a:t>默认绘制的类别轴（本图为</a:t>
            </a:r>
            <a:r>
              <a:rPr lang="en-US" altLang="zh-CN" sz="1300" kern="0" dirty="0">
                <a:effectLst/>
                <a:latin typeface="Cambria" panose="02040503050406030204" pitchFamily="18" charset="0"/>
                <a:ea typeface="华文细黑" panose="02010600040101010101" pitchFamily="2" charset="-122"/>
              </a:rPr>
              <a:t>x</a:t>
            </a:r>
            <a:r>
              <a:rPr lang="zh-CN" altLang="zh-CN" sz="1300" kern="0" dirty="0">
                <a:effectLst/>
                <a:latin typeface="Cambria" panose="02040503050406030204" pitchFamily="18" charset="0"/>
                <a:ea typeface="华文细黑" panose="02010600040101010101" pitchFamily="2" charset="-122"/>
              </a:rPr>
              <a:t>轴）顺序是</a:t>
            </a:r>
            <a:r>
              <a:rPr lang="en-US" altLang="zh-CN" sz="1300" kern="0" dirty="0">
                <a:effectLst/>
                <a:latin typeface="Cambria" panose="02040503050406030204" pitchFamily="18" charset="0"/>
                <a:ea typeface="华文细黑" panose="02010600040101010101" pitchFamily="2" charset="-122"/>
              </a:rPr>
              <a:t>R</a:t>
            </a:r>
            <a:r>
              <a:rPr lang="zh-CN" altLang="zh-CN" sz="1300" kern="0" dirty="0">
                <a:effectLst/>
                <a:latin typeface="Cambria" panose="02040503050406030204" pitchFamily="18" charset="0"/>
                <a:ea typeface="华文细黑" panose="02010600040101010101" pitchFamily="2" charset="-122"/>
              </a:rPr>
              <a:t>语言、</a:t>
            </a:r>
            <a:r>
              <a:rPr lang="en-US" altLang="zh-CN" sz="1300" kern="0" dirty="0">
                <a:effectLst/>
                <a:latin typeface="Cambria" panose="02040503050406030204" pitchFamily="18" charset="0"/>
                <a:ea typeface="华文细黑" panose="02010600040101010101" pitchFamily="2" charset="-122"/>
              </a:rPr>
              <a:t>Python</a:t>
            </a:r>
            <a:r>
              <a:rPr lang="zh-CN" altLang="zh-CN" sz="1300" kern="0" dirty="0">
                <a:effectLst/>
                <a:latin typeface="Cambria" panose="02040503050406030204" pitchFamily="18" charset="0"/>
                <a:ea typeface="华文细黑" panose="02010600040101010101" pitchFamily="2" charset="-122"/>
              </a:rPr>
              <a:t>语言，使用</a:t>
            </a:r>
            <a:r>
              <a:rPr lang="en-US" altLang="zh-CN" sz="1300" kern="0" dirty="0" err="1">
                <a:effectLst/>
                <a:latin typeface="Cambria" panose="02040503050406030204" pitchFamily="18" charset="0"/>
                <a:ea typeface="华文细黑" panose="02010600040101010101" pitchFamily="2" charset="-122"/>
              </a:rPr>
              <a:t>scale_x_discrete</a:t>
            </a:r>
            <a:r>
              <a:rPr lang="en-US" altLang="zh-CN" sz="1300" kern="0" dirty="0">
                <a:effectLst/>
                <a:latin typeface="Cambria" panose="02040503050406030204" pitchFamily="18" charset="0"/>
                <a:ea typeface="华文细黑" panose="02010600040101010101" pitchFamily="2" charset="-122"/>
              </a:rPr>
              <a:t>(limits=c())</a:t>
            </a:r>
            <a:r>
              <a:rPr lang="zh-CN" altLang="zh-CN" sz="1300" kern="0" dirty="0">
                <a:effectLst/>
                <a:latin typeface="Cambria" panose="02040503050406030204" pitchFamily="18" charset="0"/>
                <a:ea typeface="华文细黑" panose="02010600040101010101" pitchFamily="2" charset="-122"/>
              </a:rPr>
              <a:t>可根据需改变类别顺序</a:t>
            </a:r>
            <a:endParaRPr lang="en-US" altLang="zh-CN" sz="1300" kern="100" dirty="0">
              <a:latin typeface="Times New Roman" panose="02020603050405020304" pitchFamily="18" charset="0"/>
              <a:ea typeface="华文细黑" panose="0201060004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300" kern="0" dirty="0">
                <a:effectLst/>
                <a:latin typeface="Cambria" panose="02040503050406030204" pitchFamily="18" charset="0"/>
                <a:ea typeface="华文细黑" panose="02010600040101010101" pitchFamily="2" charset="-122"/>
              </a:rPr>
              <a:t>图（</a:t>
            </a:r>
            <a:r>
              <a:rPr lang="en-US" altLang="zh-CN" sz="1300" kern="0" dirty="0">
                <a:effectLst/>
                <a:latin typeface="Cambria" panose="02040503050406030204" pitchFamily="18" charset="0"/>
                <a:ea typeface="华文细黑" panose="02010600040101010101" pitchFamily="2" charset="-122"/>
              </a:rPr>
              <a:t>b</a:t>
            </a:r>
            <a:r>
              <a:rPr lang="zh-CN" altLang="zh-CN" sz="1300" kern="0" dirty="0">
                <a:effectLst/>
                <a:latin typeface="Cambria" panose="02040503050406030204" pitchFamily="18" charset="0"/>
                <a:ea typeface="华文细黑" panose="02010600040101010101" pitchFamily="2" charset="-122"/>
              </a:rPr>
              <a:t>）是设置</a:t>
            </a:r>
            <a:r>
              <a:rPr lang="en-US" altLang="zh-CN" sz="1300" kern="0" dirty="0" err="1">
                <a:effectLst/>
                <a:latin typeface="Cambria" panose="02040503050406030204" pitchFamily="18" charset="0"/>
                <a:ea typeface="华文细黑" panose="02010600040101010101" pitchFamily="2" charset="-122"/>
              </a:rPr>
              <a:t>coord_flip</a:t>
            </a:r>
            <a:r>
              <a:rPr lang="en-US" altLang="zh-CN" sz="1300" kern="0" dirty="0">
                <a:effectLst/>
                <a:latin typeface="Cambria" panose="02040503050406030204" pitchFamily="18" charset="0"/>
                <a:ea typeface="华文细黑" panose="02010600040101010101" pitchFamily="2" charset="-122"/>
              </a:rPr>
              <a:t>()</a:t>
            </a:r>
            <a:r>
              <a:rPr lang="zh-CN" altLang="zh-CN" sz="1300" kern="0" dirty="0">
                <a:effectLst/>
                <a:latin typeface="Cambria" panose="02040503050406030204" pitchFamily="18" charset="0"/>
                <a:ea typeface="华文细黑" panose="02010600040101010101" pitchFamily="2" charset="-122"/>
              </a:rPr>
              <a:t>使坐标轴互换，同时，将</a:t>
            </a:r>
            <a:r>
              <a:rPr lang="en-US" altLang="zh-CN" sz="1300" kern="0" dirty="0">
                <a:effectLst/>
                <a:latin typeface="Cambria" panose="02040503050406030204" pitchFamily="18" charset="0"/>
                <a:ea typeface="华文细黑" panose="02010600040101010101" pitchFamily="2" charset="-122"/>
              </a:rPr>
              <a:t>x</a:t>
            </a:r>
            <a:r>
              <a:rPr lang="zh-CN" altLang="zh-CN" sz="1300" kern="0" dirty="0">
                <a:effectLst/>
                <a:latin typeface="Cambria" panose="02040503050406030204" pitchFamily="18" charset="0"/>
                <a:ea typeface="华文细黑" panose="02010600040101010101" pitchFamily="2" charset="-122"/>
              </a:rPr>
              <a:t>轴（类别轴）标签旋转</a:t>
            </a:r>
            <a:r>
              <a:rPr lang="en-US" altLang="zh-CN" sz="1300" kern="0" dirty="0">
                <a:effectLst/>
                <a:latin typeface="Cambria" panose="02040503050406030204" pitchFamily="18" charset="0"/>
                <a:ea typeface="华文细黑" panose="02010600040101010101" pitchFamily="2" charset="-122"/>
              </a:rPr>
              <a:t>90</a:t>
            </a:r>
            <a:r>
              <a:rPr lang="zh-CN" altLang="zh-CN" sz="1300" kern="0" dirty="0">
                <a:effectLst/>
                <a:latin typeface="Cambria" panose="02040503050406030204" pitchFamily="18" charset="0"/>
                <a:ea typeface="华文细黑" panose="02010600040101010101" pitchFamily="2" charset="-122"/>
              </a:rPr>
              <a:t>度</a:t>
            </a:r>
            <a:endParaRPr lang="en-US" altLang="zh-CN" sz="1300" kern="100" dirty="0">
              <a:latin typeface="Times New Roman" panose="02020603050405020304" pitchFamily="18" charset="0"/>
              <a:ea typeface="华文细黑" panose="0201060004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300" kern="0" dirty="0">
                <a:effectLst/>
                <a:latin typeface="Cambria" panose="02040503050406030204" pitchFamily="18" charset="0"/>
                <a:ea typeface="华文细黑" panose="02010600040101010101" pitchFamily="2" charset="-122"/>
              </a:rPr>
              <a:t>图（</a:t>
            </a:r>
            <a:r>
              <a:rPr lang="en-US" altLang="zh-CN" sz="1300" kern="0" dirty="0">
                <a:effectLst/>
                <a:latin typeface="Cambria" panose="02040503050406030204" pitchFamily="18" charset="0"/>
                <a:ea typeface="华文细黑" panose="02010600040101010101" pitchFamily="2" charset="-122"/>
              </a:rPr>
              <a:t>c</a:t>
            </a:r>
            <a:r>
              <a:rPr lang="zh-CN" altLang="zh-CN" sz="1300" kern="0" dirty="0">
                <a:effectLst/>
                <a:latin typeface="Cambria" panose="02040503050406030204" pitchFamily="18" charset="0"/>
                <a:ea typeface="华文细黑" panose="02010600040101010101" pitchFamily="2" charset="-122"/>
              </a:rPr>
              <a:t>）使用</a:t>
            </a:r>
            <a:r>
              <a:rPr lang="en-US" altLang="zh-CN" sz="1300" kern="0" dirty="0">
                <a:effectLst/>
                <a:latin typeface="Cambria" panose="02040503050406030204" pitchFamily="18" charset="0"/>
                <a:ea typeface="华文细黑" panose="02010600040101010101" pitchFamily="2" charset="-122"/>
              </a:rPr>
              <a:t>theme(</a:t>
            </a:r>
            <a:r>
              <a:rPr lang="en-US" altLang="zh-CN" sz="1300" kern="0" dirty="0" err="1">
                <a:effectLst/>
                <a:latin typeface="Cambria" panose="02040503050406030204" pitchFamily="18" charset="0"/>
                <a:ea typeface="华文细黑" panose="02010600040101010101" pitchFamily="2" charset="-122"/>
              </a:rPr>
              <a:t>axis.title.x</a:t>
            </a:r>
            <a:r>
              <a:rPr lang="en-US" altLang="zh-CN" sz="1300" kern="0" dirty="0">
                <a:effectLst/>
                <a:latin typeface="Cambria" panose="02040503050406030204" pitchFamily="18" charset="0"/>
                <a:ea typeface="华文细黑" panose="02010600040101010101" pitchFamily="2" charset="-122"/>
              </a:rPr>
              <a:t>=</a:t>
            </a:r>
            <a:r>
              <a:rPr lang="en-US" altLang="zh-CN" sz="1300" kern="0" dirty="0" err="1">
                <a:effectLst/>
                <a:latin typeface="Cambria" panose="02040503050406030204" pitchFamily="18" charset="0"/>
                <a:ea typeface="华文细黑" panose="02010600040101010101" pitchFamily="2" charset="-122"/>
              </a:rPr>
              <a:t>element_blank</a:t>
            </a:r>
            <a:r>
              <a:rPr lang="en-US" altLang="zh-CN" sz="1300" kern="0" dirty="0">
                <a:effectLst/>
                <a:latin typeface="Cambria" panose="02040503050406030204" pitchFamily="18" charset="0"/>
                <a:ea typeface="华文细黑" panose="02010600040101010101" pitchFamily="2" charset="-122"/>
              </a:rPr>
              <a:t>())</a:t>
            </a:r>
            <a:r>
              <a:rPr lang="zh-CN" altLang="zh-CN" sz="1300" kern="0" dirty="0">
                <a:effectLst/>
                <a:latin typeface="Cambria" panose="02040503050406030204" pitchFamily="18" charset="0"/>
                <a:ea typeface="华文细黑" panose="02010600040101010101" pitchFamily="2" charset="-122"/>
              </a:rPr>
              <a:t>移除</a:t>
            </a:r>
            <a:r>
              <a:rPr lang="en-US" altLang="zh-CN" sz="1300" kern="0" dirty="0">
                <a:effectLst/>
                <a:latin typeface="Cambria" panose="02040503050406030204" pitchFamily="18" charset="0"/>
                <a:ea typeface="华文细黑" panose="02010600040101010101" pitchFamily="2" charset="-122"/>
              </a:rPr>
              <a:t>y</a:t>
            </a:r>
            <a:r>
              <a:rPr lang="zh-CN" altLang="zh-CN" sz="1300" kern="0" dirty="0">
                <a:effectLst/>
                <a:latin typeface="Cambria" panose="02040503050406030204" pitchFamily="18" charset="0"/>
                <a:ea typeface="华文细黑" panose="02010600040101010101" pitchFamily="2" charset="-122"/>
              </a:rPr>
              <a:t>轴标签，要移除</a:t>
            </a:r>
            <a:r>
              <a:rPr lang="en-US" altLang="zh-CN" sz="1300" kern="0" dirty="0">
                <a:effectLst/>
                <a:latin typeface="Cambria" panose="02040503050406030204" pitchFamily="18" charset="0"/>
                <a:ea typeface="华文细黑" panose="02010600040101010101" pitchFamily="2" charset="-122"/>
              </a:rPr>
              <a:t>x</a:t>
            </a:r>
            <a:r>
              <a:rPr lang="zh-CN" altLang="zh-CN" sz="1300" kern="0" dirty="0">
                <a:effectLst/>
                <a:latin typeface="Cambria" panose="02040503050406030204" pitchFamily="18" charset="0"/>
                <a:ea typeface="华文细黑" panose="02010600040101010101" pitchFamily="2" charset="-122"/>
              </a:rPr>
              <a:t>轴标签使用类似的设置；设置</a:t>
            </a:r>
            <a:r>
              <a:rPr lang="en-US" altLang="zh-CN" sz="1300" kern="0" dirty="0">
                <a:effectLst/>
                <a:latin typeface="Cambria" panose="02040503050406030204" pitchFamily="18" charset="0"/>
                <a:ea typeface="华文细黑" panose="02010600040101010101" pitchFamily="2" charset="-122"/>
              </a:rPr>
              <a:t>theme(</a:t>
            </a:r>
            <a:r>
              <a:rPr lang="en-US" altLang="zh-CN" sz="1300" kern="0" dirty="0" err="1">
                <a:effectLst/>
                <a:latin typeface="Cambria" panose="02040503050406030204" pitchFamily="18" charset="0"/>
                <a:ea typeface="华文细黑" panose="02010600040101010101" pitchFamily="2" charset="-122"/>
              </a:rPr>
              <a:t>axis.ticks.y</a:t>
            </a:r>
            <a:r>
              <a:rPr lang="en-US" altLang="zh-CN" sz="1300" kern="0" dirty="0">
                <a:effectLst/>
                <a:latin typeface="Cambria" panose="02040503050406030204" pitchFamily="18" charset="0"/>
                <a:ea typeface="华文细黑" panose="02010600040101010101" pitchFamily="2" charset="-122"/>
              </a:rPr>
              <a:t>=</a:t>
            </a:r>
            <a:r>
              <a:rPr lang="en-US" altLang="zh-CN" sz="1300" kern="0" dirty="0" err="1">
                <a:effectLst/>
                <a:latin typeface="Cambria" panose="02040503050406030204" pitchFamily="18" charset="0"/>
                <a:ea typeface="华文细黑" panose="02010600040101010101" pitchFamily="2" charset="-122"/>
              </a:rPr>
              <a:t>element_blank</a:t>
            </a:r>
            <a:r>
              <a:rPr lang="en-US" altLang="zh-CN" sz="1300" kern="0" dirty="0">
                <a:effectLst/>
                <a:latin typeface="Cambria" panose="02040503050406030204" pitchFamily="18" charset="0"/>
                <a:ea typeface="华文细黑" panose="02010600040101010101" pitchFamily="2" charset="-122"/>
              </a:rPr>
              <a:t>())</a:t>
            </a:r>
            <a:r>
              <a:rPr lang="zh-CN" altLang="zh-CN" sz="1300" kern="0" dirty="0">
                <a:effectLst/>
                <a:latin typeface="Cambria" panose="02040503050406030204" pitchFamily="18" charset="0"/>
                <a:ea typeface="华文细黑" panose="02010600040101010101" pitchFamily="2" charset="-122"/>
              </a:rPr>
              <a:t>移除</a:t>
            </a:r>
            <a:r>
              <a:rPr lang="en-US" altLang="zh-CN" sz="1300" kern="0" dirty="0">
                <a:effectLst/>
                <a:latin typeface="Cambria" panose="02040503050406030204" pitchFamily="18" charset="0"/>
                <a:ea typeface="华文细黑" panose="02010600040101010101" pitchFamily="2" charset="-122"/>
              </a:rPr>
              <a:t>y</a:t>
            </a:r>
            <a:r>
              <a:rPr lang="zh-CN" altLang="zh-CN" sz="1300" kern="0" dirty="0">
                <a:effectLst/>
                <a:latin typeface="Cambria" panose="02040503050406030204" pitchFamily="18" charset="0"/>
                <a:ea typeface="华文细黑" panose="02010600040101010101" pitchFamily="2" charset="-122"/>
              </a:rPr>
              <a:t>轴的刻度线</a:t>
            </a:r>
            <a:endParaRPr lang="en-US" altLang="zh-CN" sz="1300" kern="100" dirty="0">
              <a:latin typeface="Times New Roman" panose="02020603050405020304" pitchFamily="18" charset="0"/>
              <a:ea typeface="华文细黑" panose="02010600040101010101" pitchFamily="2" charset="-122"/>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图（</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d</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theme(</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axis.ticks</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element_blank</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移除所有的刻度线，将坐标轴标签旋转是为了改变标签的角度。当标签较多时，也可以设置</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scale_x_discrete</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(guide=</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guide_axis</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n.dodge</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=2))</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使</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轴标签排成为</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2</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行。使用</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xlim</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可以数值</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轴的数值范围</a:t>
            </a:r>
            <a:r>
              <a:rPr lang="zh-CN" altLang="en-US" sz="13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设置</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300" kern="0" dirty="0">
                <a:effectLst/>
                <a:latin typeface="Cambria" panose="02040503050406030204" pitchFamily="18" charset="0"/>
                <a:ea typeface="华文细黑" panose="02010600040101010101" pitchFamily="2" charset="-122"/>
                <a:cs typeface="Times New Roman" panose="02020603050405020304" pitchFamily="18" charset="0"/>
              </a:rPr>
              <a:t>轴数值范围时，函数会在该范围内设置坐标轴刻度，重新设置刻度线可以使用</a:t>
            </a:r>
            <a:r>
              <a:rPr lang="en-US" altLang="zh-CN" sz="1300" kern="0" dirty="0" err="1">
                <a:effectLst/>
                <a:latin typeface="Cambria" panose="02040503050406030204" pitchFamily="18" charset="0"/>
                <a:ea typeface="华文细黑" panose="02010600040101010101" pitchFamily="2" charset="-122"/>
                <a:cs typeface="Times New Roman" panose="02020603050405020304" pitchFamily="18" charset="0"/>
              </a:rPr>
              <a:t>scale_x_continuous</a:t>
            </a:r>
            <a:r>
              <a:rPr lang="en-US" altLang="zh-CN" sz="1300" kern="0" dirty="0">
                <a:effectLst/>
                <a:latin typeface="Cambria" panose="02040503050406030204" pitchFamily="18" charset="0"/>
                <a:ea typeface="华文细黑" panose="02010600040101010101" pitchFamily="2" charset="-122"/>
                <a:cs typeface="Times New Roman" panose="02020603050405020304" pitchFamily="18" charset="0"/>
              </a:rPr>
              <a:t>(limits=c(),breaks=c())</a:t>
            </a:r>
            <a:endParaRPr lang="en-US" altLang="zh-CN" sz="13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1664C9DD-57D4-AFC3-7BE5-548E5EBE84C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4" name="图片 3">
            <a:extLst>
              <a:ext uri="{FF2B5EF4-FFF2-40B4-BE49-F238E27FC236}">
                <a16:creationId xmlns:a16="http://schemas.microsoft.com/office/drawing/2014/main" id="{8114B81B-96C7-16F6-1489-03B593EE96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95109" y="1727789"/>
            <a:ext cx="5573114" cy="4622867"/>
          </a:xfrm>
          <a:prstGeom prst="rect">
            <a:avLst/>
          </a:prstGeom>
          <a:ln w="6350">
            <a:solidFill>
              <a:schemeClr val="bg1">
                <a:lumMod val="75000"/>
              </a:schemeClr>
            </a:solidFill>
          </a:ln>
        </p:spPr>
      </p:pic>
    </p:spTree>
    <p:extLst>
      <p:ext uri="{BB962C8B-B14F-4D97-AF65-F5344CB8AC3E}">
        <p14:creationId xmlns:p14="http://schemas.microsoft.com/office/powerpoint/2010/main" val="432359632"/>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标题设置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7" y="1722474"/>
            <a:ext cx="4134293" cy="464784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kern="0" dirty="0">
                <a:effectLst/>
                <a:latin typeface="Cambria" panose="02040503050406030204" pitchFamily="18" charset="0"/>
                <a:ea typeface="华文细黑" panose="02010600040101010101" pitchFamily="2" charset="-122"/>
                <a:cs typeface="Times New Roman" panose="02020603050405020304" pitchFamily="18" charset="0"/>
              </a:rPr>
              <a:t>绘制的图形不添加标题，使用</a:t>
            </a:r>
            <a:r>
              <a:rPr lang="en-US" altLang="zh-CN" kern="0" dirty="0" err="1">
                <a:effectLst/>
                <a:latin typeface="Cambria" panose="02040503050406030204" pitchFamily="18" charset="0"/>
                <a:ea typeface="华文细黑" panose="02010600040101010101" pitchFamily="2" charset="-122"/>
                <a:cs typeface="Times New Roman" panose="02020603050405020304" pitchFamily="18" charset="0"/>
              </a:rPr>
              <a:t>ggtitle</a:t>
            </a:r>
            <a:r>
              <a:rPr lang="en-US" altLang="zh-CN"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kern="0" dirty="0">
                <a:effectLst/>
                <a:latin typeface="Cambria" panose="02040503050406030204" pitchFamily="18" charset="0"/>
                <a:ea typeface="华文细黑" panose="02010600040101010101" pitchFamily="2" charset="-122"/>
                <a:cs typeface="Arial" panose="020B0604020202020204" pitchFamily="34" charset="0"/>
              </a:rPr>
              <a:t>""</a:t>
            </a:r>
            <a:r>
              <a:rPr lang="en-US" altLang="zh-CN"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kern="0" dirty="0">
                <a:effectLst/>
                <a:latin typeface="Cambria" panose="02040503050406030204" pitchFamily="18" charset="0"/>
                <a:ea typeface="华文细黑" panose="02010600040101010101" pitchFamily="2" charset="-122"/>
                <a:cs typeface="Times New Roman" panose="02020603050405020304" pitchFamily="18" charset="0"/>
              </a:rPr>
              <a:t>函数可以添加标题</a:t>
            </a:r>
            <a:endParaRPr lang="en-US" altLang="zh-CN"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kern="0" dirty="0">
                <a:effectLst/>
                <a:latin typeface="Cambria" panose="02040503050406030204" pitchFamily="18" charset="0"/>
                <a:ea typeface="华文细黑" panose="02010600040101010101" pitchFamily="2" charset="-122"/>
                <a:cs typeface="Times New Roman" panose="02020603050405020304" pitchFamily="18" charset="0"/>
              </a:rPr>
              <a:t>也可以使用</a:t>
            </a:r>
            <a:r>
              <a:rPr lang="en-US" altLang="zh-CN" kern="0" dirty="0">
                <a:effectLst/>
                <a:latin typeface="Cambria" panose="02040503050406030204" pitchFamily="18" charset="0"/>
                <a:ea typeface="华文细黑" panose="02010600040101010101" pitchFamily="2" charset="-122"/>
                <a:cs typeface="Times New Roman" panose="02020603050405020304" pitchFamily="18" charset="0"/>
              </a:rPr>
              <a:t>labs(title=</a:t>
            </a:r>
            <a:r>
              <a:rPr lang="en-US" altLang="zh-CN" kern="0" dirty="0">
                <a:effectLst/>
                <a:latin typeface="Cambria" panose="02040503050406030204" pitchFamily="18" charset="0"/>
                <a:ea typeface="华文细黑" panose="02010600040101010101" pitchFamily="2" charset="-122"/>
                <a:cs typeface="Arial" panose="020B0604020202020204" pitchFamily="34" charset="0"/>
              </a:rPr>
              <a:t>""</a:t>
            </a:r>
            <a:r>
              <a:rPr lang="en-US" altLang="zh-CN"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kern="0" dirty="0">
                <a:effectLst/>
                <a:latin typeface="Cambria" panose="02040503050406030204" pitchFamily="18" charset="0"/>
                <a:ea typeface="华文细黑" panose="02010600040101010101" pitchFamily="2" charset="-122"/>
                <a:cs typeface="Times New Roman" panose="02020603050405020304" pitchFamily="18" charset="0"/>
              </a:rPr>
              <a:t>函数添加标题</a:t>
            </a:r>
            <a:endParaRPr lang="en-US" altLang="zh-CN"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kern="0" dirty="0">
                <a:effectLst/>
                <a:latin typeface="Cambria" panose="02040503050406030204" pitchFamily="18" charset="0"/>
                <a:ea typeface="华文细黑" panose="02010600040101010101" pitchFamily="2" charset="-122"/>
                <a:cs typeface="Times New Roman" panose="02020603050405020304" pitchFamily="18" charset="0"/>
              </a:rPr>
              <a:t>使用主题函数</a:t>
            </a:r>
            <a:r>
              <a:rPr lang="en-US" altLang="zh-CN" kern="0" dirty="0" err="1">
                <a:effectLst/>
                <a:latin typeface="Cambria" panose="02040503050406030204" pitchFamily="18" charset="0"/>
                <a:ea typeface="华文细黑" panose="02010600040101010101" pitchFamily="2" charset="-122"/>
                <a:cs typeface="Times New Roman" panose="02020603050405020304" pitchFamily="18" charset="0"/>
              </a:rPr>
              <a:t>temem</a:t>
            </a:r>
            <a:r>
              <a:rPr lang="zh-CN" altLang="zh-CN" kern="0" dirty="0">
                <a:effectLst/>
                <a:latin typeface="Cambria" panose="02040503050406030204" pitchFamily="18" charset="0"/>
                <a:ea typeface="华文细黑" panose="02010600040101010101" pitchFamily="2" charset="-122"/>
                <a:cs typeface="Times New Roman" panose="02020603050405020304" pitchFamily="18" charset="0"/>
              </a:rPr>
              <a:t>可以设置标题的字体大小等</a:t>
            </a:r>
            <a:endParaRPr lang="en-US" altLang="zh-CN" dirty="0">
              <a:latin typeface="Calibri" panose="020F0502020204030204" pitchFamily="34"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69F48DD-7CB1-8387-E240-82E0AAAE22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27172" y="1722474"/>
            <a:ext cx="6389914" cy="4647846"/>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A3206711-9E27-1C4E-5AE6-5E10DBAA62E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2303540541"/>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图例设置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737428" y="1691994"/>
            <a:ext cx="3468812" cy="467832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900" kern="0" dirty="0">
                <a:effectLst/>
                <a:latin typeface="Cambria" panose="02040503050406030204" pitchFamily="18" charset="0"/>
                <a:ea typeface="华文细黑" panose="02010600040101010101" pitchFamily="2" charset="-122"/>
                <a:cs typeface="Times New Roman" panose="02020603050405020304" pitchFamily="18" charset="0"/>
              </a:rPr>
              <a:t>默认情况下，</a:t>
            </a:r>
            <a:r>
              <a:rPr lang="en-US" altLang="zh-CN" sz="19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900" kern="0" dirty="0">
                <a:effectLst/>
                <a:latin typeface="Cambria" panose="02040503050406030204" pitchFamily="18" charset="0"/>
                <a:ea typeface="华文细黑" panose="02010600040101010101" pitchFamily="2" charset="-122"/>
                <a:cs typeface="Times New Roman" panose="02020603050405020304" pitchFamily="18" charset="0"/>
              </a:rPr>
              <a:t>绘制的图形会自动添加图例，并将图例放在图形的最右侧</a:t>
            </a:r>
            <a:endParaRPr lang="en-US" altLang="zh-CN" sz="19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900" kern="0" dirty="0">
                <a:effectLst/>
                <a:latin typeface="Cambria" panose="02040503050406030204" pitchFamily="18" charset="0"/>
                <a:ea typeface="华文细黑" panose="02010600040101010101" pitchFamily="2" charset="-122"/>
                <a:cs typeface="Times New Roman" panose="02020603050405020304" pitchFamily="18" charset="0"/>
              </a:rPr>
              <a:t>使用函数</a:t>
            </a:r>
            <a:r>
              <a:rPr lang="en-US" altLang="zh-CN" sz="1900" kern="0" dirty="0">
                <a:effectLst/>
                <a:latin typeface="Cambria" panose="02040503050406030204" pitchFamily="18" charset="0"/>
                <a:ea typeface="华文细黑" panose="02010600040101010101" pitchFamily="2" charset="-122"/>
                <a:cs typeface="Times New Roman" panose="02020603050405020304" pitchFamily="18" charset="0"/>
              </a:rPr>
              <a:t>theme()</a:t>
            </a:r>
            <a:r>
              <a:rPr lang="zh-CN" altLang="zh-CN" sz="1900" kern="0" dirty="0">
                <a:effectLst/>
                <a:latin typeface="Cambria" panose="02040503050406030204" pitchFamily="18" charset="0"/>
                <a:ea typeface="华文细黑" panose="02010600040101010101" pitchFamily="2" charset="-122"/>
                <a:cs typeface="Times New Roman" panose="02020603050405020304" pitchFamily="18" charset="0"/>
              </a:rPr>
              <a:t>可以修改图例，包括删除图例、改变图例的位置、设置图例字体的大小等</a:t>
            </a:r>
            <a:endParaRPr lang="en-US" altLang="zh-CN" sz="19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900" kern="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1900" kern="0" dirty="0">
                <a:effectLst/>
                <a:latin typeface="Cambria" panose="02040503050406030204" pitchFamily="18" charset="0"/>
                <a:ea typeface="华文细黑" panose="02010600040101010101" pitchFamily="2" charset="-122"/>
                <a:cs typeface="Times New Roman" panose="02020603050405020304" pitchFamily="18" charset="0"/>
              </a:rPr>
              <a:t>guides()</a:t>
            </a:r>
            <a:r>
              <a:rPr lang="zh-CN" altLang="zh-CN" sz="1900" kern="0" dirty="0">
                <a:effectLst/>
                <a:latin typeface="Cambria" panose="02040503050406030204" pitchFamily="18" charset="0"/>
                <a:ea typeface="华文细黑" panose="02010600040101010101" pitchFamily="2" charset="-122"/>
                <a:cs typeface="Times New Roman" panose="02020603050405020304" pitchFamily="18" charset="0"/>
              </a:rPr>
              <a:t>函数可以修改图例标题、改变图例的排放方式等</a:t>
            </a:r>
            <a:endParaRPr lang="en-US" altLang="zh-CN" sz="19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4DD07F48-F52F-DB25-168E-28EAA50BD31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3" name="图片 2">
            <a:extLst>
              <a:ext uri="{FF2B5EF4-FFF2-40B4-BE49-F238E27FC236}">
                <a16:creationId xmlns:a16="http://schemas.microsoft.com/office/drawing/2014/main" id="{39F302EE-57F5-B7FE-E09D-1BF539355A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58640" y="1691994"/>
            <a:ext cx="7386320" cy="4678326"/>
          </a:xfrm>
          <a:prstGeom prst="rect">
            <a:avLst/>
          </a:prstGeom>
          <a:noFill/>
          <a:ln w="6350">
            <a:solidFill>
              <a:schemeClr val="bg1">
                <a:lumMod val="75000"/>
              </a:schemeClr>
            </a:solidFill>
          </a:ln>
        </p:spPr>
      </p:pic>
    </p:spTree>
    <p:extLst>
      <p:ext uri="{BB962C8B-B14F-4D97-AF65-F5344CB8AC3E}">
        <p14:creationId xmlns:p14="http://schemas.microsoft.com/office/powerpoint/2010/main" val="3478392945"/>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标签设置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7" y="1722474"/>
            <a:ext cx="2838893" cy="463768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在可视化过程中，有时会涉及多个变量，有些变量名称可能较长，这时产生的坐标轴标签或图例标签就可能会重叠或相互遮盖，不仅难以识别，也影响影响美观</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有些可以通过标签角度旋转的办法解决</a:t>
            </a:r>
            <a:r>
              <a:rPr lang="zh-CN" altLang="en-US" sz="18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有些则需要另行处理</a:t>
            </a:r>
            <a:endParaRPr lang="en-US" altLang="zh-CN" sz="18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A74DD0A4-300A-A410-4C30-1B4AF60A7FB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2" name="图片 1">
            <a:extLst>
              <a:ext uri="{FF2B5EF4-FFF2-40B4-BE49-F238E27FC236}">
                <a16:creationId xmlns:a16="http://schemas.microsoft.com/office/drawing/2014/main" id="{162791C0-3625-B457-4300-DB36ACA33B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05588" y="1722474"/>
            <a:ext cx="7817451" cy="4637686"/>
          </a:xfrm>
          <a:prstGeom prst="rect">
            <a:avLst/>
          </a:prstGeom>
          <a:noFill/>
          <a:ln w="6350">
            <a:solidFill>
              <a:schemeClr val="bg1">
                <a:lumMod val="75000"/>
              </a:schemeClr>
            </a:solidFill>
          </a:ln>
        </p:spPr>
      </p:pic>
    </p:spTree>
    <p:extLst>
      <p:ext uri="{BB962C8B-B14F-4D97-AF65-F5344CB8AC3E}">
        <p14:creationId xmlns:p14="http://schemas.microsoft.com/office/powerpoint/2010/main" val="3714119041"/>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标签设置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7" y="1722474"/>
            <a:ext cx="4254036" cy="4637687"/>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在有些图形中，需要在图中添加数据标签或数据对应的名称标签等</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geom_text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函数可以为图形添加标签，但当标签较多时会产生重叠或相互遮盖。这时可以使用</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ggrepel</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geom_text_repel</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函数替代</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geom_text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函数添加标签，以避免标签重叠</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为条形图填充标签，可使用</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ggfittext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geom_bar_text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或</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geom_fit_text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函数</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为图形添加曲线文本标签，可使用</a:t>
            </a:r>
            <a:r>
              <a:rPr lang="en-US" altLang="zh-CN" sz="1600" dirty="0" err="1">
                <a:effectLst/>
                <a:latin typeface="Cambria" panose="02040503050406030204" pitchFamily="18" charset="0"/>
                <a:ea typeface="华文细黑" panose="02010600040101010101" pitchFamily="2" charset="-122"/>
                <a:cs typeface="Times New Roman" panose="02020603050405020304" pitchFamily="18" charset="0"/>
              </a:rPr>
              <a:t>geomtextpath</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包中的函数，等等</a:t>
            </a:r>
            <a:endParaRPr lang="en-US" altLang="zh-CN" sz="1600" dirty="0">
              <a:latin typeface="Calibri" panose="020F0502020204030204" pitchFamily="34" charset="0"/>
              <a:ea typeface="华文细黑"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09C92F26-C89A-3850-75BE-3E5612B55D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02645" y="1722474"/>
            <a:ext cx="6267995" cy="4637686"/>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9753B286-3A88-E7FB-392D-FF742A3F5D9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2433344043"/>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主题设置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721361" y="1681835"/>
            <a:ext cx="10882638" cy="1315365"/>
          </a:xfrm>
          <a:noFill/>
          <a:ln w="6350">
            <a:solidFill>
              <a:schemeClr val="bg1">
                <a:lumMod val="75000"/>
              </a:schemeClr>
            </a:solidFill>
          </a:ln>
        </p:spPr>
        <p:txBody>
          <a:bodyPr>
            <a:noAutofit/>
          </a:bodyPr>
          <a:lstStyle/>
          <a:p>
            <a:pPr marL="361950" indent="-361950" algn="just" defTabSz="685800" eaLnBrk="0" hangingPunct="0">
              <a:lnSpc>
                <a:spcPct val="100000"/>
              </a:lnSpc>
              <a:spcBef>
                <a:spcPct val="50000"/>
              </a:spcBef>
              <a:buClr>
                <a:srgbClr val="000099"/>
              </a:buClr>
              <a:buSzPct val="100000"/>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theme</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来控制所有非数据显示的完整主题</a:t>
            </a:r>
            <a:endPar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00000"/>
              </a:lnSpc>
              <a:spcBef>
                <a:spcPct val="50000"/>
              </a:spcBef>
              <a:buClr>
                <a:srgbClr val="000099"/>
              </a:buClr>
              <a:buSzPct val="100000"/>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函数默认使用</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theme_grey</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或</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theme_gray</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主题，即带有灰色背景和白色网格线的标志性</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主题</a:t>
            </a:r>
            <a:endPar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00000"/>
              </a:lnSpc>
              <a:spcBef>
                <a:spcPct val="50000"/>
              </a:spcBef>
              <a:buClr>
                <a:srgbClr val="000099"/>
              </a:buClr>
              <a:buSzPct val="100000"/>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可选主题有</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theme_bw</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经典的黑白主题</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 </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theme_minimal</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没有背景注释的简约主题</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 </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theme_classic</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外观经典的主题，有</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和</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y</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轴线条，没有网格线</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 </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theme_void</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完全空的主题</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无主题</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en-US" sz="1600" kern="0" dirty="0">
                <a:latin typeface="Cambria" panose="02040503050406030204" pitchFamily="18" charset="0"/>
                <a:ea typeface="华文细黑" panose="02010600040101010101" pitchFamily="2" charset="-122"/>
                <a:cs typeface="Times New Roman" panose="02020603050405020304" pitchFamily="18" charset="0"/>
              </a:rPr>
              <a:t>，等等</a:t>
            </a:r>
            <a:endParaRPr lang="en-US" altLang="zh-CN" sz="16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9642892C-F6F8-739B-BDFE-F88C3CD2F4C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2" name="图片 1">
            <a:extLst>
              <a:ext uri="{FF2B5EF4-FFF2-40B4-BE49-F238E27FC236}">
                <a16:creationId xmlns:a16="http://schemas.microsoft.com/office/drawing/2014/main" id="{B02AA26E-0058-E946-318D-190C42780D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1361" y="3090651"/>
            <a:ext cx="10882638" cy="3299989"/>
          </a:xfrm>
          <a:prstGeom prst="rect">
            <a:avLst/>
          </a:prstGeom>
          <a:noFill/>
          <a:ln w="6350">
            <a:solidFill>
              <a:schemeClr val="bg1">
                <a:lumMod val="75000"/>
              </a:schemeClr>
            </a:solidFill>
          </a:ln>
        </p:spPr>
      </p:pic>
    </p:spTree>
    <p:extLst>
      <p:ext uri="{BB962C8B-B14F-4D97-AF65-F5344CB8AC3E}">
        <p14:creationId xmlns:p14="http://schemas.microsoft.com/office/powerpoint/2010/main" val="2791082808"/>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图形外观</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主题设置</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7" y="1722475"/>
            <a:ext cx="10643950" cy="685445"/>
          </a:xfrm>
          <a:noFill/>
          <a:ln w="6350">
            <a:solidFill>
              <a:schemeClr val="bg1">
                <a:lumMod val="75000"/>
              </a:schemeClr>
            </a:solidFill>
          </a:ln>
        </p:spPr>
        <p:txBody>
          <a:bodyPr>
            <a:noAutofit/>
          </a:bodyPr>
          <a:lstStyle/>
          <a:p>
            <a:pPr marL="361950" indent="-361950" algn="just" defTabSz="685800" eaLnBrk="0" hangingPunct="0">
              <a:lnSpc>
                <a:spcPct val="200000"/>
              </a:lnSpc>
              <a:spcBef>
                <a:spcPct val="50000"/>
              </a:spcBef>
              <a:buClr>
                <a:srgbClr val="000099"/>
              </a:buClr>
              <a:buSzPct val="100000"/>
              <a:buFont typeface="Wingdings" panose="05000000000000000000" pitchFamily="2" charset="2"/>
              <a:buChar char="l"/>
              <a:defRPr/>
            </a:pPr>
            <a:r>
              <a:rPr lang="en-US" altLang="zh-CN" sz="2000" kern="0" dirty="0" err="1">
                <a:effectLst/>
                <a:latin typeface="Cambria" panose="02040503050406030204" pitchFamily="18" charset="0"/>
                <a:ea typeface="华文细黑" panose="02010600040101010101" pitchFamily="2" charset="-122"/>
                <a:cs typeface="Times New Roman" panose="02020603050405020304" pitchFamily="18" charset="0"/>
              </a:rPr>
              <a:t>ggthemes</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包提供了</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20</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多种</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图形的扩展主题</a:t>
            </a:r>
            <a:endPar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8EB94682-1024-79BE-CF04-B920B42EF92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2" name="图片 1">
            <a:extLst>
              <a:ext uri="{FF2B5EF4-FFF2-40B4-BE49-F238E27FC236}">
                <a16:creationId xmlns:a16="http://schemas.microsoft.com/office/drawing/2014/main" id="{587C717B-0710-DBF1-5E6A-524570AE79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8707" y="2501266"/>
            <a:ext cx="10643950" cy="3888743"/>
          </a:xfrm>
          <a:prstGeom prst="rect">
            <a:avLst/>
          </a:prstGeom>
          <a:noFill/>
          <a:ln w="6350">
            <a:solidFill>
              <a:schemeClr val="bg1">
                <a:lumMod val="75000"/>
              </a:schemeClr>
            </a:solidFill>
          </a:ln>
        </p:spPr>
      </p:pic>
    </p:spTree>
    <p:extLst>
      <p:ext uri="{BB962C8B-B14F-4D97-AF65-F5344CB8AC3E}">
        <p14:creationId xmlns:p14="http://schemas.microsoft.com/office/powerpoint/2010/main" val="2637119461"/>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图形注释</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8" y="1722474"/>
            <a:ext cx="4413692" cy="4607207"/>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3200" kern="0" dirty="0">
                <a:effectLst/>
                <a:latin typeface="Cambria" panose="02040503050406030204" pitchFamily="18" charset="0"/>
                <a:ea typeface="华文细黑" panose="02010600040101010101" pitchFamily="2" charset="-122"/>
                <a:cs typeface="Times New Roman" panose="02020603050405020304" pitchFamily="18" charset="0"/>
              </a:rPr>
              <a:t>为</a:t>
            </a:r>
            <a:r>
              <a:rPr lang="zh-CN" altLang="en-US" sz="3200" kern="0" dirty="0">
                <a:effectLst/>
                <a:latin typeface="Cambria" panose="02040503050406030204" pitchFamily="18" charset="0"/>
                <a:ea typeface="华文细黑" panose="02010600040101010101" pitchFamily="2" charset="-122"/>
                <a:cs typeface="Times New Roman" panose="02020603050405020304" pitchFamily="18" charset="0"/>
              </a:rPr>
              <a:t>图形</a:t>
            </a:r>
            <a:r>
              <a:rPr lang="zh-CN" altLang="zh-CN" sz="3200" kern="0" dirty="0">
                <a:effectLst/>
                <a:latin typeface="Cambria" panose="02040503050406030204" pitchFamily="18" charset="0"/>
                <a:ea typeface="华文细黑" panose="02010600040101010101" pitchFamily="2" charset="-122"/>
                <a:cs typeface="Times New Roman" panose="02020603050405020304" pitchFamily="18" charset="0"/>
              </a:rPr>
              <a:t>添加注释的函数主要是</a:t>
            </a:r>
            <a:r>
              <a:rPr lang="en-US" altLang="zh-CN" sz="3200" kern="0" dirty="0">
                <a:effectLst/>
                <a:latin typeface="Cambria" panose="02040503050406030204" pitchFamily="18" charset="0"/>
                <a:ea typeface="华文细黑" panose="02010600040101010101" pitchFamily="2" charset="-122"/>
                <a:cs typeface="Times New Roman" panose="02020603050405020304" pitchFamily="18" charset="0"/>
              </a:rPr>
              <a:t>annotate</a:t>
            </a:r>
            <a:r>
              <a:rPr lang="zh-CN" altLang="zh-CN" sz="3200" kern="0" dirty="0">
                <a:effectLst/>
                <a:latin typeface="Cambria" panose="02040503050406030204" pitchFamily="18" charset="0"/>
                <a:ea typeface="华文细黑" panose="02010600040101010101" pitchFamily="2" charset="-122"/>
                <a:cs typeface="Times New Roman" panose="02020603050405020304" pitchFamily="18" charset="0"/>
              </a:rPr>
              <a:t>，它可以为图像添加多种不同的注释信息</a:t>
            </a:r>
            <a:endParaRPr lang="en-US" altLang="zh-CN" sz="32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2B23D37A-9CC6-153A-B15E-C5ABB9FBCC9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4" name="图片 3">
            <a:extLst>
              <a:ext uri="{FF2B5EF4-FFF2-40B4-BE49-F238E27FC236}">
                <a16:creationId xmlns:a16="http://schemas.microsoft.com/office/drawing/2014/main" id="{368C5192-666E-C225-EE90-50F854CA1EE4}"/>
              </a:ext>
            </a:extLst>
          </p:cNvPr>
          <p:cNvPicPr>
            <a:picLocks noChangeAspect="1"/>
          </p:cNvPicPr>
          <p:nvPr/>
        </p:nvPicPr>
        <p:blipFill>
          <a:blip r:embed="rId3"/>
          <a:stretch>
            <a:fillRect/>
          </a:stretch>
        </p:blipFill>
        <p:spPr>
          <a:xfrm>
            <a:off x="5381624" y="1737714"/>
            <a:ext cx="5991668" cy="4520846"/>
          </a:xfrm>
          <a:prstGeom prst="rect">
            <a:avLst/>
          </a:prstGeom>
          <a:ln w="6350">
            <a:solidFill>
              <a:schemeClr val="bg1">
                <a:lumMod val="75000"/>
              </a:schemeClr>
            </a:solidFill>
          </a:ln>
        </p:spPr>
      </p:pic>
    </p:spTree>
    <p:extLst>
      <p:ext uri="{BB962C8B-B14F-4D97-AF65-F5344CB8AC3E}">
        <p14:creationId xmlns:p14="http://schemas.microsoft.com/office/powerpoint/2010/main" val="1432628630"/>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图形分面</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8" y="1722474"/>
            <a:ext cx="3241663" cy="462752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图形分面（</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facet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）就是要将多个子图排列成矩阵网格的形式，排列后的多个子图形成一幅独立的图形</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2200" kern="0" dirty="0" err="1">
                <a:effectLst/>
                <a:latin typeface="Cambria" panose="02040503050406030204" pitchFamily="18" charset="0"/>
                <a:ea typeface="华文细黑" panose="02010600040101010101" pitchFamily="2" charset="-122"/>
                <a:cs typeface="Times New Roman" panose="02020603050405020304" pitchFamily="18" charset="0"/>
              </a:rPr>
              <a:t>facet_wrap</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函数或</a:t>
            </a:r>
            <a:r>
              <a:rPr lang="en-US" altLang="zh-CN" sz="2200" kern="0" dirty="0" err="1">
                <a:effectLst/>
                <a:latin typeface="Cambria" panose="02040503050406030204" pitchFamily="18" charset="0"/>
                <a:ea typeface="华文细黑" panose="02010600040101010101" pitchFamily="2" charset="-122"/>
                <a:cs typeface="Times New Roman" panose="02020603050405020304" pitchFamily="18" charset="0"/>
              </a:rPr>
              <a:t>facet_grid</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函数可以对图形进行分面</a:t>
            </a:r>
            <a:endParaRPr lang="en-US" altLang="zh-CN" sz="2200" dirty="0">
              <a:latin typeface="Calibri" panose="020F0502020204030204" pitchFamily="34" charset="0"/>
              <a:ea typeface="华文细黑" panose="0201060004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1FF4B1B3-C05A-5C2C-9BCE-53D5754C87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01886" y="1722474"/>
            <a:ext cx="7271657" cy="4627526"/>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3B00BC8E-E834-405D-25BC-C7484EA2B27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414894549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图形组合</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7" y="1722474"/>
            <a:ext cx="10709263" cy="463768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图形分面是将多幅同类图形排列成网格形式，其中的格子大小在多数情况下是相同的。图形组合则是将多幅独立的不同图形组合成</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R×C</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的网格形式，其中格子大小可以相同，也可以不相同</a:t>
            </a:r>
            <a:endParaRPr lang="en-US" altLang="zh-CN" sz="2100" dirty="0">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100" dirty="0">
                <a:latin typeface="Cambria" panose="02040503050406030204" pitchFamily="18" charset="0"/>
                <a:ea typeface="华文细黑" panose="02010600040101010101" pitchFamily="2" charset="-122"/>
                <a:cs typeface="Times New Roman" panose="02020603050405020304" pitchFamily="18" charset="0"/>
              </a:rPr>
              <a:t>要将</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绘制的多幅独立图形组合成一幅图形，可以使用</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patchwork </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包中的算法组合、</a:t>
            </a:r>
            <a:r>
              <a:rPr lang="en-US" altLang="zh-CN" sz="2100" dirty="0" err="1">
                <a:latin typeface="Cambria" panose="02040503050406030204" pitchFamily="18" charset="0"/>
                <a:ea typeface="华文细黑" panose="02010600040101010101" pitchFamily="2" charset="-122"/>
                <a:cs typeface="Times New Roman" panose="02020603050405020304" pitchFamily="18" charset="0"/>
              </a:rPr>
              <a:t>gridExtra</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包中</a:t>
            </a:r>
            <a:r>
              <a:rPr lang="en-US" altLang="zh-CN" sz="2100" dirty="0" err="1">
                <a:latin typeface="Cambria" panose="02040503050406030204" pitchFamily="18" charset="0"/>
                <a:ea typeface="华文细黑" panose="02010600040101010101" pitchFamily="2" charset="-122"/>
                <a:cs typeface="Times New Roman" panose="02020603050405020304" pitchFamily="18" charset="0"/>
              </a:rPr>
              <a:t>grid.arrange</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函数和</a:t>
            </a:r>
            <a:r>
              <a:rPr lang="en-US" altLang="zh-CN" sz="2100" dirty="0" err="1">
                <a:latin typeface="Cambria" panose="02040503050406030204" pitchFamily="18" charset="0"/>
                <a:ea typeface="华文细黑" panose="02010600040101010101" pitchFamily="2" charset="-122"/>
                <a:cs typeface="Times New Roman" panose="02020603050405020304" pitchFamily="18" charset="0"/>
              </a:rPr>
              <a:t>arrangeGrob</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函数、</a:t>
            </a:r>
            <a:r>
              <a:rPr lang="en-US" altLang="zh-CN" sz="2100" dirty="0" err="1">
                <a:latin typeface="Cambria" panose="02040503050406030204" pitchFamily="18" charset="0"/>
                <a:ea typeface="华文细黑" panose="02010600040101010101" pitchFamily="2" charset="-122"/>
                <a:cs typeface="Times New Roman" panose="02020603050405020304" pitchFamily="18" charset="0"/>
              </a:rPr>
              <a:t>cowplot</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2100" dirty="0" err="1">
                <a:latin typeface="Cambria" panose="02040503050406030204" pitchFamily="18" charset="0"/>
                <a:ea typeface="华文细黑" panose="02010600040101010101" pitchFamily="2" charset="-122"/>
                <a:cs typeface="Times New Roman" panose="02020603050405020304" pitchFamily="18" charset="0"/>
              </a:rPr>
              <a:t>plot_grid</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函数等。</a:t>
            </a:r>
            <a:endParaRPr lang="en-US" altLang="zh-CN" sz="2100" dirty="0">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2100" dirty="0">
                <a:latin typeface="Cambria" panose="02040503050406030204" pitchFamily="18" charset="0"/>
                <a:ea typeface="华文细黑" panose="02010600040101010101" pitchFamily="2" charset="-122"/>
                <a:cs typeface="Times New Roman" panose="02020603050405020304" pitchFamily="18" charset="0"/>
              </a:rPr>
              <a:t>patchwork </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是用于</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及其扩展包的图形对象的拼图包，它使用运算符（</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1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100" dirty="0">
                <a:latin typeface="Cambria" panose="02040503050406030204" pitchFamily="18" charset="0"/>
                <a:ea typeface="华文细黑" panose="02010600040101010101" pitchFamily="2" charset="-122"/>
                <a:cs typeface="Times New Roman" panose="02020603050405020304" pitchFamily="18" charset="0"/>
              </a:rPr>
              <a:t>等符号组合图形）来拼图，使用简单，功能强大，可根据需要组合各种图形。与其他图形组合方法相比，该包的组合效果更好，尤其是对于复杂图形的组合</a:t>
            </a:r>
            <a:endParaRPr lang="en-US" altLang="zh-CN" sz="210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140F0F01-F04F-1163-842C-93F489E1B683}"/>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1133000103"/>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图形组合</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33F71629-1AEA-A746-9024-1521A68B980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pic>
        <p:nvPicPr>
          <p:cNvPr id="2" name="图片 1">
            <a:extLst>
              <a:ext uri="{FF2B5EF4-FFF2-40B4-BE49-F238E27FC236}">
                <a16:creationId xmlns:a16="http://schemas.microsoft.com/office/drawing/2014/main" id="{88F83190-DB42-8135-2648-339871FFC1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00960" y="1730692"/>
            <a:ext cx="9023067" cy="4649788"/>
          </a:xfrm>
          <a:prstGeom prst="rect">
            <a:avLst/>
          </a:prstGeom>
          <a:noFill/>
          <a:ln w="6350">
            <a:solidFill>
              <a:schemeClr val="bg1">
                <a:lumMod val="75000"/>
              </a:schemeClr>
            </a:solidFill>
          </a:ln>
        </p:spPr>
      </p:pic>
      <p:sp>
        <p:nvSpPr>
          <p:cNvPr id="4" name="副标题 2">
            <a:extLst>
              <a:ext uri="{FF2B5EF4-FFF2-40B4-BE49-F238E27FC236}">
                <a16:creationId xmlns:a16="http://schemas.microsoft.com/office/drawing/2014/main" id="{215E3393-1322-57D1-78B5-47DC0FD50FA0}"/>
              </a:ext>
            </a:extLst>
          </p:cNvPr>
          <p:cNvSpPr>
            <a:spLocks noGrp="1"/>
          </p:cNvSpPr>
          <p:nvPr>
            <p:ph type="subTitle" idx="1"/>
          </p:nvPr>
        </p:nvSpPr>
        <p:spPr>
          <a:xfrm>
            <a:off x="772160" y="1742794"/>
            <a:ext cx="1717040" cy="4637686"/>
          </a:xfrm>
          <a:noFill/>
          <a:ln w="6350">
            <a:solidFill>
              <a:schemeClr val="bg1">
                <a:lumMod val="75000"/>
              </a:schemeClr>
            </a:solidFill>
          </a:ln>
        </p:spPr>
        <p:txBody>
          <a:bodyPr>
            <a:noAutofit/>
          </a:bodyPr>
          <a:lstStyle/>
          <a:p>
            <a:pPr algn="ctr"/>
            <a:r>
              <a:rPr lang="en-US" altLang="zh-CN" sz="20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patchwork </a:t>
            </a:r>
            <a:r>
              <a:rPr lang="zh-CN" altLang="zh-CN" sz="20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包组合的图形</a:t>
            </a:r>
            <a:endParaRPr lang="zh-CN" altLang="en-US" sz="2000" dirty="0"/>
          </a:p>
        </p:txBody>
      </p:sp>
    </p:spTree>
    <p:extLst>
      <p:ext uri="{BB962C8B-B14F-4D97-AF65-F5344CB8AC3E}">
        <p14:creationId xmlns:p14="http://schemas.microsoft.com/office/powerpoint/2010/main" val="2537911238"/>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常用函数</a:t>
            </a:r>
            <a:endParaRPr lang="en-US" altLang="zh-CN" sz="2600" b="1" dirty="0">
              <a:solidFill>
                <a:srgbClr val="002060"/>
              </a:solidFill>
              <a:ea typeface="华文细黑" panose="02010600040101010101" pitchFamily="2" charset="-122"/>
            </a:endParaRPr>
          </a:p>
        </p:txBody>
      </p:sp>
      <p:sp>
        <p:nvSpPr>
          <p:cNvPr id="11" name="副标题 2">
            <a:extLst>
              <a:ext uri="{FF2B5EF4-FFF2-40B4-BE49-F238E27FC236}">
                <a16:creationId xmlns:a16="http://schemas.microsoft.com/office/drawing/2014/main" id="{BF75E58F-730E-47A7-81AE-448C94943A6E}"/>
              </a:ext>
            </a:extLst>
          </p:cNvPr>
          <p:cNvSpPr>
            <a:spLocks noGrp="1"/>
          </p:cNvSpPr>
          <p:nvPr>
            <p:ph type="subTitle" idx="1"/>
          </p:nvPr>
        </p:nvSpPr>
        <p:spPr>
          <a:xfrm>
            <a:off x="818707" y="1722474"/>
            <a:ext cx="10665721" cy="4627526"/>
          </a:xfrm>
          <a:noFill/>
          <a:ln w="6350">
            <a:solidFill>
              <a:schemeClr val="bg1">
                <a:lumMod val="75000"/>
              </a:schemeClr>
            </a:solidFill>
          </a:ln>
        </p:spPr>
        <p:txBody>
          <a:bodyPr>
            <a:noAutofit/>
          </a:bodyPr>
          <a:lstStyle/>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中的绘图函数大致可分为以下几类</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一是生成几何对象的函数，这类函数用于绘制不同的图形，如</a:t>
            </a:r>
            <a:r>
              <a:rPr lang="en-US" altLang="zh-CN" sz="2000" dirty="0" err="1">
                <a:effectLst/>
                <a:latin typeface="Cambria" panose="02040503050406030204" pitchFamily="18" charset="0"/>
                <a:ea typeface="华文细黑" panose="02010600040101010101" pitchFamily="2" charset="-122"/>
                <a:cs typeface="Times New Roman" panose="02020603050405020304" pitchFamily="18" charset="0"/>
              </a:rPr>
              <a:t>geom_bar</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用于绘制条形图</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二是标度（</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scale</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）函数，包括位置标度，用于坐标轴的控制；颜色标度，将数据变量映射到颜色；自定义标度</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(manual)</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，自定义数据到图形属性的映射关系；非映射标度</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(identity)</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，直接将变量值作为图形属性值使用，不做映射</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marL="361950" indent="-361950" algn="just" defTabSz="685800" eaLnBrk="0" hangingPunct="0">
              <a:lnSpc>
                <a:spcPct val="150000"/>
              </a:lnSpc>
              <a:spcBef>
                <a:spcPct val="50000"/>
              </a:spcBef>
              <a:buClr>
                <a:srgbClr val="000099"/>
              </a:buClr>
              <a:buSzPct val="100000"/>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三是统计变换函数，它是将数据经过统计变换后映射成图形的属性。四是分面函数，将数据分割成多个子集，在同一页面中为每个子集绘制一幅独立的图形。此外，还有用于图形外观控制的函数，如</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theme</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，文本注释函数</a:t>
            </a:r>
            <a:r>
              <a:rPr lang="en-US" altLang="zh-CN" sz="2000" dirty="0" err="1">
                <a:effectLst/>
                <a:latin typeface="Cambria" panose="02040503050406030204" pitchFamily="18" charset="0"/>
                <a:ea typeface="华文细黑" panose="02010600040101010101" pitchFamily="2" charset="-122"/>
                <a:cs typeface="Times New Roman" panose="02020603050405020304" pitchFamily="18" charset="0"/>
              </a:rPr>
              <a:t>geom_text</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，等等</a:t>
            </a:r>
            <a:endParaRPr lang="en-US" altLang="zh-CN" sz="2000" dirty="0">
              <a:latin typeface="Calibri" panose="020F0502020204030204" pitchFamily="34"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43314480-C999-A1FE-265F-3DF1E70DFCD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2.2                        </a:t>
            </a:r>
            <a:r>
              <a:rPr lang="en-US" altLang="zh-CN" sz="3200" b="1" dirty="0">
                <a:solidFill>
                  <a:srgbClr val="002060"/>
                </a:solidFill>
                <a:latin typeface="微软雅黑" panose="020B0503020204020204" pitchFamily="34" charset="-122"/>
                <a:ea typeface="微软雅黑" panose="020B0503020204020204" pitchFamily="34" charset="-122"/>
              </a:rPr>
              <a:t>ggplot2 </a:t>
            </a:r>
            <a:r>
              <a:rPr lang="zh-CN" altLang="en-US" sz="3200" b="1" dirty="0">
                <a:solidFill>
                  <a:srgbClr val="002060"/>
                </a:solidFill>
                <a:latin typeface="微软雅黑" panose="020B0503020204020204" pitchFamily="34" charset="-122"/>
                <a:ea typeface="微软雅黑" panose="020B0503020204020204" pitchFamily="34" charset="-122"/>
              </a:rPr>
              <a:t>简介</a:t>
            </a:r>
          </a:p>
        </p:txBody>
      </p:sp>
    </p:spTree>
    <p:extLst>
      <p:ext uri="{BB962C8B-B14F-4D97-AF65-F5344CB8AC3E}">
        <p14:creationId xmlns:p14="http://schemas.microsoft.com/office/powerpoint/2010/main" val="4266745813"/>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4572000" y="1656772"/>
            <a:ext cx="6986427" cy="468306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基础安装时自带的</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graphics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绘图系统或称</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graphics</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包，该系统也被称为基础绘图系统或传统绘图系统。该包是学习数据可视化的基础，它提供了多个常用的绘图函数，可用于对数据的快速探索，但该包提供的函数参数设置各异，绘制的图形不够美观</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系统或称</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包。该包使用规范的绘图语法，将各个图层用加号连接，可绘制多种二维图形，它也是目前被广泛应用的数据可视化系统</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本书的大部分图形均使用</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绘制，少数结合使用了其扩展包。使用</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绘图看似代码复杂，但只要掌握了其绘图语法，其实并不需要记忆太多的东西</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本章小结</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9A08DEE9-3576-C980-1DAB-1C758B6BDF0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本章小结</a:t>
            </a:r>
          </a:p>
        </p:txBody>
      </p:sp>
      <p:pic>
        <p:nvPicPr>
          <p:cNvPr id="5" name="图片 4">
            <a:extLst>
              <a:ext uri="{FF2B5EF4-FFF2-40B4-BE49-F238E27FC236}">
                <a16:creationId xmlns:a16="http://schemas.microsoft.com/office/drawing/2014/main" id="{CA05DC73-7966-EE2F-0093-FF7ED8F99EE0}"/>
              </a:ext>
            </a:extLst>
          </p:cNvPr>
          <p:cNvPicPr>
            <a:picLocks noChangeAspect="1"/>
          </p:cNvPicPr>
          <p:nvPr/>
        </p:nvPicPr>
        <p:blipFill>
          <a:blip r:embed="rId2"/>
          <a:stretch>
            <a:fillRect/>
          </a:stretch>
        </p:blipFill>
        <p:spPr>
          <a:xfrm>
            <a:off x="633573" y="1656772"/>
            <a:ext cx="3846987" cy="4812751"/>
          </a:xfrm>
          <a:prstGeom prst="rect">
            <a:avLst/>
          </a:prstGeom>
        </p:spPr>
      </p:pic>
    </p:spTree>
    <p:extLst>
      <p:ext uri="{BB962C8B-B14F-4D97-AF65-F5344CB8AC3E}">
        <p14:creationId xmlns:p14="http://schemas.microsoft.com/office/powerpoint/2010/main" val="3040481407"/>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207568" y="342581"/>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7" name="Rectangle 2"/>
          <p:cNvSpPr>
            <a:spLocks noChangeArrowheads="1"/>
          </p:cNvSpPr>
          <p:nvPr/>
        </p:nvSpPr>
        <p:spPr bwMode="auto">
          <a:xfrm>
            <a:off x="6816080" y="5445224"/>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pic>
        <p:nvPicPr>
          <p:cNvPr id="2" name="图片 1"/>
          <p:cNvPicPr>
            <a:picLocks noChangeAspect="1"/>
          </p:cNvPicPr>
          <p:nvPr/>
        </p:nvPicPr>
        <p:blipFill>
          <a:blip r:embed="rId3"/>
          <a:stretch>
            <a:fillRect/>
          </a:stretch>
        </p:blipFill>
        <p:spPr>
          <a:xfrm>
            <a:off x="-9746" y="1"/>
            <a:ext cx="12201746" cy="6855722"/>
          </a:xfrm>
          <a:prstGeom prst="rect">
            <a:avLst/>
          </a:prstGeom>
        </p:spPr>
      </p:pic>
      <p:sp>
        <p:nvSpPr>
          <p:cNvPr id="5" name="Rectangle 2">
            <a:extLst>
              <a:ext uri="{FF2B5EF4-FFF2-40B4-BE49-F238E27FC236}">
                <a16:creationId xmlns:a16="http://schemas.microsoft.com/office/drawing/2014/main" id="{A2942906-8373-4413-B144-2030B3A6C93F}"/>
              </a:ext>
            </a:extLst>
          </p:cNvPr>
          <p:cNvSpPr>
            <a:spLocks noChangeArrowheads="1"/>
          </p:cNvSpPr>
          <p:nvPr/>
        </p:nvSpPr>
        <p:spPr bwMode="auto">
          <a:xfrm>
            <a:off x="162573" y="95692"/>
            <a:ext cx="2880320" cy="98442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6" name="Rectangle 2">
            <a:extLst>
              <a:ext uri="{FF2B5EF4-FFF2-40B4-BE49-F238E27FC236}">
                <a16:creationId xmlns:a16="http://schemas.microsoft.com/office/drawing/2014/main" id="{DBEC17C8-105C-4971-8A37-00C8F14BF111}"/>
              </a:ext>
            </a:extLst>
          </p:cNvPr>
          <p:cNvSpPr>
            <a:spLocks noChangeArrowheads="1"/>
          </p:cNvSpPr>
          <p:nvPr/>
        </p:nvSpPr>
        <p:spPr bwMode="auto">
          <a:xfrm>
            <a:off x="9226126" y="5922334"/>
            <a:ext cx="2880320" cy="77617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sp>
        <p:nvSpPr>
          <p:cNvPr id="3" name="日期占位符 2">
            <a:extLst>
              <a:ext uri="{FF2B5EF4-FFF2-40B4-BE49-F238E27FC236}">
                <a16:creationId xmlns:a16="http://schemas.microsoft.com/office/drawing/2014/main" id="{34AD9863-2B28-44BA-874F-29D5736D3EFF}"/>
              </a:ext>
            </a:extLst>
          </p:cNvPr>
          <p:cNvSpPr>
            <a:spLocks noGrp="1"/>
          </p:cNvSpPr>
          <p:nvPr>
            <p:ph type="dt" sz="half" idx="10"/>
          </p:nvPr>
        </p:nvSpPr>
        <p:spPr/>
        <p:txBody>
          <a:bodyPr/>
          <a:lstStyle/>
          <a:p>
            <a:fld id="{2556876A-C894-4608-9B10-33028376C2E0}" type="datetime1">
              <a:rPr lang="zh-CN" altLang="en-US" smtClean="0"/>
              <a:t>2025/9/7</a:t>
            </a:fld>
            <a:endParaRPr lang="zh-CN" altLang="en-US"/>
          </a:p>
        </p:txBody>
      </p:sp>
    </p:spTree>
    <p:extLst>
      <p:ext uri="{BB962C8B-B14F-4D97-AF65-F5344CB8AC3E}">
        <p14:creationId xmlns:p14="http://schemas.microsoft.com/office/powerpoint/2010/main" val="945678174"/>
      </p:ext>
    </p:extLst>
  </p:cSld>
  <p:clrMapOvr>
    <a:masterClrMapping/>
  </p:clrMapOvr>
  <p:transition>
    <p:wipe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3009</TotalTime>
  <Words>3608</Words>
  <Application>Microsoft Office PowerPoint</Application>
  <PresentationFormat>宽屏</PresentationFormat>
  <Paragraphs>344</Paragraphs>
  <Slides>34</Slides>
  <Notes>22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34</vt:i4>
      </vt:variant>
    </vt:vector>
  </HeadingPairs>
  <TitlesOfParts>
    <vt:vector size="51" baseType="lpstr">
      <vt:lpstr>等线</vt:lpstr>
      <vt:lpstr>等线 Light</vt:lpstr>
      <vt:lpstr>华文琥珀</vt:lpstr>
      <vt:lpstr>华文细黑</vt:lpstr>
      <vt:lpstr>华文行楷</vt:lpstr>
      <vt:lpstr>微软雅黑</vt:lpstr>
      <vt:lpstr>Arial</vt:lpstr>
      <vt:lpstr>Arial Black</vt:lpstr>
      <vt:lpstr>Calibri</vt:lpstr>
      <vt:lpstr>Cambria</vt:lpstr>
      <vt:lpstr>Cambria Math</vt:lpstr>
      <vt:lpstr>Franklin Gothic Book</vt:lpstr>
      <vt:lpstr>Script MT Bold</vt:lpstr>
      <vt:lpstr>Times New Roman</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jiajp99@126.com</dc:creator>
  <cp:lastModifiedBy>俊平 贾</cp:lastModifiedBy>
  <cp:revision>352</cp:revision>
  <dcterms:created xsi:type="dcterms:W3CDTF">2020-11-21T11:10:03Z</dcterms:created>
  <dcterms:modified xsi:type="dcterms:W3CDTF">2025-09-07T06:29:03Z</dcterms:modified>
</cp:coreProperties>
</file>