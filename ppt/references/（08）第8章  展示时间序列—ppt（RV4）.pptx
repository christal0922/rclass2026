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1537" r:id="rId2"/>
    <p:sldId id="761" r:id="rId3"/>
    <p:sldId id="1497" r:id="rId4"/>
    <p:sldId id="1538" r:id="rId5"/>
    <p:sldId id="1509" r:id="rId6"/>
    <p:sldId id="1533" r:id="rId7"/>
    <p:sldId id="1499" r:id="rId8"/>
    <p:sldId id="1456" r:id="rId9"/>
    <p:sldId id="1458" r:id="rId10"/>
    <p:sldId id="1460" r:id="rId11"/>
    <p:sldId id="1500" r:id="rId12"/>
    <p:sldId id="1464" r:id="rId13"/>
    <p:sldId id="1507" r:id="rId14"/>
    <p:sldId id="1531" r:id="rId15"/>
    <p:sldId id="1534" r:id="rId16"/>
    <p:sldId id="1535" r:id="rId17"/>
    <p:sldId id="1465" r:id="rId18"/>
    <p:sldId id="1468" r:id="rId19"/>
    <p:sldId id="1466" r:id="rId20"/>
    <p:sldId id="1470" r:id="rId21"/>
    <p:sldId id="1511" r:id="rId22"/>
    <p:sldId id="1536" r:id="rId23"/>
    <p:sldId id="1530" r:id="rId24"/>
    <p:sldId id="1532"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jp99@126.com" initials="j" lastIdx="1" clrIdx="0">
    <p:extLst>
      <p:ext uri="{19B8F6BF-5375-455C-9EA6-DF929625EA0E}">
        <p15:presenceInfo xmlns:p15="http://schemas.microsoft.com/office/powerpoint/2012/main" userId="e55687fcb66d4a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0099"/>
    <a:srgbClr val="00FFFF"/>
    <a:srgbClr val="0033CC"/>
    <a:srgbClr val="FFFFCC"/>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26" autoAdjust="0"/>
  </p:normalViewPr>
  <p:slideViewPr>
    <p:cSldViewPr snapToGrid="0">
      <p:cViewPr varScale="1">
        <p:scale>
          <a:sx n="59" d="100"/>
          <a:sy n="59" d="100"/>
        </p:scale>
        <p:origin x="704" y="44"/>
      </p:cViewPr>
      <p:guideLst/>
    </p:cSldViewPr>
  </p:slideViewPr>
  <p:notesTextViewPr>
    <p:cViewPr>
      <p:scale>
        <a:sx n="1" d="1"/>
        <a:sy n="1" d="1"/>
      </p:scale>
      <p:origin x="0" y="0"/>
    </p:cViewPr>
  </p:notesTextViewPr>
  <p:sorterViewPr>
    <p:cViewPr varScale="1">
      <p:scale>
        <a:sx n="100" d="100"/>
        <a:sy n="100" d="100"/>
      </p:scale>
      <p:origin x="0" y="-2708"/>
    </p:cViewPr>
  </p:sorterViewPr>
  <p:notesViewPr>
    <p:cSldViewPr snapToGrid="0">
      <p:cViewPr varScale="1">
        <p:scale>
          <a:sx n="48" d="100"/>
          <a:sy n="48" d="100"/>
        </p:scale>
        <p:origin x="2460" y="2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64ED79A-0DA3-21D3-9E82-74BDE6849B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BFF41C7-9830-1EA8-C4A7-EE0042DA34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83B40-ECB3-4142-9BB2-0DB3CA9E58C8}" type="datetimeFigureOut">
              <a:rPr lang="zh-CN" altLang="en-US" smtClean="0"/>
              <a:t>2026/1/9</a:t>
            </a:fld>
            <a:endParaRPr lang="zh-CN" altLang="en-US"/>
          </a:p>
        </p:txBody>
      </p:sp>
      <p:sp>
        <p:nvSpPr>
          <p:cNvPr id="4" name="页脚占位符 3">
            <a:extLst>
              <a:ext uri="{FF2B5EF4-FFF2-40B4-BE49-F238E27FC236}">
                <a16:creationId xmlns:a16="http://schemas.microsoft.com/office/drawing/2014/main" id="{2B2257B2-21EF-8AE8-F7E4-62C606E2D4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4732C152-04B2-DFDA-D17D-E6E6E72A5E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53CC8-84A7-4EF1-8750-BAA3DAE5B013}" type="slidenum">
              <a:rPr lang="zh-CN" altLang="en-US" smtClean="0"/>
              <a:t>‹#›</a:t>
            </a:fld>
            <a:endParaRPr lang="zh-CN" altLang="en-US"/>
          </a:p>
        </p:txBody>
      </p:sp>
    </p:spTree>
    <p:extLst>
      <p:ext uri="{BB962C8B-B14F-4D97-AF65-F5344CB8AC3E}">
        <p14:creationId xmlns:p14="http://schemas.microsoft.com/office/powerpoint/2010/main" val="39125115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54936-C32E-4B5F-9C00-DE18EC293E6D}" type="datetimeFigureOut">
              <a:rPr lang="zh-CN" altLang="en-US" smtClean="0"/>
              <a:t>2026/1/9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30304E-243D-4FB6-884F-3E6061F00E76}" type="slidenum">
              <a:rPr lang="zh-CN" altLang="en-US" smtClean="0"/>
              <a:t>‹#›</a:t>
            </a:fld>
            <a:endParaRPr lang="zh-CN" altLang="en-US"/>
          </a:p>
        </p:txBody>
      </p:sp>
    </p:spTree>
    <p:extLst>
      <p:ext uri="{BB962C8B-B14F-4D97-AF65-F5344CB8AC3E}">
        <p14:creationId xmlns:p14="http://schemas.microsoft.com/office/powerpoint/2010/main" val="14636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a:t>
            </a:fld>
            <a:endParaRPr lang="zh-CN" altLang="en-US"/>
          </a:p>
        </p:txBody>
      </p:sp>
    </p:spTree>
    <p:extLst>
      <p:ext uri="{BB962C8B-B14F-4D97-AF65-F5344CB8AC3E}">
        <p14:creationId xmlns:p14="http://schemas.microsoft.com/office/powerpoint/2010/main" val="2452015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8</a:t>
            </a:fld>
            <a:endParaRPr lang="zh-CN" altLang="en-US"/>
          </a:p>
        </p:txBody>
      </p:sp>
    </p:spTree>
    <p:extLst>
      <p:ext uri="{BB962C8B-B14F-4D97-AF65-F5344CB8AC3E}">
        <p14:creationId xmlns:p14="http://schemas.microsoft.com/office/powerpoint/2010/main" val="1440837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12</a:t>
            </a:fld>
            <a:endParaRPr lang="zh-CN" altLang="en-US"/>
          </a:p>
        </p:txBody>
      </p:sp>
    </p:spTree>
    <p:extLst>
      <p:ext uri="{BB962C8B-B14F-4D97-AF65-F5344CB8AC3E}">
        <p14:creationId xmlns:p14="http://schemas.microsoft.com/office/powerpoint/2010/main" val="419766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fld id="{56C0ED60-2263-4EAE-A32E-1C3FDB03FC51}" type="slidenum">
              <a:rPr lang="en-US" altLang="zh-CN" b="0" smtClean="0"/>
              <a:pPr eaLnBrk="1" hangingPunct="1"/>
              <a:t>24</a:t>
            </a:fld>
            <a:endParaRPr lang="en-US" altLang="zh-CN" b="0" dirty="0"/>
          </a:p>
        </p:txBody>
      </p:sp>
      <p:sp>
        <p:nvSpPr>
          <p:cNvPr id="47107" name="Rectangle 2"/>
          <p:cNvSpPr>
            <a:spLocks noGrp="1" noChangeArrowheads="1"/>
          </p:cNvSpPr>
          <p:nvPr>
            <p:ph type="body" idx="1"/>
          </p:nvPr>
        </p:nvSpPr>
        <p:spPr>
          <a:xfrm>
            <a:off x="914400" y="3276600"/>
            <a:ext cx="5029200" cy="51816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eaLnBrk="1" hangingPunct="1"/>
            <a:endParaRPr lang="zh-CN" altLang="zh-CN"/>
          </a:p>
        </p:txBody>
      </p:sp>
      <p:sp>
        <p:nvSpPr>
          <p:cNvPr id="47108" name="Rectangle 3"/>
          <p:cNvSpPr>
            <a:spLocks noGrp="1" noRot="1" noChangeAspect="1" noChangeArrowheads="1" noTextEdit="1"/>
          </p:cNvSpPr>
          <p:nvPr>
            <p:ph type="sldImg"/>
          </p:nvPr>
        </p:nvSpPr>
        <p:spPr>
          <a:xfrm>
            <a:off x="1409700" y="692150"/>
            <a:ext cx="4038600" cy="2273300"/>
          </a:xfrm>
          <a:ln w="12700" cap="flat">
            <a:solidFill>
              <a:schemeClr val="tx1"/>
            </a:solidFill>
          </a:ln>
        </p:spPr>
      </p:sp>
    </p:spTree>
    <p:extLst>
      <p:ext uri="{BB962C8B-B14F-4D97-AF65-F5344CB8AC3E}">
        <p14:creationId xmlns:p14="http://schemas.microsoft.com/office/powerpoint/2010/main" val="756224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03911-1325-4990-9323-67866A3DA82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2D08E5B-80E4-4FD0-9CDA-5500B9FC9A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3511376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33017-8E63-40AD-BA89-BBB2DF064723}"/>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541B9A-6066-437C-A37E-12AA3A77CB8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B60100-748D-4E91-93CA-D72E09123083}"/>
              </a:ext>
            </a:extLst>
          </p:cNvPr>
          <p:cNvSpPr>
            <a:spLocks noGrp="1"/>
          </p:cNvSpPr>
          <p:nvPr>
            <p:ph type="dt" sz="half" idx="10"/>
          </p:nvPr>
        </p:nvSpPr>
        <p:spPr>
          <a:xfrm>
            <a:off x="649359" y="6356350"/>
            <a:ext cx="2743200" cy="365125"/>
          </a:xfrm>
          <a:prstGeom prst="rect">
            <a:avLst/>
          </a:prstGeom>
        </p:spPr>
        <p:txBody>
          <a:bodyPr/>
          <a:lstStyle/>
          <a:p>
            <a:fld id="{C1B5C0A2-AE1A-4240-B327-42A20908623E}" type="datetime1">
              <a:rPr lang="zh-CN" altLang="en-US" smtClean="0"/>
              <a:t>2026/1/9</a:t>
            </a:fld>
            <a:endParaRPr lang="zh-CN" altLang="en-US"/>
          </a:p>
        </p:txBody>
      </p:sp>
      <p:sp>
        <p:nvSpPr>
          <p:cNvPr id="5" name="页脚占位符 4">
            <a:extLst>
              <a:ext uri="{FF2B5EF4-FFF2-40B4-BE49-F238E27FC236}">
                <a16:creationId xmlns:a16="http://schemas.microsoft.com/office/drawing/2014/main" id="{42C4AB81-A6C4-44EF-926A-6AA9872FC72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2AF1667-2E90-4C92-8C58-6F859444EEE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48592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41E1B-492C-44FB-9CA3-2420D12815D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6ED9EAE-AE6C-44FA-9A23-7CBD630885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0415E1-0EE9-494C-87CA-A87BAD08F018}"/>
              </a:ext>
            </a:extLst>
          </p:cNvPr>
          <p:cNvSpPr>
            <a:spLocks noGrp="1"/>
          </p:cNvSpPr>
          <p:nvPr>
            <p:ph type="dt" sz="half" idx="10"/>
          </p:nvPr>
        </p:nvSpPr>
        <p:spPr>
          <a:xfrm>
            <a:off x="649359" y="6356350"/>
            <a:ext cx="2743200" cy="365125"/>
          </a:xfrm>
          <a:prstGeom prst="rect">
            <a:avLst/>
          </a:prstGeom>
        </p:spPr>
        <p:txBody>
          <a:bodyPr/>
          <a:lstStyle/>
          <a:p>
            <a:fld id="{408CFB45-BD77-42C2-B43B-9CCE57C43804}" type="datetime1">
              <a:rPr lang="zh-CN" altLang="en-US" smtClean="0"/>
              <a:t>2026/1/9</a:t>
            </a:fld>
            <a:endParaRPr lang="zh-CN" altLang="en-US"/>
          </a:p>
        </p:txBody>
      </p:sp>
      <p:sp>
        <p:nvSpPr>
          <p:cNvPr id="5" name="页脚占位符 4">
            <a:extLst>
              <a:ext uri="{FF2B5EF4-FFF2-40B4-BE49-F238E27FC236}">
                <a16:creationId xmlns:a16="http://schemas.microsoft.com/office/drawing/2014/main" id="{6AEED9C1-6D6B-43B1-88E7-CF357750F94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59F2E4E-68A6-44F0-89F1-9069558E0052}"/>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204769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6DCF85-EA79-4E15-B212-198BA5E0A644}"/>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3D22BAC-4316-4B37-83C8-3CFFCFEE965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757768D-8B1B-4A40-8A1B-0AC0323E33F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533FB19-A5D7-478C-8B7B-8299F44454D8}"/>
              </a:ext>
            </a:extLst>
          </p:cNvPr>
          <p:cNvSpPr>
            <a:spLocks noGrp="1"/>
          </p:cNvSpPr>
          <p:nvPr>
            <p:ph type="dt" sz="half" idx="10"/>
          </p:nvPr>
        </p:nvSpPr>
        <p:spPr>
          <a:xfrm>
            <a:off x="649359" y="6356350"/>
            <a:ext cx="2743200" cy="365125"/>
          </a:xfrm>
          <a:prstGeom prst="rect">
            <a:avLst/>
          </a:prstGeom>
        </p:spPr>
        <p:txBody>
          <a:bodyPr/>
          <a:lstStyle/>
          <a:p>
            <a:fld id="{EAAE7C0A-51A3-489C-9A57-4ED5AAA198D8}" type="datetime1">
              <a:rPr lang="zh-CN" altLang="en-US" smtClean="0"/>
              <a:t>2026/1/9</a:t>
            </a:fld>
            <a:endParaRPr lang="zh-CN" altLang="en-US"/>
          </a:p>
        </p:txBody>
      </p:sp>
      <p:sp>
        <p:nvSpPr>
          <p:cNvPr id="6" name="页脚占位符 5">
            <a:extLst>
              <a:ext uri="{FF2B5EF4-FFF2-40B4-BE49-F238E27FC236}">
                <a16:creationId xmlns:a16="http://schemas.microsoft.com/office/drawing/2014/main" id="{17CED81C-AAD8-40C0-A43F-9D9FB9351E3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8C24794-BF6C-4771-8DBA-AAC07BC3C2A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3201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DD335-5E95-437F-8BB9-A5F5CC0208B2}"/>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A1372A5-726C-4D76-98A6-013BEE003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CA37AF2-BF75-4C37-A2FE-D332194D34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7FA0C6B-D138-4ACC-9E98-4920C2EAF1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1BCEC55-53FB-427F-A3DA-B4D5A728B8C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999D13-5648-462B-A233-9E2CB0C7FF60}"/>
              </a:ext>
            </a:extLst>
          </p:cNvPr>
          <p:cNvSpPr>
            <a:spLocks noGrp="1"/>
          </p:cNvSpPr>
          <p:nvPr>
            <p:ph type="dt" sz="half" idx="10"/>
          </p:nvPr>
        </p:nvSpPr>
        <p:spPr>
          <a:xfrm>
            <a:off x="649359" y="6356350"/>
            <a:ext cx="2743200" cy="365125"/>
          </a:xfrm>
          <a:prstGeom prst="rect">
            <a:avLst/>
          </a:prstGeom>
        </p:spPr>
        <p:txBody>
          <a:bodyPr/>
          <a:lstStyle/>
          <a:p>
            <a:fld id="{2D763D98-5F04-4BA9-AB85-97856237DB98}" type="datetime1">
              <a:rPr lang="zh-CN" altLang="en-US" smtClean="0"/>
              <a:t>2026/1/9</a:t>
            </a:fld>
            <a:endParaRPr lang="zh-CN" altLang="en-US"/>
          </a:p>
        </p:txBody>
      </p:sp>
      <p:sp>
        <p:nvSpPr>
          <p:cNvPr id="8" name="页脚占位符 7">
            <a:extLst>
              <a:ext uri="{FF2B5EF4-FFF2-40B4-BE49-F238E27FC236}">
                <a16:creationId xmlns:a16="http://schemas.microsoft.com/office/drawing/2014/main" id="{C3BD894E-170B-492B-B70A-EDD9A7FB4C6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5115CA6A-9FA6-4365-870E-2DA48DC4A39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25746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BF246-4037-441C-876F-777CC926DCCA}"/>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FFBA47-D15B-4A7D-90C5-3FF2B94B5B55}"/>
              </a:ext>
            </a:extLst>
          </p:cNvPr>
          <p:cNvSpPr>
            <a:spLocks noGrp="1"/>
          </p:cNvSpPr>
          <p:nvPr>
            <p:ph type="dt" sz="half" idx="10"/>
          </p:nvPr>
        </p:nvSpPr>
        <p:spPr>
          <a:xfrm>
            <a:off x="649359" y="6356350"/>
            <a:ext cx="2743200" cy="365125"/>
          </a:xfrm>
          <a:prstGeom prst="rect">
            <a:avLst/>
          </a:prstGeom>
        </p:spPr>
        <p:txBody>
          <a:bodyPr/>
          <a:lstStyle/>
          <a:p>
            <a:fld id="{9E233C68-0546-46EF-826F-31AB21D0E22F}" type="datetime1">
              <a:rPr lang="zh-CN" altLang="en-US" smtClean="0"/>
              <a:t>2026/1/9</a:t>
            </a:fld>
            <a:endParaRPr lang="zh-CN" altLang="en-US"/>
          </a:p>
        </p:txBody>
      </p:sp>
      <p:sp>
        <p:nvSpPr>
          <p:cNvPr id="4" name="页脚占位符 3">
            <a:extLst>
              <a:ext uri="{FF2B5EF4-FFF2-40B4-BE49-F238E27FC236}">
                <a16:creationId xmlns:a16="http://schemas.microsoft.com/office/drawing/2014/main" id="{2F7BC1F9-EF67-4B0A-96D1-EF168C9E48E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D9AE28D9-605D-4CD2-B34B-BF76CDF03FF6}"/>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97863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F4973FC-C444-49AD-8778-F5595432A35C}"/>
              </a:ext>
            </a:extLst>
          </p:cNvPr>
          <p:cNvSpPr>
            <a:spLocks noGrp="1"/>
          </p:cNvSpPr>
          <p:nvPr>
            <p:ph type="dt" sz="half" idx="10"/>
          </p:nvPr>
        </p:nvSpPr>
        <p:spPr>
          <a:xfrm>
            <a:off x="649359" y="6356350"/>
            <a:ext cx="2743200" cy="365125"/>
          </a:xfrm>
          <a:prstGeom prst="rect">
            <a:avLst/>
          </a:prstGeom>
        </p:spPr>
        <p:txBody>
          <a:bodyPr/>
          <a:lstStyle/>
          <a:p>
            <a:fld id="{59C15AE0-43B3-4320-AFBE-87214D5BB912}" type="datetime1">
              <a:rPr lang="zh-CN" altLang="en-US" smtClean="0"/>
              <a:t>2026/1/9</a:t>
            </a:fld>
            <a:endParaRPr lang="zh-CN" altLang="en-US"/>
          </a:p>
        </p:txBody>
      </p:sp>
      <p:sp>
        <p:nvSpPr>
          <p:cNvPr id="3" name="页脚占位符 2">
            <a:extLst>
              <a:ext uri="{FF2B5EF4-FFF2-40B4-BE49-F238E27FC236}">
                <a16:creationId xmlns:a16="http://schemas.microsoft.com/office/drawing/2014/main" id="{0BEC1063-A3F0-4172-BCFB-CD827E2B660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9FAC6608-BFA7-48AD-A590-0E85E9BF9860}"/>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78749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C89A-E0B7-4981-8F0B-4A7A37DFE7C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5C0E238-74BD-4EA3-996E-32B10590B8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D769AF6-4E84-4D70-98D9-479DF698C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AD74493-971D-42F5-91FF-A5917C2D234D}"/>
              </a:ext>
            </a:extLst>
          </p:cNvPr>
          <p:cNvSpPr>
            <a:spLocks noGrp="1"/>
          </p:cNvSpPr>
          <p:nvPr>
            <p:ph type="dt" sz="half" idx="10"/>
          </p:nvPr>
        </p:nvSpPr>
        <p:spPr>
          <a:xfrm>
            <a:off x="649359" y="6356350"/>
            <a:ext cx="2743200" cy="365125"/>
          </a:xfrm>
          <a:prstGeom prst="rect">
            <a:avLst/>
          </a:prstGeom>
        </p:spPr>
        <p:txBody>
          <a:bodyPr/>
          <a:lstStyle/>
          <a:p>
            <a:fld id="{76331374-E5A2-4981-B795-16EF6DE65827}" type="datetime1">
              <a:rPr lang="zh-CN" altLang="en-US" smtClean="0"/>
              <a:t>2026/1/9</a:t>
            </a:fld>
            <a:endParaRPr lang="zh-CN" altLang="en-US"/>
          </a:p>
        </p:txBody>
      </p:sp>
      <p:sp>
        <p:nvSpPr>
          <p:cNvPr id="6" name="页脚占位符 5">
            <a:extLst>
              <a:ext uri="{FF2B5EF4-FFF2-40B4-BE49-F238E27FC236}">
                <a16:creationId xmlns:a16="http://schemas.microsoft.com/office/drawing/2014/main" id="{B4CDA75E-D89E-4AE1-8D91-7605D574EEC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DF8901A-E4E6-4A7D-8E8C-9057C44E14FA}"/>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438032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84D86-098B-45E7-8693-7E2DE798470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728C271-481B-4D73-8474-75D6D49B18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54DE7F4-849E-4963-9100-C8B9B0A081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75913C3-07E4-4E81-AC28-DB4080626D75}"/>
              </a:ext>
            </a:extLst>
          </p:cNvPr>
          <p:cNvSpPr>
            <a:spLocks noGrp="1"/>
          </p:cNvSpPr>
          <p:nvPr>
            <p:ph type="dt" sz="half" idx="10"/>
          </p:nvPr>
        </p:nvSpPr>
        <p:spPr>
          <a:xfrm>
            <a:off x="649359" y="6356350"/>
            <a:ext cx="2743200" cy="365125"/>
          </a:xfrm>
          <a:prstGeom prst="rect">
            <a:avLst/>
          </a:prstGeom>
        </p:spPr>
        <p:txBody>
          <a:bodyPr/>
          <a:lstStyle/>
          <a:p>
            <a:fld id="{C7EF558D-81CA-4B76-8F12-A95764433413}" type="datetime1">
              <a:rPr lang="zh-CN" altLang="en-US" smtClean="0"/>
              <a:t>2026/1/9</a:t>
            </a:fld>
            <a:endParaRPr lang="zh-CN" altLang="en-US"/>
          </a:p>
        </p:txBody>
      </p:sp>
      <p:sp>
        <p:nvSpPr>
          <p:cNvPr id="6" name="页脚占位符 5">
            <a:extLst>
              <a:ext uri="{FF2B5EF4-FFF2-40B4-BE49-F238E27FC236}">
                <a16:creationId xmlns:a16="http://schemas.microsoft.com/office/drawing/2014/main" id="{3FF2ECCF-DF52-4A0B-9088-6CD8439B447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5079631-3376-40BB-8D99-D13069AD4F8C}"/>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805345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B782D-E973-4A4C-9768-5AF63655E35E}"/>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67AED1F-4B71-4171-BEF5-E90CF2DBB74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3CF74F-5A81-42A8-BFDE-9DF8D20D7C32}"/>
              </a:ext>
            </a:extLst>
          </p:cNvPr>
          <p:cNvSpPr>
            <a:spLocks noGrp="1"/>
          </p:cNvSpPr>
          <p:nvPr>
            <p:ph type="dt" sz="half" idx="10"/>
          </p:nvPr>
        </p:nvSpPr>
        <p:spPr>
          <a:xfrm>
            <a:off x="649359" y="6356350"/>
            <a:ext cx="2743200" cy="365125"/>
          </a:xfrm>
          <a:prstGeom prst="rect">
            <a:avLst/>
          </a:prstGeom>
        </p:spPr>
        <p:txBody>
          <a:bodyPr/>
          <a:lstStyle/>
          <a:p>
            <a:fld id="{FA0449A0-A72F-4DFF-AC68-836BF414A89D}" type="datetime1">
              <a:rPr lang="zh-CN" altLang="en-US" smtClean="0"/>
              <a:t>2026/1/9</a:t>
            </a:fld>
            <a:endParaRPr lang="zh-CN" altLang="en-US"/>
          </a:p>
        </p:txBody>
      </p:sp>
      <p:sp>
        <p:nvSpPr>
          <p:cNvPr id="5" name="页脚占位符 4">
            <a:extLst>
              <a:ext uri="{FF2B5EF4-FFF2-40B4-BE49-F238E27FC236}">
                <a16:creationId xmlns:a16="http://schemas.microsoft.com/office/drawing/2014/main" id="{D25E0F45-E0D1-46EA-B198-5F3003E2E7F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BFA175A-B4E7-4A78-94E6-0A03CE8065E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964477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53B2054-169E-46FC-87FF-00644348A8AD}"/>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E503AE-1314-4E68-BF61-5DAB31ED9DF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64084A-FB51-4F63-B403-370B4F13DC58}"/>
              </a:ext>
            </a:extLst>
          </p:cNvPr>
          <p:cNvSpPr>
            <a:spLocks noGrp="1"/>
          </p:cNvSpPr>
          <p:nvPr>
            <p:ph type="dt" sz="half" idx="10"/>
          </p:nvPr>
        </p:nvSpPr>
        <p:spPr>
          <a:xfrm>
            <a:off x="649359" y="6356350"/>
            <a:ext cx="2743200" cy="365125"/>
          </a:xfrm>
          <a:prstGeom prst="rect">
            <a:avLst/>
          </a:prstGeom>
        </p:spPr>
        <p:txBody>
          <a:bodyPr/>
          <a:lstStyle/>
          <a:p>
            <a:fld id="{C9D7C6E1-5A4D-4ECE-B124-9762BAA7798B}" type="datetime1">
              <a:rPr lang="zh-CN" altLang="en-US" smtClean="0"/>
              <a:t>2026/1/9</a:t>
            </a:fld>
            <a:endParaRPr lang="zh-CN" altLang="en-US"/>
          </a:p>
        </p:txBody>
      </p:sp>
      <p:sp>
        <p:nvSpPr>
          <p:cNvPr id="5" name="页脚占位符 4">
            <a:extLst>
              <a:ext uri="{FF2B5EF4-FFF2-40B4-BE49-F238E27FC236}">
                <a16:creationId xmlns:a16="http://schemas.microsoft.com/office/drawing/2014/main" id="{33699ED0-3608-4FCB-96BE-FFB5DD2CD30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90F967E-32DE-45B6-9C75-1157F0E4927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73617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22FCC35-EAFB-D669-42E4-2A6DBB7F9D95}"/>
              </a:ext>
            </a:extLst>
          </p:cNvPr>
          <p:cNvSpPr txBox="1">
            <a:spLocks noChangeArrowheads="1"/>
          </p:cNvSpPr>
          <p:nvPr userDrawn="1"/>
        </p:nvSpPr>
        <p:spPr>
          <a:xfrm>
            <a:off x="1285460" y="9940"/>
            <a:ext cx="10896605" cy="1017622"/>
          </a:xfrm>
          <a:prstGeom prst="rect">
            <a:avLst/>
          </a:prstGeom>
          <a:solidFill>
            <a:schemeClr val="bg1">
              <a:lumMod val="95000"/>
            </a:schemeClr>
          </a:solidFill>
          <a:ln>
            <a:noFill/>
          </a:ln>
          <a:effectLst/>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defRPr/>
            </a:pPr>
            <a:endParaRPr lang="zh-CN" altLang="en-US" sz="3200" b="1" dirty="0">
              <a:solidFill>
                <a:srgbClr val="002060"/>
              </a:solidFill>
              <a:latin typeface="华文细黑" panose="02010600040101010101" pitchFamily="2" charset="-122"/>
              <a:ea typeface="华文细黑" panose="02010600040101010101" pitchFamily="2" charset="-122"/>
            </a:endParaRPr>
          </a:p>
        </p:txBody>
      </p:sp>
      <p:sp>
        <p:nvSpPr>
          <p:cNvPr id="3" name="文本占位符 2">
            <a:extLst>
              <a:ext uri="{FF2B5EF4-FFF2-40B4-BE49-F238E27FC236}">
                <a16:creationId xmlns:a16="http://schemas.microsoft.com/office/drawing/2014/main" id="{8A7BBF2C-F801-4650-BCBF-3E6A2B1F447C}"/>
              </a:ext>
            </a:extLst>
          </p:cNvPr>
          <p:cNvSpPr>
            <a:spLocks noGrp="1"/>
          </p:cNvSpPr>
          <p:nvPr>
            <p:ph type="body" idx="1"/>
          </p:nvPr>
        </p:nvSpPr>
        <p:spPr>
          <a:xfrm>
            <a:off x="629480" y="1672313"/>
            <a:ext cx="10959546" cy="450465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1205F5E1-C922-4E5A-89F4-6F2B58D16289}"/>
              </a:ext>
            </a:extLst>
          </p:cNvPr>
          <p:cNvSpPr/>
          <p:nvPr userDrawn="1"/>
        </p:nvSpPr>
        <p:spPr>
          <a:xfrm>
            <a:off x="9935" y="1"/>
            <a:ext cx="1275525" cy="1053548"/>
          </a:xfrm>
          <a:prstGeom prst="rect">
            <a:avLst/>
          </a:prstGeom>
          <a:solidFill>
            <a:srgbClr val="0070C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 </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endPar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en-US" altLang="zh-CN" sz="1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1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展示时间序列</a:t>
            </a:r>
          </a:p>
        </p:txBody>
      </p:sp>
      <p:cxnSp>
        <p:nvCxnSpPr>
          <p:cNvPr id="10" name="直接连接符 9">
            <a:extLst>
              <a:ext uri="{FF2B5EF4-FFF2-40B4-BE49-F238E27FC236}">
                <a16:creationId xmlns:a16="http://schemas.microsoft.com/office/drawing/2014/main" id="{AADC6794-BAC4-49B1-8B9A-A91B2A78D5FE}"/>
              </a:ext>
            </a:extLst>
          </p:cNvPr>
          <p:cNvCxnSpPr>
            <a:cxnSpLocks/>
          </p:cNvCxnSpPr>
          <p:nvPr userDrawn="1"/>
        </p:nvCxnSpPr>
        <p:spPr>
          <a:xfrm flipV="1">
            <a:off x="1470992" y="1043609"/>
            <a:ext cx="10721008" cy="2"/>
          </a:xfrm>
          <a:prstGeom prst="line">
            <a:avLst/>
          </a:prstGeom>
          <a:ln w="28575">
            <a:solidFill>
              <a:srgbClr val="0070C0"/>
            </a:solidFill>
          </a:ln>
        </p:spPr>
        <p:style>
          <a:lnRef idx="3">
            <a:schemeClr val="accent1"/>
          </a:lnRef>
          <a:fillRef idx="0">
            <a:schemeClr val="accent1"/>
          </a:fillRef>
          <a:effectRef idx="2">
            <a:schemeClr val="accent1"/>
          </a:effectRef>
          <a:fontRef idx="minor">
            <a:schemeClr val="tx1"/>
          </a:fontRef>
        </p:style>
      </p:cxnSp>
      <p:sp>
        <p:nvSpPr>
          <p:cNvPr id="8" name="矩形 7">
            <a:extLst>
              <a:ext uri="{FF2B5EF4-FFF2-40B4-BE49-F238E27FC236}">
                <a16:creationId xmlns:a16="http://schemas.microsoft.com/office/drawing/2014/main" id="{D5EAEA1C-2B82-4DF5-B721-B18A8CF883DD}"/>
              </a:ext>
            </a:extLst>
          </p:cNvPr>
          <p:cNvSpPr/>
          <p:nvPr userDrawn="1"/>
        </p:nvSpPr>
        <p:spPr>
          <a:xfrm>
            <a:off x="1441171" y="1"/>
            <a:ext cx="238540" cy="1053548"/>
          </a:xfrm>
          <a:prstGeom prst="rect">
            <a:avLst/>
          </a:prstGeom>
          <a:solidFill>
            <a:srgbClr val="0070C0"/>
          </a:solidFill>
          <a:ln>
            <a:solidFill>
              <a:srgbClr val="0070C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3">
            <a:extLst>
              <a:ext uri="{FF2B5EF4-FFF2-40B4-BE49-F238E27FC236}">
                <a16:creationId xmlns:a16="http://schemas.microsoft.com/office/drawing/2014/main" id="{8B230C6B-BACC-4B1C-9DFC-332C0E60FE19}"/>
              </a:ext>
            </a:extLst>
          </p:cNvPr>
          <p:cNvSpPr txBox="1">
            <a:spLocks noChangeArrowheads="1"/>
          </p:cNvSpPr>
          <p:nvPr userDrawn="1"/>
        </p:nvSpPr>
        <p:spPr>
          <a:xfrm>
            <a:off x="0" y="1059044"/>
            <a:ext cx="12192000" cy="503940"/>
          </a:xfrm>
          <a:prstGeom prst="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5400000" scaled="1"/>
            <a:tileRect/>
          </a:grad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endParaRPr lang="en-US" altLang="zh-CN" sz="2600" b="1" dirty="0">
              <a:solidFill>
                <a:schemeClr val="bg1"/>
              </a:solidFill>
              <a:effectLst>
                <a:outerShdw blurRad="38100" dist="38100" dir="2700000" algn="tl">
                  <a:srgbClr val="000000">
                    <a:alpha val="43137"/>
                  </a:srgbClr>
                </a:outerShdw>
              </a:effectLst>
              <a:ea typeface="华文细黑" panose="02010600040101010101" pitchFamily="2" charset="-122"/>
            </a:endParaRPr>
          </a:p>
        </p:txBody>
      </p:sp>
      <p:sp>
        <p:nvSpPr>
          <p:cNvPr id="2" name="副标题 2">
            <a:extLst>
              <a:ext uri="{FF2B5EF4-FFF2-40B4-BE49-F238E27FC236}">
                <a16:creationId xmlns:a16="http://schemas.microsoft.com/office/drawing/2014/main" id="{C3B3C127-5098-0CA1-3271-C3CC0B113958}"/>
              </a:ext>
            </a:extLst>
          </p:cNvPr>
          <p:cNvSpPr txBox="1">
            <a:spLocks/>
          </p:cNvSpPr>
          <p:nvPr userDrawn="1"/>
        </p:nvSpPr>
        <p:spPr>
          <a:xfrm>
            <a:off x="23188" y="6461539"/>
            <a:ext cx="12172130" cy="396460"/>
          </a:xfrm>
          <a:prstGeom prst="rect">
            <a:avLst/>
          </a:prstGeom>
          <a:solidFill>
            <a:schemeClr val="bg1">
              <a:lumMod val="95000"/>
            </a:schemeClr>
          </a:solidFill>
          <a:ln>
            <a:noFill/>
          </a:ln>
        </p:spPr>
        <p:txBody>
          <a:bodyPr vert="horz" lIns="91440" tIns="45720" rIns="91440" bIns="4572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fld id="{40D7A12C-C48C-4203-A694-F2B6F5190069}" type="datetime1">
              <a:rPr lang="zh-CN" altLang="en-US" sz="1300" b="1" smtClean="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2026/1/9</a:t>
            </a:fld>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数据可视化分析</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基于 </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R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语言</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贾俊平                                                                        </a:t>
            </a:r>
            <a:r>
              <a:rPr lang="en-US" altLang="zh-CN" sz="1300" b="0" dirty="0">
                <a:solidFill>
                  <a:schemeClr val="bg1">
                    <a:lumMod val="65000"/>
                  </a:schemeClr>
                </a:solidFill>
                <a:latin typeface="微软雅黑" panose="020B0503020204020204" pitchFamily="34" charset="-122"/>
                <a:ea typeface="微软雅黑" panose="020B0503020204020204" pitchFamily="34" charset="-122"/>
              </a:rPr>
              <a:t>1 - </a:t>
            </a:r>
            <a:fld id="{16EAF49E-217F-4E01-A667-C6B4D41E8F57}" type="slidenum">
              <a:rPr lang="en-US" altLang="zh-CN" sz="1300" b="0" smtClean="0">
                <a:solidFill>
                  <a:schemeClr val="bg1">
                    <a:lumMod val="65000"/>
                  </a:schemeClr>
                </a:solidFill>
                <a:latin typeface="微软雅黑" panose="020B0503020204020204" pitchFamily="34" charset="-122"/>
                <a:ea typeface="微软雅黑" panose="020B0503020204020204" pitchFamily="34" charset="-122"/>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a:t>
            </a:fld>
            <a:endParaRPr lang="en-US" altLang="zh-CN" sz="1300" b="0" dirty="0">
              <a:solidFill>
                <a:schemeClr val="bg1">
                  <a:lumMod val="6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zh-CN" altLang="en-US" sz="13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5" name="椭圆 4">
            <a:extLst>
              <a:ext uri="{FF2B5EF4-FFF2-40B4-BE49-F238E27FC236}">
                <a16:creationId xmlns:a16="http://schemas.microsoft.com/office/drawing/2014/main" id="{3996B926-79FF-01F9-52EE-EC34A6164709}"/>
              </a:ext>
            </a:extLst>
          </p:cNvPr>
          <p:cNvSpPr/>
          <p:nvPr userDrawn="1"/>
        </p:nvSpPr>
        <p:spPr>
          <a:xfrm>
            <a:off x="212036" y="1163320"/>
            <a:ext cx="294859" cy="312382"/>
          </a:xfrm>
          <a:prstGeom prst="ellipse">
            <a:avLst/>
          </a:prstGeom>
          <a:solidFill>
            <a:schemeClr val="accent5">
              <a:lumMod val="40000"/>
              <a:lumOff val="6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14938B99-34FD-6D61-1E98-F8826C2A5CB8}"/>
              </a:ext>
            </a:extLst>
          </p:cNvPr>
          <p:cNvPicPr>
            <a:picLocks noChangeAspect="1"/>
          </p:cNvPicPr>
          <p:nvPr userDrawn="1"/>
        </p:nvPicPr>
        <p:blipFill>
          <a:blip r:embed="rId13"/>
          <a:stretch>
            <a:fillRect/>
          </a:stretch>
        </p:blipFill>
        <p:spPr>
          <a:xfrm>
            <a:off x="10810239" y="9939"/>
            <a:ext cx="1343577" cy="1017623"/>
          </a:xfrm>
          <a:prstGeom prst="rect">
            <a:avLst/>
          </a:prstGeom>
        </p:spPr>
      </p:pic>
    </p:spTree>
    <p:extLst>
      <p:ext uri="{BB962C8B-B14F-4D97-AF65-F5344CB8AC3E}">
        <p14:creationId xmlns:p14="http://schemas.microsoft.com/office/powerpoint/2010/main" val="1997754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2800" kern="1200">
          <a:solidFill>
            <a:schemeClr val="tx1"/>
          </a:solidFill>
          <a:latin typeface="+mn-lt"/>
          <a:ea typeface="华文细黑" panose="0201060004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140A239C-459A-7748-18ED-9D9FCF06E658}"/>
              </a:ext>
            </a:extLst>
          </p:cNvPr>
          <p:cNvGrpSpPr/>
          <p:nvPr/>
        </p:nvGrpSpPr>
        <p:grpSpPr>
          <a:xfrm>
            <a:off x="-57405" y="0"/>
            <a:ext cx="12271508" cy="6858000"/>
            <a:chOff x="-57405" y="0"/>
            <a:chExt cx="12271508" cy="685800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85445D0-CE9B-A4CC-30B0-668A63D7F5B6}"/>
                </a:ext>
              </a:extLst>
            </p:cNvPr>
            <p:cNvSpPr/>
            <p:nvPr/>
          </p:nvSpPr>
          <p:spPr>
            <a:xfrm>
              <a:off x="8533234" y="2415386"/>
              <a:ext cx="2307048" cy="861774"/>
            </a:xfrm>
            <a:prstGeom prst="rect">
              <a:avLst/>
            </a:prstGeom>
          </p:spPr>
          <p:txBody>
            <a:bodyPr wrap="square">
              <a:spAutoFit/>
            </a:bodyPr>
            <a:lstStyle/>
            <a:p>
              <a:pPr algn="r"/>
              <a:r>
                <a:rPr lang="en-US" altLang="zh-CN"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16" name="文本框 15">
              <a:extLst>
                <a:ext uri="{FF2B5EF4-FFF2-40B4-BE49-F238E27FC236}">
                  <a16:creationId xmlns:a16="http://schemas.microsoft.com/office/drawing/2014/main" id="{574B7932-FC4D-9E74-8C2D-407E06788E45}"/>
                </a:ext>
              </a:extLst>
            </p:cNvPr>
            <p:cNvSpPr txBox="1"/>
            <p:nvPr/>
          </p:nvSpPr>
          <p:spPr>
            <a:xfrm>
              <a:off x="5018314" y="1352666"/>
              <a:ext cx="5821968" cy="1015663"/>
            </a:xfrm>
            <a:prstGeom prst="rect">
              <a:avLst/>
            </a:prstGeom>
            <a:noFill/>
            <a:scene3d>
              <a:camera prst="orthographicFront"/>
              <a:lightRig rig="threePt" dir="t"/>
            </a:scene3d>
            <a:sp3d>
              <a:bevelT/>
            </a:sp3d>
          </p:spPr>
          <p:txBody>
            <a:bodyPr wrap="square" rtlCol="0">
              <a:spAutoFit/>
            </a:bodyPr>
            <a:lstStyle/>
            <a:p>
              <a:pPr algn="dist"/>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17" name="副标题 2">
              <a:extLst>
                <a:ext uri="{FF2B5EF4-FFF2-40B4-BE49-F238E27FC236}">
                  <a16:creationId xmlns:a16="http://schemas.microsoft.com/office/drawing/2014/main" id="{D7ED5E4C-E3FE-4A85-6B41-62F1AA059163}"/>
                </a:ext>
              </a:extLst>
            </p:cNvPr>
            <p:cNvSpPr txBox="1">
              <a:spLocks/>
            </p:cNvSpPr>
            <p:nvPr/>
          </p:nvSpPr>
          <p:spPr>
            <a:xfrm>
              <a:off x="9100901" y="5201655"/>
              <a:ext cx="1879415" cy="1196834"/>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2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2026/1/9</a:t>
              </a:fld>
              <a:endPar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18" name="矩形 17">
              <a:extLst>
                <a:ext uri="{FF2B5EF4-FFF2-40B4-BE49-F238E27FC236}">
                  <a16:creationId xmlns:a16="http://schemas.microsoft.com/office/drawing/2014/main" id="{0A77711A-D9C3-862C-970B-1304CBB42097}"/>
                </a:ext>
              </a:extLst>
            </p:cNvPr>
            <p:cNvSpPr/>
            <p:nvPr/>
          </p:nvSpPr>
          <p:spPr>
            <a:xfrm>
              <a:off x="348344" y="359229"/>
              <a:ext cx="11506200" cy="6150428"/>
            </a:xfrm>
            <a:prstGeom prst="rect">
              <a:avLst/>
            </a:prstGeom>
            <a:solidFill>
              <a:schemeClr val="accent1">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a:extLst>
                <a:ext uri="{FF2B5EF4-FFF2-40B4-BE49-F238E27FC236}">
                  <a16:creationId xmlns:a16="http://schemas.microsoft.com/office/drawing/2014/main" id="{DCC974D1-DCEA-DAD9-BA84-A0C1B340842C}"/>
                </a:ext>
              </a:extLst>
            </p:cNvPr>
            <p:cNvGraphicFramePr>
              <a:graphicFrameLocks noChangeAspect="1"/>
            </p:cNvGraphicFramePr>
            <p:nvPr/>
          </p:nvGraphicFramePr>
          <p:xfrm>
            <a:off x="664029" y="598713"/>
            <a:ext cx="10874828" cy="5660574"/>
          </p:xfrm>
          <a:graphic>
            <a:graphicData uri="http://schemas.openxmlformats.org/presentationml/2006/ole">
              <mc:AlternateContent xmlns:mc="http://schemas.openxmlformats.org/markup-compatibility/2006">
                <mc:Choice xmlns:v="urn:schemas-microsoft-com:vml" Requires="v">
                  <p:oleObj name="Bitmap Image" r:id="rId2" imgW="6108840" imgH="4280040" progId="PBrush">
                    <p:embed/>
                  </p:oleObj>
                </mc:Choice>
                <mc:Fallback>
                  <p:oleObj name="Bitmap Image" r:id="rId2" imgW="6108840" imgH="4280040" progId="PBrush">
                    <p:embed/>
                    <p:pic>
                      <p:nvPicPr>
                        <p:cNvPr id="5" name="对象 4">
                          <a:extLst>
                            <a:ext uri="{FF2B5EF4-FFF2-40B4-BE49-F238E27FC236}">
                              <a16:creationId xmlns:a16="http://schemas.microsoft.com/office/drawing/2014/main" id="{DCC974D1-DCEA-DAD9-BA84-A0C1B340842C}"/>
                            </a:ext>
                          </a:extLst>
                        </p:cNvPr>
                        <p:cNvPicPr/>
                        <p:nvPr/>
                      </p:nvPicPr>
                      <p:blipFill>
                        <a:blip r:embed="rId3"/>
                        <a:stretch>
                          <a:fillRect/>
                        </a:stretch>
                      </p:blipFill>
                      <p:spPr>
                        <a:xfrm>
                          <a:off x="664029" y="598713"/>
                          <a:ext cx="10874828" cy="5660574"/>
                        </a:xfrm>
                        <a:prstGeom prst="rect">
                          <a:avLst/>
                        </a:prstGeom>
                      </p:spPr>
                    </p:pic>
                  </p:oleObj>
                </mc:Fallback>
              </mc:AlternateContent>
            </a:graphicData>
          </a:graphic>
        </p:graphicFrame>
        <p:sp>
          <p:nvSpPr>
            <p:cNvPr id="19" name="矩形 18">
              <a:extLst>
                <a:ext uri="{FF2B5EF4-FFF2-40B4-BE49-F238E27FC236}">
                  <a16:creationId xmlns:a16="http://schemas.microsoft.com/office/drawing/2014/main" id="{D38CC3B9-D273-DA53-3D51-7097270B8979}"/>
                </a:ext>
              </a:extLst>
            </p:cNvPr>
            <p:cNvSpPr/>
            <p:nvPr/>
          </p:nvSpPr>
          <p:spPr>
            <a:xfrm>
              <a:off x="7206344" y="2622251"/>
              <a:ext cx="3718954" cy="861774"/>
            </a:xfrm>
            <a:prstGeom prst="rect">
              <a:avLst/>
            </a:prstGeom>
          </p:spPr>
          <p:txBody>
            <a:bodyPr wrap="square">
              <a:spAutoFit/>
            </a:bodyPr>
            <a:lstStyle/>
            <a:p>
              <a:pPr algn="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基于 </a:t>
              </a:r>
              <a:r>
                <a:rPr lang="en-US" altLang="zh-CN"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20" name="文本框 19">
              <a:extLst>
                <a:ext uri="{FF2B5EF4-FFF2-40B4-BE49-F238E27FC236}">
                  <a16:creationId xmlns:a16="http://schemas.microsoft.com/office/drawing/2014/main" id="{878B0296-8DCD-A0D4-E6A8-49A8022C13B3}"/>
                </a:ext>
              </a:extLst>
            </p:cNvPr>
            <p:cNvSpPr txBox="1"/>
            <p:nvPr/>
          </p:nvSpPr>
          <p:spPr>
            <a:xfrm>
              <a:off x="5323114" y="1559531"/>
              <a:ext cx="5602183" cy="1015663"/>
            </a:xfrm>
            <a:prstGeom prst="rect">
              <a:avLst/>
            </a:prstGeom>
            <a:noFill/>
            <a:scene3d>
              <a:camera prst="orthographicFront"/>
              <a:lightRig rig="threePt" dir="t"/>
            </a:scene3d>
            <a:sp3d>
              <a:bevelT/>
            </a:sp3d>
          </p:spPr>
          <p:txBody>
            <a:bodyPr wrap="square" rtlCol="0">
              <a:spAutoFit/>
            </a:bodyPr>
            <a:lstStyle/>
            <a:p>
              <a:pPr algn="r"/>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21" name="副标题 2">
              <a:extLst>
                <a:ext uri="{FF2B5EF4-FFF2-40B4-BE49-F238E27FC236}">
                  <a16:creationId xmlns:a16="http://schemas.microsoft.com/office/drawing/2014/main" id="{982694FD-A4ED-A422-06B2-71C13249BACF}"/>
                </a:ext>
              </a:extLst>
            </p:cNvPr>
            <p:cNvSpPr txBox="1">
              <a:spLocks/>
            </p:cNvSpPr>
            <p:nvPr/>
          </p:nvSpPr>
          <p:spPr>
            <a:xfrm>
              <a:off x="10319657" y="5505334"/>
              <a:ext cx="1333499" cy="753953"/>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00000"/>
                </a:lnSpc>
              </a:pPr>
              <a:fld id="{40D7A12C-C48C-4203-A694-F2B6F5190069}" type="datetime1">
                <a:rPr lang="zh-CN" altLang="en-US" sz="16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00000"/>
                  </a:lnSpc>
                </a:pPr>
                <a:t>2026/1/9</a:t>
              </a:fld>
              <a:endPar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24" name="Rectangle 3">
              <a:extLst>
                <a:ext uri="{FF2B5EF4-FFF2-40B4-BE49-F238E27FC236}">
                  <a16:creationId xmlns:a16="http://schemas.microsoft.com/office/drawing/2014/main" id="{9D668F91-5A97-DC14-A87D-94ECEC1AF98D}"/>
                </a:ext>
              </a:extLst>
            </p:cNvPr>
            <p:cNvSpPr txBox="1">
              <a:spLocks noChangeArrowheads="1"/>
            </p:cNvSpPr>
            <p:nvPr/>
          </p:nvSpPr>
          <p:spPr>
            <a:xfrm>
              <a:off x="7543801" y="3604606"/>
              <a:ext cx="3296482" cy="2610697"/>
            </a:xfrm>
            <a:prstGeom prst="rect">
              <a:avLst/>
            </a:prstGeom>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本书特色</a:t>
              </a:r>
              <a:endParaRPr lang="en-US" altLang="zh-CN" sz="2400" dirty="0">
                <a:effectLs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新颖的写作视角</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严谨的组织结构</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完备的绘制代码</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详尽的图形解读</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2141939524"/>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a:extLst>
              <a:ext uri="{FF2B5EF4-FFF2-40B4-BE49-F238E27FC236}">
                <a16:creationId xmlns:a16="http://schemas.microsoft.com/office/drawing/2014/main" id="{CD5BFEA8-D60A-4E4F-BEA7-36EF403C3802}"/>
              </a:ext>
            </a:extLst>
          </p:cNvPr>
          <p:cNvSpPr txBox="1">
            <a:spLocks/>
          </p:cNvSpPr>
          <p:nvPr/>
        </p:nvSpPr>
        <p:spPr>
          <a:xfrm>
            <a:off x="6096000" y="4864292"/>
            <a:ext cx="2653745" cy="1760996"/>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3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2026/1/9</a:t>
            </a:fld>
            <a:endPar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pic>
        <p:nvPicPr>
          <p:cNvPr id="5" name="图片 4">
            <a:extLst>
              <a:ext uri="{FF2B5EF4-FFF2-40B4-BE49-F238E27FC236}">
                <a16:creationId xmlns:a16="http://schemas.microsoft.com/office/drawing/2014/main" id="{57BE89BD-ACBF-40B9-AAFA-85C15C6AD30F}"/>
              </a:ext>
            </a:extLst>
          </p:cNvPr>
          <p:cNvPicPr>
            <a:picLocks noChangeAspect="1"/>
          </p:cNvPicPr>
          <p:nvPr/>
        </p:nvPicPr>
        <p:blipFill>
          <a:blip r:embed="rId3"/>
          <a:stretch>
            <a:fillRect/>
          </a:stretch>
        </p:blipFill>
        <p:spPr>
          <a:xfrm>
            <a:off x="-57405" y="-85059"/>
            <a:ext cx="12423070" cy="6943059"/>
          </a:xfrm>
          <a:prstGeom prst="rect">
            <a:avLst/>
          </a:prstGeom>
        </p:spPr>
      </p:pic>
      <p:sp>
        <p:nvSpPr>
          <p:cNvPr id="9" name="圆角矩形 4">
            <a:extLst>
              <a:ext uri="{FF2B5EF4-FFF2-40B4-BE49-F238E27FC236}">
                <a16:creationId xmlns:a16="http://schemas.microsoft.com/office/drawing/2014/main" id="{5B463439-9290-46DE-AF62-1FC729B957BF}"/>
              </a:ext>
            </a:extLst>
          </p:cNvPr>
          <p:cNvSpPr/>
          <p:nvPr/>
        </p:nvSpPr>
        <p:spPr>
          <a:xfrm>
            <a:off x="1318437" y="2220686"/>
            <a:ext cx="9850306" cy="3929743"/>
          </a:xfrm>
          <a:prstGeom prst="roundRect">
            <a:avLst/>
          </a:prstGeom>
          <a:solidFill>
            <a:schemeClr val="accent5">
              <a:lumMod val="75000"/>
            </a:schemeClr>
          </a:soli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endParaRPr>
          </a:p>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8.1</a:t>
            </a: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展示序列的变动特征</a:t>
            </a:r>
          </a:p>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8.2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探索多序列的变化模型</a:t>
            </a: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8.3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比较不同时间点的差异</a:t>
            </a: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8.4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观察每一天的数值变化</a:t>
            </a: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8.5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寻找序列的变化趋势</a:t>
            </a: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42FE301-88C8-43EE-B4E5-A0F8BAC93B90}"/>
              </a:ext>
            </a:extLst>
          </p:cNvPr>
          <p:cNvSpPr txBox="1"/>
          <p:nvPr/>
        </p:nvSpPr>
        <p:spPr>
          <a:xfrm>
            <a:off x="1456660" y="839972"/>
            <a:ext cx="9545916" cy="906915"/>
          </a:xfrm>
          <a:prstGeom prst="rect">
            <a:avLst/>
          </a:prstGeom>
          <a:noFill/>
        </p:spPr>
        <p:txBody>
          <a:bodyPr wrap="square" rtlCol="0">
            <a:spAutoFit/>
          </a:bodyPr>
          <a:lstStyle/>
          <a:p>
            <a:pPr>
              <a:lnSpc>
                <a:spcPct val="150000"/>
              </a:lnSpc>
            </a:pP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 </a:t>
            </a: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展示时间序列</a:t>
            </a:r>
            <a:r>
              <a:rPr lang="en-US" altLang="zh-CN" sz="4000" b="1" spc="15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37244127"/>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6E94D264-6FC3-43E2-9B81-55AAF75CEB21}"/>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a:solidFill>
                  <a:srgbClr val="002060"/>
                </a:solidFill>
                <a:ea typeface="华文细黑" panose="02010600040101010101" pitchFamily="2" charset="-122"/>
              </a:rPr>
              <a:t>       概要</a:t>
            </a:r>
            <a:endParaRPr lang="en-US" altLang="zh-CN" sz="2600" b="1" dirty="0">
              <a:solidFill>
                <a:srgbClr val="002060"/>
              </a:solidFill>
              <a:ea typeface="华文细黑" panose="02010600040101010101" pitchFamily="2" charset="-122"/>
            </a:endParaRPr>
          </a:p>
        </p:txBody>
      </p:sp>
      <p:sp>
        <p:nvSpPr>
          <p:cNvPr id="3" name="Rectangle 3">
            <a:extLst>
              <a:ext uri="{FF2B5EF4-FFF2-40B4-BE49-F238E27FC236}">
                <a16:creationId xmlns:a16="http://schemas.microsoft.com/office/drawing/2014/main" id="{0A26A045-FB15-C502-6A07-6A9A39F9D659}"/>
              </a:ext>
            </a:extLst>
          </p:cNvPr>
          <p:cNvSpPr txBox="1">
            <a:spLocks noChangeArrowheads="1"/>
          </p:cNvSpPr>
          <p:nvPr/>
        </p:nvSpPr>
        <p:spPr>
          <a:xfrm>
            <a:off x="751114" y="1711203"/>
            <a:ext cx="10853057" cy="466196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探索时间序列变化特征和模式的基本图形是折线图或面积图</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当有多个变量时，可以绘制流线图、地平线图等</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要展示一个时间序列中各相邻观测值的变化方向，可以绘制瀑布图；要展示多个样本在不同时间上的变化趋势，可以绘制斜线图；要比较多个样本在不同时间点上的排名变化，可以绘制凹凸图</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如果数据是按一年中的每天记录的，则可以绘制日历图展示每天的数据变化</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如果要寻找序列的变化趋势，可以绘制平滑曲线和成分分解图</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D71F3775-4A44-17A5-95BB-9745D99130AA}"/>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本章导读</a:t>
            </a:r>
          </a:p>
        </p:txBody>
      </p:sp>
    </p:spTree>
    <p:extLst>
      <p:ext uri="{BB962C8B-B14F-4D97-AF65-F5344CB8AC3E}">
        <p14:creationId xmlns:p14="http://schemas.microsoft.com/office/powerpoint/2010/main" val="454829765"/>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49" y="1689431"/>
            <a:ext cx="10816094" cy="473314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b="1" dirty="0">
                <a:highlight>
                  <a:srgbClr val="FFFF99"/>
                </a:highlight>
                <a:latin typeface="Cambria" panose="02040503050406030204" pitchFamily="18" charset="0"/>
                <a:ea typeface="华文细黑" panose="02010600040101010101" pitchFamily="2" charset="-122"/>
              </a:rPr>
              <a:t>折线图</a:t>
            </a:r>
            <a:r>
              <a:rPr lang="zh-CN" altLang="zh-CN" sz="2200" dirty="0">
                <a:effectLst/>
                <a:latin typeface="Cambria" panose="02040503050406030204" pitchFamily="18" charset="0"/>
                <a:ea typeface="华文细黑" panose="02010600040101010101" pitchFamily="2" charset="-122"/>
              </a:rPr>
              <a:t>（</a:t>
            </a:r>
            <a:r>
              <a:rPr lang="en-US" altLang="zh-CN" sz="2200" dirty="0">
                <a:effectLst/>
                <a:latin typeface="Cambria" panose="02040503050406030204" pitchFamily="18" charset="0"/>
                <a:ea typeface="华文细黑" panose="02010600040101010101" pitchFamily="2" charset="-122"/>
              </a:rPr>
              <a:t>line chart</a:t>
            </a:r>
            <a:r>
              <a:rPr lang="zh-CN" altLang="zh-CN" sz="2200" dirty="0">
                <a:effectLst/>
                <a:latin typeface="Cambria" panose="02040503050406030204" pitchFamily="18" charset="0"/>
                <a:ea typeface="华文细黑" panose="02010600040101010101" pitchFamily="2" charset="-122"/>
              </a:rPr>
              <a:t>）是描述时间序列的基本图形，它主要用于展示时间序列随时间变化的形态和模式</a:t>
            </a:r>
            <a:endParaRPr lang="en-US" altLang="zh-CN" sz="22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rPr>
              <a:t>折线图的</a:t>
            </a:r>
            <a:r>
              <a:rPr lang="en-US" altLang="zh-CN" sz="2200" i="1" dirty="0">
                <a:effectLst/>
                <a:latin typeface="Cambria" panose="02040503050406030204" pitchFamily="18" charset="0"/>
                <a:ea typeface="华文细黑" panose="02010600040101010101" pitchFamily="2" charset="-122"/>
              </a:rPr>
              <a:t>x</a:t>
            </a:r>
            <a:r>
              <a:rPr lang="zh-CN" altLang="zh-CN" sz="2200" dirty="0">
                <a:effectLst/>
                <a:latin typeface="Cambria" panose="02040503050406030204" pitchFamily="18" charset="0"/>
                <a:ea typeface="华文细黑" panose="02010600040101010101" pitchFamily="2" charset="-122"/>
              </a:rPr>
              <a:t>轴是时间，</a:t>
            </a:r>
            <a:r>
              <a:rPr lang="en-US" altLang="zh-CN" sz="2200" i="1" dirty="0">
                <a:effectLst/>
                <a:latin typeface="Cambria" panose="02040503050406030204" pitchFamily="18" charset="0"/>
                <a:ea typeface="华文细黑" panose="02010600040101010101" pitchFamily="2" charset="-122"/>
              </a:rPr>
              <a:t>y</a:t>
            </a:r>
            <a:r>
              <a:rPr lang="zh-CN" altLang="zh-CN" sz="2200" dirty="0">
                <a:effectLst/>
                <a:latin typeface="Cambria" panose="02040503050406030204" pitchFamily="18" charset="0"/>
                <a:ea typeface="华文细黑" panose="02010600040101010101" pitchFamily="2" charset="-122"/>
              </a:rPr>
              <a:t>轴是变量的观测值</a:t>
            </a:r>
            <a:endParaRPr lang="en-US" altLang="zh-CN" sz="22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en-US" altLang="zh-CN" sz="2200" dirty="0">
                <a:effectLst/>
                <a:latin typeface="Cambria" panose="02040503050406030204" pitchFamily="18" charset="0"/>
                <a:ea typeface="华文细黑" panose="02010600040101010101" pitchFamily="2" charset="-122"/>
              </a:rPr>
              <a:t>y</a:t>
            </a:r>
            <a:r>
              <a:rPr lang="zh-CN" altLang="zh-CN" sz="2200" dirty="0">
                <a:effectLst/>
                <a:latin typeface="Cambria" panose="02040503050406030204" pitchFamily="18" charset="0"/>
                <a:ea typeface="华文细黑" panose="02010600040101010101" pitchFamily="2" charset="-122"/>
              </a:rPr>
              <a:t>轴的起点值可以从</a:t>
            </a:r>
            <a:r>
              <a:rPr lang="en-US" altLang="zh-CN" sz="2200" dirty="0">
                <a:effectLst/>
                <a:latin typeface="Cambria" panose="02040503050406030204" pitchFamily="18" charset="0"/>
                <a:ea typeface="华文细黑" panose="02010600040101010101" pitchFamily="2" charset="-122"/>
              </a:rPr>
              <a:t>0</a:t>
            </a:r>
            <a:r>
              <a:rPr lang="zh-CN" altLang="zh-CN" sz="2200" dirty="0">
                <a:effectLst/>
                <a:latin typeface="Cambria" panose="02040503050406030204" pitchFamily="18" charset="0"/>
                <a:ea typeface="华文细黑" panose="02010600040101010101" pitchFamily="2" charset="-122"/>
              </a:rPr>
              <a:t>开始，也可以不从</a:t>
            </a:r>
            <a:r>
              <a:rPr lang="en-US" altLang="zh-CN" sz="2200" dirty="0">
                <a:effectLst/>
                <a:latin typeface="Cambria" panose="02040503050406030204" pitchFamily="18" charset="0"/>
                <a:ea typeface="华文细黑" panose="02010600040101010101" pitchFamily="2" charset="-122"/>
              </a:rPr>
              <a:t>0</a:t>
            </a:r>
            <a:r>
              <a:rPr lang="zh-CN" altLang="zh-CN" sz="2200" dirty="0">
                <a:effectLst/>
                <a:latin typeface="Cambria" panose="02040503050406030204" pitchFamily="18" charset="0"/>
                <a:ea typeface="华文细黑" panose="02010600040101010101" pitchFamily="2" charset="-122"/>
              </a:rPr>
              <a:t>开始</a:t>
            </a:r>
            <a:endParaRPr lang="en-US" altLang="zh-CN" sz="22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rPr>
              <a:t>如果一个序列观测值的起点值较高，而其波动范围又相对不大，为更好地观察其变化特征，折线图的</a:t>
            </a:r>
            <a:r>
              <a:rPr lang="en-US" altLang="zh-CN" sz="2200" dirty="0">
                <a:effectLst/>
                <a:latin typeface="Cambria" panose="02040503050406030204" pitchFamily="18" charset="0"/>
                <a:ea typeface="华文细黑" panose="02010600040101010101" pitchFamily="2" charset="-122"/>
              </a:rPr>
              <a:t>y</a:t>
            </a:r>
            <a:r>
              <a:rPr lang="zh-CN" altLang="zh-CN" sz="2200" dirty="0">
                <a:effectLst/>
                <a:latin typeface="Cambria" panose="02040503050406030204" pitchFamily="18" charset="0"/>
                <a:ea typeface="华文细黑" panose="02010600040101010101" pitchFamily="2" charset="-122"/>
              </a:rPr>
              <a:t>轴起点值可以不从</a:t>
            </a:r>
            <a:r>
              <a:rPr lang="en-US" altLang="zh-CN" sz="2200" dirty="0">
                <a:effectLst/>
                <a:latin typeface="Cambria" panose="02040503050406030204" pitchFamily="18" charset="0"/>
                <a:ea typeface="华文细黑" panose="02010600040101010101" pitchFamily="2" charset="-122"/>
              </a:rPr>
              <a:t>0</a:t>
            </a:r>
            <a:r>
              <a:rPr lang="zh-CN" altLang="zh-CN" sz="2200" dirty="0">
                <a:effectLst/>
                <a:latin typeface="Cambria" panose="02040503050406030204" pitchFamily="18" charset="0"/>
                <a:ea typeface="华文细黑" panose="02010600040101010101" pitchFamily="2" charset="-122"/>
              </a:rPr>
              <a:t>开始</a:t>
            </a:r>
            <a:endParaRPr lang="en-US" altLang="zh-CN" sz="22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rPr>
              <a:t>使用</a:t>
            </a:r>
            <a:r>
              <a:rPr lang="en-US" altLang="zh-CN" sz="2200" dirty="0">
                <a:effectLst/>
                <a:latin typeface="Cambria" panose="02040503050406030204" pitchFamily="18" charset="0"/>
                <a:ea typeface="华文细黑" panose="02010600040101010101" pitchFamily="2" charset="-122"/>
              </a:rPr>
              <a:t>R</a:t>
            </a:r>
            <a:r>
              <a:rPr lang="zh-CN" altLang="zh-CN" sz="2200" dirty="0">
                <a:effectLst/>
                <a:latin typeface="Cambria" panose="02040503050406030204" pitchFamily="18" charset="0"/>
                <a:ea typeface="华文细黑" panose="02010600040101010101" pitchFamily="2" charset="-122"/>
              </a:rPr>
              <a:t>绘制折线图时，会根据观测值的情况自动确定</a:t>
            </a:r>
            <a:r>
              <a:rPr lang="en-US" altLang="zh-CN" sz="2200" dirty="0">
                <a:effectLst/>
                <a:latin typeface="Cambria" panose="02040503050406030204" pitchFamily="18" charset="0"/>
                <a:ea typeface="华文细黑" panose="02010600040101010101" pitchFamily="2" charset="-122"/>
              </a:rPr>
              <a:t>y</a:t>
            </a:r>
            <a:r>
              <a:rPr lang="zh-CN" altLang="zh-CN" sz="2200" dirty="0">
                <a:effectLst/>
                <a:latin typeface="Cambria" panose="02040503050406030204" pitchFamily="18" charset="0"/>
                <a:ea typeface="华文细黑" panose="02010600040101010101" pitchFamily="2" charset="-122"/>
              </a:rPr>
              <a:t>轴的起点值，当然也可以自己设定</a:t>
            </a:r>
            <a:endParaRPr lang="en-US" altLang="zh-CN" sz="2200" dirty="0">
              <a:latin typeface="Times New Roman" panose="02020603050405020304" pitchFamily="18" charset="0"/>
              <a:ea typeface="宋体" panose="0201060003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折线图</a:t>
            </a:r>
            <a:endParaRPr lang="en-US" altLang="zh-CN" sz="2600" b="1" dirty="0">
              <a:solidFill>
                <a:srgbClr val="002060"/>
              </a:solidFill>
              <a:ea typeface="华文细黑" panose="02010600040101010101" pitchFamily="2" charset="-122"/>
            </a:endParaRPr>
          </a:p>
        </p:txBody>
      </p:sp>
      <p:sp>
        <p:nvSpPr>
          <p:cNvPr id="2" name="Rectangle 2">
            <a:extLst>
              <a:ext uri="{FF2B5EF4-FFF2-40B4-BE49-F238E27FC236}">
                <a16:creationId xmlns:a16="http://schemas.microsoft.com/office/drawing/2014/main" id="{C64F87D4-85F7-E11A-CAC4-D4AB0086150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展示序列的变动特征</a:t>
            </a:r>
          </a:p>
        </p:txBody>
      </p:sp>
    </p:spTree>
    <p:extLst>
      <p:ext uri="{BB962C8B-B14F-4D97-AF65-F5344CB8AC3E}">
        <p14:creationId xmlns:p14="http://schemas.microsoft.com/office/powerpoint/2010/main" val="579619004"/>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49" y="1711203"/>
            <a:ext cx="3762151" cy="466782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折线图尤其适合展示单一时间序列</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如果要在一幅图中同时展示多个序列，则绘制的序列数不易太多，且具有可比性，各序列观测值的量纲（计量单位）应相同，数量级差异也不能太大</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如果多个序列不具有不可比，或序列可比但观测值的数量级差异太大，则不宜绘制在一幅图中。此时，可以分面绘制，将每个变量绘制成一幅独立的图形</a:t>
            </a:r>
            <a:endParaRPr lang="zh-CN" altLang="zh-CN" sz="1600" dirty="0">
              <a:effectLst/>
              <a:latin typeface="Times New Roman" panose="02020603050405020304" pitchFamily="18" charset="0"/>
              <a:ea typeface="宋体" panose="0201060003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折线图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分组和分面</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4561112" y="1711203"/>
            <a:ext cx="870859" cy="466782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1600" dirty="0">
                <a:latin typeface="Cambria" panose="02040503050406030204" pitchFamily="18" charset="0"/>
                <a:ea typeface="华文细黑" panose="02010600040101010101" pitchFamily="2" charset="-122"/>
                <a:sym typeface="Wingdings" panose="05000000000000000000" pitchFamily="2" charset="2"/>
              </a:rPr>
              <a:t>—</a:t>
            </a:r>
            <a:r>
              <a:rPr lang="zh-CN" altLang="zh-CN" sz="1600" kern="0" dirty="0">
                <a:latin typeface="Cambria" panose="02040503050406030204" pitchFamily="18" charset="0"/>
                <a:ea typeface="华文细黑" panose="02010600040101010101" pitchFamily="2" charset="-122"/>
                <a:cs typeface="Times New Roman" panose="02020603050405020304" pitchFamily="18" charset="0"/>
              </a:rPr>
              <a:t>空气污染指标</a:t>
            </a:r>
          </a:p>
        </p:txBody>
      </p:sp>
      <p:sp>
        <p:nvSpPr>
          <p:cNvPr id="3" name="Rectangle 2">
            <a:extLst>
              <a:ext uri="{FF2B5EF4-FFF2-40B4-BE49-F238E27FC236}">
                <a16:creationId xmlns:a16="http://schemas.microsoft.com/office/drawing/2014/main" id="{C18ED3C4-8C64-A703-C1DA-E9FE6279795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展示序列的变动特征</a:t>
            </a:r>
          </a:p>
        </p:txBody>
      </p:sp>
      <p:pic>
        <p:nvPicPr>
          <p:cNvPr id="2" name="图片 1">
            <a:extLst>
              <a:ext uri="{FF2B5EF4-FFF2-40B4-BE49-F238E27FC236}">
                <a16:creationId xmlns:a16="http://schemas.microsoft.com/office/drawing/2014/main" id="{2CF69C80-912D-FD66-E012-7EEC598CB43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60881" y="1711203"/>
            <a:ext cx="5999748" cy="4667826"/>
          </a:xfrm>
          <a:prstGeom prst="rect">
            <a:avLst/>
          </a:prstGeom>
          <a:noFill/>
          <a:ln w="6350">
            <a:solidFill>
              <a:schemeClr val="bg1">
                <a:lumMod val="75000"/>
              </a:schemeClr>
            </a:solidFill>
          </a:ln>
        </p:spPr>
      </p:pic>
    </p:spTree>
    <p:extLst>
      <p:ext uri="{BB962C8B-B14F-4D97-AF65-F5344CB8AC3E}">
        <p14:creationId xmlns:p14="http://schemas.microsoft.com/office/powerpoint/2010/main" val="20235862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78545"/>
            <a:ext cx="1585004" cy="471136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1800" dirty="0">
                <a:latin typeface="Cambria" panose="02040503050406030204" pitchFamily="18" charset="0"/>
                <a:ea typeface="华文细黑" panose="02010600040101010101" pitchFamily="2" charset="-122"/>
              </a:rPr>
              <a:t>如果特别关注某个时间段数据变化的特征，可以对该时间段的折线进行突出（高亮）显示（</a:t>
            </a:r>
            <a:r>
              <a:rPr lang="en-US" altLang="zh-CN" sz="1800" dirty="0">
                <a:latin typeface="Cambria" panose="02040503050406030204" pitchFamily="18" charset="0"/>
                <a:ea typeface="Cambria" panose="02040503050406030204" pitchFamily="18" charset="0"/>
              </a:rPr>
              <a:t>highlighting</a:t>
            </a:r>
            <a:r>
              <a:rPr lang="zh-CN" altLang="zh-CN" sz="1800" dirty="0">
                <a:latin typeface="Cambria" panose="02040503050406030204" pitchFamily="18" charset="0"/>
                <a:ea typeface="华文细黑" panose="02010600040101010101" pitchFamily="2" charset="-122"/>
              </a:rPr>
              <a:t>）</a:t>
            </a: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折线图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突出显示某个变量或时间段</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E56EE4B6-7E2F-9431-3CD5-EE1C38C93F6B}"/>
              </a:ext>
            </a:extLst>
          </p:cNvPr>
          <p:cNvSpPr txBox="1">
            <a:spLocks noChangeArrowheads="1"/>
          </p:cNvSpPr>
          <p:nvPr/>
        </p:nvSpPr>
        <p:spPr>
          <a:xfrm>
            <a:off x="2438400" y="1678545"/>
            <a:ext cx="1752600" cy="471136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1800" dirty="0">
                <a:latin typeface="Cambria" panose="02040503050406030204" pitchFamily="18" charset="0"/>
                <a:ea typeface="华文细黑" panose="02010600040101010101" pitchFamily="2" charset="-122"/>
                <a:sym typeface="Wingdings" panose="05000000000000000000" pitchFamily="2" charset="2"/>
              </a:rPr>
              <a:t>—</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空气污染指标</a:t>
            </a:r>
          </a:p>
        </p:txBody>
      </p:sp>
      <p:sp>
        <p:nvSpPr>
          <p:cNvPr id="3" name="Rectangle 2">
            <a:extLst>
              <a:ext uri="{FF2B5EF4-FFF2-40B4-BE49-F238E27FC236}">
                <a16:creationId xmlns:a16="http://schemas.microsoft.com/office/drawing/2014/main" id="{5B7862FA-DE6E-8236-337A-FBC6F6479E38}"/>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展示序列的变动特征</a:t>
            </a:r>
          </a:p>
        </p:txBody>
      </p:sp>
      <p:pic>
        <p:nvPicPr>
          <p:cNvPr id="2" name="图片 1">
            <a:extLst>
              <a:ext uri="{FF2B5EF4-FFF2-40B4-BE49-F238E27FC236}">
                <a16:creationId xmlns:a16="http://schemas.microsoft.com/office/drawing/2014/main" id="{533E9E0C-50D0-D409-676F-302B517EE00C}"/>
              </a:ext>
            </a:extLst>
          </p:cNvPr>
          <p:cNvPicPr>
            <a:picLocks noChangeAspect="1"/>
          </p:cNvPicPr>
          <p:nvPr/>
        </p:nvPicPr>
        <p:blipFill>
          <a:blip r:embed="rId2"/>
          <a:stretch>
            <a:fillRect/>
          </a:stretch>
        </p:blipFill>
        <p:spPr>
          <a:xfrm>
            <a:off x="4310743" y="1678545"/>
            <a:ext cx="7147603" cy="4716365"/>
          </a:xfrm>
          <a:prstGeom prst="rect">
            <a:avLst/>
          </a:prstGeom>
          <a:ln w="6350">
            <a:solidFill>
              <a:schemeClr val="bg1">
                <a:lumMod val="75000"/>
              </a:schemeClr>
            </a:solidFill>
          </a:ln>
        </p:spPr>
      </p:pic>
    </p:spTree>
    <p:extLst>
      <p:ext uri="{BB962C8B-B14F-4D97-AF65-F5344CB8AC3E}">
        <p14:creationId xmlns:p14="http://schemas.microsoft.com/office/powerpoint/2010/main" val="3697607486"/>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折线图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按月和周分面</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E56EE4B6-7E2F-9431-3CD5-EE1C38C93F6B}"/>
              </a:ext>
            </a:extLst>
          </p:cNvPr>
          <p:cNvSpPr txBox="1">
            <a:spLocks noChangeArrowheads="1"/>
          </p:cNvSpPr>
          <p:nvPr/>
        </p:nvSpPr>
        <p:spPr>
          <a:xfrm>
            <a:off x="816426" y="1664006"/>
            <a:ext cx="4201887" cy="474510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2200" dirty="0">
                <a:latin typeface="Cambria" panose="02040503050406030204" pitchFamily="18" charset="0"/>
                <a:ea typeface="华文细黑" panose="02010600040101010101" pitchFamily="2" charset="-122"/>
                <a:sym typeface="Wingdings" panose="05000000000000000000" pitchFamily="2" charset="2"/>
              </a:rPr>
              <a:t>—</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sym typeface="Wingdings" panose="05000000000000000000" pitchFamily="2" charset="2"/>
              </a:rPr>
              <a:t>AQI</a:t>
            </a:r>
            <a:r>
              <a:rPr lang="zh-CN" altLang="en-US" sz="2200" kern="0" dirty="0">
                <a:latin typeface="Cambria" panose="02040503050406030204" pitchFamily="18" charset="0"/>
                <a:ea typeface="华文细黑" panose="02010600040101010101" pitchFamily="2" charset="-122"/>
                <a:cs typeface="Times New Roman" panose="02020603050405020304" pitchFamily="18" charset="0"/>
                <a:sym typeface="Wingdings" panose="05000000000000000000" pitchFamily="2" charset="2"/>
              </a:rPr>
              <a:t>，按季度、</a:t>
            </a:r>
            <a:r>
              <a:rPr lang="zh-CN" altLang="en-US" sz="2200" kern="0">
                <a:latin typeface="Cambria" panose="02040503050406030204" pitchFamily="18" charset="0"/>
                <a:ea typeface="华文细黑" panose="02010600040101010101" pitchFamily="2" charset="-122"/>
                <a:cs typeface="Times New Roman" panose="02020603050405020304" pitchFamily="18" charset="0"/>
                <a:sym typeface="Wingdings" panose="05000000000000000000" pitchFamily="2" charset="2"/>
              </a:rPr>
              <a:t>月份和周分面</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EF1BF939-8525-5841-56F5-7B668016742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展示序列的变动特征</a:t>
            </a:r>
          </a:p>
        </p:txBody>
      </p:sp>
      <p:pic>
        <p:nvPicPr>
          <p:cNvPr id="6" name="图片 5">
            <a:extLst>
              <a:ext uri="{FF2B5EF4-FFF2-40B4-BE49-F238E27FC236}">
                <a16:creationId xmlns:a16="http://schemas.microsoft.com/office/drawing/2014/main" id="{E9C48244-1010-5DFD-04DC-CD3267EF0A4B}"/>
              </a:ext>
            </a:extLst>
          </p:cNvPr>
          <p:cNvPicPr>
            <a:picLocks noChangeAspect="1"/>
          </p:cNvPicPr>
          <p:nvPr/>
        </p:nvPicPr>
        <p:blipFill>
          <a:blip r:embed="rId2"/>
          <a:stretch>
            <a:fillRect/>
          </a:stretch>
        </p:blipFill>
        <p:spPr>
          <a:xfrm>
            <a:off x="5181598" y="1664006"/>
            <a:ext cx="6346373" cy="4745102"/>
          </a:xfrm>
          <a:prstGeom prst="rect">
            <a:avLst/>
          </a:prstGeom>
          <a:ln w="6350">
            <a:solidFill>
              <a:schemeClr val="bg1">
                <a:lumMod val="75000"/>
              </a:schemeClr>
            </a:solidFill>
          </a:ln>
        </p:spPr>
      </p:pic>
    </p:spTree>
    <p:extLst>
      <p:ext uri="{BB962C8B-B14F-4D97-AF65-F5344CB8AC3E}">
        <p14:creationId xmlns:p14="http://schemas.microsoft.com/office/powerpoint/2010/main" val="2484538786"/>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面积图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D348DB6B-CA43-E745-2F06-32DAF70A42A0}"/>
              </a:ext>
            </a:extLst>
          </p:cNvPr>
          <p:cNvSpPr txBox="1">
            <a:spLocks noChangeArrowheads="1"/>
          </p:cNvSpPr>
          <p:nvPr/>
        </p:nvSpPr>
        <p:spPr>
          <a:xfrm>
            <a:off x="4767939" y="1669802"/>
            <a:ext cx="1055914" cy="4688295"/>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5-1】</a:t>
            </a:r>
          </a:p>
          <a:p>
            <a:pPr marL="0" indent="0" algn="just">
              <a:lnSpc>
                <a:spcPct val="150000"/>
              </a:lnSpc>
              <a:buClr>
                <a:srgbClr val="C00000"/>
              </a:buClr>
              <a:buNone/>
            </a:pPr>
            <a:r>
              <a:rPr lang="zh-CN" altLang="zh-CN" sz="1600" kern="0" dirty="0">
                <a:latin typeface="Cambria" panose="02040503050406030204" pitchFamily="18" charset="0"/>
                <a:ea typeface="华文细黑" panose="02010600040101010101" pitchFamily="2" charset="-122"/>
                <a:cs typeface="Times New Roman" panose="02020603050405020304" pitchFamily="18" charset="0"/>
              </a:rPr>
              <a:t>空气污染指标</a:t>
            </a:r>
          </a:p>
        </p:txBody>
      </p:sp>
      <p:sp>
        <p:nvSpPr>
          <p:cNvPr id="3" name="Rectangle 3">
            <a:extLst>
              <a:ext uri="{FF2B5EF4-FFF2-40B4-BE49-F238E27FC236}">
                <a16:creationId xmlns:a16="http://schemas.microsoft.com/office/drawing/2014/main" id="{0A662F53-D5AA-CCB8-D016-F084E5D44103}"/>
              </a:ext>
            </a:extLst>
          </p:cNvPr>
          <p:cNvSpPr txBox="1">
            <a:spLocks noChangeArrowheads="1"/>
          </p:cNvSpPr>
          <p:nvPr/>
        </p:nvSpPr>
        <p:spPr>
          <a:xfrm>
            <a:off x="668336" y="1656772"/>
            <a:ext cx="4012520" cy="4688295"/>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b="1" dirty="0">
                <a:highlight>
                  <a:srgbClr val="FFFF99"/>
                </a:highlight>
                <a:latin typeface="Cambria" panose="02040503050406030204" pitchFamily="18" charset="0"/>
                <a:ea typeface="华文细黑" panose="02010600040101010101" pitchFamily="2" charset="-122"/>
              </a:rPr>
              <a:t>面积图</a:t>
            </a:r>
            <a:r>
              <a:rPr lang="zh-CN" altLang="zh-CN" sz="1600" dirty="0">
                <a:latin typeface="Cambria" panose="02040503050406030204" pitchFamily="18" charset="0"/>
                <a:ea typeface="华文细黑" panose="02010600040101010101" pitchFamily="2" charset="-122"/>
              </a:rPr>
              <a:t>（</a:t>
            </a:r>
            <a:r>
              <a:rPr lang="en-US" altLang="zh-CN" sz="1600" dirty="0">
                <a:latin typeface="Cambria" panose="02040503050406030204" pitchFamily="18" charset="0"/>
                <a:ea typeface="Cambria" panose="02040503050406030204" pitchFamily="18" charset="0"/>
              </a:rPr>
              <a:t>area graph</a:t>
            </a:r>
            <a:r>
              <a:rPr lang="zh-CN" altLang="zh-CN" sz="1600" dirty="0">
                <a:latin typeface="Cambria" panose="02040503050406030204" pitchFamily="18" charset="0"/>
                <a:ea typeface="华文细黑" panose="02010600040101010101" pitchFamily="2" charset="-122"/>
              </a:rPr>
              <a:t>）是在折线图的基础上绘制的，它将折线与</a:t>
            </a:r>
            <a:r>
              <a:rPr lang="en-US" altLang="zh-CN" sz="1600" dirty="0">
                <a:latin typeface="Cambria" panose="02040503050406030204" pitchFamily="18" charset="0"/>
                <a:ea typeface="Cambria" panose="02040503050406030204" pitchFamily="18" charset="0"/>
              </a:rPr>
              <a:t>X</a:t>
            </a:r>
            <a:r>
              <a:rPr lang="zh-CN" altLang="zh-CN" sz="1600" dirty="0">
                <a:latin typeface="Cambria" panose="02040503050406030204" pitchFamily="18" charset="0"/>
                <a:ea typeface="华文细黑" panose="02010600040101010101" pitchFamily="2" charset="-122"/>
              </a:rPr>
              <a:t>轴之间的区域用颜色填充，填充的区域即为面积</a:t>
            </a:r>
            <a:endParaRPr lang="en-US" altLang="zh-CN" sz="1600" dirty="0">
              <a:latin typeface="Cambria" panose="02040503050406030204" pitchFamily="18" charset="0"/>
              <a:ea typeface="Cambria" panose="020405030504060302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latin typeface="Cambria" panose="02040503050406030204" pitchFamily="18" charset="0"/>
                <a:ea typeface="华文细黑" panose="02010600040101010101" pitchFamily="2" charset="-122"/>
              </a:rPr>
              <a:t>将多个时间序列绘制在一幅图中时，序列数不宜太多。当序列较多时，可以将每个序列单独绘制一幅图，并将多附图以网格的形式摆放</a:t>
            </a:r>
            <a:endParaRPr lang="en-US" altLang="zh-CN" sz="1600" dirty="0">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注意</a:t>
            </a:r>
            <a:r>
              <a:rPr lang="zh-CN" altLang="en-US"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折线图的</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y</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轴起点值可以不从</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0</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开始</a:t>
            </a:r>
            <a:r>
              <a:rPr lang="zh-CN" altLang="en-US"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但绘制面积图时，</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y</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轴的起点值必须从</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0</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开始，这样每个时间点阴影区域的高度才表示这个时间点上的观测值</a:t>
            </a:r>
            <a:endParaRPr lang="zh-CN" altLang="zh-CN" sz="1600" dirty="0">
              <a:latin typeface="Cambria" panose="02040503050406030204" pitchFamily="18" charset="0"/>
              <a:ea typeface="华文细黑" panose="02010600040101010101" pitchFamily="2" charset="-122"/>
            </a:endParaRPr>
          </a:p>
        </p:txBody>
      </p:sp>
      <p:sp>
        <p:nvSpPr>
          <p:cNvPr id="4" name="Rectangle 2">
            <a:extLst>
              <a:ext uri="{FF2B5EF4-FFF2-40B4-BE49-F238E27FC236}">
                <a16:creationId xmlns:a16="http://schemas.microsoft.com/office/drawing/2014/main" id="{27DDC4C4-B871-CD5F-64F2-561C6B7CD4D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展示序列的变动特征</a:t>
            </a:r>
          </a:p>
        </p:txBody>
      </p:sp>
      <p:pic>
        <p:nvPicPr>
          <p:cNvPr id="2" name="图片 1">
            <a:extLst>
              <a:ext uri="{FF2B5EF4-FFF2-40B4-BE49-F238E27FC236}">
                <a16:creationId xmlns:a16="http://schemas.microsoft.com/office/drawing/2014/main" id="{03A1E137-372B-2627-2F2B-3822785304E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10939" y="1669801"/>
            <a:ext cx="5856625" cy="4675265"/>
          </a:xfrm>
          <a:prstGeom prst="rect">
            <a:avLst/>
          </a:prstGeom>
          <a:noFill/>
          <a:ln w="6350">
            <a:solidFill>
              <a:schemeClr val="bg1">
                <a:lumMod val="75000"/>
              </a:schemeClr>
            </a:solidFill>
          </a:ln>
        </p:spPr>
      </p:pic>
    </p:spTree>
    <p:extLst>
      <p:ext uri="{BB962C8B-B14F-4D97-AF65-F5344CB8AC3E}">
        <p14:creationId xmlns:p14="http://schemas.microsoft.com/office/powerpoint/2010/main" val="2531713197"/>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面积图</a:t>
            </a:r>
            <a:endParaRPr lang="en-US" altLang="zh-CN" sz="2600" b="1" dirty="0">
              <a:solidFill>
                <a:srgbClr val="002060"/>
              </a:solidFill>
              <a:ea typeface="华文细黑" panose="02010600040101010101" pitchFamily="2" charset="-122"/>
            </a:endParaRPr>
          </a:p>
        </p:txBody>
      </p:sp>
      <p:sp>
        <p:nvSpPr>
          <p:cNvPr id="6" name="Rectangle 3">
            <a:extLst>
              <a:ext uri="{FF2B5EF4-FFF2-40B4-BE49-F238E27FC236}">
                <a16:creationId xmlns:a16="http://schemas.microsoft.com/office/drawing/2014/main" id="{48742A4E-B699-A6F4-74D9-E8729311E81B}"/>
              </a:ext>
            </a:extLst>
          </p:cNvPr>
          <p:cNvSpPr txBox="1">
            <a:spLocks noChangeArrowheads="1"/>
          </p:cNvSpPr>
          <p:nvPr/>
        </p:nvSpPr>
        <p:spPr>
          <a:xfrm>
            <a:off x="696688" y="1712507"/>
            <a:ext cx="1469570"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p>
          <a:p>
            <a:pPr marL="0" indent="0" algn="just">
              <a:lnSpc>
                <a:spcPct val="150000"/>
              </a:lnSpc>
              <a:buClr>
                <a:srgbClr val="C00000"/>
              </a:buClr>
              <a:buNone/>
            </a:pP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空气污染指标</a:t>
            </a:r>
          </a:p>
        </p:txBody>
      </p:sp>
      <p:pic>
        <p:nvPicPr>
          <p:cNvPr id="7" name="图片 6">
            <a:extLst>
              <a:ext uri="{FF2B5EF4-FFF2-40B4-BE49-F238E27FC236}">
                <a16:creationId xmlns:a16="http://schemas.microsoft.com/office/drawing/2014/main" id="{56C95E2D-B29F-822D-8DDA-8FD0D7A5C25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29543" y="1712507"/>
            <a:ext cx="9296400" cy="4573906"/>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4204B42D-9564-5A4E-5295-0720200B7CA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展示序列的变动特征</a:t>
            </a:r>
          </a:p>
        </p:txBody>
      </p:sp>
    </p:spTree>
    <p:extLst>
      <p:ext uri="{BB962C8B-B14F-4D97-AF65-F5344CB8AC3E}">
        <p14:creationId xmlns:p14="http://schemas.microsoft.com/office/powerpoint/2010/main" val="3503368782"/>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流线图</a:t>
            </a:r>
            <a:endParaRPr lang="en-US" altLang="zh-CN" sz="2600" b="1" dirty="0">
              <a:solidFill>
                <a:srgbClr val="002060"/>
              </a:solidFill>
              <a:ea typeface="华文细黑" panose="02010600040101010101" pitchFamily="2" charset="-122"/>
            </a:endParaRPr>
          </a:p>
        </p:txBody>
      </p:sp>
      <p:sp>
        <p:nvSpPr>
          <p:cNvPr id="10" name="Rectangle 3">
            <a:extLst>
              <a:ext uri="{FF2B5EF4-FFF2-40B4-BE49-F238E27FC236}">
                <a16:creationId xmlns:a16="http://schemas.microsoft.com/office/drawing/2014/main" id="{3EFCE279-3C4D-455A-A5A5-1D35F738744A}"/>
              </a:ext>
            </a:extLst>
          </p:cNvPr>
          <p:cNvSpPr txBox="1">
            <a:spLocks noChangeArrowheads="1"/>
          </p:cNvSpPr>
          <p:nvPr/>
        </p:nvSpPr>
        <p:spPr>
          <a:xfrm>
            <a:off x="776177" y="1711203"/>
            <a:ext cx="2881423"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en-US" sz="15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流线图</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500" kern="0" dirty="0">
                <a:effectLst/>
                <a:latin typeface="Cambria" panose="02040503050406030204" pitchFamily="18" charset="0"/>
                <a:ea typeface="华文细黑" panose="02010600040101010101" pitchFamily="2" charset="-122"/>
                <a:cs typeface="Times New Roman" panose="02020603050405020304" pitchFamily="18" charset="0"/>
              </a:rPr>
              <a:t>steam graph</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）因其形状类似河流，也被称为</a:t>
            </a:r>
            <a:r>
              <a:rPr lang="zh-CN" altLang="zh-CN" sz="1500" b="1" kern="0" dirty="0">
                <a:effectLst/>
                <a:latin typeface="Cambria" panose="02040503050406030204" pitchFamily="18" charset="0"/>
                <a:ea typeface="华文细黑" panose="02010600040101010101" pitchFamily="2" charset="-122"/>
                <a:cs typeface="Times New Roman" panose="02020603050405020304" pitchFamily="18" charset="0"/>
              </a:rPr>
              <a:t>流图</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500" kern="0" dirty="0">
                <a:effectLst/>
                <a:latin typeface="Cambria" panose="02040503050406030204" pitchFamily="18" charset="0"/>
                <a:ea typeface="华文细黑" panose="02010600040101010101" pitchFamily="2" charset="-122"/>
                <a:cs typeface="Times New Roman" panose="02020603050405020304" pitchFamily="18" charset="0"/>
              </a:rPr>
              <a:t>stream graph</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），有时也被称为量化波图。</a:t>
            </a:r>
            <a:r>
              <a:rPr lang="zh-CN" altLang="en-US" sz="1500" kern="0" dirty="0">
                <a:effectLst/>
                <a:latin typeface="Cambria" panose="02040503050406030204" pitchFamily="18" charset="0"/>
                <a:ea typeface="华文细黑" panose="02010600040101010101" pitchFamily="2" charset="-122"/>
                <a:cs typeface="Times New Roman" panose="02020603050405020304" pitchFamily="18" charset="0"/>
              </a:rPr>
              <a:t>流线图</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可以看作是堆叠面积图的一种变形，不同的是，堆叠面积图是以</a:t>
            </a:r>
            <a:r>
              <a:rPr lang="en-US" altLang="zh-CN" sz="1500" i="1" kern="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轴为基准线绘制的，而</a:t>
            </a:r>
            <a:r>
              <a:rPr lang="zh-CN" altLang="en-US" sz="1500" kern="0" dirty="0">
                <a:effectLst/>
                <a:latin typeface="Cambria" panose="02040503050406030204" pitchFamily="18" charset="0"/>
                <a:ea typeface="华文细黑" panose="02010600040101010101" pitchFamily="2" charset="-122"/>
                <a:cs typeface="Times New Roman" panose="02020603050405020304" pitchFamily="18" charset="0"/>
              </a:rPr>
              <a:t>流线图</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是将每个数据系列堆叠绘制在中心基准线（零轴）的上下两侧。</a:t>
            </a:r>
            <a:r>
              <a:rPr lang="zh-CN" altLang="en-US" sz="1500" kern="0" dirty="0">
                <a:effectLst/>
                <a:latin typeface="Cambria" panose="02040503050406030204" pitchFamily="18" charset="0"/>
                <a:ea typeface="华文细黑" panose="02010600040101010101" pitchFamily="2" charset="-122"/>
                <a:cs typeface="Times New Roman" panose="02020603050405020304" pitchFamily="18" charset="0"/>
              </a:rPr>
              <a:t>流线图</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适合于展示多变量、大数据集的时间序列，通过观察各数据系列随时间推移的波峰和波谷，来发现序列的变化趋势和模式</a:t>
            </a:r>
            <a:endParaRPr lang="zh-CN" altLang="zh-CN" sz="1500" dirty="0">
              <a:latin typeface="Cambria" panose="02040503050406030204" pitchFamily="18" charset="0"/>
              <a:ea typeface="华文细黑" panose="02010600040101010101" pitchFamily="2" charset="-122"/>
            </a:endParaRPr>
          </a:p>
        </p:txBody>
      </p:sp>
      <p:sp>
        <p:nvSpPr>
          <p:cNvPr id="5" name="Rectangle 3">
            <a:extLst>
              <a:ext uri="{FF2B5EF4-FFF2-40B4-BE49-F238E27FC236}">
                <a16:creationId xmlns:a16="http://schemas.microsoft.com/office/drawing/2014/main" id="{B7756CD6-9755-EB3C-0B15-E6C743CAE5E6}"/>
              </a:ext>
            </a:extLst>
          </p:cNvPr>
          <p:cNvSpPr txBox="1">
            <a:spLocks noChangeArrowheads="1"/>
          </p:cNvSpPr>
          <p:nvPr/>
        </p:nvSpPr>
        <p:spPr>
          <a:xfrm>
            <a:off x="3733804" y="1711203"/>
            <a:ext cx="7682019" cy="65099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2000" dirty="0">
                <a:latin typeface="Cambria" panose="02040503050406030204" pitchFamily="18" charset="0"/>
                <a:ea typeface="华文细黑" panose="02010600040101010101" pitchFamily="2" charset="-122"/>
                <a:sym typeface="Wingdings" panose="05000000000000000000" pitchFamily="2" charset="2"/>
              </a:rPr>
              <a:t>—</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空气污染指标</a:t>
            </a:r>
          </a:p>
        </p:txBody>
      </p:sp>
      <p:pic>
        <p:nvPicPr>
          <p:cNvPr id="6" name="图片 5">
            <a:extLst>
              <a:ext uri="{FF2B5EF4-FFF2-40B4-BE49-F238E27FC236}">
                <a16:creationId xmlns:a16="http://schemas.microsoft.com/office/drawing/2014/main" id="{1330A3C6-61EE-7986-5CBA-F6593AF83D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3804" y="2455990"/>
            <a:ext cx="7682019" cy="3829119"/>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9DF50C82-2D54-93C2-B883-E153C336078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探索多序列的变化模式</a:t>
            </a:r>
          </a:p>
        </p:txBody>
      </p:sp>
    </p:spTree>
    <p:extLst>
      <p:ext uri="{BB962C8B-B14F-4D97-AF65-F5344CB8AC3E}">
        <p14:creationId xmlns:p14="http://schemas.microsoft.com/office/powerpoint/2010/main" val="1109121306"/>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地平线图</a:t>
            </a:r>
            <a:endParaRPr lang="en-US" altLang="zh-CN" sz="2600" b="1" dirty="0">
              <a:solidFill>
                <a:srgbClr val="002060"/>
              </a:solidFill>
              <a:ea typeface="华文细黑" panose="02010600040101010101" pitchFamily="2" charset="-122"/>
            </a:endParaRPr>
          </a:p>
        </p:txBody>
      </p:sp>
      <p:sp>
        <p:nvSpPr>
          <p:cNvPr id="10" name="Rectangle 3">
            <a:extLst>
              <a:ext uri="{FF2B5EF4-FFF2-40B4-BE49-F238E27FC236}">
                <a16:creationId xmlns:a16="http://schemas.microsoft.com/office/drawing/2014/main" id="{3EFCE279-3C4D-455A-A5A5-1D35F738744A}"/>
              </a:ext>
            </a:extLst>
          </p:cNvPr>
          <p:cNvSpPr txBox="1">
            <a:spLocks noChangeArrowheads="1"/>
          </p:cNvSpPr>
          <p:nvPr/>
        </p:nvSpPr>
        <p:spPr>
          <a:xfrm>
            <a:off x="776179" y="1700317"/>
            <a:ext cx="10621164" cy="467871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b="1" dirty="0">
                <a:highlight>
                  <a:srgbClr val="FFFF99"/>
                </a:highlight>
                <a:latin typeface="Cambria" panose="02040503050406030204" pitchFamily="18" charset="0"/>
                <a:ea typeface="华文细黑" panose="02010600040101010101" pitchFamily="2" charset="-122"/>
              </a:rPr>
              <a:t>地平线图</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Cambria" panose="02040503050406030204" pitchFamily="18" charset="0"/>
              </a:rPr>
              <a:t> horizon plot</a:t>
            </a:r>
            <a:r>
              <a:rPr lang="zh-CN" altLang="zh-CN" sz="2200" dirty="0">
                <a:latin typeface="Cambria" panose="02040503050406030204" pitchFamily="18" charset="0"/>
                <a:ea typeface="华文细黑" panose="02010600040101010101" pitchFamily="2" charset="-122"/>
              </a:rPr>
              <a:t>）将多个时间序列并行绘制在一幅图中，用于展示和比较多个时间序列的变化模式和特征</a:t>
            </a:r>
            <a:endParaRPr lang="en-US" altLang="zh-CN" sz="2200" dirty="0">
              <a:latin typeface="Cambria" panose="02040503050406030204" pitchFamily="18" charset="0"/>
              <a:ea typeface="Cambria" panose="020405030504060302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latin typeface="Cambria" panose="02040503050406030204" pitchFamily="18" charset="0"/>
                <a:ea typeface="华文细黑" panose="02010600040101010101" pitchFamily="2" charset="-122"/>
              </a:rPr>
              <a:t>使用颜色将序列的</a:t>
            </a:r>
            <a:r>
              <a:rPr lang="en-US" altLang="zh-CN" sz="2200" dirty="0">
                <a:latin typeface="Cambria" panose="02040503050406030204" pitchFamily="18" charset="0"/>
                <a:ea typeface="Cambria" panose="02040503050406030204" pitchFamily="18" charset="0"/>
              </a:rPr>
              <a:t>y</a:t>
            </a:r>
            <a:r>
              <a:rPr lang="zh-CN" altLang="zh-CN" sz="2200" dirty="0">
                <a:latin typeface="Cambria" panose="02040503050406030204" pitchFamily="18" charset="0"/>
                <a:ea typeface="华文细黑" panose="02010600040101010101" pitchFamily="2" charset="-122"/>
              </a:rPr>
              <a:t>轴进行</a:t>
            </a:r>
            <a:r>
              <a:rPr lang="zh-CN" altLang="en-US" sz="2200" dirty="0">
                <a:latin typeface="Cambria" panose="02040503050406030204" pitchFamily="18" charset="0"/>
                <a:ea typeface="华文细黑" panose="02010600040101010101" pitchFamily="2" charset="-122"/>
              </a:rPr>
              <a:t>分割</a:t>
            </a:r>
            <a:r>
              <a:rPr lang="zh-CN" altLang="zh-CN" sz="2200" dirty="0">
                <a:latin typeface="Cambria" panose="02040503050406030204" pitchFamily="18" charset="0"/>
                <a:ea typeface="华文细黑" panose="02010600040101010101" pitchFamily="2" charset="-122"/>
              </a:rPr>
              <a:t>，也就是先将一个面积图沿水平方向分成多个等高的块，并用不同颜色来区分各个块，然后把这些块依次地叠加起来，就可以降低图的高度，以达到在一幅图中平行绘制出多个时间序列的目的</a:t>
            </a:r>
            <a:endParaRPr lang="en-US" altLang="zh-CN" sz="2200" dirty="0">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latin typeface="Cambria" panose="02040503050406030204" pitchFamily="18" charset="0"/>
                <a:ea typeface="华文细黑" panose="02010600040101010101" pitchFamily="2" charset="-122"/>
              </a:rPr>
              <a:t>用于区分块的颜色可以自己选择，比如，上升的部分用蓝色表示，下降的部分用红色表示，颜色越深表示变化的幅度越</a:t>
            </a:r>
          </a:p>
          <a:p>
            <a:pPr marL="0" indent="0" algn="just">
              <a:lnSpc>
                <a:spcPct val="150000"/>
              </a:lnSpc>
              <a:buClr>
                <a:srgbClr val="C00000"/>
              </a:buClr>
              <a:buNone/>
            </a:pPr>
            <a:endParaRPr lang="zh-CN" altLang="zh-CN" sz="2200" dirty="0">
              <a:latin typeface="Cambria" panose="02040503050406030204" pitchFamily="18" charset="0"/>
              <a:ea typeface="华文细黑" panose="02010600040101010101" pitchFamily="2" charset="-122"/>
            </a:endParaRPr>
          </a:p>
        </p:txBody>
      </p:sp>
      <p:sp>
        <p:nvSpPr>
          <p:cNvPr id="3" name="Rectangle 2">
            <a:extLst>
              <a:ext uri="{FF2B5EF4-FFF2-40B4-BE49-F238E27FC236}">
                <a16:creationId xmlns:a16="http://schemas.microsoft.com/office/drawing/2014/main" id="{BFCD0147-77D5-1775-13F9-F542B4F545E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探索多序列的变化模式</a:t>
            </a:r>
          </a:p>
        </p:txBody>
      </p:sp>
    </p:spTree>
    <p:extLst>
      <p:ext uri="{BB962C8B-B14F-4D97-AF65-F5344CB8AC3E}">
        <p14:creationId xmlns:p14="http://schemas.microsoft.com/office/powerpoint/2010/main" val="3722618049"/>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地平线图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45A2AA79-BBD2-4747-903C-E7BF62C5FC47}"/>
              </a:ext>
            </a:extLst>
          </p:cNvPr>
          <p:cNvSpPr txBox="1">
            <a:spLocks noChangeArrowheads="1"/>
          </p:cNvSpPr>
          <p:nvPr/>
        </p:nvSpPr>
        <p:spPr>
          <a:xfrm>
            <a:off x="762000" y="1656773"/>
            <a:ext cx="4648200" cy="471137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2600" dirty="0">
                <a:latin typeface="Cambria" panose="02040503050406030204" pitchFamily="18" charset="0"/>
                <a:ea typeface="华文细黑" panose="02010600040101010101" pitchFamily="2" charset="-122"/>
              </a:rPr>
              <a:t>一个虚拟的时间序列的折线图和面积图</a:t>
            </a:r>
            <a:r>
              <a:rPr lang="zh-CN" altLang="en-US" sz="2600" dirty="0">
                <a:latin typeface="Cambria" panose="02040503050406030204" pitchFamily="18" charset="0"/>
                <a:ea typeface="华文细黑" panose="02010600040101010101" pitchFamily="2" charset="-122"/>
              </a:rPr>
              <a:t>与地平线图的比较</a:t>
            </a:r>
            <a:endParaRPr lang="zh-CN" altLang="zh-CN" sz="2600" dirty="0">
              <a:latin typeface="Cambria" panose="02040503050406030204" pitchFamily="18" charset="0"/>
              <a:ea typeface="华文细黑" panose="02010600040101010101" pitchFamily="2" charset="-122"/>
            </a:endParaRPr>
          </a:p>
          <a:p>
            <a:pPr marL="0" indent="0" algn="just">
              <a:lnSpc>
                <a:spcPct val="150000"/>
              </a:lnSpc>
              <a:buClr>
                <a:srgbClr val="C00000"/>
              </a:buClr>
              <a:buNone/>
            </a:pPr>
            <a:endParaRPr lang="zh-CN" altLang="zh-CN" sz="2600" dirty="0">
              <a:latin typeface="Cambria" panose="02040503050406030204" pitchFamily="18" charset="0"/>
              <a:ea typeface="华文细黑" panose="02010600040101010101" pitchFamily="2" charset="-122"/>
            </a:endParaRPr>
          </a:p>
          <a:p>
            <a:pPr marL="0" indent="0" algn="just">
              <a:lnSpc>
                <a:spcPct val="150000"/>
              </a:lnSpc>
              <a:buClr>
                <a:srgbClr val="C00000"/>
              </a:buClr>
              <a:buNone/>
            </a:pPr>
            <a:endParaRPr lang="zh-CN" altLang="zh-CN" sz="2600" dirty="0">
              <a:latin typeface="Cambria" panose="02040503050406030204" pitchFamily="18" charset="0"/>
              <a:ea typeface="华文细黑" panose="02010600040101010101" pitchFamily="2" charset="-122"/>
            </a:endParaRPr>
          </a:p>
          <a:p>
            <a:pPr marL="0" indent="0" algn="just">
              <a:lnSpc>
                <a:spcPct val="150000"/>
              </a:lnSpc>
              <a:buClr>
                <a:srgbClr val="C00000"/>
              </a:buClr>
              <a:buNone/>
            </a:pPr>
            <a:endParaRPr lang="zh-CN" altLang="zh-CN" sz="2600" dirty="0">
              <a:latin typeface="Cambria" panose="02040503050406030204" pitchFamily="18" charset="0"/>
              <a:ea typeface="华文细黑" panose="02010600040101010101" pitchFamily="2" charset="-122"/>
            </a:endParaRPr>
          </a:p>
          <a:p>
            <a:pPr marL="0" indent="0" algn="just">
              <a:lnSpc>
                <a:spcPct val="150000"/>
              </a:lnSpc>
              <a:buClr>
                <a:srgbClr val="C00000"/>
              </a:buClr>
              <a:buNone/>
            </a:pPr>
            <a:endParaRPr lang="zh-CN" altLang="zh-CN" sz="2600" dirty="0">
              <a:latin typeface="Cambria" panose="02040503050406030204" pitchFamily="18" charset="0"/>
              <a:ea typeface="华文细黑" panose="02010600040101010101" pitchFamily="2" charset="-122"/>
            </a:endParaRPr>
          </a:p>
        </p:txBody>
      </p:sp>
      <p:pic>
        <p:nvPicPr>
          <p:cNvPr id="6" name="图片 5">
            <a:extLst>
              <a:ext uri="{FF2B5EF4-FFF2-40B4-BE49-F238E27FC236}">
                <a16:creationId xmlns:a16="http://schemas.microsoft.com/office/drawing/2014/main" id="{80B7F0DB-E86C-E016-6276-81212BA489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05442" y="1656773"/>
            <a:ext cx="5824558" cy="2251198"/>
          </a:xfrm>
          <a:prstGeom prst="rect">
            <a:avLst/>
          </a:prstGeom>
          <a:noFill/>
          <a:ln w="6350">
            <a:solidFill>
              <a:schemeClr val="bg1">
                <a:lumMod val="75000"/>
              </a:schemeClr>
            </a:solidFill>
          </a:ln>
        </p:spPr>
      </p:pic>
      <p:pic>
        <p:nvPicPr>
          <p:cNvPr id="7" name="图片 6">
            <a:extLst>
              <a:ext uri="{FF2B5EF4-FFF2-40B4-BE49-F238E27FC236}">
                <a16:creationId xmlns:a16="http://schemas.microsoft.com/office/drawing/2014/main" id="{951EF00A-C708-B250-3DEC-AC9A0430FAF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05442" y="4018973"/>
            <a:ext cx="5810381" cy="2349170"/>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8C679963-E906-CD90-1918-CD76F7F5152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探索多序列的变化模式</a:t>
            </a:r>
          </a:p>
        </p:txBody>
      </p:sp>
    </p:spTree>
    <p:extLst>
      <p:ext uri="{BB962C8B-B14F-4D97-AF65-F5344CB8AC3E}">
        <p14:creationId xmlns:p14="http://schemas.microsoft.com/office/powerpoint/2010/main" val="1795025051"/>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地平线图</a:t>
            </a:r>
            <a:endParaRPr lang="en-US" altLang="zh-CN" sz="2600" b="1" dirty="0">
              <a:solidFill>
                <a:srgbClr val="002060"/>
              </a:solidFill>
              <a:ea typeface="华文细黑" panose="02010600040101010101" pitchFamily="2" charset="-122"/>
            </a:endParaRPr>
          </a:p>
        </p:txBody>
      </p:sp>
      <p:pic>
        <p:nvPicPr>
          <p:cNvPr id="5" name="图片 4">
            <a:extLst>
              <a:ext uri="{FF2B5EF4-FFF2-40B4-BE49-F238E27FC236}">
                <a16:creationId xmlns:a16="http://schemas.microsoft.com/office/drawing/2014/main" id="{EFF80536-F282-15A4-E812-2692604447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0543" y="1752599"/>
            <a:ext cx="8665028" cy="4626430"/>
          </a:xfrm>
          <a:prstGeom prst="rect">
            <a:avLst/>
          </a:prstGeom>
          <a:noFill/>
          <a:ln w="6350">
            <a:solidFill>
              <a:schemeClr val="bg1">
                <a:lumMod val="75000"/>
              </a:schemeClr>
            </a:solidFill>
          </a:ln>
        </p:spPr>
      </p:pic>
      <p:sp>
        <p:nvSpPr>
          <p:cNvPr id="6" name="Rectangle 3">
            <a:extLst>
              <a:ext uri="{FF2B5EF4-FFF2-40B4-BE49-F238E27FC236}">
                <a16:creationId xmlns:a16="http://schemas.microsoft.com/office/drawing/2014/main" id="{2A16AD68-F0EC-8981-E532-93CE2E8037DC}"/>
              </a:ext>
            </a:extLst>
          </p:cNvPr>
          <p:cNvSpPr txBox="1">
            <a:spLocks noChangeArrowheads="1"/>
          </p:cNvSpPr>
          <p:nvPr/>
        </p:nvSpPr>
        <p:spPr>
          <a:xfrm>
            <a:off x="696687" y="1752599"/>
            <a:ext cx="1752601" cy="462643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2000" dirty="0">
                <a:latin typeface="Cambria" panose="02040503050406030204" pitchFamily="18" charset="0"/>
                <a:ea typeface="华文细黑" panose="02010600040101010101" pitchFamily="2" charset="-122"/>
                <a:sym typeface="Wingdings" panose="05000000000000000000" pitchFamily="2" charset="2"/>
              </a:rPr>
              <a:t>—</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空气污染指标</a:t>
            </a:r>
          </a:p>
        </p:txBody>
      </p:sp>
      <p:sp>
        <p:nvSpPr>
          <p:cNvPr id="3" name="Rectangle 2">
            <a:extLst>
              <a:ext uri="{FF2B5EF4-FFF2-40B4-BE49-F238E27FC236}">
                <a16:creationId xmlns:a16="http://schemas.microsoft.com/office/drawing/2014/main" id="{3A1BB7C4-9CD8-6BDD-0523-B43CCFEA547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探索多序列的变化模式</a:t>
            </a:r>
          </a:p>
        </p:txBody>
      </p:sp>
    </p:spTree>
    <p:extLst>
      <p:ext uri="{BB962C8B-B14F-4D97-AF65-F5344CB8AC3E}">
        <p14:creationId xmlns:p14="http://schemas.microsoft.com/office/powerpoint/2010/main" val="4097400433"/>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地平线图</a:t>
            </a:r>
            <a:endParaRPr lang="en-US" altLang="zh-CN" sz="2600" b="1" dirty="0">
              <a:solidFill>
                <a:srgbClr val="002060"/>
              </a:solidFill>
              <a:ea typeface="华文细黑" panose="02010600040101010101" pitchFamily="2" charset="-122"/>
            </a:endParaRPr>
          </a:p>
        </p:txBody>
      </p:sp>
      <p:sp>
        <p:nvSpPr>
          <p:cNvPr id="3" name="Rectangle 3">
            <a:extLst>
              <a:ext uri="{FF2B5EF4-FFF2-40B4-BE49-F238E27FC236}">
                <a16:creationId xmlns:a16="http://schemas.microsoft.com/office/drawing/2014/main" id="{670133D7-3E2B-3192-C1FA-74F2E0A473C8}"/>
              </a:ext>
            </a:extLst>
          </p:cNvPr>
          <p:cNvSpPr txBox="1">
            <a:spLocks noChangeArrowheads="1"/>
          </p:cNvSpPr>
          <p:nvPr/>
        </p:nvSpPr>
        <p:spPr>
          <a:xfrm>
            <a:off x="696687" y="1665511"/>
            <a:ext cx="2318656" cy="467001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2000" dirty="0">
                <a:latin typeface="Cambria" panose="02040503050406030204" pitchFamily="18" charset="0"/>
                <a:ea typeface="华文细黑" panose="02010600040101010101" pitchFamily="2" charset="-122"/>
                <a:sym typeface="Wingdings" panose="05000000000000000000" pitchFamily="2" charset="2"/>
              </a:rPr>
              <a:t>—</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空气污染指标</a:t>
            </a:r>
          </a:p>
        </p:txBody>
      </p:sp>
      <p:sp>
        <p:nvSpPr>
          <p:cNvPr id="2" name="Rectangle 2">
            <a:extLst>
              <a:ext uri="{FF2B5EF4-FFF2-40B4-BE49-F238E27FC236}">
                <a16:creationId xmlns:a16="http://schemas.microsoft.com/office/drawing/2014/main" id="{5A929E17-2EB5-B690-6747-3598D6AAD43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探索多序列的变化模式</a:t>
            </a:r>
          </a:p>
        </p:txBody>
      </p:sp>
      <p:pic>
        <p:nvPicPr>
          <p:cNvPr id="5" name="图片 4">
            <a:extLst>
              <a:ext uri="{FF2B5EF4-FFF2-40B4-BE49-F238E27FC236}">
                <a16:creationId xmlns:a16="http://schemas.microsoft.com/office/drawing/2014/main" id="{242134E4-6F71-7F32-9B91-43586312047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57232" y="1687283"/>
            <a:ext cx="8314282" cy="4659088"/>
          </a:xfrm>
          <a:prstGeom prst="rect">
            <a:avLst/>
          </a:prstGeom>
          <a:noFill/>
          <a:ln w="6350">
            <a:solidFill>
              <a:schemeClr val="bg1">
                <a:lumMod val="75000"/>
              </a:schemeClr>
            </a:solidFill>
          </a:ln>
        </p:spPr>
      </p:pic>
    </p:spTree>
    <p:extLst>
      <p:ext uri="{BB962C8B-B14F-4D97-AF65-F5344CB8AC3E}">
        <p14:creationId xmlns:p14="http://schemas.microsoft.com/office/powerpoint/2010/main" val="2209231771"/>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瀑布图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45A2AA79-BBD2-4747-903C-E7BF62C5FC47}"/>
              </a:ext>
            </a:extLst>
          </p:cNvPr>
          <p:cNvSpPr txBox="1">
            <a:spLocks noChangeArrowheads="1"/>
          </p:cNvSpPr>
          <p:nvPr/>
        </p:nvSpPr>
        <p:spPr>
          <a:xfrm>
            <a:off x="733647" y="1701621"/>
            <a:ext cx="2934839" cy="461209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b="1" dirty="0">
                <a:highlight>
                  <a:srgbClr val="FFFF99"/>
                </a:highlight>
                <a:latin typeface="Cambria" panose="02040503050406030204" pitchFamily="18" charset="0"/>
                <a:ea typeface="华文细黑" panose="02010600040101010101" pitchFamily="2" charset="-122"/>
              </a:rPr>
              <a:t>瀑布图</a:t>
            </a:r>
            <a:r>
              <a:rPr lang="zh-CN" altLang="zh-CN" sz="1800" dirty="0">
                <a:latin typeface="Cambria" panose="02040503050406030204" pitchFamily="18" charset="0"/>
                <a:ea typeface="华文细黑" panose="02010600040101010101" pitchFamily="2" charset="-122"/>
              </a:rPr>
              <a:t>（</a:t>
            </a:r>
            <a:r>
              <a:rPr lang="en-US" altLang="zh-CN" sz="1800" dirty="0">
                <a:latin typeface="Cambria" panose="02040503050406030204" pitchFamily="18" charset="0"/>
                <a:ea typeface="华文细黑" panose="02010600040101010101" pitchFamily="2" charset="-122"/>
              </a:rPr>
              <a:t>waterfall chart</a:t>
            </a:r>
            <a:r>
              <a:rPr lang="zh-CN" altLang="zh-CN" sz="1800" dirty="0">
                <a:latin typeface="Cambria" panose="02040503050406030204" pitchFamily="18" charset="0"/>
                <a:ea typeface="华文细黑" panose="02010600040101010101" pitchFamily="2" charset="-122"/>
              </a:rPr>
              <a:t>）用于展示一个时间序列中各相邻观测值的变化方向，而不是观测值本身的整体变化模式</a:t>
            </a:r>
            <a:endParaRPr lang="en-US" altLang="zh-CN" sz="1800" dirty="0">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rPr>
              <a:t>可以用向上带箭头的线表示上升，向下带箭头的线表示下降，线的长短表示变化的幅度</a:t>
            </a: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p:txBody>
      </p:sp>
      <p:sp>
        <p:nvSpPr>
          <p:cNvPr id="6" name="Rectangle 3">
            <a:extLst>
              <a:ext uri="{FF2B5EF4-FFF2-40B4-BE49-F238E27FC236}">
                <a16:creationId xmlns:a16="http://schemas.microsoft.com/office/drawing/2014/main" id="{02D990C9-E4D4-D83C-BD1F-AC7FA2F46D9A}"/>
              </a:ext>
            </a:extLst>
          </p:cNvPr>
          <p:cNvSpPr txBox="1">
            <a:spLocks noChangeArrowheads="1"/>
          </p:cNvSpPr>
          <p:nvPr/>
        </p:nvSpPr>
        <p:spPr>
          <a:xfrm>
            <a:off x="3744686" y="1701621"/>
            <a:ext cx="1709057" cy="461209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1800" dirty="0">
                <a:latin typeface="Cambria" panose="02040503050406030204" pitchFamily="18" charset="0"/>
                <a:ea typeface="华文细黑" panose="02010600040101010101" pitchFamily="2" charset="-122"/>
                <a:sym typeface="Wingdings" panose="05000000000000000000" pitchFamily="2" charset="2"/>
              </a:rPr>
              <a:t>—</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空气污染指标</a:t>
            </a:r>
          </a:p>
        </p:txBody>
      </p:sp>
      <p:sp>
        <p:nvSpPr>
          <p:cNvPr id="3" name="Rectangle 2">
            <a:extLst>
              <a:ext uri="{FF2B5EF4-FFF2-40B4-BE49-F238E27FC236}">
                <a16:creationId xmlns:a16="http://schemas.microsoft.com/office/drawing/2014/main" id="{FD9113A2-F32A-2EB6-3022-BEC4C82CD60E}"/>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比较不同时间点的差异</a:t>
            </a:r>
          </a:p>
        </p:txBody>
      </p:sp>
      <p:pic>
        <p:nvPicPr>
          <p:cNvPr id="4" name="图片 3">
            <a:extLst>
              <a:ext uri="{FF2B5EF4-FFF2-40B4-BE49-F238E27FC236}">
                <a16:creationId xmlns:a16="http://schemas.microsoft.com/office/drawing/2014/main" id="{38B6BF4B-27BB-F56A-2896-52EE37393DD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06143" y="1701621"/>
            <a:ext cx="5852210" cy="4612094"/>
          </a:xfrm>
          <a:prstGeom prst="rect">
            <a:avLst/>
          </a:prstGeom>
          <a:noFill/>
          <a:ln w="6350">
            <a:solidFill>
              <a:schemeClr val="bg1">
                <a:lumMod val="75000"/>
              </a:schemeClr>
            </a:solidFill>
          </a:ln>
        </p:spPr>
      </p:pic>
    </p:spTree>
    <p:extLst>
      <p:ext uri="{BB962C8B-B14F-4D97-AF65-F5344CB8AC3E}">
        <p14:creationId xmlns:p14="http://schemas.microsoft.com/office/powerpoint/2010/main" val="3521630363"/>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斜线图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45A2AA79-BBD2-4747-903C-E7BF62C5FC47}"/>
              </a:ext>
            </a:extLst>
          </p:cNvPr>
          <p:cNvSpPr txBox="1">
            <a:spLocks noChangeArrowheads="1"/>
          </p:cNvSpPr>
          <p:nvPr/>
        </p:nvSpPr>
        <p:spPr>
          <a:xfrm>
            <a:off x="733647" y="1701621"/>
            <a:ext cx="2934839" cy="461209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18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斜线图</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slope plot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）或称斜率图，</a:t>
            </a:r>
            <a:r>
              <a:rPr lang="zh-CN" altLang="en-US" sz="1800" dirty="0">
                <a:effectLst/>
                <a:latin typeface="Cambria" panose="02040503050406030204" pitchFamily="18" charset="0"/>
                <a:ea typeface="华文细黑" panose="02010600040101010101" pitchFamily="2" charset="-122"/>
                <a:cs typeface="Times New Roman" panose="02020603050405020304" pitchFamily="18" charset="0"/>
              </a:rPr>
              <a:t>展示具</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有多个样本和多个序列构成的</a:t>
            </a:r>
            <a:r>
              <a:rPr lang="zh-CN" altLang="zh-CN" sz="1800" b="1" dirty="0">
                <a:effectLst/>
                <a:latin typeface="Cambria" panose="02040503050406030204" pitchFamily="18" charset="0"/>
                <a:ea typeface="华文细黑" panose="02010600040101010101" pitchFamily="2" charset="-122"/>
                <a:cs typeface="Times New Roman" panose="02020603050405020304" pitchFamily="18" charset="0"/>
              </a:rPr>
              <a:t>面板数据</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panel data</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1800" dirty="0">
                <a:effectLst/>
                <a:latin typeface="Cambria" panose="02040503050406030204" pitchFamily="18" charset="0"/>
                <a:ea typeface="华文细黑" panose="02010600040101010101" pitchFamily="2" charset="-122"/>
                <a:cs typeface="Times New Roman" panose="02020603050405020304" pitchFamily="18" charset="0"/>
              </a:rPr>
              <a:t>斜线图</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将面板数据中各样本对应的时间序列观测值连线来观察序列的趋势是上升还是下降</a:t>
            </a: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p:txBody>
      </p:sp>
      <p:sp>
        <p:nvSpPr>
          <p:cNvPr id="6" name="Rectangle 3">
            <a:extLst>
              <a:ext uri="{FF2B5EF4-FFF2-40B4-BE49-F238E27FC236}">
                <a16:creationId xmlns:a16="http://schemas.microsoft.com/office/drawing/2014/main" id="{02D990C9-E4D4-D83C-BD1F-AC7FA2F46D9A}"/>
              </a:ext>
            </a:extLst>
          </p:cNvPr>
          <p:cNvSpPr txBox="1">
            <a:spLocks noChangeArrowheads="1"/>
          </p:cNvSpPr>
          <p:nvPr/>
        </p:nvSpPr>
        <p:spPr>
          <a:xfrm>
            <a:off x="3831770" y="1701621"/>
            <a:ext cx="1556657" cy="461209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3-3】</a:t>
            </a:r>
            <a:r>
              <a:rPr lang="en-US" altLang="zh-CN" sz="1800" dirty="0">
                <a:latin typeface="Cambria" panose="02040503050406030204" pitchFamily="18" charset="0"/>
                <a:ea typeface="华文细黑" panose="02010600040101010101" pitchFamily="2" charset="-122"/>
                <a:sym typeface="Wingdings" panose="05000000000000000000" pitchFamily="2" charset="2"/>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31</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个地区</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2019</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2023</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年的地区生产总值为例</a:t>
            </a:r>
            <a:endParaRPr lang="zh-CN" altLang="zh-CN" sz="18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F50DF4EC-A4F0-EF08-5CE7-3D92D082D1D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比较不同时间点的差异</a:t>
            </a:r>
          </a:p>
        </p:txBody>
      </p:sp>
      <p:pic>
        <p:nvPicPr>
          <p:cNvPr id="3" name="图片 2">
            <a:extLst>
              <a:ext uri="{FF2B5EF4-FFF2-40B4-BE49-F238E27FC236}">
                <a16:creationId xmlns:a16="http://schemas.microsoft.com/office/drawing/2014/main" id="{81CBAA20-F744-827B-973B-F5DC16088C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3085" y="1701620"/>
            <a:ext cx="5825268" cy="4600429"/>
          </a:xfrm>
          <a:prstGeom prst="rect">
            <a:avLst/>
          </a:prstGeom>
          <a:noFill/>
          <a:ln w="6350">
            <a:solidFill>
              <a:schemeClr val="bg1">
                <a:lumMod val="75000"/>
              </a:schemeClr>
            </a:solidFill>
          </a:ln>
        </p:spPr>
      </p:pic>
    </p:spTree>
    <p:extLst>
      <p:ext uri="{BB962C8B-B14F-4D97-AF65-F5344CB8AC3E}">
        <p14:creationId xmlns:p14="http://schemas.microsoft.com/office/powerpoint/2010/main" val="4046339925"/>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凹凸图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45A2AA79-BBD2-4747-903C-E7BF62C5FC47}"/>
              </a:ext>
            </a:extLst>
          </p:cNvPr>
          <p:cNvSpPr txBox="1">
            <a:spLocks noChangeArrowheads="1"/>
          </p:cNvSpPr>
          <p:nvPr/>
        </p:nvSpPr>
        <p:spPr>
          <a:xfrm>
            <a:off x="733647" y="1701621"/>
            <a:ext cx="2934839" cy="461209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b="1" dirty="0">
                <a:effectLst/>
                <a:highlight>
                  <a:srgbClr val="FFFF99"/>
                </a:highlight>
                <a:latin typeface="Cambria" panose="02040503050406030204" pitchFamily="18" charset="0"/>
                <a:ea typeface="华文细黑" panose="02010600040101010101" pitchFamily="2" charset="-122"/>
              </a:rPr>
              <a:t>凹凸图</a:t>
            </a:r>
            <a:r>
              <a:rPr lang="zh-CN" altLang="zh-CN" sz="1800" dirty="0">
                <a:effectLst/>
                <a:latin typeface="Cambria" panose="02040503050406030204" pitchFamily="18" charset="0"/>
                <a:ea typeface="华文细黑" panose="02010600040101010101" pitchFamily="2" charset="-122"/>
              </a:rPr>
              <a:t>（</a:t>
            </a:r>
            <a:r>
              <a:rPr lang="en-US" altLang="zh-CN" sz="1800" dirty="0">
                <a:effectLst/>
                <a:latin typeface="Cambria" panose="02040503050406030204" pitchFamily="18" charset="0"/>
                <a:ea typeface="华文细黑" panose="02010600040101010101" pitchFamily="2" charset="-122"/>
              </a:rPr>
              <a:t>bump chart </a:t>
            </a:r>
            <a:r>
              <a:rPr lang="zh-CN" altLang="zh-CN" sz="1800" dirty="0">
                <a:effectLst/>
                <a:latin typeface="Cambria" panose="02040503050406030204" pitchFamily="18" charset="0"/>
                <a:ea typeface="华文细黑" panose="02010600040101010101" pitchFamily="2" charset="-122"/>
              </a:rPr>
              <a:t>）或称冲击图，它是用于展示两列或多列数据点的一种图形</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凹凸图与</a:t>
            </a:r>
            <a:r>
              <a:rPr lang="zh-CN" altLang="en-US" sz="1800" dirty="0">
                <a:effectLst/>
                <a:latin typeface="Cambria" panose="02040503050406030204" pitchFamily="18" charset="0"/>
                <a:ea typeface="华文细黑" panose="02010600040101010101" pitchFamily="2" charset="-122"/>
                <a:cs typeface="Times New Roman" panose="02020603050405020304" pitchFamily="18" charset="0"/>
              </a:rPr>
              <a:t>斜线图</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展示的都是面板数据，不同的是凹凸图展示的是各样本在标不同时间点的连续排位变化</a:t>
            </a: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p:txBody>
      </p:sp>
      <p:sp>
        <p:nvSpPr>
          <p:cNvPr id="6" name="Rectangle 3">
            <a:extLst>
              <a:ext uri="{FF2B5EF4-FFF2-40B4-BE49-F238E27FC236}">
                <a16:creationId xmlns:a16="http://schemas.microsoft.com/office/drawing/2014/main" id="{02D990C9-E4D4-D83C-BD1F-AC7FA2F46D9A}"/>
              </a:ext>
            </a:extLst>
          </p:cNvPr>
          <p:cNvSpPr txBox="1">
            <a:spLocks noChangeArrowheads="1"/>
          </p:cNvSpPr>
          <p:nvPr/>
        </p:nvSpPr>
        <p:spPr>
          <a:xfrm>
            <a:off x="3831770" y="1701621"/>
            <a:ext cx="1556657" cy="461209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3-3】</a:t>
            </a:r>
            <a:r>
              <a:rPr lang="en-US" altLang="zh-CN" sz="1800" dirty="0">
                <a:latin typeface="Cambria" panose="02040503050406030204" pitchFamily="18" charset="0"/>
                <a:ea typeface="华文细黑" panose="02010600040101010101" pitchFamily="2" charset="-122"/>
                <a:sym typeface="Wingdings" panose="05000000000000000000" pitchFamily="2" charset="2"/>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31</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个地区</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2019</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2023</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年的地区生产总值为例</a:t>
            </a:r>
            <a:endParaRPr lang="zh-CN" altLang="zh-CN" sz="18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3FEBC0B3-EF30-9FD6-A92B-1D20E55B150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比较不同时间点的差异</a:t>
            </a:r>
          </a:p>
        </p:txBody>
      </p:sp>
      <p:pic>
        <p:nvPicPr>
          <p:cNvPr id="3" name="图片 2">
            <a:extLst>
              <a:ext uri="{FF2B5EF4-FFF2-40B4-BE49-F238E27FC236}">
                <a16:creationId xmlns:a16="http://schemas.microsoft.com/office/drawing/2014/main" id="{61827F6E-9492-C157-4009-F5192272D7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51710" y="1701620"/>
            <a:ext cx="6041576" cy="4612093"/>
          </a:xfrm>
          <a:prstGeom prst="rect">
            <a:avLst/>
          </a:prstGeom>
          <a:noFill/>
          <a:ln w="6350">
            <a:solidFill>
              <a:schemeClr val="bg1">
                <a:lumMod val="75000"/>
              </a:schemeClr>
            </a:solidFill>
          </a:ln>
        </p:spPr>
      </p:pic>
    </p:spTree>
    <p:extLst>
      <p:ext uri="{BB962C8B-B14F-4D97-AF65-F5344CB8AC3E}">
        <p14:creationId xmlns:p14="http://schemas.microsoft.com/office/powerpoint/2010/main" val="2604106716"/>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日历图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45A2AA79-BBD2-4747-903C-E7BF62C5FC47}"/>
              </a:ext>
            </a:extLst>
          </p:cNvPr>
          <p:cNvSpPr txBox="1">
            <a:spLocks noChangeArrowheads="1"/>
          </p:cNvSpPr>
          <p:nvPr/>
        </p:nvSpPr>
        <p:spPr>
          <a:xfrm>
            <a:off x="733648" y="1713822"/>
            <a:ext cx="3729496" cy="461077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2400" b="1" dirty="0">
                <a:highlight>
                  <a:srgbClr val="FFFF99"/>
                </a:highlight>
                <a:ea typeface="华文细黑" panose="02010600040101010101" pitchFamily="2" charset="-122"/>
              </a:rPr>
              <a:t>日历图</a:t>
            </a:r>
            <a:r>
              <a:rPr lang="en-US" altLang="zh-CN" sz="2400" dirty="0">
                <a:ea typeface="华文细黑" panose="02010600040101010101" pitchFamily="2" charset="-122"/>
              </a:rPr>
              <a:t>—</a:t>
            </a:r>
            <a:r>
              <a:rPr lang="zh-CN" altLang="en-US" sz="2400" dirty="0">
                <a:ea typeface="华文细黑" panose="02010600040101010101" pitchFamily="2" charset="-122"/>
              </a:rPr>
              <a:t>用日历的形式反映每一天的数据变化</a:t>
            </a:r>
            <a:endParaRPr lang="en-US" altLang="zh-CN" sz="2400" dirty="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endParaRPr lang="en-US" altLang="zh-CN" sz="2400" dirty="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endParaRPr lang="en-US" altLang="zh-CN" sz="2400" dirty="0">
              <a:ea typeface="华文细黑" panose="02010600040101010101" pitchFamily="2" charset="-122"/>
            </a:endParaRPr>
          </a:p>
          <a:p>
            <a:pPr marL="0" indent="0" algn="just">
              <a:lnSpc>
                <a:spcPct val="150000"/>
              </a:lnSpc>
              <a:buClr>
                <a:srgbClr val="C00000"/>
              </a:buClr>
              <a:buNone/>
            </a:pPr>
            <a:r>
              <a:rPr lang="zh-CN" altLang="zh-CN" sz="24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4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8-1】</a:t>
            </a:r>
            <a:r>
              <a:rPr lang="en-US" altLang="zh-CN" sz="2400" dirty="0">
                <a:latin typeface="Cambria" panose="02040503050406030204" pitchFamily="18" charset="0"/>
                <a:ea typeface="华文细黑" panose="02010600040101010101" pitchFamily="2" charset="-122"/>
                <a:sym typeface="Wingdings" panose="05000000000000000000" pitchFamily="2" charset="2"/>
              </a:rPr>
              <a:t>—</a:t>
            </a:r>
            <a:r>
              <a:rPr lang="zh-CN" altLang="zh-CN" sz="2400" kern="0" dirty="0">
                <a:latin typeface="Cambria" panose="02040503050406030204" pitchFamily="18" charset="0"/>
                <a:ea typeface="华文细黑" panose="02010600040101010101" pitchFamily="2" charset="-122"/>
                <a:cs typeface="Times New Roman" panose="02020603050405020304" pitchFamily="18" charset="0"/>
              </a:rPr>
              <a:t>空气污染指标</a:t>
            </a:r>
          </a:p>
        </p:txBody>
      </p:sp>
      <p:pic>
        <p:nvPicPr>
          <p:cNvPr id="4" name="图片 3">
            <a:extLst>
              <a:ext uri="{FF2B5EF4-FFF2-40B4-BE49-F238E27FC236}">
                <a16:creationId xmlns:a16="http://schemas.microsoft.com/office/drawing/2014/main" id="{4B177C15-1FBF-4639-B91A-011E959AE0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0277" y="1713822"/>
            <a:ext cx="6560866" cy="4610778"/>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4942CD9E-46E9-7C0A-A0D0-560983C774B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观察每一天的数值变化</a:t>
            </a:r>
          </a:p>
        </p:txBody>
      </p:sp>
    </p:spTree>
    <p:extLst>
      <p:ext uri="{BB962C8B-B14F-4D97-AF65-F5344CB8AC3E}">
        <p14:creationId xmlns:p14="http://schemas.microsoft.com/office/powerpoint/2010/main" val="710807915"/>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日历图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画出部分月份</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45A2AA79-BBD2-4747-903C-E7BF62C5FC47}"/>
              </a:ext>
            </a:extLst>
          </p:cNvPr>
          <p:cNvSpPr txBox="1">
            <a:spLocks noChangeArrowheads="1"/>
          </p:cNvSpPr>
          <p:nvPr/>
        </p:nvSpPr>
        <p:spPr>
          <a:xfrm>
            <a:off x="733647" y="1713822"/>
            <a:ext cx="1726524" cy="461077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8-1】</a:t>
            </a:r>
            <a:r>
              <a:rPr lang="en-US" altLang="zh-CN" sz="2000" dirty="0">
                <a:latin typeface="Cambria" panose="02040503050406030204" pitchFamily="18" charset="0"/>
                <a:ea typeface="华文细黑" panose="02010600040101010101" pitchFamily="2" charset="-122"/>
                <a:sym typeface="Wingdings" panose="05000000000000000000" pitchFamily="2" charset="2"/>
              </a:rPr>
              <a:t>—</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空气污染指标</a:t>
            </a:r>
          </a:p>
          <a:p>
            <a:pPr marL="0" indent="0" algn="just">
              <a:lnSpc>
                <a:spcPct val="150000"/>
              </a:lnSpc>
              <a:buClr>
                <a:srgbClr val="C00000"/>
              </a:buClr>
              <a:buNone/>
            </a:pPr>
            <a:endParaRPr lang="zh-CN" altLang="zh-CN" sz="2200" dirty="0">
              <a:latin typeface="Cambria" panose="02040503050406030204" pitchFamily="18" charset="0"/>
              <a:ea typeface="华文细黑" panose="02010600040101010101" pitchFamily="2" charset="-122"/>
            </a:endParaRPr>
          </a:p>
          <a:p>
            <a:pPr marL="0" indent="0" algn="just">
              <a:lnSpc>
                <a:spcPct val="150000"/>
              </a:lnSpc>
              <a:buClr>
                <a:srgbClr val="C00000"/>
              </a:buClr>
              <a:buNone/>
            </a:pPr>
            <a:endParaRPr lang="zh-CN" altLang="zh-CN" sz="2200" dirty="0">
              <a:latin typeface="Cambria" panose="02040503050406030204" pitchFamily="18" charset="0"/>
              <a:ea typeface="华文细黑" panose="02010600040101010101" pitchFamily="2" charset="-122"/>
            </a:endParaRPr>
          </a:p>
          <a:p>
            <a:pPr marL="0" indent="0" algn="just">
              <a:lnSpc>
                <a:spcPct val="150000"/>
              </a:lnSpc>
              <a:buClr>
                <a:srgbClr val="C00000"/>
              </a:buClr>
              <a:buNone/>
            </a:pPr>
            <a:endParaRPr lang="zh-CN" altLang="zh-CN" sz="2200" dirty="0">
              <a:latin typeface="Cambria" panose="02040503050406030204" pitchFamily="18" charset="0"/>
              <a:ea typeface="华文细黑" panose="02010600040101010101" pitchFamily="2" charset="-122"/>
            </a:endParaRPr>
          </a:p>
          <a:p>
            <a:pPr marL="0" indent="0" algn="just">
              <a:lnSpc>
                <a:spcPct val="150000"/>
              </a:lnSpc>
              <a:buClr>
                <a:srgbClr val="C00000"/>
              </a:buClr>
              <a:buNone/>
            </a:pPr>
            <a:endParaRPr lang="zh-CN" altLang="zh-CN" sz="2200" dirty="0">
              <a:latin typeface="Cambria" panose="02040503050406030204" pitchFamily="18" charset="0"/>
              <a:ea typeface="华文细黑" panose="02010600040101010101" pitchFamily="2" charset="-122"/>
            </a:endParaRPr>
          </a:p>
          <a:p>
            <a:pPr marL="0" indent="0" algn="just">
              <a:lnSpc>
                <a:spcPct val="150000"/>
              </a:lnSpc>
              <a:buClr>
                <a:srgbClr val="C00000"/>
              </a:buClr>
              <a:buNone/>
            </a:pPr>
            <a:endParaRPr lang="zh-CN" altLang="zh-CN" sz="2200" dirty="0">
              <a:latin typeface="Cambria" panose="02040503050406030204" pitchFamily="18" charset="0"/>
              <a:ea typeface="华文细黑" panose="02010600040101010101" pitchFamily="2" charset="-122"/>
            </a:endParaRPr>
          </a:p>
          <a:p>
            <a:pPr marL="0" indent="0" algn="just">
              <a:lnSpc>
                <a:spcPct val="150000"/>
              </a:lnSpc>
              <a:buClr>
                <a:srgbClr val="C00000"/>
              </a:buClr>
              <a:buNone/>
            </a:pPr>
            <a:endParaRPr lang="zh-CN" altLang="zh-CN" sz="2200" dirty="0">
              <a:latin typeface="Cambria" panose="02040503050406030204" pitchFamily="18" charset="0"/>
              <a:ea typeface="华文细黑" panose="02010600040101010101" pitchFamily="2" charset="-122"/>
            </a:endParaRPr>
          </a:p>
        </p:txBody>
      </p:sp>
      <p:pic>
        <p:nvPicPr>
          <p:cNvPr id="6" name="图片 5">
            <a:extLst>
              <a:ext uri="{FF2B5EF4-FFF2-40B4-BE49-F238E27FC236}">
                <a16:creationId xmlns:a16="http://schemas.microsoft.com/office/drawing/2014/main" id="{ED710F88-598A-DBEE-74BB-88E292C82F5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90801" y="1713822"/>
            <a:ext cx="8867552" cy="4610777"/>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19D42EAE-EDDB-D18C-6BDC-21486A4FBA2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观察每一天的数值变化</a:t>
            </a:r>
          </a:p>
        </p:txBody>
      </p:sp>
    </p:spTree>
    <p:extLst>
      <p:ext uri="{BB962C8B-B14F-4D97-AF65-F5344CB8AC3E}">
        <p14:creationId xmlns:p14="http://schemas.microsoft.com/office/powerpoint/2010/main" val="511926942"/>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日历图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画出多个年份</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45A2AA79-BBD2-4747-903C-E7BF62C5FC47}"/>
              </a:ext>
            </a:extLst>
          </p:cNvPr>
          <p:cNvSpPr txBox="1">
            <a:spLocks noChangeArrowheads="1"/>
          </p:cNvSpPr>
          <p:nvPr/>
        </p:nvSpPr>
        <p:spPr>
          <a:xfrm>
            <a:off x="733648" y="1713823"/>
            <a:ext cx="1987781" cy="463254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8-1】</a:t>
            </a:r>
            <a:r>
              <a:rPr lang="en-US" altLang="zh-CN" sz="2200" dirty="0">
                <a:latin typeface="Cambria" panose="02040503050406030204" pitchFamily="18" charset="0"/>
                <a:ea typeface="华文细黑" panose="02010600040101010101" pitchFamily="2" charset="-122"/>
                <a:sym typeface="Wingdings" panose="05000000000000000000" pitchFamily="2" charset="2"/>
              </a:rPr>
              <a:t>—</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空气污染指标</a:t>
            </a: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a:p>
            <a:pPr marL="0" indent="0" algn="just">
              <a:lnSpc>
                <a:spcPct val="150000"/>
              </a:lnSpc>
              <a:buClr>
                <a:srgbClr val="C00000"/>
              </a:buClr>
              <a:buNone/>
            </a:pPr>
            <a:endParaRPr lang="zh-CN" altLang="zh-CN" sz="2200" dirty="0">
              <a:ea typeface="华文细黑" panose="02010600040101010101" pitchFamily="2" charset="-122"/>
            </a:endParaRPr>
          </a:p>
        </p:txBody>
      </p:sp>
      <p:pic>
        <p:nvPicPr>
          <p:cNvPr id="5" name="图片 4">
            <a:extLst>
              <a:ext uri="{FF2B5EF4-FFF2-40B4-BE49-F238E27FC236}">
                <a16:creationId xmlns:a16="http://schemas.microsoft.com/office/drawing/2014/main" id="{32B8B1B1-5DC1-CB6C-A10D-26FF8ED65A2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713823"/>
            <a:ext cx="8492005" cy="4632548"/>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11DE6662-C142-CEE8-7D89-8308050093B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观察每一天的数值变化</a:t>
            </a:r>
          </a:p>
        </p:txBody>
      </p:sp>
    </p:spTree>
    <p:extLst>
      <p:ext uri="{BB962C8B-B14F-4D97-AF65-F5344CB8AC3E}">
        <p14:creationId xmlns:p14="http://schemas.microsoft.com/office/powerpoint/2010/main" val="1836552161"/>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随机成分平滑</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66C7A745-C5D6-4176-A761-1C73C6DB337E}"/>
              </a:ext>
            </a:extLst>
          </p:cNvPr>
          <p:cNvSpPr txBox="1">
            <a:spLocks noChangeArrowheads="1"/>
          </p:cNvSpPr>
          <p:nvPr/>
        </p:nvSpPr>
        <p:spPr>
          <a:xfrm>
            <a:off x="744279" y="1713823"/>
            <a:ext cx="3087492" cy="465432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利用移动平均（</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moving average</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）将时间序列中的随机波动平滑掉，从而有利于观察其变化的固有模式</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移动平均是选择固定长度的移动间隔，对序列逐期移动求得平均数作为平滑值</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8" name="Rectangle 3">
            <a:extLst>
              <a:ext uri="{FF2B5EF4-FFF2-40B4-BE49-F238E27FC236}">
                <a16:creationId xmlns:a16="http://schemas.microsoft.com/office/drawing/2014/main" id="{D34324C7-484F-395E-23C5-8C7FD575253A}"/>
              </a:ext>
            </a:extLst>
          </p:cNvPr>
          <p:cNvSpPr txBox="1">
            <a:spLocks noChangeArrowheads="1"/>
          </p:cNvSpPr>
          <p:nvPr/>
        </p:nvSpPr>
        <p:spPr>
          <a:xfrm>
            <a:off x="3949222" y="1713822"/>
            <a:ext cx="1373891" cy="465432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5-1</a:t>
            </a: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en-US" altLang="zh-CN" sz="1800" b="1"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en-US" sz="1800" dirty="0">
                <a:effectLst/>
                <a:latin typeface="Cambria" panose="02040503050406030204" pitchFamily="18" charset="0"/>
                <a:ea typeface="华文细黑" panose="02010600040101010101" pitchFamily="2" charset="-122"/>
                <a:cs typeface="Times New Roman" panose="02020603050405020304" pitchFamily="18" charset="0"/>
              </a:rPr>
              <a:t>空气污染指标</a:t>
            </a:r>
            <a:endParaRPr lang="zh-CN" altLang="zh-CN" sz="1800" dirty="0">
              <a:latin typeface="Cambria" panose="02040503050406030204" pitchFamily="18" charset="0"/>
              <a:ea typeface="华文细黑" panose="02010600040101010101" pitchFamily="2" charset="-122"/>
            </a:endParaRPr>
          </a:p>
        </p:txBody>
      </p:sp>
      <p:pic>
        <p:nvPicPr>
          <p:cNvPr id="7" name="图片 6">
            <a:extLst>
              <a:ext uri="{FF2B5EF4-FFF2-40B4-BE49-F238E27FC236}">
                <a16:creationId xmlns:a16="http://schemas.microsoft.com/office/drawing/2014/main" id="{E8F46A8C-0B98-75EB-4671-07A51DBA3D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42857" y="1713822"/>
            <a:ext cx="6106886" cy="4654321"/>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C664CFAF-3CF1-497D-9AE5-5F3A22D0426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寻找序列的变化趋势</a:t>
            </a:r>
          </a:p>
        </p:txBody>
      </p:sp>
    </p:spTree>
    <p:extLst>
      <p:ext uri="{BB962C8B-B14F-4D97-AF65-F5344CB8AC3E}">
        <p14:creationId xmlns:p14="http://schemas.microsoft.com/office/powerpoint/2010/main" val="356768344"/>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成分分解</a:t>
            </a:r>
            <a:endParaRPr lang="en-US" altLang="zh-CN" sz="2600" b="1" dirty="0">
              <a:solidFill>
                <a:srgbClr val="002060"/>
              </a:solidFill>
              <a:ea typeface="华文细黑" panose="02010600040101010101" pitchFamily="2" charset="-122"/>
            </a:endParaRP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66C7A745-C5D6-4176-A761-1C73C6DB337E}"/>
                  </a:ext>
                </a:extLst>
              </p:cNvPr>
              <p:cNvSpPr txBox="1">
                <a:spLocks noChangeArrowheads="1"/>
              </p:cNvSpPr>
              <p:nvPr/>
            </p:nvSpPr>
            <p:spPr>
              <a:xfrm>
                <a:off x="744279" y="1757366"/>
                <a:ext cx="3087492" cy="464343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时间序列的成分通常可分解为趋势（</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T</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）、季节（</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）和随机波动（</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e</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en-US" altLang="zh-CN" sz="1800" i="1" dirty="0">
                    <a:effectLst/>
                    <a:latin typeface="Cambria" panose="02040503050406030204" pitchFamily="18" charset="0"/>
                    <a:ea typeface="华文细黑" panose="02010600040101010101" pitchFamily="2" charset="-122"/>
                    <a:cs typeface="Times New Roman" panose="02020603050405020304" pitchFamily="18" charset="0"/>
                  </a:rPr>
                  <a:t>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期的观测值</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𝑌</m:t>
                        </m:r>
                      </m:e>
                      <m:sub>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𝑡</m:t>
                        </m:r>
                      </m:sub>
                    </m:sSub>
                  </m:oMath>
                </a14:m>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与各成分之间的关系可以用</a:t>
                </a:r>
                <a:r>
                  <a:rPr lang="zh-CN" altLang="zh-CN" sz="1800" b="1" dirty="0">
                    <a:effectLst/>
                    <a:latin typeface="Cambria" panose="02040503050406030204" pitchFamily="18" charset="0"/>
                    <a:ea typeface="华文细黑" panose="02010600040101010101" pitchFamily="2" charset="-122"/>
                    <a:cs typeface="Times New Roman" panose="02020603050405020304" pitchFamily="18" charset="0"/>
                  </a:rPr>
                  <a:t>加法模型</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additive model</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𝑌</m:t>
                        </m:r>
                      </m:e>
                      <m:sub>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𝑡</m:t>
                        </m:r>
                      </m:sub>
                    </m:sSub>
                    <m:r>
                      <a:rPr lang="en-US" altLang="zh-CN" sz="1800">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𝑇</m:t>
                        </m:r>
                      </m:e>
                      <m:sub>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𝑡</m:t>
                        </m:r>
                      </m:sub>
                    </m:sSub>
                    <m:r>
                      <a:rPr lang="en-US" altLang="zh-CN" sz="1800">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𝑆</m:t>
                        </m:r>
                      </m:e>
                      <m:sub>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𝑡</m:t>
                        </m:r>
                      </m:sub>
                    </m:sSub>
                    <m:r>
                      <a:rPr lang="en-US" altLang="zh-CN" sz="1800">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𝑒</m:t>
                        </m:r>
                      </m:e>
                      <m:sub>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𝑡</m:t>
                        </m:r>
                      </m:sub>
                    </m:sSub>
                  </m:oMath>
                </a14:m>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）或</a:t>
                </a:r>
                <a:r>
                  <a:rPr lang="zh-CN" altLang="zh-CN" sz="1800" b="1" dirty="0">
                    <a:effectLst/>
                    <a:latin typeface="Cambria" panose="02040503050406030204" pitchFamily="18" charset="0"/>
                    <a:ea typeface="华文细黑" panose="02010600040101010101" pitchFamily="2" charset="-122"/>
                    <a:cs typeface="Times New Roman" panose="02020603050405020304" pitchFamily="18" charset="0"/>
                  </a:rPr>
                  <a:t>乘法模型</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multiplicative model</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𝑌</m:t>
                        </m:r>
                      </m:e>
                      <m:sub>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𝑡</m:t>
                        </m:r>
                      </m:sub>
                    </m:sSub>
                    <m:r>
                      <a:rPr lang="en-US" altLang="zh-CN" sz="1800">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𝑇</m:t>
                        </m:r>
                      </m:e>
                      <m:sub>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𝑡</m:t>
                        </m:r>
                      </m:sub>
                    </m:sSub>
                    <m:r>
                      <a:rPr lang="en-US" altLang="zh-CN" sz="1800">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𝑆</m:t>
                        </m:r>
                      </m:e>
                      <m:sub>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𝑡</m:t>
                        </m:r>
                      </m:sub>
                    </m:sSub>
                    <m:r>
                      <a:rPr lang="en-US" altLang="zh-CN" sz="1800">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𝑒</m:t>
                        </m:r>
                      </m:e>
                      <m:sub>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𝑡</m:t>
                        </m:r>
                      </m:sub>
                    </m:sSub>
                  </m:oMath>
                </a14:m>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）来表示</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p:txBody>
          </p:sp>
        </mc:Choice>
        <mc:Fallback xmlns="">
          <p:sp>
            <p:nvSpPr>
              <p:cNvPr id="5" name="Rectangle 3">
                <a:extLst>
                  <a:ext uri="{FF2B5EF4-FFF2-40B4-BE49-F238E27FC236}">
                    <a16:creationId xmlns:a16="http://schemas.microsoft.com/office/drawing/2014/main" id="{66C7A745-C5D6-4176-A761-1C73C6DB337E}"/>
                  </a:ext>
                </a:extLst>
              </p:cNvPr>
              <p:cNvSpPr txBox="1">
                <a:spLocks noRot="1" noChangeAspect="1" noMove="1" noResize="1" noEditPoints="1" noAdjustHandles="1" noChangeArrowheads="1" noChangeShapeType="1" noTextEdit="1"/>
              </p:cNvSpPr>
              <p:nvPr/>
            </p:nvSpPr>
            <p:spPr>
              <a:xfrm>
                <a:off x="744279" y="1757366"/>
                <a:ext cx="3087492" cy="4643433"/>
              </a:xfrm>
              <a:prstGeom prst="rect">
                <a:avLst/>
              </a:prstGeom>
              <a:blipFill>
                <a:blip r:embed="rId2"/>
                <a:stretch>
                  <a:fillRect l="-1378" r="-1378"/>
                </a:stretch>
              </a:blipFill>
              <a:ln w="6350">
                <a:solidFill>
                  <a:schemeClr val="bg1">
                    <a:lumMod val="75000"/>
                  </a:schemeClr>
                </a:solidFill>
                <a:miter lim="800000"/>
                <a:headEnd/>
                <a:tailEnd/>
              </a:ln>
            </p:spPr>
            <p:txBody>
              <a:bodyPr/>
              <a:lstStyle/>
              <a:p>
                <a:r>
                  <a:rPr lang="zh-CN" altLang="en-US">
                    <a:noFill/>
                  </a:rPr>
                  <a:t> </a:t>
                </a:r>
              </a:p>
            </p:txBody>
          </p:sp>
        </mc:Fallback>
      </mc:AlternateContent>
      <p:sp>
        <p:nvSpPr>
          <p:cNvPr id="8" name="Rectangle 3">
            <a:extLst>
              <a:ext uri="{FF2B5EF4-FFF2-40B4-BE49-F238E27FC236}">
                <a16:creationId xmlns:a16="http://schemas.microsoft.com/office/drawing/2014/main" id="{D34324C7-484F-395E-23C5-8C7FD575253A}"/>
              </a:ext>
            </a:extLst>
          </p:cNvPr>
          <p:cNvSpPr txBox="1">
            <a:spLocks noChangeArrowheads="1"/>
          </p:cNvSpPr>
          <p:nvPr/>
        </p:nvSpPr>
        <p:spPr>
          <a:xfrm>
            <a:off x="3949223" y="1757366"/>
            <a:ext cx="905804" cy="464343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C00000"/>
              </a:buClr>
              <a:buNone/>
            </a:pP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8-2</a:t>
            </a: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en-US" altLang="zh-CN" sz="1800" b="1"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饮料销售量数据</a:t>
            </a:r>
            <a:endParaRPr lang="zh-CN" altLang="zh-CN" sz="1800" dirty="0">
              <a:latin typeface="Cambria" panose="02040503050406030204" pitchFamily="18" charset="0"/>
              <a:ea typeface="华文细黑" panose="02010600040101010101" pitchFamily="2" charset="-122"/>
            </a:endParaRPr>
          </a:p>
        </p:txBody>
      </p:sp>
      <p:pic>
        <p:nvPicPr>
          <p:cNvPr id="4" name="图片 3">
            <a:extLst>
              <a:ext uri="{FF2B5EF4-FFF2-40B4-BE49-F238E27FC236}">
                <a16:creationId xmlns:a16="http://schemas.microsoft.com/office/drawing/2014/main" id="{8A1BA518-AAB6-28F2-34D3-5B3791AE4BE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72479" y="1757365"/>
            <a:ext cx="6508223" cy="4643431"/>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6C8A19D0-5ADD-5E92-96DD-A1975DB6192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8.5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寻找序列的变化趋势</a:t>
            </a:r>
          </a:p>
        </p:txBody>
      </p:sp>
    </p:spTree>
    <p:extLst>
      <p:ext uri="{BB962C8B-B14F-4D97-AF65-F5344CB8AC3E}">
        <p14:creationId xmlns:p14="http://schemas.microsoft.com/office/powerpoint/2010/main" val="1743609084"/>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4147457" y="1706179"/>
            <a:ext cx="7619998" cy="466196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dirty="0">
                <a:latin typeface="Cambria" panose="02040503050406030204" pitchFamily="18" charset="0"/>
                <a:ea typeface="华文细黑" panose="02010600040101010101" pitchFamily="2" charset="-122"/>
                <a:cs typeface="Times New Roman" panose="02020603050405020304" pitchFamily="18" charset="0"/>
              </a:rPr>
              <a:t>本章介绍的图形主要用于展示时间序列的变化特征和模式</a:t>
            </a:r>
            <a:r>
              <a:rPr lang="zh-CN" altLang="en-US" sz="14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1400" dirty="0">
                <a:latin typeface="Cambria" panose="02040503050406030204" pitchFamily="18" charset="0"/>
                <a:ea typeface="华文细黑" panose="02010600040101010101" pitchFamily="2" charset="-122"/>
                <a:cs typeface="Times New Roman" panose="02020603050405020304" pitchFamily="18" charset="0"/>
              </a:rPr>
              <a:t>折线图是基本的图形，面积图是在折线下填充上颜色。折线图和面积图易于观察和比较序列的</a:t>
            </a:r>
            <a:r>
              <a:rPr lang="zh-CN" altLang="en-US" sz="1400" dirty="0">
                <a:latin typeface="Cambria" panose="02040503050406030204" pitchFamily="18" charset="0"/>
                <a:ea typeface="华文细黑" panose="02010600040101010101" pitchFamily="2" charset="-122"/>
                <a:cs typeface="Times New Roman" panose="02020603050405020304" pitchFamily="18" charset="0"/>
              </a:rPr>
              <a:t>变化</a:t>
            </a:r>
            <a:r>
              <a:rPr lang="zh-CN" altLang="zh-CN" sz="1400" dirty="0">
                <a:latin typeface="Cambria" panose="02040503050406030204" pitchFamily="18" charset="0"/>
                <a:ea typeface="华文细黑" panose="02010600040101010101" pitchFamily="2" charset="-122"/>
                <a:cs typeface="Times New Roman" panose="02020603050405020304" pitchFamily="18" charset="0"/>
              </a:rPr>
              <a:t>特征，但绘制的序列不宜太多，否则不易区分和比较</a:t>
            </a:r>
            <a:endParaRPr lang="en-US" altLang="zh-CN" sz="14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dirty="0">
                <a:latin typeface="Cambria" panose="02040503050406030204" pitchFamily="18" charset="0"/>
                <a:ea typeface="华文细黑" panose="02010600040101010101" pitchFamily="2" charset="-122"/>
                <a:cs typeface="Times New Roman" panose="02020603050405020304" pitchFamily="18" charset="0"/>
              </a:rPr>
              <a:t>当序列较多时，可以采取分面方式绘制。流线图和地平线图适合于多序列大型数据集的展示，它不是为精确观察序列的变化特征，而是利用颜色的分布观察序列的整体变化模式</a:t>
            </a:r>
            <a:endParaRPr lang="en-US" altLang="zh-CN" sz="14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dirty="0">
                <a:latin typeface="Cambria" panose="02040503050406030204" pitchFamily="18" charset="0"/>
                <a:ea typeface="华文细黑" panose="02010600040101010101" pitchFamily="2" charset="-122"/>
                <a:cs typeface="Times New Roman" panose="02020603050405020304" pitchFamily="18" charset="0"/>
              </a:rPr>
              <a:t>瀑布图主要用于展示相邻数据点的变化方向和程度；斜线图用于展示多个样本在不同时间点上的数值变化；凹凸图则用于展示多个样本在两个或多个时间点上的排名变化</a:t>
            </a:r>
            <a:endParaRPr lang="en-US" altLang="zh-CN" sz="14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dirty="0">
                <a:latin typeface="Cambria" panose="02040503050406030204" pitchFamily="18" charset="0"/>
                <a:ea typeface="华文细黑" panose="02010600040101010101" pitchFamily="2" charset="-122"/>
                <a:cs typeface="Times New Roman" panose="02020603050405020304" pitchFamily="18" charset="0"/>
              </a:rPr>
              <a:t>日历图是一种特殊的时间序列图，它需要有每一天的观测数据才能绘制。日历图的</a:t>
            </a:r>
            <a:r>
              <a:rPr lang="zh-CN" altLang="zh-CN" sz="1400">
                <a:latin typeface="Cambria" panose="02040503050406030204" pitchFamily="18" charset="0"/>
                <a:ea typeface="华文细黑" panose="02010600040101010101" pitchFamily="2" charset="-122"/>
                <a:cs typeface="Times New Roman" panose="02020603050405020304" pitchFamily="18" charset="0"/>
              </a:rPr>
              <a:t>用途不是</a:t>
            </a:r>
            <a:r>
              <a:rPr lang="zh-CN" altLang="en-US" sz="1400">
                <a:latin typeface="Cambria" panose="02040503050406030204" pitchFamily="18" charset="0"/>
                <a:ea typeface="华文细黑" panose="02010600040101010101" pitchFamily="2" charset="-122"/>
                <a:cs typeface="Times New Roman" panose="02020603050405020304" pitchFamily="18" charset="0"/>
              </a:rPr>
              <a:t>观察</a:t>
            </a:r>
            <a:r>
              <a:rPr lang="zh-CN" altLang="zh-CN" sz="1400">
                <a:latin typeface="Cambria" panose="02040503050406030204" pitchFamily="18" charset="0"/>
                <a:ea typeface="华文细黑" panose="02010600040101010101" pitchFamily="2" charset="-122"/>
                <a:cs typeface="Times New Roman" panose="02020603050405020304" pitchFamily="18" charset="0"/>
              </a:rPr>
              <a:t>数据</a:t>
            </a:r>
            <a:r>
              <a:rPr lang="zh-CN" altLang="zh-CN" sz="1400" dirty="0">
                <a:latin typeface="Cambria" panose="02040503050406030204" pitchFamily="18" charset="0"/>
                <a:ea typeface="华文细黑" panose="02010600040101010101" pitchFamily="2" charset="-122"/>
                <a:cs typeface="Times New Roman" panose="02020603050405020304" pitchFamily="18" charset="0"/>
              </a:rPr>
              <a:t>的变化模式，而是重点观测数据在一个月份或一年中较大值和较小值的分布位置</a:t>
            </a:r>
            <a:endParaRPr lang="en-US" altLang="zh-CN" sz="14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dirty="0">
                <a:latin typeface="Cambria" panose="02040503050406030204" pitchFamily="18" charset="0"/>
                <a:ea typeface="华文细黑" panose="02010600040101010101" pitchFamily="2" charset="-122"/>
                <a:cs typeface="Times New Roman" panose="02020603050405020304" pitchFamily="18" charset="0"/>
              </a:rPr>
              <a:t>随机成分平滑则为例消除序列中的随机成分以便观察时间序列变化的固有趋势，成分分解是观察时间序列成分的有效方法</a:t>
            </a: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本章小结</a:t>
            </a:r>
            <a:endParaRPr lang="en-US" altLang="zh-CN" sz="2600" b="1" dirty="0">
              <a:solidFill>
                <a:srgbClr val="002060"/>
              </a:solidFill>
              <a:ea typeface="华文细黑" panose="02010600040101010101" pitchFamily="2" charset="-122"/>
            </a:endParaRPr>
          </a:p>
        </p:txBody>
      </p:sp>
      <p:sp>
        <p:nvSpPr>
          <p:cNvPr id="3" name="Rectangle 2">
            <a:extLst>
              <a:ext uri="{FF2B5EF4-FFF2-40B4-BE49-F238E27FC236}">
                <a16:creationId xmlns:a16="http://schemas.microsoft.com/office/drawing/2014/main" id="{D5B3AA08-82C4-D582-D276-C78D4695329A}"/>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本章小结</a:t>
            </a:r>
          </a:p>
        </p:txBody>
      </p:sp>
      <p:pic>
        <p:nvPicPr>
          <p:cNvPr id="2" name="图片 1">
            <a:extLst>
              <a:ext uri="{FF2B5EF4-FFF2-40B4-BE49-F238E27FC236}">
                <a16:creationId xmlns:a16="http://schemas.microsoft.com/office/drawing/2014/main" id="{6BA6FF5F-B969-DA4A-AF89-9945AFAE323C}"/>
              </a:ext>
            </a:extLst>
          </p:cNvPr>
          <p:cNvPicPr>
            <a:picLocks noChangeAspect="1"/>
          </p:cNvPicPr>
          <p:nvPr/>
        </p:nvPicPr>
        <p:blipFill>
          <a:blip r:embed="rId2"/>
          <a:stretch>
            <a:fillRect/>
          </a:stretch>
        </p:blipFill>
        <p:spPr>
          <a:xfrm>
            <a:off x="424545" y="1706179"/>
            <a:ext cx="3581398" cy="4813706"/>
          </a:xfrm>
          <a:prstGeom prst="rect">
            <a:avLst/>
          </a:prstGeom>
        </p:spPr>
      </p:pic>
    </p:spTree>
    <p:extLst>
      <p:ext uri="{BB962C8B-B14F-4D97-AF65-F5344CB8AC3E}">
        <p14:creationId xmlns:p14="http://schemas.microsoft.com/office/powerpoint/2010/main" val="3040481407"/>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2207568" y="342581"/>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7" name="Rectangle 2"/>
          <p:cNvSpPr>
            <a:spLocks noChangeArrowheads="1"/>
          </p:cNvSpPr>
          <p:nvPr/>
        </p:nvSpPr>
        <p:spPr bwMode="auto">
          <a:xfrm>
            <a:off x="6816080" y="5445224"/>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pic>
        <p:nvPicPr>
          <p:cNvPr id="2" name="图片 1"/>
          <p:cNvPicPr>
            <a:picLocks noChangeAspect="1"/>
          </p:cNvPicPr>
          <p:nvPr/>
        </p:nvPicPr>
        <p:blipFill>
          <a:blip r:embed="rId3"/>
          <a:stretch>
            <a:fillRect/>
          </a:stretch>
        </p:blipFill>
        <p:spPr>
          <a:xfrm>
            <a:off x="-9746" y="1"/>
            <a:ext cx="12201746" cy="6855722"/>
          </a:xfrm>
          <a:prstGeom prst="rect">
            <a:avLst/>
          </a:prstGeom>
        </p:spPr>
      </p:pic>
      <p:sp>
        <p:nvSpPr>
          <p:cNvPr id="5" name="Rectangle 2">
            <a:extLst>
              <a:ext uri="{FF2B5EF4-FFF2-40B4-BE49-F238E27FC236}">
                <a16:creationId xmlns:a16="http://schemas.microsoft.com/office/drawing/2014/main" id="{A2942906-8373-4413-B144-2030B3A6C93F}"/>
              </a:ext>
            </a:extLst>
          </p:cNvPr>
          <p:cNvSpPr>
            <a:spLocks noChangeArrowheads="1"/>
          </p:cNvSpPr>
          <p:nvPr/>
        </p:nvSpPr>
        <p:spPr bwMode="auto">
          <a:xfrm>
            <a:off x="162573" y="95692"/>
            <a:ext cx="2880320" cy="98442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6" name="Rectangle 2">
            <a:extLst>
              <a:ext uri="{FF2B5EF4-FFF2-40B4-BE49-F238E27FC236}">
                <a16:creationId xmlns:a16="http://schemas.microsoft.com/office/drawing/2014/main" id="{DBEC17C8-105C-4971-8A37-00C8F14BF111}"/>
              </a:ext>
            </a:extLst>
          </p:cNvPr>
          <p:cNvSpPr>
            <a:spLocks noChangeArrowheads="1"/>
          </p:cNvSpPr>
          <p:nvPr/>
        </p:nvSpPr>
        <p:spPr bwMode="auto">
          <a:xfrm>
            <a:off x="9226126" y="5922334"/>
            <a:ext cx="2880320" cy="77617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sp>
        <p:nvSpPr>
          <p:cNvPr id="3" name="日期占位符 2">
            <a:extLst>
              <a:ext uri="{FF2B5EF4-FFF2-40B4-BE49-F238E27FC236}">
                <a16:creationId xmlns:a16="http://schemas.microsoft.com/office/drawing/2014/main" id="{34AD9863-2B28-44BA-874F-29D5736D3EFF}"/>
              </a:ext>
            </a:extLst>
          </p:cNvPr>
          <p:cNvSpPr>
            <a:spLocks noGrp="1"/>
          </p:cNvSpPr>
          <p:nvPr>
            <p:ph type="dt" sz="half" idx="10"/>
          </p:nvPr>
        </p:nvSpPr>
        <p:spPr/>
        <p:txBody>
          <a:bodyPr/>
          <a:lstStyle/>
          <a:p>
            <a:fld id="{2556876A-C894-4608-9B10-33028376C2E0}" type="datetime1">
              <a:rPr lang="zh-CN" altLang="en-US" smtClean="0"/>
              <a:t>2026/1/9</a:t>
            </a:fld>
            <a:endParaRPr lang="zh-CN" altLang="en-US"/>
          </a:p>
        </p:txBody>
      </p:sp>
    </p:spTree>
    <p:extLst>
      <p:ext uri="{BB962C8B-B14F-4D97-AF65-F5344CB8AC3E}">
        <p14:creationId xmlns:p14="http://schemas.microsoft.com/office/powerpoint/2010/main" val="1653096207"/>
      </p:ext>
    </p:extLst>
  </p:cSld>
  <p:clrMapOvr>
    <a:masterClrMapping/>
  </p:clrMapOvr>
  <p:transition>
    <p:wipe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3613</TotalTime>
  <Words>1664</Words>
  <Application>Microsoft Office PowerPoint</Application>
  <PresentationFormat>宽屏</PresentationFormat>
  <Paragraphs>146</Paragraphs>
  <Slides>24</Slides>
  <Notes>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40" baseType="lpstr">
      <vt:lpstr>等线</vt:lpstr>
      <vt:lpstr>等线 Light</vt:lpstr>
      <vt:lpstr>华文琥珀</vt:lpstr>
      <vt:lpstr>华文细黑</vt:lpstr>
      <vt:lpstr>华文行楷</vt:lpstr>
      <vt:lpstr>微软雅黑</vt:lpstr>
      <vt:lpstr>Arial</vt:lpstr>
      <vt:lpstr>Arial Black</vt:lpstr>
      <vt:lpstr>Cambria</vt:lpstr>
      <vt:lpstr>Cambria Math</vt:lpstr>
      <vt:lpstr>Franklin Gothic Book</vt:lpstr>
      <vt:lpstr>Script MT Bold</vt:lpstr>
      <vt:lpstr>Times New Roman</vt:lpstr>
      <vt:lpstr>Wingdings</vt:lpstr>
      <vt:lpstr>Office 主题​​</vt:lpstr>
      <vt:lpstr>Bitmap 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jiajp99@126.com</dc:creator>
  <cp:lastModifiedBy>俊平 贾</cp:lastModifiedBy>
  <cp:revision>404</cp:revision>
  <dcterms:created xsi:type="dcterms:W3CDTF">2020-11-21T11:10:03Z</dcterms:created>
  <dcterms:modified xsi:type="dcterms:W3CDTF">2026-01-09T10:16:35Z</dcterms:modified>
</cp:coreProperties>
</file>