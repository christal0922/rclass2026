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1532" r:id="rId2"/>
    <p:sldId id="761" r:id="rId3"/>
    <p:sldId id="1463" r:id="rId4"/>
    <p:sldId id="1464" r:id="rId5"/>
    <p:sldId id="1534" r:id="rId6"/>
    <p:sldId id="1465" r:id="rId7"/>
    <p:sldId id="1516" r:id="rId8"/>
    <p:sldId id="1466" r:id="rId9"/>
    <p:sldId id="1468" r:id="rId10"/>
    <p:sldId id="1469" r:id="rId11"/>
    <p:sldId id="1470" r:id="rId12"/>
    <p:sldId id="1471" r:id="rId13"/>
    <p:sldId id="1472" r:id="rId14"/>
    <p:sldId id="1473" r:id="rId15"/>
    <p:sldId id="1423" r:id="rId16"/>
    <p:sldId id="1476" r:id="rId17"/>
    <p:sldId id="1512" r:id="rId18"/>
    <p:sldId id="1513" r:id="rId19"/>
    <p:sldId id="1537" r:id="rId20"/>
    <p:sldId id="1536" r:id="rId21"/>
    <p:sldId id="1494" r:id="rId22"/>
    <p:sldId id="1531" r:id="rId23"/>
    <p:sldId id="1533" r:id="rId24"/>
    <p:sldId id="1518" r:id="rId25"/>
    <p:sldId id="1520" r:id="rId26"/>
    <p:sldId id="1510" r:id="rId27"/>
    <p:sldId id="1521" r:id="rId28"/>
    <p:sldId id="1523" r:id="rId29"/>
    <p:sldId id="1519" r:id="rId30"/>
    <p:sldId id="1535" r:id="rId31"/>
    <p:sldId id="1525" r:id="rId32"/>
    <p:sldId id="1526" r:id="rId33"/>
    <p:sldId id="1524" r:id="rId34"/>
    <p:sldId id="1528" r:id="rId35"/>
    <p:sldId id="1529" r:id="rId36"/>
    <p:sldId id="1527" r:id="rId37"/>
    <p:sldId id="1517" r:id="rId38"/>
    <p:sldId id="1480" r:id="rId39"/>
    <p:sldId id="1478" r:id="rId40"/>
    <p:sldId id="1475" r:id="rId41"/>
    <p:sldId id="1479" r:id="rId42"/>
    <p:sldId id="1530" r:id="rId43"/>
    <p:sldId id="1514" r:id="rId4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iajp99@126.com" initials="j" lastIdx="1" clrIdx="0">
    <p:extLst>
      <p:ext uri="{19B8F6BF-5375-455C-9EA6-DF929625EA0E}">
        <p15:presenceInfo xmlns:p15="http://schemas.microsoft.com/office/powerpoint/2012/main" userId="e55687fcb66d4a0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99"/>
    <a:srgbClr val="000099"/>
    <a:srgbClr val="00FFFF"/>
    <a:srgbClr val="0033CC"/>
    <a:srgbClr val="FFFFCC"/>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534" autoAdjust="0"/>
    <p:restoredTop sz="93724" autoAdjust="0"/>
  </p:normalViewPr>
  <p:slideViewPr>
    <p:cSldViewPr snapToGrid="0">
      <p:cViewPr varScale="1">
        <p:scale>
          <a:sx n="63" d="100"/>
          <a:sy n="63" d="100"/>
        </p:scale>
        <p:origin x="380" y="48"/>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00" d="100"/>
        <a:sy n="100" d="100"/>
      </p:scale>
      <p:origin x="0" y="-5552"/>
    </p:cViewPr>
  </p:sorterViewPr>
  <p:notesViewPr>
    <p:cSldViewPr snapToGrid="0">
      <p:cViewPr varScale="1">
        <p:scale>
          <a:sx n="48" d="100"/>
          <a:sy n="48" d="100"/>
        </p:scale>
        <p:origin x="2460" y="2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C54936-C32E-4B5F-9C00-DE18EC293E6D}" type="datetimeFigureOut">
              <a:rPr lang="zh-CN" altLang="en-US" smtClean="0"/>
              <a:t>2025/9/8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30304E-243D-4FB6-884F-3E6061F00E76}" type="slidenum">
              <a:rPr lang="zh-CN" altLang="en-US" smtClean="0"/>
              <a:t>‹#›</a:t>
            </a:fld>
            <a:endParaRPr lang="zh-CN" altLang="en-US"/>
          </a:p>
        </p:txBody>
      </p:sp>
    </p:spTree>
    <p:extLst>
      <p:ext uri="{BB962C8B-B14F-4D97-AF65-F5344CB8AC3E}">
        <p14:creationId xmlns:p14="http://schemas.microsoft.com/office/powerpoint/2010/main" val="1463680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17</a:t>
            </a:fld>
            <a:endParaRPr lang="zh-CN" altLang="en-US"/>
          </a:p>
        </p:txBody>
      </p:sp>
    </p:spTree>
    <p:extLst>
      <p:ext uri="{BB962C8B-B14F-4D97-AF65-F5344CB8AC3E}">
        <p14:creationId xmlns:p14="http://schemas.microsoft.com/office/powerpoint/2010/main" val="1674128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18</a:t>
            </a:fld>
            <a:endParaRPr lang="zh-CN" altLang="en-US"/>
          </a:p>
        </p:txBody>
      </p:sp>
    </p:spTree>
    <p:extLst>
      <p:ext uri="{BB962C8B-B14F-4D97-AF65-F5344CB8AC3E}">
        <p14:creationId xmlns:p14="http://schemas.microsoft.com/office/powerpoint/2010/main" val="18062540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19</a:t>
            </a:fld>
            <a:endParaRPr lang="zh-CN" altLang="en-US"/>
          </a:p>
        </p:txBody>
      </p:sp>
    </p:spTree>
    <p:extLst>
      <p:ext uri="{BB962C8B-B14F-4D97-AF65-F5344CB8AC3E}">
        <p14:creationId xmlns:p14="http://schemas.microsoft.com/office/powerpoint/2010/main" val="39894861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20</a:t>
            </a:fld>
            <a:endParaRPr lang="zh-CN" altLang="en-US"/>
          </a:p>
        </p:txBody>
      </p:sp>
    </p:spTree>
    <p:extLst>
      <p:ext uri="{BB962C8B-B14F-4D97-AF65-F5344CB8AC3E}">
        <p14:creationId xmlns:p14="http://schemas.microsoft.com/office/powerpoint/2010/main" val="40504402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630304E-243D-4FB6-884F-3E6061F00E76}" type="slidenum">
              <a:rPr lang="zh-CN" altLang="en-US" smtClean="0"/>
              <a:t>21</a:t>
            </a:fld>
            <a:endParaRPr lang="zh-CN" altLang="en-US"/>
          </a:p>
        </p:txBody>
      </p:sp>
    </p:spTree>
    <p:extLst>
      <p:ext uri="{BB962C8B-B14F-4D97-AF65-F5344CB8AC3E}">
        <p14:creationId xmlns:p14="http://schemas.microsoft.com/office/powerpoint/2010/main" val="9960946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56C0ED60-2263-4EAE-A32E-1C3FDB03FC51}" type="slidenum">
              <a:rPr lang="en-US" altLang="zh-CN" b="0" smtClean="0"/>
              <a:pPr eaLnBrk="1" hangingPunct="1"/>
              <a:t>43</a:t>
            </a:fld>
            <a:endParaRPr lang="en-US" altLang="zh-CN" b="0" dirty="0"/>
          </a:p>
        </p:txBody>
      </p:sp>
      <p:sp>
        <p:nvSpPr>
          <p:cNvPr id="47107" name="Rectangle 2"/>
          <p:cNvSpPr>
            <a:spLocks noGrp="1" noChangeArrowheads="1"/>
          </p:cNvSpPr>
          <p:nvPr>
            <p:ph type="body" idx="1"/>
          </p:nvPr>
        </p:nvSpPr>
        <p:spPr>
          <a:xfrm>
            <a:off x="914400" y="3276600"/>
            <a:ext cx="5029200" cy="5181600"/>
          </a:xfrm>
          <a:noFill/>
          <a:extLst>
            <a:ext uri="{91240B29-F687-4F45-9708-019B960494DF}">
              <a14:hiddenLine xmlns:a14="http://schemas.microsoft.com/office/drawing/2010/main" w="12700">
                <a:solidFill>
                  <a:schemeClr val="tx1"/>
                </a:solidFill>
                <a:miter lim="800000"/>
                <a:headEnd/>
                <a:tailEnd/>
              </a14:hiddenLine>
            </a:ext>
          </a:extLst>
        </p:spPr>
        <p:txBody>
          <a:bodyPr lIns="90488" tIns="44450" rIns="90488" bIns="44450"/>
          <a:lstStyle/>
          <a:p>
            <a:pPr eaLnBrk="1" hangingPunct="1"/>
            <a:endParaRPr lang="zh-CN" altLang="zh-CN"/>
          </a:p>
        </p:txBody>
      </p:sp>
      <p:sp>
        <p:nvSpPr>
          <p:cNvPr id="47108" name="Rectangle 3"/>
          <p:cNvSpPr>
            <a:spLocks noGrp="1" noRot="1" noChangeAspect="1" noChangeArrowheads="1" noTextEdit="1"/>
          </p:cNvSpPr>
          <p:nvPr>
            <p:ph type="sldImg"/>
          </p:nvPr>
        </p:nvSpPr>
        <p:spPr>
          <a:xfrm>
            <a:off x="1409700" y="692150"/>
            <a:ext cx="4038600" cy="2273300"/>
          </a:xfrm>
          <a:ln w="12700" cap="flat">
            <a:solidFill>
              <a:schemeClr val="tx1"/>
            </a:solidFill>
          </a:ln>
        </p:spPr>
      </p:sp>
    </p:spTree>
    <p:extLst>
      <p:ext uri="{BB962C8B-B14F-4D97-AF65-F5344CB8AC3E}">
        <p14:creationId xmlns:p14="http://schemas.microsoft.com/office/powerpoint/2010/main" val="40284368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6503911-1325-4990-9323-67866A3DA824}"/>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52D08E5B-80E4-4FD0-9CDA-5500B9FC9A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Tree>
    <p:extLst>
      <p:ext uri="{BB962C8B-B14F-4D97-AF65-F5344CB8AC3E}">
        <p14:creationId xmlns:p14="http://schemas.microsoft.com/office/powerpoint/2010/main" val="35113764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933017-8E63-40AD-BA89-BBB2DF064723}"/>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541B9A-6066-437C-A37E-12AA3A77CB8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4B60100-748D-4E91-93CA-D72E09123083}"/>
              </a:ext>
            </a:extLst>
          </p:cNvPr>
          <p:cNvSpPr>
            <a:spLocks noGrp="1"/>
          </p:cNvSpPr>
          <p:nvPr>
            <p:ph type="dt" sz="half" idx="10"/>
          </p:nvPr>
        </p:nvSpPr>
        <p:spPr>
          <a:xfrm>
            <a:off x="649359" y="6356350"/>
            <a:ext cx="2743200" cy="365125"/>
          </a:xfrm>
          <a:prstGeom prst="rect">
            <a:avLst/>
          </a:prstGeom>
        </p:spPr>
        <p:txBody>
          <a:bodyPr/>
          <a:lstStyle/>
          <a:p>
            <a:fld id="{C1B5C0A2-AE1A-4240-B327-42A20908623E}" type="datetime1">
              <a:rPr lang="zh-CN" altLang="en-US" smtClean="0"/>
              <a:t>2025/9/8</a:t>
            </a:fld>
            <a:endParaRPr lang="zh-CN" altLang="en-US"/>
          </a:p>
        </p:txBody>
      </p:sp>
      <p:sp>
        <p:nvSpPr>
          <p:cNvPr id="5" name="页脚占位符 4">
            <a:extLst>
              <a:ext uri="{FF2B5EF4-FFF2-40B4-BE49-F238E27FC236}">
                <a16:creationId xmlns:a16="http://schemas.microsoft.com/office/drawing/2014/main" id="{42C4AB81-A6C4-44EF-926A-6AA9872FC723}"/>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02AF1667-2E90-4C92-8C58-6F859444EEE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4859218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3A41E1B-492C-44FB-9CA3-2420D12815D5}"/>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6ED9EAE-AE6C-44FA-9A23-7CBD630885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90415E1-0EE9-494C-87CA-A87BAD08F018}"/>
              </a:ext>
            </a:extLst>
          </p:cNvPr>
          <p:cNvSpPr>
            <a:spLocks noGrp="1"/>
          </p:cNvSpPr>
          <p:nvPr>
            <p:ph type="dt" sz="half" idx="10"/>
          </p:nvPr>
        </p:nvSpPr>
        <p:spPr>
          <a:xfrm>
            <a:off x="649359" y="6356350"/>
            <a:ext cx="2743200" cy="365125"/>
          </a:xfrm>
          <a:prstGeom prst="rect">
            <a:avLst/>
          </a:prstGeom>
        </p:spPr>
        <p:txBody>
          <a:bodyPr/>
          <a:lstStyle/>
          <a:p>
            <a:fld id="{408CFB45-BD77-42C2-B43B-9CCE57C43804}" type="datetime1">
              <a:rPr lang="zh-CN" altLang="en-US" smtClean="0"/>
              <a:t>2025/9/8</a:t>
            </a:fld>
            <a:endParaRPr lang="zh-CN" altLang="en-US"/>
          </a:p>
        </p:txBody>
      </p:sp>
      <p:sp>
        <p:nvSpPr>
          <p:cNvPr id="5" name="页脚占位符 4">
            <a:extLst>
              <a:ext uri="{FF2B5EF4-FFF2-40B4-BE49-F238E27FC236}">
                <a16:creationId xmlns:a16="http://schemas.microsoft.com/office/drawing/2014/main" id="{6AEED9C1-6D6B-43B1-88E7-CF357750F94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759F2E4E-68A6-44F0-89F1-9069558E0052}"/>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204769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B6DCF85-EA79-4E15-B212-198BA5E0A644}"/>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3D22BAC-4316-4B37-83C8-3CFFCFEE965D}"/>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4757768D-8B1B-4A40-8A1B-0AC0323E33F0}"/>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F533FB19-A5D7-478C-8B7B-8299F44454D8}"/>
              </a:ext>
            </a:extLst>
          </p:cNvPr>
          <p:cNvSpPr>
            <a:spLocks noGrp="1"/>
          </p:cNvSpPr>
          <p:nvPr>
            <p:ph type="dt" sz="half" idx="10"/>
          </p:nvPr>
        </p:nvSpPr>
        <p:spPr>
          <a:xfrm>
            <a:off x="649359" y="6356350"/>
            <a:ext cx="2743200" cy="365125"/>
          </a:xfrm>
          <a:prstGeom prst="rect">
            <a:avLst/>
          </a:prstGeom>
        </p:spPr>
        <p:txBody>
          <a:bodyPr/>
          <a:lstStyle/>
          <a:p>
            <a:fld id="{EAAE7C0A-51A3-489C-9A57-4ED5AAA198D8}" type="datetime1">
              <a:rPr lang="zh-CN" altLang="en-US" smtClean="0"/>
              <a:t>2025/9/8</a:t>
            </a:fld>
            <a:endParaRPr lang="zh-CN" altLang="en-US"/>
          </a:p>
        </p:txBody>
      </p:sp>
      <p:sp>
        <p:nvSpPr>
          <p:cNvPr id="6" name="页脚占位符 5">
            <a:extLst>
              <a:ext uri="{FF2B5EF4-FFF2-40B4-BE49-F238E27FC236}">
                <a16:creationId xmlns:a16="http://schemas.microsoft.com/office/drawing/2014/main" id="{17CED81C-AAD8-40C0-A43F-9D9FB9351E31}"/>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98C24794-BF6C-4771-8DBA-AAC07BC3C2A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32011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ADD335-5E95-437F-8BB9-A5F5CC0208B2}"/>
              </a:ext>
            </a:extLst>
          </p:cNvPr>
          <p:cNvSpPr>
            <a:spLocks noGrp="1"/>
          </p:cNvSpPr>
          <p:nvPr>
            <p:ph type="title"/>
          </p:nvPr>
        </p:nvSpPr>
        <p:spPr>
          <a:xfrm>
            <a:off x="839788" y="365125"/>
            <a:ext cx="10515600" cy="1325563"/>
          </a:xfrm>
          <a:prstGeom prst="rect">
            <a:avLst/>
          </a:prstGeo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A1372A5-726C-4D76-98A6-013BEE0035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CA37AF2-BF75-4C37-A2FE-D332194D3470}"/>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67FA0C6B-D138-4ACC-9E98-4920C2EAF1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1BCEC55-53FB-427F-A3DA-B4D5A728B8C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999D13-5648-462B-A233-9E2CB0C7FF60}"/>
              </a:ext>
            </a:extLst>
          </p:cNvPr>
          <p:cNvSpPr>
            <a:spLocks noGrp="1"/>
          </p:cNvSpPr>
          <p:nvPr>
            <p:ph type="dt" sz="half" idx="10"/>
          </p:nvPr>
        </p:nvSpPr>
        <p:spPr>
          <a:xfrm>
            <a:off x="649359" y="6356350"/>
            <a:ext cx="2743200" cy="365125"/>
          </a:xfrm>
          <a:prstGeom prst="rect">
            <a:avLst/>
          </a:prstGeom>
        </p:spPr>
        <p:txBody>
          <a:bodyPr/>
          <a:lstStyle/>
          <a:p>
            <a:fld id="{2D763D98-5F04-4BA9-AB85-97856237DB98}" type="datetime1">
              <a:rPr lang="zh-CN" altLang="en-US" smtClean="0"/>
              <a:t>2025/9/8</a:t>
            </a:fld>
            <a:endParaRPr lang="zh-CN" altLang="en-US"/>
          </a:p>
        </p:txBody>
      </p:sp>
      <p:sp>
        <p:nvSpPr>
          <p:cNvPr id="8" name="页脚占位符 7">
            <a:extLst>
              <a:ext uri="{FF2B5EF4-FFF2-40B4-BE49-F238E27FC236}">
                <a16:creationId xmlns:a16="http://schemas.microsoft.com/office/drawing/2014/main" id="{C3BD894E-170B-492B-B70A-EDD9A7FB4C6F}"/>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9" name="灯片编号占位符 8">
            <a:extLst>
              <a:ext uri="{FF2B5EF4-FFF2-40B4-BE49-F238E27FC236}">
                <a16:creationId xmlns:a16="http://schemas.microsoft.com/office/drawing/2014/main" id="{5115CA6A-9FA6-4365-870E-2DA48DC4A39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257461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ACBF246-4037-441C-876F-777CC926DCCA}"/>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1AFFBA47-D15B-4A7D-90C5-3FF2B94B5B55}"/>
              </a:ext>
            </a:extLst>
          </p:cNvPr>
          <p:cNvSpPr>
            <a:spLocks noGrp="1"/>
          </p:cNvSpPr>
          <p:nvPr>
            <p:ph type="dt" sz="half" idx="10"/>
          </p:nvPr>
        </p:nvSpPr>
        <p:spPr>
          <a:xfrm>
            <a:off x="649359" y="6356350"/>
            <a:ext cx="2743200" cy="365125"/>
          </a:xfrm>
          <a:prstGeom prst="rect">
            <a:avLst/>
          </a:prstGeom>
        </p:spPr>
        <p:txBody>
          <a:bodyPr/>
          <a:lstStyle/>
          <a:p>
            <a:fld id="{9E233C68-0546-46EF-826F-31AB21D0E22F}" type="datetime1">
              <a:rPr lang="zh-CN" altLang="en-US" smtClean="0"/>
              <a:t>2025/9/8</a:t>
            </a:fld>
            <a:endParaRPr lang="zh-CN" altLang="en-US"/>
          </a:p>
        </p:txBody>
      </p:sp>
      <p:sp>
        <p:nvSpPr>
          <p:cNvPr id="4" name="页脚占位符 3">
            <a:extLst>
              <a:ext uri="{FF2B5EF4-FFF2-40B4-BE49-F238E27FC236}">
                <a16:creationId xmlns:a16="http://schemas.microsoft.com/office/drawing/2014/main" id="{2F7BC1F9-EF67-4B0A-96D1-EF168C9E48ED}"/>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5" name="灯片编号占位符 4">
            <a:extLst>
              <a:ext uri="{FF2B5EF4-FFF2-40B4-BE49-F238E27FC236}">
                <a16:creationId xmlns:a16="http://schemas.microsoft.com/office/drawing/2014/main" id="{D9AE28D9-605D-4CD2-B34B-BF76CDF03FF6}"/>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978637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F4973FC-C444-49AD-8778-F5595432A35C}"/>
              </a:ext>
            </a:extLst>
          </p:cNvPr>
          <p:cNvSpPr>
            <a:spLocks noGrp="1"/>
          </p:cNvSpPr>
          <p:nvPr>
            <p:ph type="dt" sz="half" idx="10"/>
          </p:nvPr>
        </p:nvSpPr>
        <p:spPr>
          <a:xfrm>
            <a:off x="649359" y="6356350"/>
            <a:ext cx="2743200" cy="365125"/>
          </a:xfrm>
          <a:prstGeom prst="rect">
            <a:avLst/>
          </a:prstGeom>
        </p:spPr>
        <p:txBody>
          <a:bodyPr/>
          <a:lstStyle/>
          <a:p>
            <a:fld id="{59C15AE0-43B3-4320-AFBE-87214D5BB912}" type="datetime1">
              <a:rPr lang="zh-CN" altLang="en-US" smtClean="0"/>
              <a:t>2025/9/8</a:t>
            </a:fld>
            <a:endParaRPr lang="zh-CN" altLang="en-US"/>
          </a:p>
        </p:txBody>
      </p:sp>
      <p:sp>
        <p:nvSpPr>
          <p:cNvPr id="3" name="页脚占位符 2">
            <a:extLst>
              <a:ext uri="{FF2B5EF4-FFF2-40B4-BE49-F238E27FC236}">
                <a16:creationId xmlns:a16="http://schemas.microsoft.com/office/drawing/2014/main" id="{0BEC1063-A3F0-4172-BCFB-CD827E2B6609}"/>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a:extLst>
              <a:ext uri="{FF2B5EF4-FFF2-40B4-BE49-F238E27FC236}">
                <a16:creationId xmlns:a16="http://schemas.microsoft.com/office/drawing/2014/main" id="{9FAC6608-BFA7-48AD-A590-0E85E9BF9860}"/>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1787493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93C89A-E0B7-4981-8F0B-4A7A37DFE7C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25C0E238-74BD-4EA3-996E-32B10590B8D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FD769AF6-4E84-4D70-98D9-479DF698C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1AD74493-971D-42F5-91FF-A5917C2D234D}"/>
              </a:ext>
            </a:extLst>
          </p:cNvPr>
          <p:cNvSpPr>
            <a:spLocks noGrp="1"/>
          </p:cNvSpPr>
          <p:nvPr>
            <p:ph type="dt" sz="half" idx="10"/>
          </p:nvPr>
        </p:nvSpPr>
        <p:spPr>
          <a:xfrm>
            <a:off x="649359" y="6356350"/>
            <a:ext cx="2743200" cy="365125"/>
          </a:xfrm>
          <a:prstGeom prst="rect">
            <a:avLst/>
          </a:prstGeom>
        </p:spPr>
        <p:txBody>
          <a:bodyPr/>
          <a:lstStyle/>
          <a:p>
            <a:fld id="{76331374-E5A2-4981-B795-16EF6DE65827}" type="datetime1">
              <a:rPr lang="zh-CN" altLang="en-US" smtClean="0"/>
              <a:t>2025/9/8</a:t>
            </a:fld>
            <a:endParaRPr lang="zh-CN" altLang="en-US"/>
          </a:p>
        </p:txBody>
      </p:sp>
      <p:sp>
        <p:nvSpPr>
          <p:cNvPr id="6" name="页脚占位符 5">
            <a:extLst>
              <a:ext uri="{FF2B5EF4-FFF2-40B4-BE49-F238E27FC236}">
                <a16:creationId xmlns:a16="http://schemas.microsoft.com/office/drawing/2014/main" id="{B4CDA75E-D89E-4AE1-8D91-7605D574EEC5}"/>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4DF8901A-E4E6-4A7D-8E8C-9057C44E14FA}"/>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3438032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C684D86-098B-45E7-8693-7E2DE798470E}"/>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728C271-481B-4D73-8474-75D6D49B187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054DE7F4-849E-4963-9100-C8B9B0A081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75913C3-07E4-4E81-AC28-DB4080626D75}"/>
              </a:ext>
            </a:extLst>
          </p:cNvPr>
          <p:cNvSpPr>
            <a:spLocks noGrp="1"/>
          </p:cNvSpPr>
          <p:nvPr>
            <p:ph type="dt" sz="half" idx="10"/>
          </p:nvPr>
        </p:nvSpPr>
        <p:spPr>
          <a:xfrm>
            <a:off x="649359" y="6356350"/>
            <a:ext cx="2743200" cy="365125"/>
          </a:xfrm>
          <a:prstGeom prst="rect">
            <a:avLst/>
          </a:prstGeom>
        </p:spPr>
        <p:txBody>
          <a:bodyPr/>
          <a:lstStyle/>
          <a:p>
            <a:fld id="{C7EF558D-81CA-4B76-8F12-A95764433413}" type="datetime1">
              <a:rPr lang="zh-CN" altLang="en-US" smtClean="0"/>
              <a:t>2025/9/8</a:t>
            </a:fld>
            <a:endParaRPr lang="zh-CN" altLang="en-US"/>
          </a:p>
        </p:txBody>
      </p:sp>
      <p:sp>
        <p:nvSpPr>
          <p:cNvPr id="6" name="页脚占位符 5">
            <a:extLst>
              <a:ext uri="{FF2B5EF4-FFF2-40B4-BE49-F238E27FC236}">
                <a16:creationId xmlns:a16="http://schemas.microsoft.com/office/drawing/2014/main" id="{3FF2ECCF-DF52-4A0B-9088-6CD8439B447A}"/>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7" name="灯片编号占位符 6">
            <a:extLst>
              <a:ext uri="{FF2B5EF4-FFF2-40B4-BE49-F238E27FC236}">
                <a16:creationId xmlns:a16="http://schemas.microsoft.com/office/drawing/2014/main" id="{D5079631-3376-40BB-8D99-D13069AD4F8C}"/>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805345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B782D-E973-4A4C-9768-5AF63655E35E}"/>
              </a:ext>
            </a:extLst>
          </p:cNvPr>
          <p:cNvSpPr>
            <a:spLocks noGrp="1"/>
          </p:cNvSpPr>
          <p:nvPr>
            <p:ph type="title"/>
          </p:nvPr>
        </p:nvSpPr>
        <p:spPr>
          <a:xfrm>
            <a:off x="1858617" y="156404"/>
            <a:ext cx="9753603" cy="777876"/>
          </a:xfrm>
          <a:prstGeom prst="rect">
            <a:avLst/>
          </a:prstGeom>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167AED1F-4B71-4171-BEF5-E90CF2DBB74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C3CF74F-5A81-42A8-BFDE-9DF8D20D7C32}"/>
              </a:ext>
            </a:extLst>
          </p:cNvPr>
          <p:cNvSpPr>
            <a:spLocks noGrp="1"/>
          </p:cNvSpPr>
          <p:nvPr>
            <p:ph type="dt" sz="half" idx="10"/>
          </p:nvPr>
        </p:nvSpPr>
        <p:spPr>
          <a:xfrm>
            <a:off x="649359" y="6356350"/>
            <a:ext cx="2743200" cy="365125"/>
          </a:xfrm>
          <a:prstGeom prst="rect">
            <a:avLst/>
          </a:prstGeom>
        </p:spPr>
        <p:txBody>
          <a:bodyPr/>
          <a:lstStyle/>
          <a:p>
            <a:fld id="{FA0449A0-A72F-4DFF-AC68-836BF414A89D}" type="datetime1">
              <a:rPr lang="zh-CN" altLang="en-US" smtClean="0"/>
              <a:t>2025/9/8</a:t>
            </a:fld>
            <a:endParaRPr lang="zh-CN" altLang="en-US"/>
          </a:p>
        </p:txBody>
      </p:sp>
      <p:sp>
        <p:nvSpPr>
          <p:cNvPr id="5" name="页脚占位符 4">
            <a:extLst>
              <a:ext uri="{FF2B5EF4-FFF2-40B4-BE49-F238E27FC236}">
                <a16:creationId xmlns:a16="http://schemas.microsoft.com/office/drawing/2014/main" id="{D25E0F45-E0D1-46EA-B198-5F3003E2E7F8}"/>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6BFA175A-B4E7-4A78-94E6-0A03CE8065E3}"/>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2964477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B53B2054-169E-46FC-87FF-00644348A8AD}"/>
              </a:ext>
            </a:extLst>
          </p:cNvPr>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9EE503AE-1314-4E68-BF61-5DAB31ED9DF3}"/>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A64084A-FB51-4F63-B403-370B4F13DC58}"/>
              </a:ext>
            </a:extLst>
          </p:cNvPr>
          <p:cNvSpPr>
            <a:spLocks noGrp="1"/>
          </p:cNvSpPr>
          <p:nvPr>
            <p:ph type="dt" sz="half" idx="10"/>
          </p:nvPr>
        </p:nvSpPr>
        <p:spPr>
          <a:xfrm>
            <a:off x="649359" y="6356350"/>
            <a:ext cx="2743200" cy="365125"/>
          </a:xfrm>
          <a:prstGeom prst="rect">
            <a:avLst/>
          </a:prstGeom>
        </p:spPr>
        <p:txBody>
          <a:bodyPr/>
          <a:lstStyle/>
          <a:p>
            <a:fld id="{C9D7C6E1-5A4D-4ECE-B124-9762BAA7798B}" type="datetime1">
              <a:rPr lang="zh-CN" altLang="en-US" smtClean="0"/>
              <a:t>2025/9/8</a:t>
            </a:fld>
            <a:endParaRPr lang="zh-CN" altLang="en-US"/>
          </a:p>
        </p:txBody>
      </p:sp>
      <p:sp>
        <p:nvSpPr>
          <p:cNvPr id="5" name="页脚占位符 4">
            <a:extLst>
              <a:ext uri="{FF2B5EF4-FFF2-40B4-BE49-F238E27FC236}">
                <a16:creationId xmlns:a16="http://schemas.microsoft.com/office/drawing/2014/main" id="{33699ED0-3608-4FCB-96BE-FFB5DD2CD30E}"/>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590F967E-32DE-45B6-9C75-1157F0E4927D}"/>
              </a:ext>
            </a:extLst>
          </p:cNvPr>
          <p:cNvSpPr>
            <a:spLocks noGrp="1"/>
          </p:cNvSpPr>
          <p:nvPr>
            <p:ph type="sldNum" sz="quarter" idx="12"/>
          </p:nvPr>
        </p:nvSpPr>
        <p:spPr>
          <a:xfrm>
            <a:off x="8849138" y="6356350"/>
            <a:ext cx="2743200" cy="365125"/>
          </a:xfrm>
          <a:prstGeom prst="rect">
            <a:avLst/>
          </a:prstGeom>
        </p:spPr>
        <p:txBody>
          <a:bodyPr/>
          <a:lstStyle/>
          <a:p>
            <a:fld id="{C3EC6596-A39E-4709-89EB-335C8F3DD7A8}" type="slidenum">
              <a:rPr lang="zh-CN" altLang="en-US" smtClean="0"/>
              <a:t>‹#›</a:t>
            </a:fld>
            <a:endParaRPr lang="zh-CN" altLang="en-US"/>
          </a:p>
        </p:txBody>
      </p:sp>
    </p:spTree>
    <p:extLst>
      <p:ext uri="{BB962C8B-B14F-4D97-AF65-F5344CB8AC3E}">
        <p14:creationId xmlns:p14="http://schemas.microsoft.com/office/powerpoint/2010/main" val="17361703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Rectangle 2">
            <a:extLst>
              <a:ext uri="{FF2B5EF4-FFF2-40B4-BE49-F238E27FC236}">
                <a16:creationId xmlns:a16="http://schemas.microsoft.com/office/drawing/2014/main" id="{90D63547-F494-B201-6CCE-0387CF5BA5A7}"/>
              </a:ext>
            </a:extLst>
          </p:cNvPr>
          <p:cNvSpPr txBox="1">
            <a:spLocks noChangeArrowheads="1"/>
          </p:cNvSpPr>
          <p:nvPr userDrawn="1"/>
        </p:nvSpPr>
        <p:spPr>
          <a:xfrm>
            <a:off x="1285460" y="9940"/>
            <a:ext cx="10896605" cy="1017622"/>
          </a:xfrm>
          <a:prstGeom prst="rect">
            <a:avLst/>
          </a:prstGeom>
          <a:solidFill>
            <a:schemeClr val="bg1">
              <a:lumMod val="95000"/>
            </a:schemeClr>
          </a:solidFill>
          <a:ln>
            <a:noFill/>
          </a:ln>
          <a:effectLst/>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lgn="ctr">
              <a:defRPr/>
            </a:pPr>
            <a:endParaRPr lang="zh-CN" altLang="en-US" sz="3200" b="1" dirty="0">
              <a:solidFill>
                <a:srgbClr val="002060"/>
              </a:solidFill>
              <a:latin typeface="华文细黑" panose="02010600040101010101" pitchFamily="2" charset="-122"/>
              <a:ea typeface="华文细黑" panose="02010600040101010101" pitchFamily="2" charset="-122"/>
            </a:endParaRPr>
          </a:p>
        </p:txBody>
      </p:sp>
      <p:sp>
        <p:nvSpPr>
          <p:cNvPr id="3" name="文本占位符 2">
            <a:extLst>
              <a:ext uri="{FF2B5EF4-FFF2-40B4-BE49-F238E27FC236}">
                <a16:creationId xmlns:a16="http://schemas.microsoft.com/office/drawing/2014/main" id="{8A7BBF2C-F801-4650-BCBF-3E6A2B1F447C}"/>
              </a:ext>
            </a:extLst>
          </p:cNvPr>
          <p:cNvSpPr>
            <a:spLocks noGrp="1"/>
          </p:cNvSpPr>
          <p:nvPr>
            <p:ph type="body" idx="1"/>
          </p:nvPr>
        </p:nvSpPr>
        <p:spPr>
          <a:xfrm>
            <a:off x="629480" y="1672313"/>
            <a:ext cx="10959546" cy="4504650"/>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7" name="矩形 6">
            <a:extLst>
              <a:ext uri="{FF2B5EF4-FFF2-40B4-BE49-F238E27FC236}">
                <a16:creationId xmlns:a16="http://schemas.microsoft.com/office/drawing/2014/main" id="{1205F5E1-C922-4E5A-89F4-6F2B58D16289}"/>
              </a:ext>
            </a:extLst>
          </p:cNvPr>
          <p:cNvSpPr/>
          <p:nvPr userDrawn="1"/>
        </p:nvSpPr>
        <p:spPr>
          <a:xfrm>
            <a:off x="9935" y="1"/>
            <a:ext cx="1275525" cy="1053548"/>
          </a:xfrm>
          <a:prstGeom prst="rect">
            <a:avLst/>
          </a:prstGeom>
          <a:solidFill>
            <a:srgbClr val="0070C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 </a:t>
            </a:r>
            <a:r>
              <a:rPr lang="zh-CN" altLang="en-US"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a:t>
            </a:r>
            <a:endParaRPr lang="en-US" altLang="zh-CN" sz="22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endParaRPr lang="en-US" altLang="zh-CN" sz="10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a:r>
              <a:rPr lang="zh-CN" altLang="en-US" sz="900" b="1" dirty="0">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比较数值大小和差异</a:t>
            </a:r>
          </a:p>
        </p:txBody>
      </p:sp>
      <p:cxnSp>
        <p:nvCxnSpPr>
          <p:cNvPr id="10" name="直接连接符 9">
            <a:extLst>
              <a:ext uri="{FF2B5EF4-FFF2-40B4-BE49-F238E27FC236}">
                <a16:creationId xmlns:a16="http://schemas.microsoft.com/office/drawing/2014/main" id="{AADC6794-BAC4-49B1-8B9A-A91B2A78D5FE}"/>
              </a:ext>
            </a:extLst>
          </p:cNvPr>
          <p:cNvCxnSpPr>
            <a:cxnSpLocks/>
          </p:cNvCxnSpPr>
          <p:nvPr userDrawn="1"/>
        </p:nvCxnSpPr>
        <p:spPr>
          <a:xfrm flipV="1">
            <a:off x="1470992" y="1043609"/>
            <a:ext cx="10721008" cy="2"/>
          </a:xfrm>
          <a:prstGeom prst="line">
            <a:avLst/>
          </a:prstGeom>
          <a:ln w="28575">
            <a:solidFill>
              <a:srgbClr val="0070C0"/>
            </a:solidFill>
          </a:ln>
        </p:spPr>
        <p:style>
          <a:lnRef idx="3">
            <a:schemeClr val="accent1"/>
          </a:lnRef>
          <a:fillRef idx="0">
            <a:schemeClr val="accent1"/>
          </a:fillRef>
          <a:effectRef idx="2">
            <a:schemeClr val="accent1"/>
          </a:effectRef>
          <a:fontRef idx="minor">
            <a:schemeClr val="tx1"/>
          </a:fontRef>
        </p:style>
      </p:cxnSp>
      <p:sp>
        <p:nvSpPr>
          <p:cNvPr id="8" name="矩形 7">
            <a:extLst>
              <a:ext uri="{FF2B5EF4-FFF2-40B4-BE49-F238E27FC236}">
                <a16:creationId xmlns:a16="http://schemas.microsoft.com/office/drawing/2014/main" id="{D5EAEA1C-2B82-4DF5-B721-B18A8CF883DD}"/>
              </a:ext>
            </a:extLst>
          </p:cNvPr>
          <p:cNvSpPr/>
          <p:nvPr userDrawn="1"/>
        </p:nvSpPr>
        <p:spPr>
          <a:xfrm>
            <a:off x="1441171" y="1"/>
            <a:ext cx="238540" cy="1053548"/>
          </a:xfrm>
          <a:prstGeom prst="rect">
            <a:avLst/>
          </a:prstGeom>
          <a:solidFill>
            <a:srgbClr val="0070C0"/>
          </a:solidFill>
          <a:ln>
            <a:solidFill>
              <a:srgbClr val="0070C0"/>
            </a:solidFill>
          </a:ln>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Rectangle 3">
            <a:extLst>
              <a:ext uri="{FF2B5EF4-FFF2-40B4-BE49-F238E27FC236}">
                <a16:creationId xmlns:a16="http://schemas.microsoft.com/office/drawing/2014/main" id="{8B230C6B-BACC-4B1C-9DFC-332C0E60FE19}"/>
              </a:ext>
            </a:extLst>
          </p:cNvPr>
          <p:cNvSpPr txBox="1">
            <a:spLocks noChangeArrowheads="1"/>
          </p:cNvSpPr>
          <p:nvPr userDrawn="1"/>
        </p:nvSpPr>
        <p:spPr>
          <a:xfrm>
            <a:off x="0" y="1059044"/>
            <a:ext cx="12192000" cy="503940"/>
          </a:xfrm>
          <a:prstGeom prst="rect">
            <a:avLst/>
          </a:prstGeom>
          <a:gradFill flip="none" rotWithShape="1">
            <a:gsLst>
              <a:gs pos="0">
                <a:schemeClr val="accent5">
                  <a:lumMod val="60000"/>
                  <a:lumOff val="40000"/>
                  <a:tint val="66000"/>
                  <a:satMod val="160000"/>
                </a:schemeClr>
              </a:gs>
              <a:gs pos="50000">
                <a:schemeClr val="accent5">
                  <a:lumMod val="60000"/>
                  <a:lumOff val="40000"/>
                  <a:tint val="44500"/>
                  <a:satMod val="160000"/>
                </a:schemeClr>
              </a:gs>
              <a:gs pos="100000">
                <a:schemeClr val="accent5">
                  <a:lumMod val="60000"/>
                  <a:lumOff val="40000"/>
                  <a:tint val="23500"/>
                  <a:satMod val="160000"/>
                </a:schemeClr>
              </a:gs>
            </a:gsLst>
            <a:lin ang="5400000" scaled="1"/>
            <a:tileRect/>
          </a:grad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endParaRPr lang="en-US" altLang="zh-CN" sz="2600" b="1" dirty="0">
              <a:solidFill>
                <a:schemeClr val="bg1"/>
              </a:solidFill>
              <a:effectLst>
                <a:outerShdw blurRad="38100" dist="38100" dir="2700000" algn="tl">
                  <a:srgbClr val="000000">
                    <a:alpha val="43137"/>
                  </a:srgbClr>
                </a:outerShdw>
              </a:effectLst>
              <a:ea typeface="华文细黑" panose="02010600040101010101" pitchFamily="2" charset="-122"/>
            </a:endParaRPr>
          </a:p>
        </p:txBody>
      </p:sp>
      <p:sp>
        <p:nvSpPr>
          <p:cNvPr id="16" name="椭圆 15">
            <a:extLst>
              <a:ext uri="{FF2B5EF4-FFF2-40B4-BE49-F238E27FC236}">
                <a16:creationId xmlns:a16="http://schemas.microsoft.com/office/drawing/2014/main" id="{26C7C84B-ED6D-4856-9D15-42E4990139A6}"/>
              </a:ext>
            </a:extLst>
          </p:cNvPr>
          <p:cNvSpPr/>
          <p:nvPr userDrawn="1"/>
        </p:nvSpPr>
        <p:spPr>
          <a:xfrm>
            <a:off x="212036" y="1163320"/>
            <a:ext cx="294859" cy="312382"/>
          </a:xfrm>
          <a:prstGeom prst="ellipse">
            <a:avLst/>
          </a:prstGeom>
          <a:solidFill>
            <a:schemeClr val="accent5">
              <a:lumMod val="40000"/>
              <a:lumOff val="60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副标题 2">
            <a:extLst>
              <a:ext uri="{FF2B5EF4-FFF2-40B4-BE49-F238E27FC236}">
                <a16:creationId xmlns:a16="http://schemas.microsoft.com/office/drawing/2014/main" id="{B03F1504-7F03-04CE-9D67-B5AFD1B9946F}"/>
              </a:ext>
            </a:extLst>
          </p:cNvPr>
          <p:cNvSpPr txBox="1">
            <a:spLocks/>
          </p:cNvSpPr>
          <p:nvPr userDrawn="1"/>
        </p:nvSpPr>
        <p:spPr>
          <a:xfrm>
            <a:off x="23188" y="6461539"/>
            <a:ext cx="12172130" cy="396460"/>
          </a:xfrm>
          <a:prstGeom prst="rect">
            <a:avLst/>
          </a:prstGeom>
          <a:solidFill>
            <a:schemeClr val="bg1">
              <a:lumMod val="95000"/>
            </a:schemeClr>
          </a:solidFill>
          <a:ln>
            <a:noFill/>
          </a:ln>
        </p:spPr>
        <p:txBody>
          <a:bodyPr vert="horz" lIns="91440" tIns="45720" rIns="91440" bIns="4572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fld id="{40D7A12C-C48C-4203-A694-F2B6F5190069}" type="datetime1">
              <a:rPr lang="zh-CN" altLang="en-US" sz="1300" b="1" smtClean="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2025/9/8</a:t>
            </a:fld>
            <a:r>
              <a:rPr lang="zh-CN" altLang="en-US" sz="1300" b="1" dirty="0">
                <a:solidFill>
                  <a:schemeClr val="bg1">
                    <a:lumMod val="65000"/>
                  </a:schemeClr>
                </a:solidFill>
                <a:effectLst/>
                <a:latin typeface="微软雅黑" panose="020B0503020204020204" pitchFamily="34" charset="-122"/>
                <a:ea typeface="微软雅黑" panose="020B0503020204020204" pitchFamily="34" charset="-122"/>
                <a:cs typeface="Arial" panose="020B0604020202020204" pitchFamily="34" charset="0"/>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数据可视化分析</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基于 </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R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语言</a:t>
            </a:r>
            <a:r>
              <a:rPr lang="en-US" altLang="zh-CN" sz="1300" dirty="0">
                <a:solidFill>
                  <a:schemeClr val="bg1">
                    <a:lumMod val="65000"/>
                  </a:schemeClr>
                </a:solidFill>
                <a:latin typeface="微软雅黑" panose="020B0503020204020204" pitchFamily="34" charset="-122"/>
                <a:ea typeface="微软雅黑" panose="020B0503020204020204" pitchFamily="34" charset="-122"/>
              </a:rPr>
              <a:t> —</a:t>
            </a:r>
            <a:r>
              <a:rPr lang="zh-CN" altLang="en-US" sz="1300" dirty="0">
                <a:solidFill>
                  <a:schemeClr val="bg1">
                    <a:lumMod val="65000"/>
                  </a:schemeClr>
                </a:solidFill>
                <a:latin typeface="微软雅黑" panose="020B0503020204020204" pitchFamily="34" charset="-122"/>
                <a:ea typeface="微软雅黑" panose="020B0503020204020204" pitchFamily="34" charset="-122"/>
              </a:rPr>
              <a:t>贾俊平                                                                        </a:t>
            </a:r>
            <a:r>
              <a:rPr lang="en-US" altLang="zh-CN" sz="1300" b="0" dirty="0">
                <a:solidFill>
                  <a:schemeClr val="bg1">
                    <a:lumMod val="65000"/>
                  </a:schemeClr>
                </a:solidFill>
                <a:latin typeface="微软雅黑" panose="020B0503020204020204" pitchFamily="34" charset="-122"/>
                <a:ea typeface="微软雅黑" panose="020B0503020204020204" pitchFamily="34" charset="-122"/>
              </a:rPr>
              <a:t>1 - </a:t>
            </a:r>
            <a:fld id="{16EAF49E-217F-4E01-A667-C6B4D41E8F57}" type="slidenum">
              <a:rPr lang="en-US" altLang="zh-CN" sz="1300" b="0" smtClean="0">
                <a:solidFill>
                  <a:schemeClr val="bg1">
                    <a:lumMod val="65000"/>
                  </a:schemeClr>
                </a:solidFill>
                <a:latin typeface="微软雅黑" panose="020B0503020204020204" pitchFamily="34" charset="-122"/>
                <a:ea typeface="微软雅黑" panose="020B0503020204020204" pitchFamily="34" charset="-122"/>
              </a:rPr>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t>‹#›</a:t>
            </a:fld>
            <a:endParaRPr lang="en-US" altLang="zh-CN" sz="1300" b="0" dirty="0">
              <a:solidFill>
                <a:schemeClr val="bg1">
                  <a:lumMod val="65000"/>
                </a:schemeClr>
              </a:solidFill>
              <a:latin typeface="微软雅黑" panose="020B0503020204020204" pitchFamily="34" charset="-122"/>
              <a:ea typeface="微软雅黑" panose="020B0503020204020204" pitchFamily="34" charset="-122"/>
            </a:endParaRP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endParaRPr lang="zh-CN" altLang="en-US" sz="1300" dirty="0">
              <a:solidFill>
                <a:schemeClr val="bg1">
                  <a:lumMod val="65000"/>
                </a:schemeClr>
              </a:solidFill>
              <a:latin typeface="微软雅黑" panose="020B0503020204020204" pitchFamily="34" charset="-122"/>
              <a:ea typeface="微软雅黑" panose="020B0503020204020204" pitchFamily="34" charset="-122"/>
            </a:endParaRPr>
          </a:p>
        </p:txBody>
      </p:sp>
      <p:pic>
        <p:nvPicPr>
          <p:cNvPr id="6" name="图片 5">
            <a:extLst>
              <a:ext uri="{FF2B5EF4-FFF2-40B4-BE49-F238E27FC236}">
                <a16:creationId xmlns:a16="http://schemas.microsoft.com/office/drawing/2014/main" id="{C585D9CB-308E-70C7-0D92-4E521818AB31}"/>
              </a:ext>
            </a:extLst>
          </p:cNvPr>
          <p:cNvPicPr>
            <a:picLocks noChangeAspect="1"/>
          </p:cNvPicPr>
          <p:nvPr userDrawn="1"/>
        </p:nvPicPr>
        <p:blipFill>
          <a:blip r:embed="rId13"/>
          <a:stretch>
            <a:fillRect/>
          </a:stretch>
        </p:blipFill>
        <p:spPr>
          <a:xfrm>
            <a:off x="10865052" y="40468"/>
            <a:ext cx="1311431" cy="997252"/>
          </a:xfrm>
          <a:prstGeom prst="rect">
            <a:avLst/>
          </a:prstGeom>
        </p:spPr>
      </p:pic>
    </p:spTree>
    <p:extLst>
      <p:ext uri="{BB962C8B-B14F-4D97-AF65-F5344CB8AC3E}">
        <p14:creationId xmlns:p14="http://schemas.microsoft.com/office/powerpoint/2010/main" val="19977543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l" defTabSz="914400" rtl="0" eaLnBrk="1" latinLnBrk="0" hangingPunct="1">
        <a:lnSpc>
          <a:spcPct val="90000"/>
        </a:lnSpc>
        <a:spcBef>
          <a:spcPct val="0"/>
        </a:spcBef>
        <a:buNone/>
        <a:defRPr sz="2800" kern="1200">
          <a:solidFill>
            <a:schemeClr val="tx1"/>
          </a:solidFill>
          <a:latin typeface="+mn-lt"/>
          <a:ea typeface="华文细黑" panose="02010600040101010101" pitchFamily="2"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1.bin"/><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image" Target="../media/image21.emf"/><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emf"/><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6.emf"/><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7.emf"/><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8.emf"/><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29.emf"/><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emf"/><Relationship Id="rId1" Type="http://schemas.openxmlformats.org/officeDocument/2006/relationships/slideLayout" Target="../slideLayouts/slideLayout1.xml"/><Relationship Id="rId4" Type="http://schemas.openxmlformats.org/officeDocument/2006/relationships/image" Target="../media/image32.png"/></Relationships>
</file>

<file path=ppt/slides/_rels/slide37.xml.rels><?xml version="1.0" encoding="UTF-8" standalone="yes"?>
<Relationships xmlns="http://schemas.openxmlformats.org/package/2006/relationships"><Relationship Id="rId2" Type="http://schemas.openxmlformats.org/officeDocument/2006/relationships/image" Target="../media/image190.png"/><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image" Target="../media/image35.emf"/><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 name="组合 24">
            <a:extLst>
              <a:ext uri="{FF2B5EF4-FFF2-40B4-BE49-F238E27FC236}">
                <a16:creationId xmlns:a16="http://schemas.microsoft.com/office/drawing/2014/main" id="{140A239C-459A-7748-18ED-9D9FCF06E658}"/>
              </a:ext>
            </a:extLst>
          </p:cNvPr>
          <p:cNvGrpSpPr/>
          <p:nvPr/>
        </p:nvGrpSpPr>
        <p:grpSpPr>
          <a:xfrm>
            <a:off x="-57405" y="0"/>
            <a:ext cx="12271508" cy="6858000"/>
            <a:chOff x="-57405" y="0"/>
            <a:chExt cx="12271508" cy="685800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id="{C85445D0-CE9B-A4CC-30B0-668A63D7F5B6}"/>
                </a:ext>
              </a:extLst>
            </p:cNvPr>
            <p:cNvSpPr/>
            <p:nvPr/>
          </p:nvSpPr>
          <p:spPr>
            <a:xfrm>
              <a:off x="8533234" y="2415386"/>
              <a:ext cx="2307048" cy="861774"/>
            </a:xfrm>
            <a:prstGeom prst="rect">
              <a:avLst/>
            </a:prstGeom>
          </p:spPr>
          <p:txBody>
            <a:bodyPr wrap="square">
              <a:spAutoFit/>
            </a:bodyPr>
            <a:lstStyle/>
            <a:p>
              <a:pPr algn="r"/>
              <a:r>
                <a:rPr lang="en-US" altLang="zh-CN"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b="1"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16" name="文本框 15">
              <a:extLst>
                <a:ext uri="{FF2B5EF4-FFF2-40B4-BE49-F238E27FC236}">
                  <a16:creationId xmlns:a16="http://schemas.microsoft.com/office/drawing/2014/main" id="{574B7932-FC4D-9E74-8C2D-407E06788E45}"/>
                </a:ext>
              </a:extLst>
            </p:cNvPr>
            <p:cNvSpPr txBox="1"/>
            <p:nvPr/>
          </p:nvSpPr>
          <p:spPr>
            <a:xfrm>
              <a:off x="5018314" y="1352666"/>
              <a:ext cx="5821968" cy="1015663"/>
            </a:xfrm>
            <a:prstGeom prst="rect">
              <a:avLst/>
            </a:prstGeom>
            <a:noFill/>
            <a:scene3d>
              <a:camera prst="orthographicFront"/>
              <a:lightRig rig="threePt" dir="t"/>
            </a:scene3d>
            <a:sp3d>
              <a:bevelT/>
            </a:sp3d>
          </p:spPr>
          <p:txBody>
            <a:bodyPr wrap="square" rtlCol="0">
              <a:spAutoFit/>
            </a:bodyPr>
            <a:lstStyle/>
            <a:p>
              <a:pPr algn="dist"/>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17" name="副标题 2">
              <a:extLst>
                <a:ext uri="{FF2B5EF4-FFF2-40B4-BE49-F238E27FC236}">
                  <a16:creationId xmlns:a16="http://schemas.microsoft.com/office/drawing/2014/main" id="{D7ED5E4C-E3FE-4A85-6B41-62F1AA059163}"/>
                </a:ext>
              </a:extLst>
            </p:cNvPr>
            <p:cNvSpPr txBox="1">
              <a:spLocks/>
            </p:cNvSpPr>
            <p:nvPr/>
          </p:nvSpPr>
          <p:spPr>
            <a:xfrm>
              <a:off x="9100901" y="5201655"/>
              <a:ext cx="1879415" cy="1196834"/>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2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2025/9/8</a:t>
              </a:fld>
              <a:endParaRPr lang="zh-CN" altLang="en-US" sz="2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18" name="矩形 17">
              <a:extLst>
                <a:ext uri="{FF2B5EF4-FFF2-40B4-BE49-F238E27FC236}">
                  <a16:creationId xmlns:a16="http://schemas.microsoft.com/office/drawing/2014/main" id="{0A77711A-D9C3-862C-970B-1304CBB42097}"/>
                </a:ext>
              </a:extLst>
            </p:cNvPr>
            <p:cNvSpPr/>
            <p:nvPr/>
          </p:nvSpPr>
          <p:spPr>
            <a:xfrm>
              <a:off x="348344" y="359229"/>
              <a:ext cx="11506200" cy="6150428"/>
            </a:xfrm>
            <a:prstGeom prst="rect">
              <a:avLst/>
            </a:prstGeom>
            <a:solidFill>
              <a:schemeClr val="accent1">
                <a:lumMod val="20000"/>
                <a:lumOff val="80000"/>
              </a:schemeClr>
            </a:solidFill>
            <a:ln>
              <a:no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对象 4">
              <a:extLst>
                <a:ext uri="{FF2B5EF4-FFF2-40B4-BE49-F238E27FC236}">
                  <a16:creationId xmlns:a16="http://schemas.microsoft.com/office/drawing/2014/main" id="{DCC974D1-DCEA-DAD9-BA84-A0C1B340842C}"/>
                </a:ext>
              </a:extLst>
            </p:cNvPr>
            <p:cNvGraphicFramePr>
              <a:graphicFrameLocks noChangeAspect="1"/>
            </p:cNvGraphicFramePr>
            <p:nvPr/>
          </p:nvGraphicFramePr>
          <p:xfrm>
            <a:off x="664029" y="598713"/>
            <a:ext cx="10874828" cy="5660574"/>
          </p:xfrm>
          <a:graphic>
            <a:graphicData uri="http://schemas.openxmlformats.org/presentationml/2006/ole">
              <mc:AlternateContent xmlns:mc="http://schemas.openxmlformats.org/markup-compatibility/2006">
                <mc:Choice xmlns:v="urn:schemas-microsoft-com:vml" Requires="v">
                  <p:oleObj name="Bitmap Image" r:id="rId2" imgW="6108840" imgH="4280040" progId="PBrush">
                    <p:embed/>
                  </p:oleObj>
                </mc:Choice>
                <mc:Fallback>
                  <p:oleObj name="Bitmap Image" r:id="rId2" imgW="6108840" imgH="4280040" progId="PBrush">
                    <p:embed/>
                    <p:pic>
                      <p:nvPicPr>
                        <p:cNvPr id="5" name="对象 4">
                          <a:extLst>
                            <a:ext uri="{FF2B5EF4-FFF2-40B4-BE49-F238E27FC236}">
                              <a16:creationId xmlns:a16="http://schemas.microsoft.com/office/drawing/2014/main" id="{DCC974D1-DCEA-DAD9-BA84-A0C1B340842C}"/>
                            </a:ext>
                          </a:extLst>
                        </p:cNvPr>
                        <p:cNvPicPr/>
                        <p:nvPr/>
                      </p:nvPicPr>
                      <p:blipFill>
                        <a:blip r:embed="rId3"/>
                        <a:stretch>
                          <a:fillRect/>
                        </a:stretch>
                      </p:blipFill>
                      <p:spPr>
                        <a:xfrm>
                          <a:off x="664029" y="598713"/>
                          <a:ext cx="10874828" cy="5660574"/>
                        </a:xfrm>
                        <a:prstGeom prst="rect">
                          <a:avLst/>
                        </a:prstGeom>
                      </p:spPr>
                    </p:pic>
                  </p:oleObj>
                </mc:Fallback>
              </mc:AlternateContent>
            </a:graphicData>
          </a:graphic>
        </p:graphicFrame>
        <p:sp>
          <p:nvSpPr>
            <p:cNvPr id="19" name="矩形 18">
              <a:extLst>
                <a:ext uri="{FF2B5EF4-FFF2-40B4-BE49-F238E27FC236}">
                  <a16:creationId xmlns:a16="http://schemas.microsoft.com/office/drawing/2014/main" id="{D38CC3B9-D273-DA53-3D51-7097270B8979}"/>
                </a:ext>
              </a:extLst>
            </p:cNvPr>
            <p:cNvSpPr/>
            <p:nvPr/>
          </p:nvSpPr>
          <p:spPr>
            <a:xfrm>
              <a:off x="7206344" y="2622251"/>
              <a:ext cx="3718954" cy="861774"/>
            </a:xfrm>
            <a:prstGeom prst="rect">
              <a:avLst/>
            </a:prstGeom>
          </p:spPr>
          <p:txBody>
            <a:bodyPr wrap="square">
              <a:spAutoFit/>
            </a:bodyPr>
            <a:lstStyle/>
            <a:p>
              <a:pPr algn="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基于 </a:t>
              </a:r>
              <a:r>
                <a:rPr lang="en-US" altLang="zh-CN"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R </a:t>
              </a:r>
              <a:r>
                <a:rPr lang="zh-CN" altLang="en-US" sz="5000" dirty="0">
                  <a:solidFill>
                    <a:srgbClr val="00FFFF"/>
                  </a:solidFill>
                  <a:effectLst>
                    <a:outerShdw blurRad="38100" dist="38100" dir="2700000" algn="tl">
                      <a:srgbClr val="000000">
                        <a:alpha val="43137"/>
                      </a:srgbClr>
                    </a:outerShdw>
                  </a:effectLst>
                  <a:latin typeface="Script MT Bold" panose="03040602040607080904" pitchFamily="66" charset="0"/>
                  <a:ea typeface="华文琥珀" panose="02010800040101010101" pitchFamily="2" charset="-122"/>
                </a:rPr>
                <a:t>语言</a:t>
              </a:r>
            </a:p>
          </p:txBody>
        </p:sp>
        <p:sp>
          <p:nvSpPr>
            <p:cNvPr id="20" name="文本框 19">
              <a:extLst>
                <a:ext uri="{FF2B5EF4-FFF2-40B4-BE49-F238E27FC236}">
                  <a16:creationId xmlns:a16="http://schemas.microsoft.com/office/drawing/2014/main" id="{878B0296-8DCD-A0D4-E6A8-49A8022C13B3}"/>
                </a:ext>
              </a:extLst>
            </p:cNvPr>
            <p:cNvSpPr txBox="1"/>
            <p:nvPr/>
          </p:nvSpPr>
          <p:spPr>
            <a:xfrm>
              <a:off x="5323114" y="1559531"/>
              <a:ext cx="5602183" cy="1015663"/>
            </a:xfrm>
            <a:prstGeom prst="rect">
              <a:avLst/>
            </a:prstGeom>
            <a:noFill/>
            <a:scene3d>
              <a:camera prst="orthographicFront"/>
              <a:lightRig rig="threePt" dir="t"/>
            </a:scene3d>
            <a:sp3d>
              <a:bevelT/>
            </a:sp3d>
          </p:spPr>
          <p:txBody>
            <a:bodyPr wrap="square" rtlCol="0">
              <a:spAutoFit/>
            </a:bodyPr>
            <a:lstStyle/>
            <a:p>
              <a:pPr algn="r"/>
              <a:r>
                <a:rPr lang="zh-CN" altLang="en-US"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rPr>
                <a:t>数据可视化分析     </a:t>
              </a:r>
              <a:endParaRPr lang="en-US" altLang="zh-CN" sz="6000" b="1" dirty="0">
                <a:solidFill>
                  <a:srgbClr val="FFFF00"/>
                </a:solidFill>
                <a:effectLst>
                  <a:outerShdw blurRad="38100" dist="38100" dir="2700000" algn="tl">
                    <a:srgbClr val="000000">
                      <a:alpha val="43137"/>
                    </a:srgbClr>
                  </a:outerShdw>
                </a:effectLst>
                <a:latin typeface="华文琥珀" panose="02010800040101010101" pitchFamily="2" charset="-122"/>
                <a:ea typeface="华文琥珀" panose="02010800040101010101" pitchFamily="2" charset="-122"/>
              </a:endParaRPr>
            </a:p>
          </p:txBody>
        </p:sp>
        <p:sp>
          <p:nvSpPr>
            <p:cNvPr id="21" name="副标题 2">
              <a:extLst>
                <a:ext uri="{FF2B5EF4-FFF2-40B4-BE49-F238E27FC236}">
                  <a16:creationId xmlns:a16="http://schemas.microsoft.com/office/drawing/2014/main" id="{982694FD-A4ED-A422-06B2-71C13249BACF}"/>
                </a:ext>
              </a:extLst>
            </p:cNvPr>
            <p:cNvSpPr txBox="1">
              <a:spLocks/>
            </p:cNvSpPr>
            <p:nvPr/>
          </p:nvSpPr>
          <p:spPr>
            <a:xfrm>
              <a:off x="10319657" y="5505334"/>
              <a:ext cx="1333499" cy="753953"/>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00000"/>
                </a:lnSpc>
              </a:pPr>
              <a:r>
                <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00000"/>
                </a:lnSpc>
              </a:pPr>
              <a:fld id="{40D7A12C-C48C-4203-A694-F2B6F5190069}" type="datetime1">
                <a:rPr lang="zh-CN" altLang="en-US" sz="16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00000"/>
                  </a:lnSpc>
                </a:pPr>
                <a:t>2025/9/8</a:t>
              </a:fld>
              <a:endParaRPr lang="zh-CN" altLang="en-US" sz="16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sp>
          <p:nvSpPr>
            <p:cNvPr id="24" name="Rectangle 3">
              <a:extLst>
                <a:ext uri="{FF2B5EF4-FFF2-40B4-BE49-F238E27FC236}">
                  <a16:creationId xmlns:a16="http://schemas.microsoft.com/office/drawing/2014/main" id="{9D668F91-5A97-DC14-A87D-94ECEC1AF98D}"/>
                </a:ext>
              </a:extLst>
            </p:cNvPr>
            <p:cNvSpPr txBox="1">
              <a:spLocks noChangeArrowheads="1"/>
            </p:cNvSpPr>
            <p:nvPr/>
          </p:nvSpPr>
          <p:spPr>
            <a:xfrm>
              <a:off x="7543801" y="3604606"/>
              <a:ext cx="3296482" cy="2610697"/>
            </a:xfrm>
            <a:prstGeom prst="rect">
              <a:avLst/>
            </a:prstGeom>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本书特色</a:t>
              </a:r>
              <a:endParaRPr lang="en-US" altLang="zh-CN" sz="2400" dirty="0">
                <a:effectLs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新颖的写作视角</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严谨的组织结构</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完备的绘制代码</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a:p>
              <a:pPr marL="0" indent="0" algn="ctr" eaLnBrk="0" hangingPunct="0">
                <a:lnSpc>
                  <a:spcPct val="100000"/>
                </a:lnSpc>
                <a:spcBef>
                  <a:spcPct val="50000"/>
                </a:spcBef>
                <a:buClr>
                  <a:srgbClr val="000099"/>
                </a:buClr>
                <a:buNone/>
                <a:defRPr/>
              </a:pPr>
              <a:r>
                <a:rPr lang="zh-CN" altLang="en-US"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rPr>
                <a:t>详尽的图形解读</a:t>
              </a:r>
              <a:endParaRPr lang="en-US" altLang="zh-CN" sz="2400" b="1" dirty="0">
                <a:solidFill>
                  <a:schemeClr val="bg1"/>
                </a:solidFill>
                <a:effectLst>
                  <a:outerShdw blurRad="38100" dist="38100" dir="2700000" algn="tl">
                    <a:srgbClr val="000000">
                      <a:alpha val="43137"/>
                    </a:srgbClr>
                  </a:outerShdw>
                </a:effectLst>
                <a:highlight>
                  <a:srgbClr val="008080"/>
                </a:highlight>
                <a:latin typeface="华文行楷" panose="02010800040101010101" pitchFamily="2" charset="-122"/>
                <a:ea typeface="华文行楷" panose="02010800040101010101" pitchFamily="2" charset="-122"/>
                <a:cs typeface="Times New Roman" panose="02020603050405020304" pitchFamily="18" charset="0"/>
              </a:endParaRPr>
            </a:p>
          </p:txBody>
        </p:sp>
      </p:grpSp>
    </p:spTree>
    <p:extLst>
      <p:ext uri="{BB962C8B-B14F-4D97-AF65-F5344CB8AC3E}">
        <p14:creationId xmlns:p14="http://schemas.microsoft.com/office/powerpoint/2010/main" val="2141939524"/>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a:extLst>
              <a:ext uri="{FF2B5EF4-FFF2-40B4-BE49-F238E27FC236}">
                <a16:creationId xmlns:a16="http://schemas.microsoft.com/office/drawing/2014/main" id="{4D2B003D-593F-48DB-BE13-1C28EEAA2375}"/>
              </a:ext>
            </a:extLst>
          </p:cNvPr>
          <p:cNvSpPr/>
          <p:nvPr/>
        </p:nvSpPr>
        <p:spPr>
          <a:xfrm>
            <a:off x="-57405" y="0"/>
            <a:ext cx="12271508" cy="6858000"/>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副标题 2">
            <a:extLst>
              <a:ext uri="{FF2B5EF4-FFF2-40B4-BE49-F238E27FC236}">
                <a16:creationId xmlns:a16="http://schemas.microsoft.com/office/drawing/2014/main" id="{CD5BFEA8-D60A-4E4F-BEA7-36EF403C3802}"/>
              </a:ext>
            </a:extLst>
          </p:cNvPr>
          <p:cNvSpPr txBox="1">
            <a:spLocks/>
          </p:cNvSpPr>
          <p:nvPr/>
        </p:nvSpPr>
        <p:spPr>
          <a:xfrm>
            <a:off x="6096000" y="4864292"/>
            <a:ext cx="2653745" cy="1760996"/>
          </a:xfrm>
          <a:prstGeom prst="rect">
            <a:avLst/>
          </a:prstGeom>
          <a:noFill/>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华文细黑" panose="02010600040101010101" pitchFamily="2" charset="-122"/>
                <a:ea typeface="华文细黑" panose="02010600040101010101" pitchFamily="2" charset="-122"/>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华文细黑" panose="02010600040101010101" pitchFamily="2" charset="-122"/>
                <a:ea typeface="华文细黑" panose="02010600040101010101" pitchFamily="2" charset="-122"/>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华文细黑" panose="02010600040101010101" pitchFamily="2" charset="-122"/>
                <a:ea typeface="华文细黑" panose="02010600040101010101" pitchFamily="2" charset="-122"/>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华文细黑" panose="02010600040101010101" pitchFamily="2" charset="-122"/>
                <a:ea typeface="华文细黑" panose="02010600040101010101" pitchFamily="2" charset="-122"/>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50000"/>
              </a:lnSpc>
            </a:pPr>
            <a:r>
              <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t>贾俊平</a:t>
            </a:r>
            <a:endParaRPr lang="en-US" altLang="zh-CN"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a:p>
            <a:pPr>
              <a:lnSpc>
                <a:spcPct val="150000"/>
              </a:lnSpc>
            </a:pPr>
            <a:fld id="{40D7A12C-C48C-4203-A694-F2B6F5190069}" type="datetime1">
              <a:rPr lang="zh-CN" altLang="en-US" sz="3200" b="1" smtClean="0">
                <a:solidFill>
                  <a:schemeClr val="bg1"/>
                </a:solidFill>
                <a:effectLst>
                  <a:outerShdw blurRad="38100" dist="38100" dir="2700000" algn="tl">
                    <a:srgbClr val="000000">
                      <a:alpha val="43137"/>
                    </a:srgbClr>
                  </a:outerShdw>
                </a:effectLst>
                <a:latin typeface="+mn-lt"/>
                <a:ea typeface="+mn-ea"/>
                <a:cs typeface="Arial" panose="020B0604020202020204" pitchFamily="34" charset="0"/>
              </a:rPr>
              <a:pPr>
                <a:lnSpc>
                  <a:spcPct val="150000"/>
                </a:lnSpc>
              </a:pPr>
              <a:t>2025/9/8</a:t>
            </a:fld>
            <a:endParaRPr lang="zh-CN" altLang="en-US" sz="3200" b="1" dirty="0">
              <a:solidFill>
                <a:schemeClr val="bg1"/>
              </a:solidFill>
              <a:effectLst>
                <a:outerShdw blurRad="38100" dist="38100" dir="2700000" algn="tl">
                  <a:srgbClr val="000000">
                    <a:alpha val="43137"/>
                  </a:srgbClr>
                </a:outerShdw>
              </a:effectLst>
              <a:latin typeface="+mn-lt"/>
              <a:ea typeface="+mn-ea"/>
              <a:cs typeface="Arial" panose="020B0604020202020204" pitchFamily="34" charset="0"/>
            </a:endParaRPr>
          </a:p>
        </p:txBody>
      </p:sp>
      <p:pic>
        <p:nvPicPr>
          <p:cNvPr id="5" name="图片 4">
            <a:extLst>
              <a:ext uri="{FF2B5EF4-FFF2-40B4-BE49-F238E27FC236}">
                <a16:creationId xmlns:a16="http://schemas.microsoft.com/office/drawing/2014/main" id="{57BE89BD-ACBF-40B9-AAFA-85C15C6AD30F}"/>
              </a:ext>
            </a:extLst>
          </p:cNvPr>
          <p:cNvPicPr>
            <a:picLocks noChangeAspect="1"/>
          </p:cNvPicPr>
          <p:nvPr/>
        </p:nvPicPr>
        <p:blipFill>
          <a:blip r:embed="rId2"/>
          <a:stretch>
            <a:fillRect/>
          </a:stretch>
        </p:blipFill>
        <p:spPr>
          <a:xfrm>
            <a:off x="-57405" y="-85059"/>
            <a:ext cx="12423070" cy="6943059"/>
          </a:xfrm>
          <a:prstGeom prst="rect">
            <a:avLst/>
          </a:prstGeom>
        </p:spPr>
      </p:pic>
      <p:sp>
        <p:nvSpPr>
          <p:cNvPr id="9" name="圆角矩形 4">
            <a:extLst>
              <a:ext uri="{FF2B5EF4-FFF2-40B4-BE49-F238E27FC236}">
                <a16:creationId xmlns:a16="http://schemas.microsoft.com/office/drawing/2014/main" id="{5B463439-9290-46DE-AF62-1FC729B957BF}"/>
              </a:ext>
            </a:extLst>
          </p:cNvPr>
          <p:cNvSpPr/>
          <p:nvPr/>
        </p:nvSpPr>
        <p:spPr>
          <a:xfrm>
            <a:off x="1288661" y="2286000"/>
            <a:ext cx="9713915" cy="3732028"/>
          </a:xfrm>
          <a:prstGeom prst="roundRect">
            <a:avLst/>
          </a:prstGeom>
          <a:solidFill>
            <a:schemeClr val="accent5">
              <a:lumMod val="75000"/>
            </a:schemeClr>
          </a:solidFill>
          <a:ln>
            <a:noFill/>
          </a:ln>
          <a:scene3d>
            <a:camera prst="orthographicFront"/>
            <a:lightRig rig="threePt" dir="t"/>
          </a:scene3d>
          <a:sp3d>
            <a:bevelT prst="relaxedInset"/>
          </a:sp3d>
        </p:spPr>
        <p:style>
          <a:lnRef idx="1">
            <a:schemeClr val="accent4"/>
          </a:lnRef>
          <a:fillRef idx="2">
            <a:schemeClr val="accent4"/>
          </a:fillRef>
          <a:effectRef idx="1">
            <a:schemeClr val="accent4"/>
          </a:effectRef>
          <a:fontRef idx="minor">
            <a:schemeClr val="dk1"/>
          </a:fontRef>
        </p:style>
        <p:txBody>
          <a:bodyPr rtlCol="0" anchor="ctr"/>
          <a:lstStyle/>
          <a:p>
            <a:pPr marL="609600" indent="-609600">
              <a:lnSpc>
                <a:spcPct val="150000"/>
              </a:lnSpc>
              <a:defRPr/>
            </a:pP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3.1</a:t>
            </a: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用条形比较</a:t>
            </a:r>
            <a:endPar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3.2   </a:t>
            </a:r>
            <a:r>
              <a:rPr lang="zh-CN" altLang="en-US"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rPr>
              <a:t>用矩形比较</a:t>
            </a:r>
            <a:endPar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Arial" charset="0"/>
            </a:endParaRPr>
          </a:p>
          <a:p>
            <a:pPr marL="609600" indent="-609600">
              <a:lnSpc>
                <a:spcPct val="150000"/>
              </a:lnSpc>
              <a:defRPr/>
            </a:pP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3.3   </a:t>
            </a:r>
            <a:r>
              <a:rPr lang="zh-CN" altLang="en-US"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用圆或点比较</a:t>
            </a:r>
            <a:endPar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609600" indent="-609600">
              <a:lnSpc>
                <a:spcPct val="150000"/>
              </a:lnSpc>
              <a:defRPr/>
            </a:pP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3.4   </a:t>
            </a:r>
            <a:r>
              <a:rPr lang="zh-CN" altLang="en-US"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用颜色饱和度比较</a:t>
            </a:r>
            <a:endPar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893763" indent="-893763">
              <a:lnSpc>
                <a:spcPct val="150000"/>
              </a:lnSpc>
              <a:defRPr/>
            </a:pP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3.5   </a:t>
            </a:r>
            <a:r>
              <a:rPr lang="zh-CN" altLang="en-US"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其他比较方法</a:t>
            </a:r>
            <a:endPar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marL="893763" indent="-893763">
              <a:lnSpc>
                <a:spcPct val="150000"/>
              </a:lnSpc>
              <a:defRPr/>
            </a:pPr>
            <a:r>
              <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3.6   </a:t>
            </a:r>
            <a:r>
              <a:rPr lang="zh-CN" altLang="en-US"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在条形图上添加检验信息</a:t>
            </a:r>
            <a:endParaRPr lang="en-US" altLang="zh-CN" sz="2600" b="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
        <p:nvSpPr>
          <p:cNvPr id="11" name="文本框 10">
            <a:extLst>
              <a:ext uri="{FF2B5EF4-FFF2-40B4-BE49-F238E27FC236}">
                <a16:creationId xmlns:a16="http://schemas.microsoft.com/office/drawing/2014/main" id="{242FE301-88C8-43EE-B4E5-A0F8BAC93B90}"/>
              </a:ext>
            </a:extLst>
          </p:cNvPr>
          <p:cNvSpPr txBox="1"/>
          <p:nvPr/>
        </p:nvSpPr>
        <p:spPr>
          <a:xfrm>
            <a:off x="1456660" y="839972"/>
            <a:ext cx="9545916" cy="825419"/>
          </a:xfrm>
          <a:prstGeom prst="rect">
            <a:avLst/>
          </a:prstGeom>
          <a:noFill/>
        </p:spPr>
        <p:txBody>
          <a:bodyPr wrap="square" rtlCol="0">
            <a:spAutoFit/>
          </a:bodyPr>
          <a:lstStyle/>
          <a:p>
            <a:pPr>
              <a:lnSpc>
                <a:spcPct val="150000"/>
              </a:lnSpc>
            </a:pP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第 </a:t>
            </a:r>
            <a:r>
              <a:rPr lang="en-US" altLang="zh-CN"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3 </a:t>
            </a:r>
            <a:r>
              <a:rPr lang="zh-CN" altLang="en-US" sz="3600" b="1" dirty="0">
                <a:solidFill>
                  <a:srgbClr val="FFC0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章    </a:t>
            </a:r>
            <a:r>
              <a:rPr lang="zh-CN" altLang="en-US" sz="36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比较数值大小和差异</a:t>
            </a:r>
            <a:r>
              <a:rPr lang="en-US" altLang="zh-CN" sz="3600" b="1" spc="150"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endParaRPr lang="zh-CN" altLang="en-US" sz="3600" b="1" spc="150" dirty="0">
              <a:solidFill>
                <a:srgbClr val="FFFF0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37244127"/>
      </p:ext>
    </p:extLst>
  </p:cSld>
  <p:clrMapOvr>
    <a:masterClrMapping/>
  </p:clrMapOvr>
  <p:transition>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3">
            <a:extLst>
              <a:ext uri="{FF2B5EF4-FFF2-40B4-BE49-F238E27FC236}">
                <a16:creationId xmlns:a16="http://schemas.microsoft.com/office/drawing/2014/main" id="{6E94D264-6FC3-43E2-9B81-55AAF75CEB21}"/>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概要</a:t>
            </a:r>
            <a:endParaRPr lang="en-US" altLang="zh-CN" sz="2600" b="1" dirty="0">
              <a:solidFill>
                <a:srgbClr val="002060"/>
              </a:solidFill>
              <a:ea typeface="华文细黑" panose="02010600040101010101" pitchFamily="2" charset="-122"/>
            </a:endParaRPr>
          </a:p>
        </p:txBody>
      </p:sp>
      <p:sp>
        <p:nvSpPr>
          <p:cNvPr id="2" name="Rectangle 3">
            <a:extLst>
              <a:ext uri="{FF2B5EF4-FFF2-40B4-BE49-F238E27FC236}">
                <a16:creationId xmlns:a16="http://schemas.microsoft.com/office/drawing/2014/main" id="{160308CF-0585-7D16-740A-0B374E56BF5D}"/>
              </a:ext>
            </a:extLst>
          </p:cNvPr>
          <p:cNvSpPr txBox="1">
            <a:spLocks noChangeArrowheads="1"/>
          </p:cNvSpPr>
          <p:nvPr/>
        </p:nvSpPr>
        <p:spPr>
          <a:xfrm>
            <a:off x="5384800" y="1689601"/>
            <a:ext cx="6217920" cy="469087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kern="0" dirty="0">
                <a:latin typeface="Cambria" panose="02040503050406030204" pitchFamily="18" charset="0"/>
                <a:ea typeface="华文细黑" panose="02010600040101010101" pitchFamily="2" charset="-122"/>
                <a:cs typeface="Times New Roman" panose="02020603050405020304" pitchFamily="18" charset="0"/>
              </a:rPr>
              <a:t>比较数值大小的方法</a:t>
            </a:r>
            <a:endParaRPr lang="en-US" altLang="zh-CN" sz="1800" b="1" kern="0" dirty="0">
              <a:latin typeface="Cambria" panose="02040503050406030204" pitchFamily="18" charset="0"/>
              <a:ea typeface="华文细黑" panose="02010600040101010101" pitchFamily="2" charset="-122"/>
              <a:cs typeface="Times New Roman" panose="02020603050405020304" pitchFamily="18" charset="0"/>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用条形或矩形表示数值大小，如条形图、马赛克图等</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用圆或点的大小表示数值大小，如圆堆图、气泡图等</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用颜色饱和度表示数值大小，如热图</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用</a:t>
            </a:r>
            <a:r>
              <a:rPr lang="zh-CN" altLang="zh-CN" dirty="0">
                <a:effectLst/>
                <a:latin typeface="Calibri" panose="020F0502020204030204" pitchFamily="34" charset="0"/>
                <a:ea typeface="华文细黑" panose="02010600040101010101" pitchFamily="2" charset="-122"/>
              </a:rPr>
              <a:t>点的位置或点与坐标轴的连线、点与点的连线等表示各类别对应的数值差异，如克利夫兰点图、棒棒糖图和哑铃图等</a:t>
            </a:r>
            <a:endParaRPr lang="en-US" altLang="zh-CN" dirty="0">
              <a:effectLst/>
              <a:latin typeface="Calibri" panose="020F0502020204030204" pitchFamily="34"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libri" panose="020F0502020204030204" pitchFamily="34" charset="0"/>
                <a:ea typeface="华文细黑" panose="02010600040101010101" pitchFamily="2" charset="-122"/>
              </a:rPr>
              <a:t>用字的大小表示词频多少的一种特殊图形，即词云图</a:t>
            </a:r>
            <a:endParaRPr lang="zh-CN" altLang="zh-CN" dirty="0">
              <a:effectLst/>
              <a:latin typeface="Times New Roman" panose="02020603050405020304" pitchFamily="18" charset="0"/>
              <a:ea typeface="宋体" panose="0201060003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endParaRPr lang="en-US" altLang="zh-CN" b="1" dirty="0">
              <a:latin typeface="Cambria" panose="02040503050406030204" pitchFamily="18" charset="0"/>
              <a:ea typeface="华文细黑" panose="02010600040101010101" pitchFamily="2" charset="-122"/>
            </a:endParaRPr>
          </a:p>
          <a:p>
            <a:endParaRPr lang="en-US"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3" name="Rectangle 2">
            <a:extLst>
              <a:ext uri="{FF2B5EF4-FFF2-40B4-BE49-F238E27FC236}">
                <a16:creationId xmlns:a16="http://schemas.microsoft.com/office/drawing/2014/main" id="{B612C4C6-CACD-BE90-BF9D-F320FDFBEE8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本章导读</a:t>
            </a:r>
          </a:p>
        </p:txBody>
      </p:sp>
      <p:sp>
        <p:nvSpPr>
          <p:cNvPr id="6" name="Rectangle 3">
            <a:extLst>
              <a:ext uri="{FF2B5EF4-FFF2-40B4-BE49-F238E27FC236}">
                <a16:creationId xmlns:a16="http://schemas.microsoft.com/office/drawing/2014/main" id="{AC1735DD-5B2E-C993-B9EA-F4C747CD8F49}"/>
              </a:ext>
            </a:extLst>
          </p:cNvPr>
          <p:cNvSpPr txBox="1">
            <a:spLocks noChangeArrowheads="1"/>
          </p:cNvSpPr>
          <p:nvPr/>
        </p:nvSpPr>
        <p:spPr>
          <a:xfrm>
            <a:off x="690880" y="1689602"/>
            <a:ext cx="4531360" cy="469087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1800" b="1" kern="0" dirty="0">
                <a:latin typeface="Cambria" panose="02040503050406030204" pitchFamily="18" charset="0"/>
                <a:ea typeface="华文细黑" panose="02010600040101010101" pitchFamily="2" charset="-122"/>
                <a:cs typeface="Times New Roman" panose="02020603050405020304" pitchFamily="18" charset="0"/>
              </a:rPr>
              <a:t>本章图形</a:t>
            </a:r>
            <a:r>
              <a:rPr lang="zh-CN" altLang="zh-CN" sz="1800" b="1" kern="0" dirty="0">
                <a:latin typeface="Cambria" panose="02040503050406030204" pitchFamily="18" charset="0"/>
                <a:ea typeface="华文细黑" panose="02010600040101010101" pitchFamily="2" charset="-122"/>
                <a:cs typeface="Times New Roman" panose="02020603050405020304" pitchFamily="18" charset="0"/>
              </a:rPr>
              <a:t>适用的数据</a:t>
            </a:r>
            <a:r>
              <a:rPr lang="en-US" altLang="zh-CN" sz="1800" b="1" kern="0" dirty="0">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kern="0" dirty="0">
                <a:latin typeface="Cambria" panose="02040503050406030204" pitchFamily="18" charset="0"/>
                <a:ea typeface="华文细黑" panose="02010600040101010101" pitchFamily="2" charset="-122"/>
                <a:cs typeface="Times New Roman" panose="02020603050405020304" pitchFamily="18" charset="0"/>
              </a:rPr>
              <a:t>类别数据</a:t>
            </a:r>
            <a:endParaRPr lang="en-US" altLang="zh-CN" sz="1800" b="1" kern="0" dirty="0">
              <a:latin typeface="Cambria" panose="02040503050406030204" pitchFamily="18" charset="0"/>
              <a:ea typeface="华文细黑" panose="02010600040101010101" pitchFamily="2" charset="-122"/>
              <a:cs typeface="Times New Roman" panose="02020603050405020304" pitchFamily="18" charset="0"/>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由类别变量得到的原始观测类别，如男和女</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由原始类别生成的频数分布表，即各个类别及其所对应的频数向量，如男和女分别应的人数（频数）</a:t>
            </a:r>
            <a:endParaRPr lang="en-US" altLang="zh-CN" dirty="0">
              <a:effectLst/>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dirty="0">
                <a:effectLst/>
                <a:latin typeface="Cambria" panose="02040503050406030204" pitchFamily="18" charset="0"/>
                <a:ea typeface="华文细黑" panose="02010600040101010101" pitchFamily="2" charset="-122"/>
              </a:rPr>
              <a:t>各类别对应的其他数值向量，如男和女分别对应的平均身高、各地区的地区生产总值等</a:t>
            </a:r>
            <a:r>
              <a:rPr lang="zh-CN" altLang="zh-CN" kern="0" dirty="0">
                <a:latin typeface="Cambria" panose="02040503050406030204" pitchFamily="18" charset="0"/>
                <a:ea typeface="华文细黑" panose="02010600040101010101" pitchFamily="2" charset="-122"/>
                <a:cs typeface="Times New Roman" panose="02020603050405020304" pitchFamily="18" charset="0"/>
              </a:rPr>
              <a:t>展示数据流向或流量</a:t>
            </a:r>
            <a:endParaRPr lang="en-US" altLang="zh-CN" kern="0" dirty="0">
              <a:latin typeface="Cambria" panose="02040503050406030204" pitchFamily="18" charset="0"/>
              <a:ea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454829765"/>
      </p:ext>
    </p:extLst>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1520" y="1707573"/>
            <a:ext cx="10765262" cy="461038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用条形表示数值大小的基本图形是</a:t>
            </a:r>
            <a:r>
              <a:rPr lang="zh-CN" altLang="zh-CN" sz="20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条形图</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000" dirty="0">
                <a:effectLst/>
                <a:latin typeface="Cambria" panose="02040503050406030204" pitchFamily="18" charset="0"/>
                <a:ea typeface="华文细黑" panose="02010600040101010101" pitchFamily="2" charset="-122"/>
                <a:cs typeface="Times New Roman" panose="02020603050405020304" pitchFamily="18" charset="0"/>
              </a:rPr>
              <a:t>bar plot</a:t>
            </a:r>
            <a:r>
              <a:rPr lang="zh-CN" altLang="zh-CN" sz="2000" dirty="0">
                <a:effectLst/>
                <a:latin typeface="Cambria" panose="02040503050406030204" pitchFamily="18" charset="0"/>
                <a:ea typeface="华文细黑" panose="02010600040101010101" pitchFamily="2" charset="-122"/>
                <a:cs typeface="Times New Roman" panose="02020603050405020304" pitchFamily="18" charset="0"/>
              </a:rPr>
              <a:t>），它是用条的长度或高度表示各类别数值大小，其条的宽度通常是固定的</a:t>
            </a:r>
            <a:endParaRPr lang="en-US" altLang="zh-CN" sz="20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rPr>
              <a:t>条形图用于展示的数据可以是各类别对应的绝对值或百分比</a:t>
            </a:r>
            <a:endParaRPr lang="en-US" altLang="zh-CN" sz="20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rPr>
              <a:t>绘制条形图使用的类别变量可以是一个、两个或多个，其数据类型可以是原始的类别变量、由类别变量生成的频数表、具有类别标签的其他数值向量或数据框</a:t>
            </a:r>
            <a:endParaRPr lang="en-US" altLang="zh-CN" sz="20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000" dirty="0">
                <a:effectLst/>
                <a:latin typeface="Cambria" panose="02040503050406030204" pitchFamily="18" charset="0"/>
                <a:ea typeface="华文细黑" panose="02010600040101010101" pitchFamily="2" charset="-122"/>
              </a:rPr>
              <a:t>绘制条形图时，各类别可以放在</a:t>
            </a:r>
            <a:r>
              <a:rPr lang="en-US" altLang="zh-CN" sz="2000" i="1" dirty="0">
                <a:effectLst/>
                <a:latin typeface="Cambria" panose="02040503050406030204" pitchFamily="18" charset="0"/>
                <a:ea typeface="华文细黑" panose="02010600040101010101" pitchFamily="2" charset="-122"/>
              </a:rPr>
              <a:t>x</a:t>
            </a:r>
            <a:r>
              <a:rPr lang="zh-CN" altLang="zh-CN" sz="2000" dirty="0">
                <a:effectLst/>
                <a:latin typeface="Cambria" panose="02040503050406030204" pitchFamily="18" charset="0"/>
                <a:ea typeface="华文细黑" panose="02010600040101010101" pitchFamily="2" charset="-122"/>
              </a:rPr>
              <a:t>轴（横轴），也可以放在</a:t>
            </a:r>
            <a:r>
              <a:rPr lang="en-US" altLang="zh-CN" sz="2000" i="1" dirty="0">
                <a:effectLst/>
                <a:latin typeface="Cambria" panose="02040503050406030204" pitchFamily="18" charset="0"/>
                <a:ea typeface="华文细黑" panose="02010600040101010101" pitchFamily="2" charset="-122"/>
              </a:rPr>
              <a:t>y</a:t>
            </a:r>
            <a:r>
              <a:rPr lang="zh-CN" altLang="zh-CN" sz="2000" dirty="0">
                <a:effectLst/>
                <a:latin typeface="Cambria" panose="02040503050406030204" pitchFamily="18" charset="0"/>
                <a:ea typeface="华文细黑" panose="02010600040101010101" pitchFamily="2" charset="-122"/>
              </a:rPr>
              <a:t>轴（纵轴）。类别放在</a:t>
            </a:r>
            <a:r>
              <a:rPr lang="en-US" altLang="zh-CN" sz="2000" i="1" dirty="0">
                <a:effectLst/>
                <a:latin typeface="Cambria" panose="02040503050406030204" pitchFamily="18" charset="0"/>
                <a:ea typeface="华文细黑" panose="02010600040101010101" pitchFamily="2" charset="-122"/>
              </a:rPr>
              <a:t>x</a:t>
            </a:r>
            <a:r>
              <a:rPr lang="zh-CN" altLang="zh-CN" sz="2000" dirty="0">
                <a:effectLst/>
                <a:latin typeface="Cambria" panose="02040503050406030204" pitchFamily="18" charset="0"/>
                <a:ea typeface="华文细黑" panose="02010600040101010101" pitchFamily="2" charset="-122"/>
              </a:rPr>
              <a:t>轴的条形图称为</a:t>
            </a:r>
            <a:r>
              <a:rPr lang="zh-CN" altLang="zh-CN" sz="2000" b="1" dirty="0">
                <a:solidFill>
                  <a:srgbClr val="E36C0A"/>
                </a:solidFill>
                <a:effectLst/>
                <a:latin typeface="Cambria" panose="02040503050406030204" pitchFamily="18" charset="0"/>
                <a:ea typeface="华文细黑" panose="02010600040101010101" pitchFamily="2" charset="-122"/>
              </a:rPr>
              <a:t>垂直条形图</a:t>
            </a:r>
            <a:r>
              <a:rPr lang="zh-CN" altLang="zh-CN" sz="2000" dirty="0">
                <a:effectLst/>
                <a:latin typeface="Cambria" panose="02040503050406030204" pitchFamily="18" charset="0"/>
                <a:ea typeface="华文细黑" panose="02010600040101010101" pitchFamily="2" charset="-122"/>
              </a:rPr>
              <a:t>（</a:t>
            </a:r>
            <a:r>
              <a:rPr lang="en-US" altLang="zh-CN" sz="2000" dirty="0">
                <a:effectLst/>
                <a:latin typeface="Cambria" panose="02040503050406030204" pitchFamily="18" charset="0"/>
                <a:ea typeface="华文细黑" panose="02010600040101010101" pitchFamily="2" charset="-122"/>
              </a:rPr>
              <a:t>vertical bar plot</a:t>
            </a:r>
            <a:r>
              <a:rPr lang="zh-CN" altLang="zh-CN" sz="2000" dirty="0">
                <a:effectLst/>
                <a:latin typeface="Cambria" panose="02040503050406030204" pitchFamily="18" charset="0"/>
                <a:ea typeface="华文细黑" panose="02010600040101010101" pitchFamily="2" charset="-122"/>
              </a:rPr>
              <a:t>）或柱形图，类别放在</a:t>
            </a:r>
            <a:r>
              <a:rPr lang="en-US" altLang="zh-CN" sz="2000" i="1" dirty="0">
                <a:effectLst/>
                <a:latin typeface="Cambria" panose="02040503050406030204" pitchFamily="18" charset="0"/>
                <a:ea typeface="华文细黑" panose="02010600040101010101" pitchFamily="2" charset="-122"/>
              </a:rPr>
              <a:t>y</a:t>
            </a:r>
            <a:r>
              <a:rPr lang="zh-CN" altLang="zh-CN" sz="2000" dirty="0">
                <a:effectLst/>
                <a:latin typeface="Cambria" panose="02040503050406030204" pitchFamily="18" charset="0"/>
                <a:ea typeface="华文细黑" panose="02010600040101010101" pitchFamily="2" charset="-122"/>
              </a:rPr>
              <a:t>轴的条形图称为</a:t>
            </a:r>
            <a:r>
              <a:rPr lang="zh-CN" altLang="zh-CN" sz="2000" b="1" dirty="0">
                <a:solidFill>
                  <a:srgbClr val="E36C0A"/>
                </a:solidFill>
                <a:effectLst/>
                <a:latin typeface="Cambria" panose="02040503050406030204" pitchFamily="18" charset="0"/>
                <a:ea typeface="华文细黑" panose="02010600040101010101" pitchFamily="2" charset="-122"/>
              </a:rPr>
              <a:t>水平条形图</a:t>
            </a:r>
            <a:r>
              <a:rPr lang="zh-CN" altLang="zh-CN" sz="2000" dirty="0">
                <a:effectLst/>
                <a:latin typeface="Cambria" panose="02040503050406030204" pitchFamily="18" charset="0"/>
                <a:ea typeface="华文细黑" panose="02010600040101010101" pitchFamily="2" charset="-122"/>
              </a:rPr>
              <a:t>（</a:t>
            </a:r>
            <a:r>
              <a:rPr lang="en-US" altLang="zh-CN" sz="2000" dirty="0">
                <a:effectLst/>
                <a:latin typeface="Cambria" panose="02040503050406030204" pitchFamily="18" charset="0"/>
                <a:ea typeface="华文细黑" panose="02010600040101010101" pitchFamily="2" charset="-122"/>
              </a:rPr>
              <a:t>horizontal bar plot</a:t>
            </a:r>
            <a:r>
              <a:rPr lang="zh-CN" altLang="en-US" sz="2000" dirty="0">
                <a:effectLst/>
                <a:latin typeface="Cambria" panose="02040503050406030204" pitchFamily="18" charset="0"/>
                <a:ea typeface="华文细黑" panose="02010600040101010101" pitchFamily="2" charset="-122"/>
              </a:rPr>
              <a:t>）</a:t>
            </a:r>
            <a:endParaRPr lang="zh-CN"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条形图</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3FBFFB64-79E0-D5D0-A48C-7751BCE1EEB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575749800"/>
      </p:ext>
    </p:extLst>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0" y="1656773"/>
            <a:ext cx="10848749" cy="13505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1700" b="1" kern="0" dirty="0">
                <a:effectLst/>
                <a:latin typeface="Cambria" panose="02040503050406030204" pitchFamily="18" charset="0"/>
                <a:ea typeface="华文细黑" panose="02010600040101010101" pitchFamily="2" charset="-122"/>
                <a:cs typeface="Times New Roman" panose="02020603050405020304" pitchFamily="18" charset="0"/>
              </a:rPr>
              <a:t>单变量条形图</a:t>
            </a:r>
            <a:r>
              <a:rPr lang="en-US" altLang="zh-CN" sz="1700" b="1"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700" kern="0" dirty="0">
                <a:effectLst/>
                <a:latin typeface="Cambria" panose="02040503050406030204" pitchFamily="18" charset="0"/>
                <a:ea typeface="华文细黑" panose="02010600040101010101" pitchFamily="2" charset="-122"/>
                <a:cs typeface="Times New Roman" panose="02020603050405020304" pitchFamily="18" charset="0"/>
              </a:rPr>
              <a:t>根据一个类别变量或一维表绘制的条形图，它是用一个坐标轴表示各类别、另一个坐标轴表示类别对应的数值绘制的条形图</a:t>
            </a:r>
            <a:endParaRPr lang="en-US" altLang="zh-CN" sz="17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kern="0" dirty="0">
                <a:effectLst/>
                <a:latin typeface="Cambria" panose="02040503050406030204" pitchFamily="18" charset="0"/>
                <a:ea typeface="华文细黑" panose="02010600040101010101" pitchFamily="2" charset="-122"/>
                <a:cs typeface="Times New Roman" panose="02020603050405020304" pitchFamily="18" charset="0"/>
              </a:rPr>
              <a:t>普通条形图一般是用条的高度或长度表示各类别数值的多少，各类别条的宽度是相同，且不添加数值标签</a:t>
            </a:r>
            <a:endParaRPr lang="zh-CN" altLang="zh-CN" sz="17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单</a:t>
            </a:r>
            <a:r>
              <a:rPr lang="zh-CN" altLang="en-US" sz="2600" b="1" dirty="0">
                <a:solidFill>
                  <a:srgbClr val="002060"/>
                </a:solidFill>
                <a:ea typeface="华文细黑" panose="02010600040101010101" pitchFamily="2" charset="-122"/>
              </a:rPr>
              <a:t>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普通条形图</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733651" y="3098800"/>
            <a:ext cx="1958749" cy="326136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 】</a:t>
            </a:r>
            <a:r>
              <a:rPr lang="en-US" altLang="zh-CN" sz="2000" dirty="0">
                <a:latin typeface="Cambria" panose="02040503050406030204" pitchFamily="18" charset="0"/>
                <a:ea typeface="Cambria" panose="02040503050406030204" pitchFamily="18" charset="0"/>
              </a:rPr>
              <a:t>——</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随机</a:t>
            </a: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调查</a:t>
            </a:r>
            <a:r>
              <a:rPr lang="en-US" altLang="zh-CN" sz="1800" dirty="0">
                <a:effectLst/>
                <a:latin typeface="Calibri" panose="020F0502020204030204" pitchFamily="34" charset="0"/>
                <a:ea typeface="华文细黑" panose="02010600040101010101" pitchFamily="2" charset="-122"/>
                <a:cs typeface="Times New Roman" panose="02020603050405020304" pitchFamily="18" charset="0"/>
              </a:rPr>
              <a:t>2000</a:t>
            </a: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个消费者</a:t>
            </a:r>
            <a:r>
              <a:rPr lang="zh-CN" altLang="zh-CN" sz="1800" dirty="0">
                <a:latin typeface="Calibri" panose="020F0502020204030204" pitchFamily="34" charset="0"/>
                <a:ea typeface="华文细黑" panose="02010600040101010101" pitchFamily="2" charset="-122"/>
                <a:cs typeface="Times New Roman" panose="02020603050405020304" pitchFamily="18" charset="0"/>
              </a:rPr>
              <a:t>，得到网购情况的</a:t>
            </a:r>
            <a:r>
              <a:rPr lang="zh-CN" altLang="zh-CN" sz="1800" dirty="0">
                <a:effectLst/>
                <a:latin typeface="Calibri" panose="020F0502020204030204" pitchFamily="34" charset="0"/>
                <a:ea typeface="华文细黑" panose="02010600040101010101" pitchFamily="2" charset="-122"/>
                <a:cs typeface="Times New Roman" panose="02020603050405020304" pitchFamily="18" charset="0"/>
              </a:rPr>
              <a:t>数据。分别绘制性别、网购原因和满意度的条形图</a:t>
            </a:r>
            <a:endParaRPr lang="zh-CN" altLang="zh-CN" sz="2000" dirty="0">
              <a:latin typeface="Cambria" panose="02040503050406030204" pitchFamily="18" charset="0"/>
              <a:ea typeface="华文细黑" panose="02010600040101010101" pitchFamily="2" charset="-122"/>
            </a:endParaRPr>
          </a:p>
        </p:txBody>
      </p:sp>
      <p:sp>
        <p:nvSpPr>
          <p:cNvPr id="4" name="Rectangle 2">
            <a:extLst>
              <a:ext uri="{FF2B5EF4-FFF2-40B4-BE49-F238E27FC236}">
                <a16:creationId xmlns:a16="http://schemas.microsoft.com/office/drawing/2014/main" id="{24D3CF1C-0FB7-C841-7B3B-C2A4E5C21FE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graphicFrame>
        <p:nvGraphicFramePr>
          <p:cNvPr id="2" name="表格 1">
            <a:extLst>
              <a:ext uri="{FF2B5EF4-FFF2-40B4-BE49-F238E27FC236}">
                <a16:creationId xmlns:a16="http://schemas.microsoft.com/office/drawing/2014/main" id="{3E8DDE67-D999-4B7E-81B0-BD46B5162F1E}"/>
              </a:ext>
            </a:extLst>
          </p:cNvPr>
          <p:cNvGraphicFramePr>
            <a:graphicFrameLocks noGrp="1"/>
          </p:cNvGraphicFramePr>
          <p:nvPr>
            <p:extLst>
              <p:ext uri="{D42A27DB-BD31-4B8C-83A1-F6EECF244321}">
                <p14:modId xmlns:p14="http://schemas.microsoft.com/office/powerpoint/2010/main" val="2079163496"/>
              </p:ext>
            </p:extLst>
          </p:nvPr>
        </p:nvGraphicFramePr>
        <p:xfrm>
          <a:off x="2798873" y="3098800"/>
          <a:ext cx="8783525" cy="3261360"/>
        </p:xfrm>
        <a:graphic>
          <a:graphicData uri="http://schemas.openxmlformats.org/drawingml/2006/table">
            <a:tbl>
              <a:tblPr firstRow="1" firstCol="1" bandRow="1">
                <a:tableStyleId>{5C22544A-7EE6-4342-B048-85BDC9FD1C3A}</a:tableStyleId>
              </a:tblPr>
              <a:tblGrid>
                <a:gridCol w="2927473">
                  <a:extLst>
                    <a:ext uri="{9D8B030D-6E8A-4147-A177-3AD203B41FA5}">
                      <a16:colId xmlns:a16="http://schemas.microsoft.com/office/drawing/2014/main" val="2381882252"/>
                    </a:ext>
                  </a:extLst>
                </a:gridCol>
                <a:gridCol w="2927473">
                  <a:extLst>
                    <a:ext uri="{9D8B030D-6E8A-4147-A177-3AD203B41FA5}">
                      <a16:colId xmlns:a16="http://schemas.microsoft.com/office/drawing/2014/main" val="3694301752"/>
                    </a:ext>
                  </a:extLst>
                </a:gridCol>
                <a:gridCol w="2928579">
                  <a:extLst>
                    <a:ext uri="{9D8B030D-6E8A-4147-A177-3AD203B41FA5}">
                      <a16:colId xmlns:a16="http://schemas.microsoft.com/office/drawing/2014/main" val="4272250837"/>
                    </a:ext>
                  </a:extLst>
                </a:gridCol>
              </a:tblGrid>
              <a:tr h="407670">
                <a:tc>
                  <a:txBody>
                    <a:bodyPr/>
                    <a:lstStyle/>
                    <a:p>
                      <a:pPr indent="228600" algn="ctr">
                        <a:lnSpc>
                          <a:spcPct val="115000"/>
                        </a:lnSpc>
                      </a:pPr>
                      <a:r>
                        <a:rPr lang="zh-CN" sz="1600" b="1">
                          <a:effectLst/>
                        </a:rPr>
                        <a:t>性别</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网购原因</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满意度</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152077158"/>
                  </a:ext>
                </a:extLst>
              </a:tr>
              <a:tr h="407670">
                <a:tc>
                  <a:txBody>
                    <a:bodyPr/>
                    <a:lstStyle/>
                    <a:p>
                      <a:pPr indent="228600" algn="ctr">
                        <a:lnSpc>
                          <a:spcPct val="115000"/>
                        </a:lnSpc>
                      </a:pPr>
                      <a:r>
                        <a:rPr lang="zh-CN" sz="1600" b="1">
                          <a:effectLst/>
                        </a:rPr>
                        <a:t>女</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方便</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满意</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3693164281"/>
                  </a:ext>
                </a:extLst>
              </a:tr>
              <a:tr h="407670">
                <a:tc>
                  <a:txBody>
                    <a:bodyPr/>
                    <a:lstStyle/>
                    <a:p>
                      <a:pPr indent="228600" algn="ctr">
                        <a:lnSpc>
                          <a:spcPct val="115000"/>
                        </a:lnSpc>
                      </a:pPr>
                      <a:r>
                        <a:rPr lang="zh-CN" sz="1600" b="1">
                          <a:effectLst/>
                        </a:rPr>
                        <a:t>男</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价格便宜</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不满意</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593148599"/>
                  </a:ext>
                </a:extLst>
              </a:tr>
              <a:tr h="407670">
                <a:tc>
                  <a:txBody>
                    <a:bodyPr/>
                    <a:lstStyle/>
                    <a:p>
                      <a:pPr indent="228600" algn="ctr">
                        <a:lnSpc>
                          <a:spcPct val="115000"/>
                        </a:lnSpc>
                      </a:pPr>
                      <a:r>
                        <a:rPr lang="zh-CN" sz="1600" b="1">
                          <a:effectLst/>
                        </a:rPr>
                        <a:t>女</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价格便宜</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不满意</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830559190"/>
                  </a:ext>
                </a:extLst>
              </a:tr>
              <a:tr h="407670">
                <a:tc>
                  <a:txBody>
                    <a:bodyPr/>
                    <a:lstStyle/>
                    <a:p>
                      <a:pPr indent="228600"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en-US" sz="1600" b="1">
                          <a:effectLst/>
                        </a:rPr>
                        <a:t>……</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1808698323"/>
                  </a:ext>
                </a:extLst>
              </a:tr>
              <a:tr h="407670">
                <a:tc>
                  <a:txBody>
                    <a:bodyPr/>
                    <a:lstStyle/>
                    <a:p>
                      <a:pPr indent="228600" algn="ctr">
                        <a:lnSpc>
                          <a:spcPct val="115000"/>
                        </a:lnSpc>
                      </a:pPr>
                      <a:r>
                        <a:rPr lang="zh-CN" sz="1600" b="1">
                          <a:effectLst/>
                        </a:rPr>
                        <a:t>女</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选择性强</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不满意</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832526271"/>
                  </a:ext>
                </a:extLst>
              </a:tr>
              <a:tr h="407670">
                <a:tc>
                  <a:txBody>
                    <a:bodyPr/>
                    <a:lstStyle/>
                    <a:p>
                      <a:pPr indent="228600" algn="ctr">
                        <a:lnSpc>
                          <a:spcPct val="115000"/>
                        </a:lnSpc>
                      </a:pPr>
                      <a:r>
                        <a:rPr lang="zh-CN" sz="1600" b="1">
                          <a:effectLst/>
                        </a:rPr>
                        <a:t>男</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价格便宜</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中立</a:t>
                      </a:r>
                      <a:endParaRPr lang="zh-CN" sz="1600" b="1">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2219030323"/>
                  </a:ext>
                </a:extLst>
              </a:tr>
              <a:tr h="407670">
                <a:tc>
                  <a:txBody>
                    <a:bodyPr/>
                    <a:lstStyle/>
                    <a:p>
                      <a:pPr indent="228600" algn="ctr">
                        <a:lnSpc>
                          <a:spcPct val="115000"/>
                        </a:lnSpc>
                      </a:pPr>
                      <a:r>
                        <a:rPr lang="zh-CN" sz="1600" b="1">
                          <a:effectLst/>
                        </a:rPr>
                        <a:t>女</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a:effectLst/>
                        </a:rPr>
                        <a:t>方便</a:t>
                      </a:r>
                      <a:endParaRPr lang="zh-CN" sz="1600" b="1">
                        <a:effectLst/>
                        <a:latin typeface="Times New Roman" panose="02020603050405020304" pitchFamily="18" charset="0"/>
                        <a:ea typeface="宋体" panose="02010600030101010101" pitchFamily="2" charset="-122"/>
                      </a:endParaRPr>
                    </a:p>
                  </a:txBody>
                  <a:tcPr marL="68580" marR="68580" marT="0" marB="0" anchor="ctr"/>
                </a:tc>
                <a:tc>
                  <a:txBody>
                    <a:bodyPr/>
                    <a:lstStyle/>
                    <a:p>
                      <a:pPr indent="228600" algn="ctr">
                        <a:lnSpc>
                          <a:spcPct val="115000"/>
                        </a:lnSpc>
                      </a:pPr>
                      <a:r>
                        <a:rPr lang="zh-CN" sz="1600" b="1" dirty="0">
                          <a:effectLst/>
                        </a:rPr>
                        <a:t>不满意</a:t>
                      </a:r>
                      <a:endParaRPr lang="zh-CN" sz="1600" b="1" dirty="0">
                        <a:effectLst/>
                        <a:latin typeface="Times New Roman" panose="02020603050405020304" pitchFamily="18" charset="0"/>
                        <a:ea typeface="宋体" panose="02010600030101010101" pitchFamily="2" charset="-122"/>
                      </a:endParaRPr>
                    </a:p>
                  </a:txBody>
                  <a:tcPr marL="68580" marR="68580" marT="0" marB="0" anchor="ctr"/>
                </a:tc>
                <a:extLst>
                  <a:ext uri="{0D108BD9-81ED-4DB2-BD59-A6C34878D82A}">
                    <a16:rowId xmlns:a16="http://schemas.microsoft.com/office/drawing/2014/main" val="497228115"/>
                  </a:ext>
                </a:extLst>
              </a:tr>
            </a:tbl>
          </a:graphicData>
        </a:graphic>
      </p:graphicFrame>
    </p:spTree>
    <p:extLst>
      <p:ext uri="{BB962C8B-B14F-4D97-AF65-F5344CB8AC3E}">
        <p14:creationId xmlns:p14="http://schemas.microsoft.com/office/powerpoint/2010/main" val="987566859"/>
      </p:ext>
    </p:extLst>
  </p:cSld>
  <p:clrMapOvr>
    <a:masterClrMapping/>
  </p:clrMapOvr>
  <p:transition>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a:solidFill>
                  <a:srgbClr val="002060"/>
                </a:solidFill>
                <a:ea typeface="华文细黑" panose="02010600040101010101" pitchFamily="2" charset="-122"/>
              </a:rPr>
              <a:t>       单</a:t>
            </a:r>
            <a:r>
              <a:rPr lang="zh-CN" altLang="en-US" sz="2600" b="1" dirty="0">
                <a:solidFill>
                  <a:srgbClr val="002060"/>
                </a:solidFill>
                <a:ea typeface="华文细黑" panose="02010600040101010101" pitchFamily="2" charset="-122"/>
              </a:rPr>
              <a:t>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普通条形图</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733651" y="1696720"/>
            <a:ext cx="10848748" cy="67056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 】</a:t>
            </a:r>
            <a:r>
              <a:rPr lang="en-US" altLang="zh-CN" sz="2000" dirty="0">
                <a:latin typeface="Cambria" panose="02040503050406030204" pitchFamily="18" charset="0"/>
                <a:ea typeface="Cambria" panose="02040503050406030204" pitchFamily="18" charset="0"/>
              </a:rPr>
              <a:t>——</a:t>
            </a:r>
            <a:r>
              <a:rPr lang="en-US" altLang="zh-CN" sz="2000" kern="0" dirty="0" err="1">
                <a:effectLst/>
                <a:latin typeface="Cambria" panose="02040503050406030204" pitchFamily="18" charset="0"/>
                <a:ea typeface="华文细黑" panose="02010600040101010101" pitchFamily="2" charset="-122"/>
                <a:cs typeface="Times New Roman" panose="02020603050405020304" pitchFamily="18" charset="0"/>
              </a:rPr>
              <a:t>geom_bar</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函数绘制的条形图</a:t>
            </a:r>
            <a:endParaRPr lang="zh-CN" altLang="zh-CN" sz="2000" dirty="0">
              <a:latin typeface="Cambria" panose="02040503050406030204" pitchFamily="18" charset="0"/>
              <a:ea typeface="华文细黑" panose="02010600040101010101" pitchFamily="2" charset="-122"/>
            </a:endParaRPr>
          </a:p>
        </p:txBody>
      </p:sp>
      <p:pic>
        <p:nvPicPr>
          <p:cNvPr id="5" name="图片 4">
            <a:extLst>
              <a:ext uri="{FF2B5EF4-FFF2-40B4-BE49-F238E27FC236}">
                <a16:creationId xmlns:a16="http://schemas.microsoft.com/office/drawing/2014/main" id="{2E2C7CB4-EB09-0852-C0B5-461DDC31BD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652" y="2501016"/>
            <a:ext cx="10848748" cy="3859144"/>
          </a:xfrm>
          <a:prstGeom prst="rect">
            <a:avLst/>
          </a:prstGeom>
          <a:noFill/>
          <a:ln w="6350">
            <a:solidFill>
              <a:schemeClr val="bg1">
                <a:lumMod val="75000"/>
              </a:schemeClr>
            </a:solidFill>
          </a:ln>
        </p:spPr>
      </p:pic>
      <p:sp>
        <p:nvSpPr>
          <p:cNvPr id="4" name="Rectangle 2">
            <a:extLst>
              <a:ext uri="{FF2B5EF4-FFF2-40B4-BE49-F238E27FC236}">
                <a16:creationId xmlns:a16="http://schemas.microsoft.com/office/drawing/2014/main" id="{24D3CF1C-0FB7-C841-7B3B-C2A4E5C21FE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2464979844"/>
      </p:ext>
    </p:extLst>
  </p:cSld>
  <p:clrMapOvr>
    <a:masterClrMapping/>
  </p:clrMapOvr>
  <p:transition>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1" y="1656772"/>
            <a:ext cx="3056029" cy="472370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中的</a:t>
            </a:r>
            <a:r>
              <a:rPr lang="en-US" altLang="zh-CN" sz="1800" kern="0" dirty="0" err="1">
                <a:effectLst/>
                <a:latin typeface="Cambria" panose="02040503050406030204" pitchFamily="18" charset="0"/>
                <a:ea typeface="华文细黑" panose="02010600040101010101" pitchFamily="2" charset="-122"/>
                <a:cs typeface="Times New Roman" panose="02020603050405020304" pitchFamily="18" charset="0"/>
              </a:rPr>
              <a:t>geom_bar</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函数绘制条形图时，默认绘图数据是原始类别变量，函数按行计数（</a:t>
            </a:r>
            <a:r>
              <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rPr>
              <a:t>count</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）绘制条形图</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要给条形图添加数值标签，绘图数据需要由类别及其对应数值构成的数据框，然后使用</a:t>
            </a:r>
            <a:r>
              <a:rPr lang="en-US" altLang="zh-CN" sz="1800" kern="0" dirty="0" err="1">
                <a:effectLst/>
                <a:latin typeface="Cambria" panose="02040503050406030204" pitchFamily="18" charset="0"/>
                <a:ea typeface="华文细黑" panose="02010600040101010101" pitchFamily="2" charset="-122"/>
                <a:cs typeface="Times New Roman" panose="02020603050405020304" pitchFamily="18" charset="0"/>
              </a:rPr>
              <a:t>geom_text</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函数添加标签</a:t>
            </a:r>
            <a:endParaRPr lang="zh-CN" altLang="zh-CN" sz="18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单变量条形图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添加数值标签</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3982720" y="1656773"/>
            <a:ext cx="7599679" cy="6901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 】</a:t>
            </a:r>
            <a:r>
              <a:rPr lang="en-US" altLang="zh-CN" sz="2000" dirty="0">
                <a:latin typeface="Cambria" panose="02040503050406030204" pitchFamily="18" charset="0"/>
                <a:ea typeface="Cambria" panose="02040503050406030204" pitchFamily="18" charset="0"/>
              </a:rPr>
              <a:t>——</a:t>
            </a:r>
            <a:r>
              <a:rPr lang="en-US" altLang="zh-CN" sz="2000" kern="0" dirty="0" err="1">
                <a:effectLst/>
                <a:latin typeface="Cambria" panose="02040503050406030204" pitchFamily="18" charset="0"/>
                <a:ea typeface="华文细黑" panose="02010600040101010101" pitchFamily="2" charset="-122"/>
                <a:cs typeface="Times New Roman" panose="02020603050405020304" pitchFamily="18" charset="0"/>
              </a:rPr>
              <a:t>geom_bar</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函数绘制的条形图</a:t>
            </a:r>
            <a:endParaRPr lang="zh-CN" altLang="zh-CN" sz="20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401D5CBE-1E7B-4469-68F1-A8478A77D12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982720" y="2586989"/>
            <a:ext cx="7599679" cy="3793489"/>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AE43E395-CC6E-D2A6-4161-D6ECF37B125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1357185482"/>
      </p:ext>
    </p:extLst>
  </p:cSld>
  <p:clrMapOvr>
    <a:masterClrMapping/>
  </p:clrMapOvr>
  <p:transition>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0" y="1656772"/>
            <a:ext cx="4854350" cy="467290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latin typeface="Cambria" panose="02040503050406030204" pitchFamily="18" charset="0"/>
                <a:ea typeface="华文细黑" panose="02010600040101010101" pitchFamily="2" charset="-122"/>
                <a:cs typeface="Times New Roman" panose="02020603050405020304" pitchFamily="18" charset="0"/>
              </a:rPr>
              <a:t>有多个样本的同类数据时，可以将多个样本的单变量条形图以分面形式绘制</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3-2</a:t>
            </a: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a:t>
            </a:r>
            <a:r>
              <a:rPr lang="en-US" altLang="zh-CN" sz="2200" dirty="0">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cs typeface="Times New Roman" panose="02020603050405020304" pitchFamily="18" charset="0"/>
              </a:rPr>
              <a:t> </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2023</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年北京、天津、上海和重庆的居民人均消费支出数据。绘制分面条形并进行比较分析</a:t>
            </a:r>
            <a:endParaRPr lang="zh-CN" altLang="zh-CN" sz="22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单变量条形图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图形分面</a:t>
            </a:r>
            <a:endParaRPr lang="en-US" altLang="zh-CN" sz="2600" b="1" dirty="0">
              <a:solidFill>
                <a:srgbClr val="002060"/>
              </a:solidFill>
              <a:ea typeface="华文细黑" panose="02010600040101010101" pitchFamily="2" charset="-122"/>
            </a:endParaRPr>
          </a:p>
        </p:txBody>
      </p:sp>
      <p:pic>
        <p:nvPicPr>
          <p:cNvPr id="2" name="图片 1">
            <a:extLst>
              <a:ext uri="{FF2B5EF4-FFF2-40B4-BE49-F238E27FC236}">
                <a16:creationId xmlns:a16="http://schemas.microsoft.com/office/drawing/2014/main" id="{4A933D51-8547-FF5F-34A2-9A017B55A81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740082" y="1656771"/>
            <a:ext cx="5718268" cy="4672907"/>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2C8DADD0-E189-85E2-EBBB-E8C1D46736D0}"/>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3649632554"/>
      </p:ext>
    </p:extLst>
  </p:cSld>
  <p:clrMapOvr>
    <a:masterClrMapping/>
  </p:clrMapOvr>
  <p:transition>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56772"/>
            <a:ext cx="10783434" cy="472370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kern="0" dirty="0">
                <a:effectLst/>
                <a:latin typeface="Cambria" panose="02040503050406030204" pitchFamily="18" charset="0"/>
                <a:ea typeface="华文细黑" panose="02010600040101010101" pitchFamily="2" charset="-122"/>
                <a:cs typeface="Times New Roman" panose="02020603050405020304" pitchFamily="18" charset="0"/>
              </a:rPr>
              <a:t>用于展示两个或两个以上类别变量的绝对数值或百分比</a:t>
            </a:r>
            <a:endParaRPr lang="en-US" altLang="zh-CN" sz="24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kern="0" dirty="0">
                <a:effectLst/>
                <a:latin typeface="Cambria" panose="02040503050406030204" pitchFamily="18" charset="0"/>
                <a:ea typeface="华文细黑" panose="02010600040101010101" pitchFamily="2" charset="-122"/>
                <a:cs typeface="Times New Roman" panose="02020603050405020304" pitchFamily="18" charset="0"/>
              </a:rPr>
              <a:t>绘图数据可以是多个原始的类别变量，也可以是二维或多维列联表、带有对应数值标签的向量或数据框</a:t>
            </a:r>
            <a:endParaRPr lang="en-US" altLang="zh-CN" sz="24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kern="0" dirty="0">
                <a:effectLst/>
                <a:latin typeface="Cambria" panose="02040503050406030204" pitchFamily="18" charset="0"/>
                <a:ea typeface="华文细黑" panose="02010600040101010101" pitchFamily="2" charset="-122"/>
                <a:cs typeface="Times New Roman" panose="02020603050405020304" pitchFamily="18" charset="0"/>
              </a:rPr>
              <a:t>要展示各类别的绝对值，可以绘制并列条形图、堆叠条形图等；要展示类别数值构成，可以绘制比例条形图或百分比条形图等；要展示各类别变量的层次结构，可以绘制嵌套条形图；要分析类别变量之间的关系，可以绘制带检验信息的条形图</a:t>
            </a:r>
            <a:endParaRPr lang="zh-CN" altLang="zh-CN" sz="24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E4193203-8D97-A259-87E9-EC97DF69660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1693232897"/>
      </p:ext>
    </p:extLst>
  </p:cSld>
  <p:clrMapOvr>
    <a:masterClrMapping/>
  </p:clrMapOvr>
  <p:transition>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690881" y="1646614"/>
            <a:ext cx="3789680" cy="394138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500" b="1" kern="0" dirty="0">
                <a:effectLst/>
                <a:latin typeface="Cambria" panose="02040503050406030204" pitchFamily="18" charset="0"/>
                <a:ea typeface="华文细黑" panose="02010600040101010101" pitchFamily="2" charset="-122"/>
                <a:cs typeface="Times New Roman" panose="02020603050405020304" pitchFamily="18" charset="0"/>
              </a:rPr>
              <a:t>并列条形图和堆叠条形图。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根据绘制方式的不同，展示各类别绝对值的条形图有</a:t>
            </a:r>
            <a:r>
              <a:rPr lang="zh-CN" altLang="zh-CN" sz="15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并列条形图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500" kern="0" dirty="0">
                <a:effectLst/>
                <a:latin typeface="Cambria" panose="02040503050406030204" pitchFamily="18" charset="0"/>
                <a:ea typeface="华文细黑" panose="02010600040101010101" pitchFamily="2" charset="-122"/>
                <a:cs typeface="Times New Roman" panose="02020603050405020304" pitchFamily="18" charset="0"/>
              </a:rPr>
              <a:t>juxtaposed bar plot</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）和</a:t>
            </a:r>
            <a:r>
              <a:rPr lang="zh-CN" altLang="zh-CN" sz="15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堆叠条形图</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500" kern="0" dirty="0">
                <a:effectLst/>
                <a:latin typeface="Cambria" panose="02040503050406030204" pitchFamily="18" charset="0"/>
                <a:ea typeface="华文细黑" panose="02010600040101010101" pitchFamily="2" charset="-122"/>
                <a:cs typeface="Times New Roman" panose="02020603050405020304" pitchFamily="18" charset="0"/>
              </a:rPr>
              <a:t>stacked bar plot</a:t>
            </a: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）等</a:t>
            </a:r>
            <a:endParaRPr lang="en-US" altLang="zh-CN" sz="15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500" kern="0" dirty="0">
                <a:effectLst/>
                <a:latin typeface="Cambria" panose="02040503050406030204" pitchFamily="18" charset="0"/>
                <a:ea typeface="华文细黑" panose="02010600040101010101" pitchFamily="2" charset="-122"/>
                <a:cs typeface="Times New Roman" panose="02020603050405020304" pitchFamily="18" charset="0"/>
              </a:rPr>
              <a:t>并列条形图中，一个类别变量作为坐标轴，另一个类别变量各类别数值的条形并列摆放；在堆叠条形图中，一个类别变量作为坐标轴，另一个类别变量各类别数值按比例堆叠在同一个条中</a:t>
            </a:r>
            <a:endParaRPr lang="zh-CN" altLang="zh-CN" sz="15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展示绝对值</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690882" y="5506720"/>
            <a:ext cx="3789679" cy="84328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a:t>
            </a:r>
            <a:r>
              <a:rPr lang="en-US" altLang="zh-CN" sz="1600" dirty="0">
                <a:latin typeface="Cambria" panose="02040503050406030204" pitchFamily="18" charset="0"/>
                <a:ea typeface="Cambria" panose="02040503050406030204" pitchFamily="18" charset="0"/>
              </a:rPr>
              <a:t>—</a:t>
            </a:r>
            <a:r>
              <a:rPr lang="en-US" altLang="zh-CN" sz="1600" kern="0" dirty="0" err="1">
                <a:effectLst/>
                <a:latin typeface="Cambria" panose="02040503050406030204" pitchFamily="18" charset="0"/>
                <a:ea typeface="华文细黑" panose="02010600040101010101" pitchFamily="2" charset="-122"/>
                <a:cs typeface="Times New Roman" panose="02020603050405020304" pitchFamily="18" charset="0"/>
              </a:rPr>
              <a:t>geom_</a:t>
            </a:r>
            <a:r>
              <a:rPr lang="en-US" altLang="zh-CN" sz="1600" kern="0" dirty="0" err="1">
                <a:latin typeface="Cambria" panose="02040503050406030204" pitchFamily="18" charset="0"/>
                <a:ea typeface="华文细黑" panose="02010600040101010101" pitchFamily="2" charset="-122"/>
                <a:cs typeface="Times New Roman" panose="02020603050405020304" pitchFamily="18" charset="0"/>
              </a:rPr>
              <a:t>col</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函数绘制的并列条形图和堆叠条形图如图</a:t>
            </a:r>
            <a:endParaRPr lang="zh-CN" altLang="zh-CN" sz="16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B6A0D770-0B14-6796-48B3-62CED795DC5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82160" y="1656774"/>
            <a:ext cx="7112000" cy="4693226"/>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1776DC71-F905-BA3E-7279-BC76E49875EC}"/>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3404794616"/>
      </p:ext>
    </p:extLst>
  </p:cSld>
  <p:clrMapOvr>
    <a:masterClrMapping/>
  </p:clrMapOvr>
  <p:transition>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56773"/>
            <a:ext cx="10869068" cy="12997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轴交互分类的并列条形图和堆叠条形图</a:t>
            </a:r>
            <a:endParaRPr lang="en-US" altLang="zh-CN" sz="1600" kern="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如果有</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3</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个或以上的类别变量，想绘制一幅条形图，可以使用多个变量交互分类的方式来设置分类轴，用另一个变量对交互分类轴上的变量再进行分类</a:t>
            </a:r>
            <a:endParaRPr lang="zh-CN" altLang="zh-CN" sz="16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展示绝对值</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733652" y="3050349"/>
            <a:ext cx="2080668" cy="333142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highlight>
                  <a:srgbClr val="008080"/>
                </a:highlight>
                <a:latin typeface="Cambria" panose="02040503050406030204" pitchFamily="18" charset="0"/>
                <a:ea typeface="Cambria" panose="02040503050406030204" pitchFamily="18" charset="0"/>
              </a:rPr>
              <a:t> 3-1】</a:t>
            </a:r>
            <a:r>
              <a:rPr lang="en-US" altLang="zh-CN" sz="2000" dirty="0">
                <a:latin typeface="Cambria" panose="02040503050406030204" pitchFamily="18" charset="0"/>
                <a:ea typeface="Cambria" panose="02040503050406030204" pitchFamily="18" charset="0"/>
              </a:rPr>
              <a:t>—</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性别、网购原因和满意度</a:t>
            </a:r>
            <a:r>
              <a:rPr lang="zh-CN" altLang="en-US" sz="2000" kern="0" dirty="0">
                <a:effectLst/>
                <a:latin typeface="Cambria" panose="02040503050406030204" pitchFamily="18" charset="0"/>
                <a:ea typeface="华文细黑" panose="02010600040101010101" pitchFamily="2" charset="-122"/>
                <a:cs typeface="Times New Roman" panose="02020603050405020304" pitchFamily="18" charset="0"/>
              </a:rPr>
              <a:t>的</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en-US" sz="2000" kern="0" dirty="0">
                <a:effectLst/>
                <a:latin typeface="Cambria" panose="02040503050406030204" pitchFamily="18" charset="0"/>
                <a:ea typeface="华文细黑" panose="02010600040101010101" pitchFamily="2" charset="-122"/>
                <a:cs typeface="Times New Roman" panose="02020603050405020304" pitchFamily="18" charset="0"/>
              </a:rPr>
              <a:t>轴交叉分类条形图</a:t>
            </a:r>
            <a:endParaRPr lang="zh-CN" altLang="zh-CN" sz="2000" dirty="0">
              <a:latin typeface="Cambria" panose="02040503050406030204" pitchFamily="18" charset="0"/>
              <a:ea typeface="华文细黑" panose="02010600040101010101" pitchFamily="2" charset="-122"/>
            </a:endParaRPr>
          </a:p>
        </p:txBody>
      </p:sp>
      <p:pic>
        <p:nvPicPr>
          <p:cNvPr id="4" name="图片 3">
            <a:extLst>
              <a:ext uri="{FF2B5EF4-FFF2-40B4-BE49-F238E27FC236}">
                <a16:creationId xmlns:a16="http://schemas.microsoft.com/office/drawing/2014/main" id="{B0C30B4A-24B8-7ABB-28BC-AF382A2321E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56560" y="3050349"/>
            <a:ext cx="8646160" cy="3331420"/>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61EFD64B-D554-AC7B-4073-C289EB656DB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2656427091"/>
      </p:ext>
    </p:extLst>
  </p:cSld>
  <p:clrMapOvr>
    <a:masterClrMapping/>
  </p:clrMapOvr>
  <p:transition>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56772"/>
            <a:ext cx="2476908" cy="467756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en-US" sz="16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不等宽</a:t>
            </a:r>
            <a:r>
              <a:rPr lang="zh-CN" altLang="zh-CN" sz="16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条形图</a:t>
            </a:r>
            <a:endParaRPr lang="en-US" altLang="zh-CN" sz="1600"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普通条形图每个条的宽度都是相同的</a:t>
            </a:r>
            <a:endPar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对于两个类别变量或二维列联表，可以用一个变量各类别条形的宽度表示样本量，另一个类别变量的各类别以并列或堆叠的方式绘制条形图，这样的条形图就是不等宽条形图</a:t>
            </a:r>
            <a:endParaRPr lang="zh-CN" altLang="zh-CN" sz="16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不等宽条形图</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3373120" y="1656773"/>
            <a:ext cx="8300720" cy="50394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网购原因和满意度的不等宽并列条形图和堆叠条形图</a:t>
            </a:r>
          </a:p>
        </p:txBody>
      </p:sp>
      <p:pic>
        <p:nvPicPr>
          <p:cNvPr id="4" name="图片 3">
            <a:extLst>
              <a:ext uri="{FF2B5EF4-FFF2-40B4-BE49-F238E27FC236}">
                <a16:creationId xmlns:a16="http://schemas.microsoft.com/office/drawing/2014/main" id="{39F48A60-002E-D5CF-C4F2-B537BB4BBA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73120" y="2310446"/>
            <a:ext cx="8300720" cy="4009073"/>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5C837CA9-CC1D-2294-13DD-D139AB185503}"/>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2735450482"/>
      </p:ext>
    </p:extLst>
  </p:cSld>
  <p:clrMapOvr>
    <a:masterClrMapping/>
  </p:clrMapOvr>
  <p:transition>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56772"/>
            <a:ext cx="10761662" cy="467290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比例条形图</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Proportional bar chart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）。将每个类别条的高度均设定为</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1</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绘制的条形图</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条的宽度可以相等，也可以不相等。条宽不相等的比例条形图也称</a:t>
            </a:r>
            <a:r>
              <a:rPr lang="zh-CN" altLang="zh-CN" sz="2200" b="1" kern="0" dirty="0">
                <a:effectLst/>
                <a:latin typeface="Cambria" panose="02040503050406030204" pitchFamily="18" charset="0"/>
                <a:ea typeface="华文细黑" panose="02010600040101010101" pitchFamily="2" charset="-122"/>
                <a:cs typeface="Times New Roman" panose="02020603050405020304" pitchFamily="18" charset="0"/>
              </a:rPr>
              <a:t>脊形图</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spine plot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），或称比例堆叠条形图，它是根据各类别数值比例绘制的一种不等宽条形图，其中条的宽度与各类别的数值成正比，条内堆叠矩形的高度表示另一个类别变量各类别的数值比例</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脊形图可以根据两个类别变量绘制，也可以根据多个类别变量绘制。</a:t>
            </a:r>
            <a:endParaRPr lang="zh-CN" altLang="zh-CN" sz="2200" dirty="0">
              <a:ea typeface="华文细黑" panose="02010600040101010101" pitchFamily="2" charset="-122"/>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展示</a:t>
            </a:r>
            <a:r>
              <a:rPr lang="zh-CN" altLang="zh-CN" sz="2600" b="1" dirty="0">
                <a:solidFill>
                  <a:srgbClr val="002060"/>
                </a:solidFill>
                <a:ea typeface="华文细黑" panose="02010600040101010101" pitchFamily="2" charset="-122"/>
              </a:rPr>
              <a:t>数值比例或百分比</a:t>
            </a: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DD74A19A-C453-519E-5C5B-3AF664B25C3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570285649"/>
      </p:ext>
    </p:extLst>
  </p:cSld>
  <p:clrMapOvr>
    <a:masterClrMapping/>
  </p:clrMapOvr>
  <p:transition>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56772"/>
            <a:ext cx="4290411" cy="470338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百分比条形图</a:t>
            </a:r>
            <a:r>
              <a:rPr lang="zh-CN" altLang="zh-CN" sz="1800" b="1"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sz="1800" b="1" kern="0" dirty="0">
                <a:latin typeface="Cambria" panose="02040503050406030204" pitchFamily="18" charset="0"/>
                <a:ea typeface="华文细黑" panose="02010600040101010101" pitchFamily="2" charset="-122"/>
                <a:cs typeface="Times New Roman" panose="02020603050405020304" pitchFamily="18" charset="0"/>
              </a:rPr>
              <a:t>percentage bar chart</a:t>
            </a:r>
            <a:r>
              <a:rPr lang="zh-CN" altLang="zh-CN" sz="1800" b="1"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。百分比条形图是用条的高度或长度表示各类别的数值百分比。与脊形图类似，绘制百分比条形图时，每个类别条的高度均设定为</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100%</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，条的宽度可相等，也可以不相等</a:t>
            </a: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kern="0" dirty="0">
                <a:latin typeface="Cambria" panose="02040503050406030204" pitchFamily="18" charset="0"/>
                <a:ea typeface="华文细黑" panose="02010600040101010101" pitchFamily="2" charset="-122"/>
                <a:cs typeface="Times New Roman" panose="02020603050405020304" pitchFamily="18" charset="0"/>
              </a:rPr>
              <a:t>普通百分比条形图。</a:t>
            </a:r>
            <a:r>
              <a:rPr lang="zh-CN" altLang="zh-CN" sz="1800" kern="0" dirty="0">
                <a:latin typeface="Cambria" panose="02040503050406030204" pitchFamily="18" charset="0"/>
                <a:ea typeface="华文细黑" panose="02010600040101010101" pitchFamily="2" charset="-122"/>
                <a:cs typeface="Times New Roman" panose="02020603050405020304" pitchFamily="18" charset="0"/>
              </a:rPr>
              <a:t>普通百分比条形图各条的宽度是相等的，堆叠在条内的矩形大小取决于另一个类别的数值百分比</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展示</a:t>
            </a:r>
            <a:r>
              <a:rPr lang="zh-CN" altLang="zh-CN" sz="2600" b="1" dirty="0">
                <a:solidFill>
                  <a:srgbClr val="002060"/>
                </a:solidFill>
                <a:ea typeface="华文细黑" panose="02010600040101010101" pitchFamily="2" charset="-122"/>
              </a:rPr>
              <a:t>数值比例或百分比</a:t>
            </a:r>
            <a:endParaRPr lang="en-US" altLang="zh-CN" sz="2600" b="1" dirty="0">
              <a:solidFill>
                <a:srgbClr val="002060"/>
              </a:solidFill>
              <a:ea typeface="华文细黑" panose="02010600040101010101" pitchFamily="2" charset="-122"/>
            </a:endParaRPr>
          </a:p>
        </p:txBody>
      </p:sp>
      <p:pic>
        <p:nvPicPr>
          <p:cNvPr id="3" name="图片 2">
            <a:extLst>
              <a:ext uri="{FF2B5EF4-FFF2-40B4-BE49-F238E27FC236}">
                <a16:creationId xmlns:a16="http://schemas.microsoft.com/office/drawing/2014/main" id="{F713F04E-E55B-CF6C-7B1C-33544F36E08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280313" y="1656772"/>
            <a:ext cx="6298662" cy="4703388"/>
          </a:xfrm>
          <a:prstGeom prst="rect">
            <a:avLst/>
          </a:prstGeom>
          <a:ln w="6350">
            <a:solidFill>
              <a:schemeClr val="bg1">
                <a:lumMod val="75000"/>
              </a:schemeClr>
            </a:solidFill>
          </a:ln>
        </p:spPr>
      </p:pic>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5347015" y="5754049"/>
            <a:ext cx="957897" cy="49917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a:t>
            </a:r>
            <a:endParaRPr lang="zh-CN" altLang="zh-CN" sz="16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5" name="Rectangle 2">
            <a:extLst>
              <a:ext uri="{FF2B5EF4-FFF2-40B4-BE49-F238E27FC236}">
                <a16:creationId xmlns:a16="http://schemas.microsoft.com/office/drawing/2014/main" id="{8C9F8ED5-CF83-AA05-A1AF-44ECA90BAFE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648301884"/>
      </p:ext>
    </p:extLst>
  </p:cSld>
  <p:clrMapOvr>
    <a:masterClrMapping/>
  </p:clrMapOvr>
  <p:transition>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展示</a:t>
            </a:r>
            <a:r>
              <a:rPr lang="zh-CN" altLang="zh-CN" sz="2600" b="1" dirty="0">
                <a:solidFill>
                  <a:srgbClr val="002060"/>
                </a:solidFill>
                <a:ea typeface="华文细黑" panose="02010600040101010101" pitchFamily="2" charset="-122"/>
              </a:rPr>
              <a:t>数值比例或百分比</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785927" y="1700433"/>
            <a:ext cx="1642313" cy="46394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3-2】</a:t>
            </a:r>
          </a:p>
          <a:p>
            <a:pPr marL="0" indent="0" algn="just" eaLnBrk="0" hangingPunct="0">
              <a:lnSpc>
                <a:spcPct val="150000"/>
              </a:lnSpc>
              <a:spcBef>
                <a:spcPct val="50000"/>
              </a:spcBef>
              <a:buClr>
                <a:srgbClr val="000099"/>
              </a:buClr>
              <a:buNone/>
              <a:defRPr/>
            </a:pP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2023</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年</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4</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个地区居民人均消费支出的百分比条形图</a:t>
            </a:r>
            <a:endParaRPr lang="zh-CN" altLang="zh-CN" sz="2200" kern="0" dirty="0">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409A2E98-750F-B3AB-3668-156558B4BF8F}"/>
              </a:ext>
            </a:extLst>
          </p:cNvPr>
          <p:cNvPicPr>
            <a:picLocks noChangeAspect="1"/>
          </p:cNvPicPr>
          <p:nvPr/>
        </p:nvPicPr>
        <p:blipFill>
          <a:blip r:embed="rId2"/>
          <a:stretch>
            <a:fillRect/>
          </a:stretch>
        </p:blipFill>
        <p:spPr>
          <a:xfrm>
            <a:off x="2550160" y="1700432"/>
            <a:ext cx="9032240" cy="4639405"/>
          </a:xfrm>
          <a:prstGeom prst="rect">
            <a:avLst/>
          </a:prstGeom>
          <a:ln w="6350">
            <a:solidFill>
              <a:schemeClr val="bg1">
                <a:lumMod val="75000"/>
              </a:schemeClr>
            </a:solidFill>
          </a:ln>
        </p:spPr>
      </p:pic>
      <p:sp>
        <p:nvSpPr>
          <p:cNvPr id="5" name="Rectangle 2">
            <a:extLst>
              <a:ext uri="{FF2B5EF4-FFF2-40B4-BE49-F238E27FC236}">
                <a16:creationId xmlns:a16="http://schemas.microsoft.com/office/drawing/2014/main" id="{B3E78E34-72A9-A318-1BD0-177E1271EF9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1932689935"/>
      </p:ext>
    </p:extLst>
  </p:cSld>
  <p:clrMapOvr>
    <a:masterClrMapping/>
  </p:clrMapOvr>
  <p:transition>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56773"/>
            <a:ext cx="3446462" cy="474622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不等宽百分比条形图</a:t>
            </a:r>
            <a:endParaRPr lang="en-US" altLang="zh-CN" sz="22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形图中条的宽度与各类别数值大小成正比，条内堆叠矩形的高度表示另一个类别变量各类别数值</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多变量条形图</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展示</a:t>
            </a:r>
            <a:r>
              <a:rPr lang="zh-CN" altLang="zh-CN" sz="2600" b="1" dirty="0">
                <a:solidFill>
                  <a:srgbClr val="002060"/>
                </a:solidFill>
                <a:ea typeface="华文细黑" panose="02010600040101010101" pitchFamily="2" charset="-122"/>
              </a:rPr>
              <a:t>数值比例或百分比</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4343400" y="1656773"/>
            <a:ext cx="7114948" cy="50394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按性别分面的满意度与网购原因的百分比条形图</a:t>
            </a:r>
            <a:endParaRPr lang="zh-CN"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08493C39-6569-4F25-4093-490C9A57FB5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343401" y="2254502"/>
            <a:ext cx="7114948" cy="4125978"/>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F8D0EF75-E848-F903-705D-6A35E5D54047}"/>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1760432893"/>
      </p:ext>
    </p:extLst>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极坐标条形图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24F358AD-F5E5-3F6A-C968-B413ED91E148}"/>
              </a:ext>
            </a:extLst>
          </p:cNvPr>
          <p:cNvSpPr txBox="1">
            <a:spLocks noChangeArrowheads="1"/>
          </p:cNvSpPr>
          <p:nvPr/>
        </p:nvSpPr>
        <p:spPr>
          <a:xfrm>
            <a:off x="733651" y="1717733"/>
            <a:ext cx="5250590" cy="466274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sz="1800"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极坐标条形图</a:t>
            </a:r>
            <a:r>
              <a:rPr lang="zh-CN" altLang="en-US" sz="18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rPr>
              <a:t>polar bar chart</a:t>
            </a:r>
            <a:r>
              <a:rPr lang="zh-CN" altLang="en-US" sz="1800" kern="0" dirty="0">
                <a:effectLst/>
                <a:latin typeface="Cambria" panose="02040503050406030204" pitchFamily="18" charset="0"/>
                <a:ea typeface="华文细黑" panose="02010600040101010101" pitchFamily="2" charset="-122"/>
                <a:cs typeface="Times New Roman" panose="02020603050405020304" pitchFamily="18" charset="0"/>
              </a:rPr>
              <a:t>）也称径向</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条形图（</a:t>
            </a:r>
            <a:r>
              <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rPr>
              <a:t>radial bar chart</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）或圆形条形图（</a:t>
            </a:r>
            <a:r>
              <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rPr>
              <a:t>circular bar chart</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它是将多个类别的条绘按圆形来布局。与直角坐标下绘制的条形图相比，径向条形图可以在有限的空间内展示更多的类别</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在类别数较多时，径向条形图可以作为普通条形图的替代图形</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径向条形图虽然可以节省空间，但其缺点是不宜比较各条的长度</a:t>
            </a:r>
            <a:endParaRPr lang="zh-CN"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0E3F31E9-A88D-8ED4-0F76-E0037F7D2DB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207760" y="1717733"/>
            <a:ext cx="5341982" cy="4662747"/>
          </a:xfrm>
          <a:prstGeom prst="rect">
            <a:avLst/>
          </a:prstGeom>
          <a:noFill/>
          <a:ln w="6350">
            <a:solidFill>
              <a:schemeClr val="bg1">
                <a:lumMod val="75000"/>
              </a:schemeClr>
            </a:solidFill>
          </a:ln>
        </p:spPr>
      </p:pic>
      <p:sp>
        <p:nvSpPr>
          <p:cNvPr id="6" name="Rectangle 2">
            <a:extLst>
              <a:ext uri="{FF2B5EF4-FFF2-40B4-BE49-F238E27FC236}">
                <a16:creationId xmlns:a16="http://schemas.microsoft.com/office/drawing/2014/main" id="{E0C10C51-6007-BCA9-12D8-F229BBF9ED9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1056088521"/>
      </p:ext>
    </p:extLst>
  </p:cSld>
  <p:clrMapOvr>
    <a:masterClrMapping/>
  </p:clrMapOvr>
  <p:transition>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极坐标条形图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24F358AD-F5E5-3F6A-C968-B413ED91E148}"/>
              </a:ext>
            </a:extLst>
          </p:cNvPr>
          <p:cNvSpPr txBox="1">
            <a:spLocks noChangeArrowheads="1"/>
          </p:cNvSpPr>
          <p:nvPr/>
        </p:nvSpPr>
        <p:spPr>
          <a:xfrm>
            <a:off x="682851" y="1748213"/>
            <a:ext cx="1643789" cy="4611581"/>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由</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ggplot2</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包中的</a:t>
            </a:r>
            <a:r>
              <a:rPr lang="en-US" altLang="zh-CN" sz="1800" dirty="0" err="1">
                <a:effectLst/>
                <a:latin typeface="Cambria" panose="02040503050406030204" pitchFamily="18" charset="0"/>
                <a:ea typeface="华文细黑" panose="02010600040101010101" pitchFamily="2" charset="-122"/>
                <a:cs typeface="Times New Roman" panose="02020603050405020304" pitchFamily="18" charset="0"/>
              </a:rPr>
              <a:t>coord_radial</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函数绘制的单变量极坐标条形图</a:t>
            </a:r>
            <a:endPar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3-2】</a:t>
            </a:r>
          </a:p>
          <a:p>
            <a:pPr marL="0" indent="0" algn="just" eaLnBrk="0" hangingPunct="0">
              <a:lnSpc>
                <a:spcPct val="150000"/>
              </a:lnSpc>
              <a:spcBef>
                <a:spcPct val="50000"/>
              </a:spcBef>
              <a:buClr>
                <a:srgbClr val="000099"/>
              </a:buClr>
              <a:buNone/>
              <a:defRPr/>
            </a:pP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2023</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年北京居民人均消费支出的极坐标条形图</a:t>
            </a:r>
            <a:endParaRPr lang="zh-CN" altLang="zh-CN" sz="1800" kern="0" dirty="0">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ED2D033D-C626-A6F1-8648-587411A6CA5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18080" y="1748212"/>
            <a:ext cx="9276080" cy="4611581"/>
          </a:xfrm>
          <a:prstGeom prst="rect">
            <a:avLst/>
          </a:prstGeom>
          <a:noFill/>
          <a:ln w="6350">
            <a:solidFill>
              <a:schemeClr val="bg1">
                <a:lumMod val="75000"/>
              </a:schemeClr>
            </a:solidFill>
          </a:ln>
        </p:spPr>
      </p:pic>
      <p:sp>
        <p:nvSpPr>
          <p:cNvPr id="6" name="Rectangle 2">
            <a:extLst>
              <a:ext uri="{FF2B5EF4-FFF2-40B4-BE49-F238E27FC236}">
                <a16:creationId xmlns:a16="http://schemas.microsoft.com/office/drawing/2014/main" id="{5B9326F4-E58A-F954-9AD0-450CC56F0C6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2842301414"/>
      </p:ext>
    </p:extLst>
  </p:cSld>
  <p:clrMapOvr>
    <a:masterClrMapping/>
  </p:clrMapOvr>
  <p:transition>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极坐标条形图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24F358AD-F5E5-3F6A-C968-B413ED91E148}"/>
              </a:ext>
            </a:extLst>
          </p:cNvPr>
          <p:cNvSpPr txBox="1">
            <a:spLocks noChangeArrowheads="1"/>
          </p:cNvSpPr>
          <p:nvPr/>
        </p:nvSpPr>
        <p:spPr>
          <a:xfrm flipH="1">
            <a:off x="558799" y="1671660"/>
            <a:ext cx="609600" cy="4668179"/>
          </a:xfrm>
          <a:prstGeom prst="rect">
            <a:avLst/>
          </a:prstGeom>
          <a:ln w="3175">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双</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变量极坐标条形图</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6" name="Rectangle 2">
            <a:extLst>
              <a:ext uri="{FF2B5EF4-FFF2-40B4-BE49-F238E27FC236}">
                <a16:creationId xmlns:a16="http://schemas.microsoft.com/office/drawing/2014/main" id="{F7547A6B-FE03-A744-20A5-89C1D96ADE9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pic>
        <p:nvPicPr>
          <p:cNvPr id="4" name="图片 3">
            <a:extLst>
              <a:ext uri="{FF2B5EF4-FFF2-40B4-BE49-F238E27FC236}">
                <a16:creationId xmlns:a16="http://schemas.microsoft.com/office/drawing/2014/main" id="{24159F76-6A8C-DE0C-5E2E-F59BA8E084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39327" y="1671661"/>
            <a:ext cx="10393874" cy="4668179"/>
          </a:xfrm>
          <a:prstGeom prst="rect">
            <a:avLst/>
          </a:prstGeom>
          <a:noFill/>
          <a:ln w="3175">
            <a:solidFill>
              <a:schemeClr val="bg1">
                <a:lumMod val="75000"/>
              </a:schemeClr>
            </a:solidFill>
          </a:ln>
        </p:spPr>
      </p:pic>
      <p:sp>
        <p:nvSpPr>
          <p:cNvPr id="7" name="文本框 6">
            <a:extLst>
              <a:ext uri="{FF2B5EF4-FFF2-40B4-BE49-F238E27FC236}">
                <a16:creationId xmlns:a16="http://schemas.microsoft.com/office/drawing/2014/main" id="{B26AC559-C17C-F41E-EC2F-61D18D507094}"/>
              </a:ext>
            </a:extLst>
          </p:cNvPr>
          <p:cNvSpPr txBox="1"/>
          <p:nvPr/>
        </p:nvSpPr>
        <p:spPr>
          <a:xfrm>
            <a:off x="10379200" y="1671661"/>
            <a:ext cx="1389065" cy="457176"/>
          </a:xfrm>
          <a:prstGeom prst="rect">
            <a:avLst/>
          </a:prstGeom>
          <a:noFill/>
        </p:spPr>
        <p:txBody>
          <a:bodyPr wrap="square">
            <a:spAutoFit/>
          </a:bodyPr>
          <a:lstStyle/>
          <a:p>
            <a:pPr marL="0" indent="0" algn="just" eaLnBrk="0" hangingPunct="0">
              <a:lnSpc>
                <a:spcPct val="150000"/>
              </a:lnSpc>
              <a:spcBef>
                <a:spcPct val="50000"/>
              </a:spcBef>
              <a:buClr>
                <a:srgbClr val="000099"/>
              </a:buClr>
              <a:buNone/>
              <a:defRPr/>
            </a:pP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3-2】</a:t>
            </a:r>
            <a:endParaRPr lang="zh-CN"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895549205"/>
      </p:ext>
    </p:extLst>
  </p:cSld>
  <p:clrMapOvr>
    <a:masterClrMapping/>
  </p:clrMapOvr>
  <p:transition>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2C24892-6C3A-7624-CC51-5C83F0AA2B9A}"/>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44320" y="1696888"/>
            <a:ext cx="10135064" cy="4642950"/>
          </a:xfrm>
          <a:prstGeom prst="rect">
            <a:avLst/>
          </a:prstGeom>
          <a:noFill/>
          <a:ln w="3175">
            <a:solidFill>
              <a:schemeClr val="bg1">
                <a:lumMod val="75000"/>
              </a:schemeClr>
            </a:solidFill>
          </a:ln>
        </p:spPr>
      </p:pic>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极坐标条形图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24F358AD-F5E5-3F6A-C968-B413ED91E148}"/>
              </a:ext>
            </a:extLst>
          </p:cNvPr>
          <p:cNvSpPr txBox="1">
            <a:spLocks noChangeArrowheads="1"/>
          </p:cNvSpPr>
          <p:nvPr/>
        </p:nvSpPr>
        <p:spPr>
          <a:xfrm flipH="1">
            <a:off x="650239" y="1671659"/>
            <a:ext cx="609600" cy="4668179"/>
          </a:xfrm>
          <a:prstGeom prst="rect">
            <a:avLst/>
          </a:prstGeom>
          <a:ln w="3175">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极坐标</a:t>
            </a:r>
            <a:r>
              <a:rPr lang="zh-CN" altLang="en-US" sz="2200" kern="0" dirty="0">
                <a:latin typeface="Cambria" panose="02040503050406030204" pitchFamily="18" charset="0"/>
                <a:ea typeface="华文细黑" panose="02010600040101010101" pitchFamily="2" charset="-122"/>
                <a:cs typeface="Times New Roman" panose="02020603050405020304" pitchFamily="18" charset="0"/>
              </a:rPr>
              <a:t>堆叠</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条形图</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6" name="Rectangle 2">
            <a:extLst>
              <a:ext uri="{FF2B5EF4-FFF2-40B4-BE49-F238E27FC236}">
                <a16:creationId xmlns:a16="http://schemas.microsoft.com/office/drawing/2014/main" id="{F7547A6B-FE03-A744-20A5-89C1D96ADE9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
        <p:nvSpPr>
          <p:cNvPr id="7" name="文本框 6">
            <a:extLst>
              <a:ext uri="{FF2B5EF4-FFF2-40B4-BE49-F238E27FC236}">
                <a16:creationId xmlns:a16="http://schemas.microsoft.com/office/drawing/2014/main" id="{B26AC559-C17C-F41E-EC2F-61D18D507094}"/>
              </a:ext>
            </a:extLst>
          </p:cNvPr>
          <p:cNvSpPr txBox="1"/>
          <p:nvPr/>
        </p:nvSpPr>
        <p:spPr>
          <a:xfrm>
            <a:off x="10379200" y="1671661"/>
            <a:ext cx="1389065" cy="457176"/>
          </a:xfrm>
          <a:prstGeom prst="rect">
            <a:avLst/>
          </a:prstGeom>
          <a:noFill/>
        </p:spPr>
        <p:txBody>
          <a:bodyPr wrap="square">
            <a:spAutoFit/>
          </a:bodyPr>
          <a:lstStyle/>
          <a:p>
            <a:pPr marL="0" indent="0" algn="just" eaLnBrk="0" hangingPunct="0">
              <a:lnSpc>
                <a:spcPct val="150000"/>
              </a:lnSpc>
              <a:spcBef>
                <a:spcPct val="50000"/>
              </a:spcBef>
              <a:buClr>
                <a:srgbClr val="000099"/>
              </a:buClr>
              <a:buNone/>
              <a:defRPr/>
            </a:pP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3-2】</a:t>
            </a:r>
            <a:endParaRPr lang="zh-CN"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665743192"/>
      </p:ext>
    </p:extLst>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玫瑰图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24F358AD-F5E5-3F6A-C968-B413ED91E148}"/>
              </a:ext>
            </a:extLst>
          </p:cNvPr>
          <p:cNvSpPr txBox="1">
            <a:spLocks noChangeArrowheads="1"/>
          </p:cNvSpPr>
          <p:nvPr/>
        </p:nvSpPr>
        <p:spPr>
          <a:xfrm>
            <a:off x="733652" y="1697413"/>
            <a:ext cx="2984908" cy="457390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南丁格尔玫瑰图</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Nightingale rose diagram</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）是在极坐标下绘制的一种条形图，又称</a:t>
            </a:r>
            <a:r>
              <a:rPr lang="zh-CN" altLang="zh-CN" sz="1600" b="1" kern="0" dirty="0">
                <a:effectLst/>
                <a:latin typeface="Cambria" panose="02040503050406030204" pitchFamily="18" charset="0"/>
                <a:ea typeface="华文细黑" panose="02010600040101010101" pitchFamily="2" charset="-122"/>
                <a:cs typeface="Times New Roman" panose="02020603050405020304" pitchFamily="18" charset="0"/>
              </a:rPr>
              <a:t>极区图</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polar area diagram</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玫瑰图由英国护士和统计学家弗罗伦斯</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南丁格尔（</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Florence Nightingale</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）发明，她自己称这类图为</a:t>
            </a:r>
            <a:r>
              <a:rPr lang="zh-CN" altLang="zh-CN" sz="1600" b="1" kern="0" dirty="0">
                <a:effectLst/>
                <a:latin typeface="Cambria" panose="02040503050406030204" pitchFamily="18" charset="0"/>
                <a:ea typeface="华文细黑" panose="02010600040101010101" pitchFamily="2" charset="-122"/>
                <a:cs typeface="Times New Roman" panose="02020603050405020304" pitchFamily="18" charset="0"/>
              </a:rPr>
              <a:t>鸡冠花</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kern="0" dirty="0">
                <a:effectLst/>
                <a:latin typeface="Cambria" panose="02040503050406030204" pitchFamily="18" charset="0"/>
                <a:ea typeface="华文细黑" panose="02010600040101010101" pitchFamily="2" charset="-122"/>
                <a:cs typeface="Times New Roman" panose="02020603050405020304" pitchFamily="18" charset="0"/>
              </a:rPr>
              <a:t>coxcomb</a:t>
            </a:r>
            <a:r>
              <a:rPr lang="zh-CN" altLang="zh-CN" sz="1600" kern="0" dirty="0">
                <a:effectLst/>
                <a:latin typeface="Cambria" panose="02040503050406030204" pitchFamily="18" charset="0"/>
                <a:ea typeface="华文细黑" panose="02010600040101010101" pitchFamily="2" charset="-122"/>
                <a:cs typeface="Times New Roman" panose="02020603050405020304" pitchFamily="18" charset="0"/>
              </a:rPr>
              <a:t>），用于表达战地军医院季节性的死亡率</a:t>
            </a:r>
            <a:endParaRPr lang="zh-CN" altLang="zh-CN" sz="16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7" name="Rectangle 3">
            <a:extLst>
              <a:ext uri="{FF2B5EF4-FFF2-40B4-BE49-F238E27FC236}">
                <a16:creationId xmlns:a16="http://schemas.microsoft.com/office/drawing/2014/main" id="{F787885E-E1D4-90BC-A5E1-DB95A1E2FB13}"/>
              </a:ext>
            </a:extLst>
          </p:cNvPr>
          <p:cNvSpPr txBox="1">
            <a:spLocks noChangeArrowheads="1"/>
          </p:cNvSpPr>
          <p:nvPr/>
        </p:nvSpPr>
        <p:spPr>
          <a:xfrm>
            <a:off x="3850640" y="1697413"/>
            <a:ext cx="7752079" cy="50394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18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3-2】</a:t>
            </a:r>
            <a:r>
              <a:rPr lang="en-US" altLang="zh-CN" sz="18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1800" kern="0" dirty="0">
                <a:effectLst/>
                <a:latin typeface="Cambria" panose="02040503050406030204" pitchFamily="18" charset="0"/>
                <a:ea typeface="华文细黑" panose="02010600040101010101" pitchFamily="2" charset="-122"/>
                <a:cs typeface="Times New Roman" panose="02020603050405020304" pitchFamily="18" charset="0"/>
              </a:rPr>
              <a:t>北京的各项支为例，绘制的玫瑰图</a:t>
            </a:r>
            <a:endParaRPr lang="zh-CN" altLang="zh-CN" sz="18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47166A5C-8B78-AD34-D0E9-1DBA55938EE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50640" y="2335781"/>
            <a:ext cx="7752079" cy="3935537"/>
          </a:xfrm>
          <a:prstGeom prst="rect">
            <a:avLst/>
          </a:prstGeom>
          <a:noFill/>
          <a:ln w="6350">
            <a:solidFill>
              <a:schemeClr val="bg1">
                <a:lumMod val="75000"/>
              </a:schemeClr>
            </a:solidFill>
          </a:ln>
        </p:spPr>
      </p:pic>
      <p:sp>
        <p:nvSpPr>
          <p:cNvPr id="6" name="Rectangle 2">
            <a:extLst>
              <a:ext uri="{FF2B5EF4-FFF2-40B4-BE49-F238E27FC236}">
                <a16:creationId xmlns:a16="http://schemas.microsoft.com/office/drawing/2014/main" id="{1C558800-808A-6F35-E8BC-91ABA7EF028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3815172979"/>
      </p:ext>
    </p:extLst>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玫瑰图</a:t>
            </a:r>
            <a:endParaRPr lang="en-US" altLang="zh-CN" sz="2600" b="1" dirty="0">
              <a:solidFill>
                <a:srgbClr val="002060"/>
              </a:solidFill>
              <a:ea typeface="华文细黑" panose="02010600040101010101" pitchFamily="2" charset="-122"/>
            </a:endParaRPr>
          </a:p>
        </p:txBody>
      </p:sp>
      <p:sp>
        <p:nvSpPr>
          <p:cNvPr id="7" name="Rectangle 3">
            <a:extLst>
              <a:ext uri="{FF2B5EF4-FFF2-40B4-BE49-F238E27FC236}">
                <a16:creationId xmlns:a16="http://schemas.microsoft.com/office/drawing/2014/main" id="{F787885E-E1D4-90BC-A5E1-DB95A1E2FB13}"/>
              </a:ext>
            </a:extLst>
          </p:cNvPr>
          <p:cNvSpPr txBox="1">
            <a:spLocks noChangeArrowheads="1"/>
          </p:cNvSpPr>
          <p:nvPr/>
        </p:nvSpPr>
        <p:spPr>
          <a:xfrm>
            <a:off x="783773" y="1717585"/>
            <a:ext cx="2609668" cy="457390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200000"/>
              </a:lnSpc>
              <a:spcBef>
                <a:spcPct val="50000"/>
              </a:spcBef>
              <a:buClr>
                <a:srgbClr val="000099"/>
              </a:buClr>
              <a:buNone/>
              <a:defRPr/>
            </a:pPr>
            <a:r>
              <a:rPr lang="zh-CN" altLang="zh-CN" sz="2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3-2】</a:t>
            </a:r>
            <a:r>
              <a:rPr lang="en-US" altLang="zh-CN" sz="26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600" kern="0" dirty="0">
                <a:latin typeface="Cambria" panose="02040503050406030204" pitchFamily="18" charset="0"/>
                <a:ea typeface="华文细黑" panose="02010600040101010101" pitchFamily="2" charset="-122"/>
                <a:cs typeface="Times New Roman" panose="02020603050405020304" pitchFamily="18" charset="0"/>
              </a:rPr>
              <a:t>2023</a:t>
            </a:r>
            <a:r>
              <a:rPr lang="zh-CN" altLang="zh-CN" sz="2600" kern="0" dirty="0">
                <a:latin typeface="Cambria" panose="02040503050406030204" pitchFamily="18" charset="0"/>
                <a:ea typeface="华文细黑" panose="02010600040101010101" pitchFamily="2" charset="-122"/>
                <a:cs typeface="Times New Roman" panose="02020603050405020304" pitchFamily="18" charset="0"/>
              </a:rPr>
              <a:t>年北京、天津上海和重庆城镇居民人均消费支出的玫瑰图</a:t>
            </a:r>
          </a:p>
        </p:txBody>
      </p:sp>
      <p:pic>
        <p:nvPicPr>
          <p:cNvPr id="2" name="图片 1">
            <a:extLst>
              <a:ext uri="{FF2B5EF4-FFF2-40B4-BE49-F238E27FC236}">
                <a16:creationId xmlns:a16="http://schemas.microsoft.com/office/drawing/2014/main" id="{B0B16881-16A2-2607-1975-BF9D3A003C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84880" y="1717585"/>
            <a:ext cx="8097520" cy="4573905"/>
          </a:xfrm>
          <a:prstGeom prst="rect">
            <a:avLst/>
          </a:prstGeom>
          <a:noFill/>
          <a:ln w="6350">
            <a:solidFill>
              <a:schemeClr val="bg1">
                <a:lumMod val="75000"/>
              </a:schemeClr>
            </a:solidFill>
          </a:ln>
        </p:spPr>
      </p:pic>
      <p:sp>
        <p:nvSpPr>
          <p:cNvPr id="5" name="Rectangle 2">
            <a:extLst>
              <a:ext uri="{FF2B5EF4-FFF2-40B4-BE49-F238E27FC236}">
                <a16:creationId xmlns:a16="http://schemas.microsoft.com/office/drawing/2014/main" id="{99232CDD-45AC-436D-81EC-ACFB1B93B295}"/>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3.1                         </a:t>
            </a:r>
            <a:r>
              <a:rPr lang="zh-CN" altLang="en-US" sz="3200" b="1" dirty="0">
                <a:solidFill>
                  <a:srgbClr val="002060"/>
                </a:solidFill>
                <a:latin typeface="微软雅黑" panose="020B0503020204020204" pitchFamily="34" charset="-122"/>
                <a:ea typeface="微软雅黑" panose="020B0503020204020204" pitchFamily="34" charset="-122"/>
              </a:rPr>
              <a:t>用条形比较</a:t>
            </a:r>
          </a:p>
        </p:txBody>
      </p:sp>
    </p:spTree>
    <p:extLst>
      <p:ext uri="{BB962C8B-B14F-4D97-AF65-F5344CB8AC3E}">
        <p14:creationId xmlns:p14="http://schemas.microsoft.com/office/powerpoint/2010/main" val="2360764579"/>
      </p:ext>
    </p:extLst>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97412"/>
            <a:ext cx="10739891" cy="46424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用矩形表示数值大小或差异的条形主要有</a:t>
            </a:r>
            <a:r>
              <a:rPr lang="zh-CN" altLang="zh-CN" sz="22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马赛克图</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mosaic plot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）和</a:t>
            </a:r>
            <a:r>
              <a:rPr lang="zh-CN" altLang="zh-CN" sz="2200" b="1" dirty="0">
                <a:solidFill>
                  <a:srgbClr val="E36C0A"/>
                </a:solidFill>
                <a:effectLst/>
                <a:latin typeface="Cambria" panose="02040503050406030204" pitchFamily="18" charset="0"/>
                <a:ea typeface="华文细黑" panose="02010600040101010101" pitchFamily="2" charset="-122"/>
                <a:cs typeface="Times New Roman" panose="02020603050405020304" pitchFamily="18" charset="0"/>
              </a:rPr>
              <a:t>矩形树状图</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rectangular </a:t>
            </a:r>
            <a:r>
              <a:rPr lang="x-none" altLang="zh-CN" sz="2200" dirty="0">
                <a:effectLst/>
                <a:latin typeface="Cambria" panose="02040503050406030204" pitchFamily="18" charset="0"/>
                <a:ea typeface="华文细黑" panose="02010600040101010101" pitchFamily="2" charset="-122"/>
                <a:cs typeface="Times New Roman" panose="02020603050405020304" pitchFamily="18" charset="0"/>
              </a:rPr>
              <a:t>tree map</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它们与条形图的区别是矩形的长度和宽度都得可变的，而条形图中条的宽度通常是固定的</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马赛克图和矩形树状图均可用于展示一个类别变量、两个或多个类别变量，尤其适合展示两个或两个以上的类别变量，二者的区别是马赛克图是按二维或多维表中的类别顺序绘制出矩形，而矩形树状图则是按类别的层次绘制出嵌套矩形</a:t>
            </a:r>
            <a:endParaRPr lang="en-US"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马赛克图和矩形树状图</a:t>
            </a: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BA9271E8-FA10-E113-5240-10ECD68BB52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3.2                         </a:t>
            </a:r>
            <a:r>
              <a:rPr lang="zh-CN" altLang="en-US" sz="3200" b="1" dirty="0">
                <a:solidFill>
                  <a:srgbClr val="002060"/>
                </a:solidFill>
                <a:latin typeface="微软雅黑" panose="020B0503020204020204" pitchFamily="34" charset="-122"/>
                <a:ea typeface="微软雅黑" panose="020B0503020204020204" pitchFamily="34" charset="-122"/>
              </a:rPr>
              <a:t>用矩形比较</a:t>
            </a:r>
          </a:p>
        </p:txBody>
      </p:sp>
    </p:spTree>
    <p:extLst>
      <p:ext uri="{BB962C8B-B14F-4D97-AF65-F5344CB8AC3E}">
        <p14:creationId xmlns:p14="http://schemas.microsoft.com/office/powerpoint/2010/main" val="3573619461"/>
      </p:ext>
    </p:extLst>
  </p:cSld>
  <p:clrMapOvr>
    <a:masterClrMapping/>
  </p:clrMapOvr>
  <p:transition>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97412"/>
            <a:ext cx="4590188" cy="466274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马赛克图</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mosaic plot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en-US"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用矩形表示列联表中对应频数的一种图形，图中嵌套矩形的面积与列联表相应单元格的频数成正比</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除用于展示二维或多维列联表外，也可用于展示具有多组类别标签的其他数据</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a:p>
            <a:pPr marL="446087" indent="0" algn="just" eaLnBrk="0" hangingPunct="0">
              <a:lnSpc>
                <a:spcPct val="150000"/>
              </a:lnSpc>
              <a:spcBef>
                <a:spcPct val="50000"/>
              </a:spcBef>
              <a:buClr>
                <a:srgbClr val="C00000"/>
              </a:buClr>
              <a:buNone/>
              <a:defRPr/>
            </a:pP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马赛克图</a:t>
            </a:r>
            <a:endParaRPr lang="en-US" altLang="zh-CN" sz="2600" b="1" dirty="0">
              <a:solidFill>
                <a:srgbClr val="002060"/>
              </a:solidFill>
              <a:ea typeface="华文细黑" panose="02010600040101010101" pitchFamily="2" charset="-122"/>
            </a:endParaRPr>
          </a:p>
        </p:txBody>
      </p:sp>
      <p:pic>
        <p:nvPicPr>
          <p:cNvPr id="4" name="图片 3">
            <a:extLst>
              <a:ext uri="{FF2B5EF4-FFF2-40B4-BE49-F238E27FC236}">
                <a16:creationId xmlns:a16="http://schemas.microsoft.com/office/drawing/2014/main" id="{A6BB438C-CBA7-535B-56C8-2AC1AB62BF87}"/>
              </a:ext>
            </a:extLst>
          </p:cNvPr>
          <p:cNvPicPr>
            <a:picLocks noChangeAspect="1"/>
          </p:cNvPicPr>
          <p:nvPr/>
        </p:nvPicPr>
        <p:blipFill>
          <a:blip r:embed="rId2"/>
          <a:stretch>
            <a:fillRect/>
          </a:stretch>
        </p:blipFill>
        <p:spPr>
          <a:xfrm>
            <a:off x="5530532" y="1697412"/>
            <a:ext cx="6001068" cy="4662748"/>
          </a:xfrm>
          <a:prstGeom prst="rect">
            <a:avLst/>
          </a:prstGeom>
          <a:ln w="6350">
            <a:solidFill>
              <a:schemeClr val="bg1">
                <a:lumMod val="75000"/>
              </a:schemeClr>
            </a:solidFill>
          </a:ln>
        </p:spPr>
      </p:pic>
      <p:sp>
        <p:nvSpPr>
          <p:cNvPr id="5" name="Rectangle 2">
            <a:extLst>
              <a:ext uri="{FF2B5EF4-FFF2-40B4-BE49-F238E27FC236}">
                <a16:creationId xmlns:a16="http://schemas.microsoft.com/office/drawing/2014/main" id="{AB4E733B-CEB5-0897-7BCD-8CA67450D8F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3.2                         </a:t>
            </a:r>
            <a:r>
              <a:rPr lang="zh-CN" altLang="en-US" sz="3200" b="1" dirty="0">
                <a:solidFill>
                  <a:srgbClr val="002060"/>
                </a:solidFill>
                <a:latin typeface="微软雅黑" panose="020B0503020204020204" pitchFamily="34" charset="-122"/>
                <a:ea typeface="微软雅黑" panose="020B0503020204020204" pitchFamily="34" charset="-122"/>
              </a:rPr>
              <a:t>用矩形比较</a:t>
            </a:r>
          </a:p>
        </p:txBody>
      </p:sp>
    </p:spTree>
    <p:extLst>
      <p:ext uri="{BB962C8B-B14F-4D97-AF65-F5344CB8AC3E}">
        <p14:creationId xmlns:p14="http://schemas.microsoft.com/office/powerpoint/2010/main" val="3525423915"/>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97412"/>
            <a:ext cx="10739891" cy="46424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en-US"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矩形</a:t>
            </a:r>
            <a:r>
              <a:rPr lang="zh-CN" altLang="zh-CN" b="1" kern="0" dirty="0">
                <a:highlight>
                  <a:srgbClr val="FFFF99"/>
                </a:highlight>
                <a:latin typeface="Cambria" panose="02040503050406030204" pitchFamily="18" charset="0"/>
                <a:ea typeface="华文细黑" panose="02010600040101010101" pitchFamily="2" charset="-122"/>
                <a:cs typeface="Times New Roman" panose="02020603050405020304" pitchFamily="18" charset="0"/>
              </a:rPr>
              <a:t>树状图</a:t>
            </a:r>
            <a:r>
              <a:rPr lang="zh-CN" altLang="zh-CN" kern="0" dirty="0">
                <a:latin typeface="Cambria" panose="02040503050406030204" pitchFamily="18" charset="0"/>
                <a:ea typeface="华文细黑" panose="02010600040101010101" pitchFamily="2" charset="-122"/>
                <a:cs typeface="Times New Roman" panose="02020603050405020304" pitchFamily="18" charset="0"/>
              </a:rPr>
              <a:t>（</a:t>
            </a:r>
            <a:r>
              <a:rPr lang="en-US" altLang="zh-CN" kern="0" dirty="0">
                <a:latin typeface="Cambria" panose="02040503050406030204" pitchFamily="18" charset="0"/>
                <a:ea typeface="Cambria" panose="02040503050406030204" pitchFamily="18" charset="0"/>
                <a:cs typeface="Times New Roman" panose="02020603050405020304" pitchFamily="18" charset="0"/>
              </a:rPr>
              <a:t>rectangular tree map</a:t>
            </a:r>
            <a:r>
              <a:rPr lang="zh-CN" altLang="zh-CN" kern="0" dirty="0">
                <a:latin typeface="Cambria" panose="02040503050406030204" pitchFamily="18" charset="0"/>
                <a:ea typeface="华文细黑" panose="02010600040101010101" pitchFamily="2" charset="-122"/>
                <a:cs typeface="Times New Roman" panose="02020603050405020304" pitchFamily="18" charset="0"/>
              </a:rPr>
              <a:t>）</a:t>
            </a:r>
            <a:r>
              <a:rPr lang="zh-CN" altLang="en-US" kern="0" dirty="0">
                <a:latin typeface="Cambria" panose="02040503050406030204" pitchFamily="18" charset="0"/>
                <a:ea typeface="华文细黑" panose="02010600040101010101" pitchFamily="2" charset="-122"/>
                <a:cs typeface="Times New Roman" panose="02020603050405020304" pitchFamily="18" charset="0"/>
              </a:rPr>
              <a:t>：</a:t>
            </a:r>
            <a:r>
              <a:rPr lang="zh-CN" altLang="zh-CN" kern="0" dirty="0">
                <a:latin typeface="Cambria" panose="02040503050406030204" pitchFamily="18" charset="0"/>
                <a:ea typeface="华文细黑" panose="02010600040101010101" pitchFamily="2" charset="-122"/>
                <a:cs typeface="Times New Roman" panose="02020603050405020304" pitchFamily="18" charset="0"/>
              </a:rPr>
              <a:t>展示多层次分类的一种图形，也称分层树状图</a:t>
            </a:r>
            <a:endParaRPr lang="en-US" altLang="zh-CN" kern="0" dirty="0">
              <a:latin typeface="Cambria" panose="02040503050406030204" pitchFamily="18" charset="0"/>
              <a:ea typeface="Cambria" panose="02040503050406030204" pitchFamily="18" charset="0"/>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kern="0" dirty="0">
                <a:latin typeface="Cambria" panose="02040503050406030204" pitchFamily="18" charset="0"/>
                <a:ea typeface="华文细黑" panose="02010600040101010101" pitchFamily="2" charset="-122"/>
                <a:cs typeface="Times New Roman" panose="02020603050405020304" pitchFamily="18" charset="0"/>
              </a:rPr>
              <a:t>用矩形表示各类别对应数值大小的一种图形</a:t>
            </a:r>
            <a:endParaRPr lang="en-US" altLang="zh-CN" kern="0" dirty="0">
              <a:latin typeface="Cambria" panose="02040503050406030204" pitchFamily="18" charset="0"/>
              <a:ea typeface="Cambria" panose="02040503050406030204" pitchFamily="18" charset="0"/>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kern="0" dirty="0">
                <a:latin typeface="Cambria" panose="02040503050406030204" pitchFamily="18" charset="0"/>
                <a:ea typeface="华文细黑" panose="02010600040101010101" pitchFamily="2" charset="-122"/>
                <a:cs typeface="Times New Roman" panose="02020603050405020304" pitchFamily="18" charset="0"/>
              </a:rPr>
              <a:t>可用于展示一个或以上类别变量的各类别对应的数值向量。对于一个类别变量，可用矩形比较各类别数值的大小。对于两个或两个以上的类别变量，矩形树状图可以在分层的基础上比较各层次类别数值的大小，它将多个类别变量的层次结构绘制在一个表示总数值的大的矩形中，每个子类用不同大小的矩形嵌套在这个大的矩形中。嵌套矩形表示各子类别对应的数值，其大小与相应的子类数值成正比</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矩形树状图</a:t>
            </a:r>
            <a:endParaRPr lang="en-US" altLang="zh-CN" sz="2600" b="1" dirty="0">
              <a:solidFill>
                <a:srgbClr val="002060"/>
              </a:solidFill>
              <a:ea typeface="华文细黑" panose="02010600040101010101" pitchFamily="2" charset="-122"/>
            </a:endParaRPr>
          </a:p>
        </p:txBody>
      </p:sp>
      <p:sp>
        <p:nvSpPr>
          <p:cNvPr id="4" name="Rectangle 2">
            <a:extLst>
              <a:ext uri="{FF2B5EF4-FFF2-40B4-BE49-F238E27FC236}">
                <a16:creationId xmlns:a16="http://schemas.microsoft.com/office/drawing/2014/main" id="{BA9271E8-FA10-E113-5240-10ECD68BB52B}"/>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3.2                         </a:t>
            </a:r>
            <a:r>
              <a:rPr lang="zh-CN" altLang="en-US" sz="3200" b="1" dirty="0">
                <a:solidFill>
                  <a:srgbClr val="002060"/>
                </a:solidFill>
                <a:latin typeface="微软雅黑" panose="020B0503020204020204" pitchFamily="34" charset="-122"/>
                <a:ea typeface="微软雅黑" panose="020B0503020204020204" pitchFamily="34" charset="-122"/>
              </a:rPr>
              <a:t>用矩形比较</a:t>
            </a:r>
          </a:p>
        </p:txBody>
      </p:sp>
    </p:spTree>
    <p:extLst>
      <p:ext uri="{BB962C8B-B14F-4D97-AF65-F5344CB8AC3E}">
        <p14:creationId xmlns:p14="http://schemas.microsoft.com/office/powerpoint/2010/main" val="3965344915"/>
      </p:ext>
    </p:extLst>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77093"/>
            <a:ext cx="1958747" cy="465258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x-none"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3-1</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p>
          <a:p>
            <a:pPr marL="0" indent="0" algn="just" eaLnBrk="0" hangingPunct="0">
              <a:lnSpc>
                <a:spcPct val="150000"/>
              </a:lnSpc>
              <a:spcBef>
                <a:spcPct val="50000"/>
              </a:spcBef>
              <a:buClr>
                <a:srgbClr val="000099"/>
              </a:buClr>
              <a:buNone/>
              <a:defRPr/>
            </a:pP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x-none"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3-2</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endPar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矩形树状图</a:t>
            </a:r>
            <a:endParaRPr lang="en-US" altLang="zh-CN" sz="2600" b="1" dirty="0">
              <a:solidFill>
                <a:srgbClr val="002060"/>
              </a:solidFill>
              <a:ea typeface="华文细黑" panose="02010600040101010101" pitchFamily="2" charset="-122"/>
            </a:endParaRPr>
          </a:p>
        </p:txBody>
      </p:sp>
      <p:sp>
        <p:nvSpPr>
          <p:cNvPr id="5" name="Rectangle 2">
            <a:extLst>
              <a:ext uri="{FF2B5EF4-FFF2-40B4-BE49-F238E27FC236}">
                <a16:creationId xmlns:a16="http://schemas.microsoft.com/office/drawing/2014/main" id="{4CBBA95A-5C53-A3F6-2B55-9955544518D6}"/>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3.2                         </a:t>
            </a:r>
            <a:r>
              <a:rPr lang="zh-CN" altLang="en-US" sz="3200" b="1" dirty="0">
                <a:solidFill>
                  <a:srgbClr val="002060"/>
                </a:solidFill>
                <a:latin typeface="微软雅黑" panose="020B0503020204020204" pitchFamily="34" charset="-122"/>
                <a:ea typeface="微软雅黑" panose="020B0503020204020204" pitchFamily="34" charset="-122"/>
              </a:rPr>
              <a:t>用矩形比较</a:t>
            </a:r>
          </a:p>
        </p:txBody>
      </p:sp>
      <p:pic>
        <p:nvPicPr>
          <p:cNvPr id="3" name="图片 2">
            <a:extLst>
              <a:ext uri="{FF2B5EF4-FFF2-40B4-BE49-F238E27FC236}">
                <a16:creationId xmlns:a16="http://schemas.microsoft.com/office/drawing/2014/main" id="{31F31720-27F3-0895-84A6-23E60385F2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44800" y="1677092"/>
            <a:ext cx="8613546" cy="4652585"/>
          </a:xfrm>
          <a:prstGeom prst="rect">
            <a:avLst/>
          </a:prstGeom>
          <a:noFill/>
          <a:ln w="6350">
            <a:solidFill>
              <a:schemeClr val="bg1">
                <a:lumMod val="75000"/>
              </a:schemeClr>
            </a:solidFill>
          </a:ln>
        </p:spPr>
      </p:pic>
    </p:spTree>
    <p:extLst>
      <p:ext uri="{BB962C8B-B14F-4D97-AF65-F5344CB8AC3E}">
        <p14:creationId xmlns:p14="http://schemas.microsoft.com/office/powerpoint/2010/main" val="2640200022"/>
      </p:ext>
    </p:extLst>
  </p:cSld>
  <p:clrMapOvr>
    <a:masterClrMapping/>
  </p:clrMapOvr>
  <p:transition>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97412"/>
            <a:ext cx="5677307" cy="46932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圆堆图和气泡图是用圆表示数值大小</a:t>
            </a:r>
            <a:r>
              <a:rPr lang="zh-CN" altLang="en-US" sz="1800" dirty="0">
                <a:latin typeface="Cambria" panose="02040503050406030204" pitchFamily="18" charset="0"/>
                <a:ea typeface="华文细黑" panose="02010600040101010101" pitchFamily="2" charset="-122"/>
                <a:cs typeface="Times New Roman" panose="02020603050405020304" pitchFamily="18" charset="0"/>
              </a:rPr>
              <a:t>。</a:t>
            </a:r>
            <a:r>
              <a:rPr lang="zh-CN" altLang="zh-CN" sz="1800" dirty="0">
                <a:latin typeface="Cambria" panose="02040503050406030204" pitchFamily="18" charset="0"/>
                <a:ea typeface="华文细黑" panose="02010600040101010101" pitchFamily="2" charset="-122"/>
                <a:cs typeface="Times New Roman" panose="02020603050405020304" pitchFamily="18" charset="0"/>
              </a:rPr>
              <a:t>当</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类别数较多时可以使用</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圆堆图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x-none" altLang="zh-CN" sz="1800" dirty="0">
                <a:effectLst/>
                <a:latin typeface="Cambria" panose="02040503050406030204" pitchFamily="18" charset="0"/>
                <a:ea typeface="华文细黑" panose="02010600040101010101" pitchFamily="2" charset="-122"/>
                <a:cs typeface="Times New Roman" panose="02020603050405020304" pitchFamily="18" charset="0"/>
              </a:rPr>
              <a:t>circle packing</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或称圆堆积图，它是将每个类别对应的数值用圆的大小表示，多个类别绘制的多个圆堆积在一起，圆的大小与相应的数值成正比。圆堆图适合于展示多个类别对应的数值。与条形图相比，圆堆图更节省空间，但缺点是不易比较圆的大小</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150000"/>
              </a:lnSpc>
              <a:spcBef>
                <a:spcPct val="50000"/>
              </a:spcBef>
              <a:buClr>
                <a:srgbClr val="000099"/>
              </a:buClr>
              <a:buNone/>
              <a:defRPr/>
            </a:pP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3-3】</a:t>
            </a:r>
            <a:r>
              <a:rPr lang="en-US" altLang="zh-CN" sz="1800" kern="0" dirty="0">
                <a:latin typeface="Cambria" panose="02040503050406030204" pitchFamily="18" charset="0"/>
                <a:ea typeface="华文细黑" panose="02010600040101010101" pitchFamily="2" charset="-122"/>
                <a:cs typeface="Times New Roman" panose="02020603050405020304" pitchFamily="18" charset="0"/>
              </a:rPr>
              <a:t>  </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2019</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2023</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年全国</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31</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个地区的地区生产总值</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圆堆图</a:t>
            </a:r>
            <a:endParaRPr lang="en-US" altLang="zh-CN" sz="2600" b="1" dirty="0">
              <a:solidFill>
                <a:srgbClr val="002060"/>
              </a:solidFill>
              <a:ea typeface="华文细黑" panose="02010600040101010101" pitchFamily="2" charset="-122"/>
            </a:endParaRPr>
          </a:p>
        </p:txBody>
      </p:sp>
      <p:pic>
        <p:nvPicPr>
          <p:cNvPr id="3" name="图片 2">
            <a:extLst>
              <a:ext uri="{FF2B5EF4-FFF2-40B4-BE49-F238E27FC236}">
                <a16:creationId xmlns:a16="http://schemas.microsoft.com/office/drawing/2014/main" id="{40B2BD1C-BA46-6B03-B4DF-BD67C3986D8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63360" y="1697412"/>
            <a:ext cx="4988560" cy="4693227"/>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B1C5D477-A695-2AA9-273B-11DBA26254B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3.3                       </a:t>
            </a:r>
            <a:r>
              <a:rPr lang="zh-CN" altLang="en-US" sz="3200" b="1" dirty="0">
                <a:solidFill>
                  <a:srgbClr val="002060"/>
                </a:solidFill>
                <a:latin typeface="微软雅黑" panose="020B0503020204020204" pitchFamily="34" charset="-122"/>
                <a:ea typeface="微软雅黑" panose="020B0503020204020204" pitchFamily="34" charset="-122"/>
              </a:rPr>
              <a:t>用圆或点比较</a:t>
            </a:r>
          </a:p>
        </p:txBody>
      </p:sp>
    </p:spTree>
    <p:extLst>
      <p:ext uri="{BB962C8B-B14F-4D97-AF65-F5344CB8AC3E}">
        <p14:creationId xmlns:p14="http://schemas.microsoft.com/office/powerpoint/2010/main" val="1886951145"/>
      </p:ext>
    </p:extLst>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56773"/>
            <a:ext cx="10747147" cy="188177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气泡图</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bubble plot</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）也称</a:t>
            </a:r>
            <a:r>
              <a:rPr lang="zh-CN" altLang="zh-CN" sz="1600" b="1" dirty="0">
                <a:effectLst/>
                <a:latin typeface="Cambria" panose="02040503050406030204" pitchFamily="18" charset="0"/>
                <a:ea typeface="华文细黑" panose="02010600040101010101" pitchFamily="2" charset="-122"/>
                <a:cs typeface="Times New Roman" panose="02020603050405020304" pitchFamily="18" charset="0"/>
              </a:rPr>
              <a:t>气球图</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balloon diagram</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），它是用圆（或其他形状）表示数值大小的一种图形</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当</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轴和</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y</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轴都是类别变量时，气泡图可用于展示二维列联表或带有行名称和列名称的数值矩阵，并用圆的大小表示交叉单元格的数值多少（圆的大小与数值多少成正比）</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当</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x</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轴和</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y</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轴都是数值变量时，可以用圆的大小表示第</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3</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个变量的数值大小</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气泡图</a:t>
            </a:r>
            <a:endParaRPr lang="en-US" altLang="zh-CN" sz="2600" b="1" dirty="0">
              <a:solidFill>
                <a:srgbClr val="002060"/>
              </a:solidFill>
              <a:ea typeface="华文细黑" panose="02010600040101010101" pitchFamily="2" charset="-122"/>
            </a:endParaRPr>
          </a:p>
        </p:txBody>
      </p:sp>
      <p:pic>
        <p:nvPicPr>
          <p:cNvPr id="4" name="图片 3">
            <a:extLst>
              <a:ext uri="{FF2B5EF4-FFF2-40B4-BE49-F238E27FC236}">
                <a16:creationId xmlns:a16="http://schemas.microsoft.com/office/drawing/2014/main" id="{8BD6E855-0264-0B85-E73E-FB680B7D5BA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33652" y="3632332"/>
            <a:ext cx="5571897" cy="2661920"/>
          </a:xfrm>
          <a:prstGeom prst="rect">
            <a:avLst/>
          </a:prstGeom>
          <a:noFill/>
          <a:ln w="6350">
            <a:solidFill>
              <a:schemeClr val="bg1">
                <a:lumMod val="75000"/>
              </a:schemeClr>
            </a:solidFill>
          </a:ln>
        </p:spPr>
      </p:pic>
      <p:sp>
        <p:nvSpPr>
          <p:cNvPr id="6" name="文本框 5">
            <a:extLst>
              <a:ext uri="{FF2B5EF4-FFF2-40B4-BE49-F238E27FC236}">
                <a16:creationId xmlns:a16="http://schemas.microsoft.com/office/drawing/2014/main" id="{67883A63-A824-585A-8489-BDD947CD3D00}"/>
              </a:ext>
            </a:extLst>
          </p:cNvPr>
          <p:cNvSpPr txBox="1"/>
          <p:nvPr/>
        </p:nvSpPr>
        <p:spPr>
          <a:xfrm>
            <a:off x="8026400" y="2862448"/>
            <a:ext cx="3352800" cy="538289"/>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3-1】</a:t>
            </a:r>
            <a:r>
              <a:rPr lang="zh-CN" altLang="en-US"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和</a:t>
            </a: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2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3-2】</a:t>
            </a:r>
            <a:r>
              <a:rPr lang="en-US" altLang="zh-CN" sz="2200"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BCA1A217-EDB9-5378-1B18-C75D4B27CAF9}"/>
              </a:ext>
            </a:extLst>
          </p:cNvPr>
          <p:cNvPicPr>
            <a:picLocks noChangeAspect="1"/>
          </p:cNvPicPr>
          <p:nvPr/>
        </p:nvPicPr>
        <p:blipFill>
          <a:blip r:embed="rId3"/>
          <a:stretch>
            <a:fillRect/>
          </a:stretch>
        </p:blipFill>
        <p:spPr>
          <a:xfrm>
            <a:off x="6440805" y="3632332"/>
            <a:ext cx="5039995" cy="2675890"/>
          </a:xfrm>
          <a:prstGeom prst="rect">
            <a:avLst/>
          </a:prstGeom>
          <a:noFill/>
          <a:ln w="6350">
            <a:solidFill>
              <a:schemeClr val="bg1">
                <a:lumMod val="75000"/>
              </a:schemeClr>
            </a:solidFill>
          </a:ln>
        </p:spPr>
      </p:pic>
      <p:sp>
        <p:nvSpPr>
          <p:cNvPr id="7" name="Rectangle 2">
            <a:extLst>
              <a:ext uri="{FF2B5EF4-FFF2-40B4-BE49-F238E27FC236}">
                <a16:creationId xmlns:a16="http://schemas.microsoft.com/office/drawing/2014/main" id="{FA16E066-E0E4-AFB6-D715-848FE0B369B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3.3                       </a:t>
            </a:r>
            <a:r>
              <a:rPr lang="zh-CN" altLang="en-US" sz="3200" b="1" dirty="0">
                <a:solidFill>
                  <a:srgbClr val="002060"/>
                </a:solidFill>
                <a:latin typeface="微软雅黑" panose="020B0503020204020204" pitchFamily="34" charset="-122"/>
                <a:ea typeface="微软雅黑" panose="020B0503020204020204" pitchFamily="34" charset="-122"/>
              </a:rPr>
              <a:t>用圆或点比较</a:t>
            </a:r>
          </a:p>
        </p:txBody>
      </p:sp>
    </p:spTree>
    <p:extLst>
      <p:ext uri="{BB962C8B-B14F-4D97-AF65-F5344CB8AC3E}">
        <p14:creationId xmlns:p14="http://schemas.microsoft.com/office/powerpoint/2010/main" val="914855836"/>
      </p:ext>
    </p:extLst>
  </p:cSld>
  <p:clrMapOvr>
    <a:masterClrMapping/>
  </p:clrMapOvr>
  <p:transition>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56772"/>
            <a:ext cx="5625696" cy="4713548"/>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kern="0"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热图</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rPr>
              <a:t>heat map</a:t>
            </a: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）热图是用颜色的饱和度（深浅）表示数值大小的图形</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可以绘制成矩形的形式，用每个矩形的颜色饱和度表示二维表中每个单元格对应的数值大小</a:t>
            </a:r>
            <a:endParaRPr lang="en-US" altLang="zh-CN" sz="2200" kern="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kern="0" dirty="0">
                <a:effectLst/>
                <a:latin typeface="Cambria" panose="02040503050406030204" pitchFamily="18" charset="0"/>
                <a:ea typeface="华文细黑" panose="02010600040101010101" pitchFamily="2" charset="-122"/>
                <a:cs typeface="Times New Roman" panose="02020603050405020304" pitchFamily="18" charset="0"/>
              </a:rPr>
              <a:t>可以将矩形转换成极坐标，绘制出圆形的热图</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热图</a:t>
            </a:r>
            <a:endParaRPr lang="en-US" altLang="zh-CN" sz="2600" b="1" dirty="0">
              <a:solidFill>
                <a:srgbClr val="002060"/>
              </a:solidFill>
              <a:ea typeface="华文细黑" panose="02010600040101010101" pitchFamily="2" charset="-122"/>
            </a:endParaRPr>
          </a:p>
        </p:txBody>
      </p:sp>
      <p:sp>
        <p:nvSpPr>
          <p:cNvPr id="5" name="Rectangle 2">
            <a:extLst>
              <a:ext uri="{FF2B5EF4-FFF2-40B4-BE49-F238E27FC236}">
                <a16:creationId xmlns:a16="http://schemas.microsoft.com/office/drawing/2014/main" id="{5A065A2E-96BE-24DB-BF2A-7F491CAA00DE}"/>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3.4                    </a:t>
            </a:r>
            <a:r>
              <a:rPr lang="zh-CN" altLang="en-US" sz="3200" b="1" dirty="0">
                <a:solidFill>
                  <a:srgbClr val="002060"/>
                </a:solidFill>
                <a:latin typeface="微软雅黑" panose="020B0503020204020204" pitchFamily="34" charset="-122"/>
                <a:ea typeface="微软雅黑" panose="020B0503020204020204" pitchFamily="34" charset="-122"/>
              </a:rPr>
              <a:t>用颜色饱和度比较</a:t>
            </a:r>
          </a:p>
        </p:txBody>
      </p:sp>
      <p:pic>
        <p:nvPicPr>
          <p:cNvPr id="2" name="图片 1">
            <a:extLst>
              <a:ext uri="{FF2B5EF4-FFF2-40B4-BE49-F238E27FC236}">
                <a16:creationId xmlns:a16="http://schemas.microsoft.com/office/drawing/2014/main" id="{0784FCF9-A0E5-8345-4A44-A53EEB6417C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543040" y="1656772"/>
            <a:ext cx="4958080" cy="4716916"/>
          </a:xfrm>
          <a:prstGeom prst="rect">
            <a:avLst/>
          </a:prstGeom>
          <a:noFill/>
          <a:ln w="6350">
            <a:solidFill>
              <a:schemeClr val="bg1">
                <a:lumMod val="75000"/>
              </a:schemeClr>
            </a:solidFill>
          </a:ln>
        </p:spPr>
      </p:pic>
      <p:sp>
        <p:nvSpPr>
          <p:cNvPr id="6" name="文本框 5">
            <a:extLst>
              <a:ext uri="{FF2B5EF4-FFF2-40B4-BE49-F238E27FC236}">
                <a16:creationId xmlns:a16="http://schemas.microsoft.com/office/drawing/2014/main" id="{67883A63-A824-585A-8489-BDD947CD3D00}"/>
              </a:ext>
            </a:extLst>
          </p:cNvPr>
          <p:cNvSpPr txBox="1"/>
          <p:nvPr/>
        </p:nvSpPr>
        <p:spPr>
          <a:xfrm>
            <a:off x="10364012" y="3596893"/>
            <a:ext cx="1320799" cy="416653"/>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sz="16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16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16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3-1】</a:t>
            </a:r>
            <a:r>
              <a:rPr lang="en-US" altLang="zh-CN" sz="1600"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sz="1600" kern="0" dirty="0">
              <a:latin typeface="Cambria" panose="02040503050406030204" pitchFamily="18" charset="0"/>
              <a:ea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271901640"/>
      </p:ext>
    </p:extLst>
  </p:cSld>
  <p:clrMapOvr>
    <a:masterClrMapping/>
  </p:clrMapOvr>
  <p:transition>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热图</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9681C81B-34DE-DC6A-82FA-9996F618C7C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3.4                    </a:t>
            </a:r>
            <a:r>
              <a:rPr lang="zh-CN" altLang="en-US" sz="3200" b="1" dirty="0">
                <a:solidFill>
                  <a:srgbClr val="002060"/>
                </a:solidFill>
                <a:latin typeface="微软雅黑" panose="020B0503020204020204" pitchFamily="34" charset="-122"/>
                <a:ea typeface="微软雅黑" panose="020B0503020204020204" pitchFamily="34" charset="-122"/>
              </a:rPr>
              <a:t>用颜色饱和度比较</a:t>
            </a:r>
          </a:p>
        </p:txBody>
      </p:sp>
      <p:pic>
        <p:nvPicPr>
          <p:cNvPr id="5" name="图片 4">
            <a:extLst>
              <a:ext uri="{FF2B5EF4-FFF2-40B4-BE49-F238E27FC236}">
                <a16:creationId xmlns:a16="http://schemas.microsoft.com/office/drawing/2014/main" id="{06F68497-5910-CB72-4674-8D8CEB15851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1360" y="1656080"/>
            <a:ext cx="10861040" cy="4744720"/>
          </a:xfrm>
          <a:prstGeom prst="rect">
            <a:avLst/>
          </a:prstGeom>
          <a:noFill/>
          <a:ln w="6350">
            <a:solidFill>
              <a:schemeClr val="bg1">
                <a:lumMod val="75000"/>
              </a:schemeClr>
            </a:solidFill>
          </a:ln>
        </p:spPr>
      </p:pic>
      <p:sp>
        <p:nvSpPr>
          <p:cNvPr id="10" name="文本框 9">
            <a:extLst>
              <a:ext uri="{FF2B5EF4-FFF2-40B4-BE49-F238E27FC236}">
                <a16:creationId xmlns:a16="http://schemas.microsoft.com/office/drawing/2014/main" id="{F1A339A5-1749-7ADD-8177-831A56E98600}"/>
              </a:ext>
            </a:extLst>
          </p:cNvPr>
          <p:cNvSpPr txBox="1"/>
          <p:nvPr/>
        </p:nvSpPr>
        <p:spPr>
          <a:xfrm>
            <a:off x="10353040" y="2077606"/>
            <a:ext cx="1330960" cy="457176"/>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3-2】</a:t>
            </a:r>
            <a:r>
              <a:rPr lang="en-US" altLang="zh-CN"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kern="0" dirty="0">
              <a:latin typeface="Cambria" panose="02040503050406030204" pitchFamily="18" charset="0"/>
              <a:ea typeface="华文细黑"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3674616913"/>
      </p:ext>
    </p:extLst>
  </p:cSld>
  <p:clrMapOvr>
    <a:masterClrMapping/>
  </p:clrMapOvr>
  <p:transition>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热图</a:t>
            </a:r>
            <a:endParaRPr lang="en-US" altLang="zh-CN" sz="2600" b="1" dirty="0">
              <a:solidFill>
                <a:srgbClr val="002060"/>
              </a:solidFill>
              <a:ea typeface="华文细黑" panose="02010600040101010101" pitchFamily="2" charset="-122"/>
            </a:endParaRPr>
          </a:p>
        </p:txBody>
      </p:sp>
      <p:sp>
        <p:nvSpPr>
          <p:cNvPr id="6" name="文本框 5">
            <a:extLst>
              <a:ext uri="{FF2B5EF4-FFF2-40B4-BE49-F238E27FC236}">
                <a16:creationId xmlns:a16="http://schemas.microsoft.com/office/drawing/2014/main" id="{67883A63-A824-585A-8489-BDD947CD3D00}"/>
              </a:ext>
            </a:extLst>
          </p:cNvPr>
          <p:cNvSpPr txBox="1"/>
          <p:nvPr/>
        </p:nvSpPr>
        <p:spPr>
          <a:xfrm>
            <a:off x="416560" y="1872008"/>
            <a:ext cx="2153920" cy="659924"/>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3-3】</a:t>
            </a:r>
            <a:r>
              <a:rPr lang="en-US" altLang="zh-CN" sz="2800"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sz="28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7CB61EC-B283-57F5-2E35-2E41539ECEE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312160" y="1692877"/>
            <a:ext cx="8260080" cy="4707923"/>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9681C81B-34DE-DC6A-82FA-9996F618C7C1}"/>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3.4                    </a:t>
            </a:r>
            <a:r>
              <a:rPr lang="zh-CN" altLang="en-US" sz="3200" b="1" dirty="0">
                <a:solidFill>
                  <a:srgbClr val="002060"/>
                </a:solidFill>
                <a:latin typeface="微软雅黑" panose="020B0503020204020204" pitchFamily="34" charset="-122"/>
                <a:ea typeface="微软雅黑" panose="020B0503020204020204" pitchFamily="34" charset="-122"/>
              </a:rPr>
              <a:t>用颜色饱和度比较</a:t>
            </a:r>
          </a:p>
        </p:txBody>
      </p:sp>
    </p:spTree>
    <p:extLst>
      <p:ext uri="{BB962C8B-B14F-4D97-AF65-F5344CB8AC3E}">
        <p14:creationId xmlns:p14="http://schemas.microsoft.com/office/powerpoint/2010/main" val="1863858820"/>
      </p:ext>
    </p:extLst>
  </p:cSld>
  <p:clrMapOvr>
    <a:masterClrMapping/>
  </p:clrMapOvr>
  <p:transition>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97412"/>
            <a:ext cx="3228747" cy="46932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dirty="0">
                <a:effectLst/>
                <a:highlight>
                  <a:srgbClr val="FFFF99"/>
                </a:highlight>
                <a:latin typeface="Calibri" panose="020F0502020204030204" pitchFamily="34" charset="0"/>
                <a:ea typeface="华文细黑" panose="02010600040101010101" pitchFamily="2" charset="-122"/>
                <a:cs typeface="Times New Roman" panose="02020603050405020304" pitchFamily="18" charset="0"/>
              </a:rPr>
              <a:t>克利夫兰点图</a:t>
            </a:r>
            <a:r>
              <a:rPr lang="zh-CN" altLang="zh-CN" sz="2200" dirty="0">
                <a:effectLst/>
                <a:latin typeface="Calibri" panose="020F0502020204030204" pitchFamily="34" charset="0"/>
                <a:ea typeface="华文细黑" panose="02010600040101010101" pitchFamily="2" charset="-122"/>
                <a:cs typeface="Times New Roman" panose="02020603050405020304" pitchFamily="18" charset="0"/>
              </a:rPr>
              <a:t>（</a:t>
            </a:r>
            <a:r>
              <a:rPr lang="en-US" altLang="zh-CN" sz="2200" dirty="0">
                <a:effectLst/>
                <a:latin typeface="Calibri" panose="020F0502020204030204" pitchFamily="34" charset="0"/>
                <a:ea typeface="华文细黑" panose="02010600040101010101" pitchFamily="2" charset="-122"/>
                <a:cs typeface="Times New Roman" panose="02020603050405020304" pitchFamily="18" charset="0"/>
              </a:rPr>
              <a:t>Cleveland dot chart</a:t>
            </a:r>
            <a:r>
              <a:rPr lang="zh-CN" altLang="zh-CN" sz="2200" dirty="0">
                <a:effectLst/>
                <a:latin typeface="Calibri" panose="020F0502020204030204" pitchFamily="34" charset="0"/>
                <a:ea typeface="华文细黑" panose="02010600040101010101" pitchFamily="2" charset="-122"/>
                <a:cs typeface="Times New Roman" panose="02020603050405020304" pitchFamily="18" charset="0"/>
              </a:rPr>
              <a:t>）是将各类别对应的数值用点的形式展示出来</a:t>
            </a:r>
            <a:endParaRPr lang="en-US" altLang="zh-CN" sz="2200" dirty="0">
              <a:effectLst/>
              <a:latin typeface="Calibri" panose="020F0502020204030204" pitchFamily="34"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libri" panose="020F0502020204030204" pitchFamily="34" charset="0"/>
                <a:ea typeface="华文细黑" panose="02010600040101010101" pitchFamily="2" charset="-122"/>
                <a:cs typeface="Times New Roman" panose="02020603050405020304" pitchFamily="18" charset="0"/>
              </a:rPr>
              <a:t>当类别数较多时，可以作为条形图的替代条形</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克利夫兰点图</a:t>
            </a:r>
            <a:endParaRPr lang="en-US" altLang="zh-CN" sz="2600" b="1" dirty="0">
              <a:solidFill>
                <a:srgbClr val="002060"/>
              </a:solidFill>
              <a:ea typeface="华文细黑" panose="02010600040101010101" pitchFamily="2" charset="-122"/>
            </a:endParaRPr>
          </a:p>
        </p:txBody>
      </p:sp>
      <p:sp>
        <p:nvSpPr>
          <p:cNvPr id="6" name="文本框 5">
            <a:extLst>
              <a:ext uri="{FF2B5EF4-FFF2-40B4-BE49-F238E27FC236}">
                <a16:creationId xmlns:a16="http://schemas.microsoft.com/office/drawing/2014/main" id="{67883A63-A824-585A-8489-BDD947CD3D00}"/>
              </a:ext>
            </a:extLst>
          </p:cNvPr>
          <p:cNvSpPr txBox="1"/>
          <p:nvPr/>
        </p:nvSpPr>
        <p:spPr>
          <a:xfrm>
            <a:off x="1818640" y="5509634"/>
            <a:ext cx="2143760" cy="659924"/>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3-3】</a:t>
            </a:r>
            <a:r>
              <a:rPr lang="en-US" altLang="zh-CN" sz="2800"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sz="28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2" name="Rectangle 2">
            <a:extLst>
              <a:ext uri="{FF2B5EF4-FFF2-40B4-BE49-F238E27FC236}">
                <a16:creationId xmlns:a16="http://schemas.microsoft.com/office/drawing/2014/main" id="{1B9C6997-A315-EDA8-F85A-6502E399809A}"/>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其他比较方法</a:t>
            </a:r>
          </a:p>
        </p:txBody>
      </p:sp>
      <p:pic>
        <p:nvPicPr>
          <p:cNvPr id="4" name="图片 3">
            <a:extLst>
              <a:ext uri="{FF2B5EF4-FFF2-40B4-BE49-F238E27FC236}">
                <a16:creationId xmlns:a16="http://schemas.microsoft.com/office/drawing/2014/main" id="{AC1938FC-E2A6-13C2-6712-7551DB02FC1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94162" y="1697412"/>
            <a:ext cx="7508558" cy="4693227"/>
          </a:xfrm>
          <a:prstGeom prst="rect">
            <a:avLst/>
          </a:prstGeom>
          <a:noFill/>
          <a:ln w="6350">
            <a:solidFill>
              <a:schemeClr val="bg1">
                <a:lumMod val="75000"/>
              </a:schemeClr>
            </a:solidFill>
          </a:ln>
        </p:spPr>
      </p:pic>
    </p:spTree>
    <p:extLst>
      <p:ext uri="{BB962C8B-B14F-4D97-AF65-F5344CB8AC3E}">
        <p14:creationId xmlns:p14="http://schemas.microsoft.com/office/powerpoint/2010/main" val="354751283"/>
      </p:ext>
    </p:extLst>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87252"/>
            <a:ext cx="2791867" cy="4688063"/>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棒棒糖图</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600" dirty="0">
                <a:effectLst/>
                <a:latin typeface="Cambria" panose="02040503050406030204" pitchFamily="18" charset="0"/>
                <a:ea typeface="华文细黑" panose="02010600040101010101" pitchFamily="2" charset="-122"/>
                <a:cs typeface="Times New Roman" panose="02020603050405020304" pitchFamily="18" charset="0"/>
              </a:rPr>
              <a:t>lollipop charts</a:t>
            </a: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）是将各类别对应的数值用点与坐标轴连线的形式展示出来，因形似棒棒糖而得名</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棒棒糖图可以垂直绘制，也可以水平绘制，还可以绘制成极坐标形式</a:t>
            </a:r>
            <a:endParaRPr lang="en-US" altLang="zh-CN" sz="16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600" dirty="0">
                <a:effectLst/>
                <a:latin typeface="Cambria" panose="02040503050406030204" pitchFamily="18" charset="0"/>
                <a:ea typeface="华文细黑" panose="02010600040101010101" pitchFamily="2" charset="-122"/>
                <a:cs typeface="Times New Roman" panose="02020603050405020304" pitchFamily="18" charset="0"/>
              </a:rPr>
              <a:t>棒棒糖图更节省空间。当类别数较多时，可以作为条形图的替代条形</a:t>
            </a:r>
            <a:endParaRPr lang="zh-CN" altLang="zh-CN" sz="16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棒棒糖图</a:t>
            </a:r>
            <a:endParaRPr lang="en-US" altLang="zh-CN" sz="2600" b="1" dirty="0">
              <a:solidFill>
                <a:srgbClr val="002060"/>
              </a:solidFill>
              <a:ea typeface="华文细黑" panose="02010600040101010101" pitchFamily="2" charset="-122"/>
            </a:endParaRPr>
          </a:p>
        </p:txBody>
      </p:sp>
      <p:sp>
        <p:nvSpPr>
          <p:cNvPr id="6" name="文本框 5">
            <a:extLst>
              <a:ext uri="{FF2B5EF4-FFF2-40B4-BE49-F238E27FC236}">
                <a16:creationId xmlns:a16="http://schemas.microsoft.com/office/drawing/2014/main" id="{67883A63-A824-585A-8489-BDD947CD3D00}"/>
              </a:ext>
            </a:extLst>
          </p:cNvPr>
          <p:cNvSpPr txBox="1"/>
          <p:nvPr/>
        </p:nvSpPr>
        <p:spPr>
          <a:xfrm>
            <a:off x="3638346" y="1823130"/>
            <a:ext cx="7893254" cy="659924"/>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3-3】——</a:t>
            </a:r>
            <a:r>
              <a:rPr lang="zh-CN" altLang="en-US" sz="28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图中的红色虚线为均值</a:t>
            </a:r>
            <a:r>
              <a:rPr lang="en-US" altLang="zh-CN" sz="2800"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sz="28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10" name="图片 9">
            <a:extLst>
              <a:ext uri="{FF2B5EF4-FFF2-40B4-BE49-F238E27FC236}">
                <a16:creationId xmlns:a16="http://schemas.microsoft.com/office/drawing/2014/main" id="{A734540A-AF37-B2F0-62D9-AC4D6AE95D4F}"/>
              </a:ext>
            </a:extLst>
          </p:cNvPr>
          <p:cNvPicPr>
            <a:picLocks noChangeAspect="1"/>
          </p:cNvPicPr>
          <p:nvPr/>
        </p:nvPicPr>
        <p:blipFill>
          <a:blip r:embed="rId2"/>
          <a:stretch>
            <a:fillRect/>
          </a:stretch>
        </p:blipFill>
        <p:spPr>
          <a:xfrm>
            <a:off x="3719244" y="2599018"/>
            <a:ext cx="7733016" cy="3771301"/>
          </a:xfrm>
          <a:prstGeom prst="rect">
            <a:avLst/>
          </a:prstGeom>
          <a:ln w="6350">
            <a:solidFill>
              <a:schemeClr val="bg1">
                <a:lumMod val="75000"/>
              </a:schemeClr>
            </a:solidFill>
          </a:ln>
        </p:spPr>
      </p:pic>
      <p:sp>
        <p:nvSpPr>
          <p:cNvPr id="2" name="Rectangle 2">
            <a:extLst>
              <a:ext uri="{FF2B5EF4-FFF2-40B4-BE49-F238E27FC236}">
                <a16:creationId xmlns:a16="http://schemas.microsoft.com/office/drawing/2014/main" id="{59854449-1D5F-C994-F238-0F2478AFC92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其他比较方法</a:t>
            </a:r>
          </a:p>
        </p:txBody>
      </p:sp>
    </p:spTree>
    <p:extLst>
      <p:ext uri="{BB962C8B-B14F-4D97-AF65-F5344CB8AC3E}">
        <p14:creationId xmlns:p14="http://schemas.microsoft.com/office/powerpoint/2010/main" val="2107049494"/>
      </p:ext>
    </p:extLst>
  </p:cSld>
  <p:clrMapOvr>
    <a:masterClrMapping/>
  </p:clrMapOvr>
  <p:transition>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87253"/>
            <a:ext cx="4458107" cy="4663082"/>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哑铃图</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dumbbell chart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）是用一条直线连接两个数据点，因形似哑铃而得名</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主要用于比较两个数据点的差异</a:t>
            </a:r>
            <a:endParaRPr lang="en-US" altLang="zh-CN" sz="22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最主要的应用场景是比较两个不同时间点的数值差异和配对样本的数值差异</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哑铃图</a:t>
            </a:r>
            <a:endParaRPr lang="en-US" altLang="zh-CN" sz="2600" b="1" dirty="0">
              <a:solidFill>
                <a:srgbClr val="002060"/>
              </a:solidFill>
              <a:ea typeface="华文细黑" panose="02010600040101010101" pitchFamily="2" charset="-122"/>
            </a:endParaRPr>
          </a:p>
        </p:txBody>
      </p:sp>
      <p:sp>
        <p:nvSpPr>
          <p:cNvPr id="6" name="文本框 5">
            <a:extLst>
              <a:ext uri="{FF2B5EF4-FFF2-40B4-BE49-F238E27FC236}">
                <a16:creationId xmlns:a16="http://schemas.microsoft.com/office/drawing/2014/main" id="{67883A63-A824-585A-8489-BDD947CD3D00}"/>
              </a:ext>
            </a:extLst>
          </p:cNvPr>
          <p:cNvSpPr txBox="1"/>
          <p:nvPr/>
        </p:nvSpPr>
        <p:spPr>
          <a:xfrm>
            <a:off x="5323839" y="1666785"/>
            <a:ext cx="6134507" cy="497700"/>
          </a:xfrm>
          <a:prstGeom prst="rect">
            <a:avLst/>
          </a:prstGeom>
          <a:noFill/>
        </p:spPr>
        <p:txBody>
          <a:bodyPr wrap="square">
            <a:spAutoFit/>
          </a:bodyPr>
          <a:lstStyle/>
          <a:p>
            <a:pPr marL="0" indent="0" algn="ctr" eaLnBrk="0" hangingPunct="0">
              <a:lnSpc>
                <a:spcPct val="150000"/>
              </a:lnSpc>
              <a:spcBef>
                <a:spcPct val="50000"/>
              </a:spcBef>
              <a:buClr>
                <a:srgbClr val="000099"/>
              </a:buClr>
              <a:buNone/>
              <a:defRPr/>
            </a:pPr>
            <a:r>
              <a:rPr lang="en-US" altLang="zh-CN" sz="20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zh-CN" altLang="en-US" sz="20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000" b="1" kern="0"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3-3】</a:t>
            </a:r>
            <a:r>
              <a:rPr lang="en-US" altLang="zh-CN" sz="2000" kern="0" dirty="0">
                <a:latin typeface="Cambria" panose="02040503050406030204" pitchFamily="18" charset="0"/>
                <a:ea typeface="华文细黑" panose="02010600040101010101" pitchFamily="2" charset="-122"/>
                <a:cs typeface="Times New Roman" panose="02020603050405020304" pitchFamily="18" charset="0"/>
              </a:rPr>
              <a:t>  </a:t>
            </a:r>
            <a:endParaRPr lang="zh-CN"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3" name="图片 2">
            <a:extLst>
              <a:ext uri="{FF2B5EF4-FFF2-40B4-BE49-F238E27FC236}">
                <a16:creationId xmlns:a16="http://schemas.microsoft.com/office/drawing/2014/main" id="{5F0EB5E4-D754-D202-4488-15A60DEEBB0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23840" y="2225542"/>
            <a:ext cx="6134507" cy="4114298"/>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4ECF1865-3675-BA14-F97A-74964CEBD20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其他比较方法</a:t>
            </a:r>
          </a:p>
        </p:txBody>
      </p:sp>
    </p:spTree>
    <p:extLst>
      <p:ext uri="{BB962C8B-B14F-4D97-AF65-F5344CB8AC3E}">
        <p14:creationId xmlns:p14="http://schemas.microsoft.com/office/powerpoint/2010/main" val="286855846"/>
      </p:ext>
    </p:extLst>
  </p:cSld>
  <p:clrMapOvr>
    <a:masterClrMapping/>
  </p:clrMapOvr>
  <p:transition>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3" y="1687252"/>
            <a:ext cx="4275227" cy="471601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b="1" dirty="0">
                <a:effectLst/>
                <a:highlight>
                  <a:srgbClr val="FFFF99"/>
                </a:highlight>
                <a:latin typeface="Cambria" panose="02040503050406030204" pitchFamily="18" charset="0"/>
                <a:ea typeface="华文细黑" panose="02010600040101010101" pitchFamily="2" charset="-122"/>
                <a:cs typeface="Times New Roman" panose="02020603050405020304" pitchFamily="18" charset="0"/>
              </a:rPr>
              <a:t>词云图</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a:t>
            </a:r>
            <a:r>
              <a:rPr lang="en-US" altLang="zh-CN" sz="1800" dirty="0">
                <a:effectLst/>
                <a:latin typeface="Cambria" panose="02040503050406030204" pitchFamily="18" charset="0"/>
                <a:ea typeface="华文细黑" panose="02010600040101010101" pitchFamily="2" charset="-122"/>
                <a:cs typeface="Times New Roman" panose="02020603050405020304" pitchFamily="18" charset="0"/>
              </a:rPr>
              <a:t>word cloud</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）是由单个的字、词或句子组成的图形，主要由于比较词频的多少</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在词云图中，可根据词频的多少用不同的位置或字体大小来安排各词语。比如，高频词用大的字体表示，并放在图中显眼的位置，低频词用小的字体表示，并放在图中次要的位置等</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词云图</a:t>
            </a:r>
            <a:endParaRPr lang="en-US" altLang="zh-CN" sz="2600" b="1" dirty="0">
              <a:solidFill>
                <a:srgbClr val="002060"/>
              </a:solidFill>
              <a:ea typeface="华文细黑" panose="02010600040101010101" pitchFamily="2" charset="-122"/>
            </a:endParaRPr>
          </a:p>
        </p:txBody>
      </p:sp>
      <p:sp>
        <p:nvSpPr>
          <p:cNvPr id="5" name="Rectangle 3">
            <a:extLst>
              <a:ext uri="{FF2B5EF4-FFF2-40B4-BE49-F238E27FC236}">
                <a16:creationId xmlns:a16="http://schemas.microsoft.com/office/drawing/2014/main" id="{87D96D04-1998-827A-7C2B-CB69DADAEFD0}"/>
              </a:ext>
            </a:extLst>
          </p:cNvPr>
          <p:cNvSpPr txBox="1">
            <a:spLocks noChangeArrowheads="1"/>
          </p:cNvSpPr>
          <p:nvPr/>
        </p:nvSpPr>
        <p:spPr>
          <a:xfrm>
            <a:off x="5386933" y="1687253"/>
            <a:ext cx="6236107" cy="62922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【例</a:t>
            </a:r>
            <a:r>
              <a:rPr lang="en-US"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3-4</a:t>
            </a:r>
            <a:r>
              <a:rPr lang="zh-CN" altLang="zh-CN" sz="22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cs typeface="Times New Roman" panose="02020603050405020304" pitchFamily="18" charset="0"/>
              </a:rPr>
              <a:t>】</a:t>
            </a:r>
            <a:r>
              <a:rPr lang="en-US" altLang="zh-CN" sz="2200" b="1" dirty="0">
                <a:solidFill>
                  <a:schemeClr val="bg1"/>
                </a:solidFill>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cs typeface="Times New Roman" panose="02020603050405020304" pitchFamily="18" charset="0"/>
              </a:rPr>
              <a:t>  </a:t>
            </a:r>
            <a:r>
              <a:rPr lang="en-US" altLang="zh-CN" sz="2200" dirty="0">
                <a:effectLst/>
                <a:latin typeface="Cambria" panose="02040503050406030204" pitchFamily="18" charset="0"/>
                <a:ea typeface="华文细黑" panose="02010600040101010101" pitchFamily="2" charset="-122"/>
                <a:cs typeface="Times New Roman" panose="02020603050405020304" pitchFamily="18" charset="0"/>
              </a:rPr>
              <a:t>60</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个不同的词及相应的词频</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graphicFrame>
        <p:nvGraphicFramePr>
          <p:cNvPr id="7" name="表格 6">
            <a:extLst>
              <a:ext uri="{FF2B5EF4-FFF2-40B4-BE49-F238E27FC236}">
                <a16:creationId xmlns:a16="http://schemas.microsoft.com/office/drawing/2014/main" id="{79966ED3-B25C-E598-F42B-318C0B40CAC5}"/>
              </a:ext>
            </a:extLst>
          </p:cNvPr>
          <p:cNvGraphicFramePr>
            <a:graphicFrameLocks noGrp="1"/>
          </p:cNvGraphicFramePr>
          <p:nvPr>
            <p:extLst>
              <p:ext uri="{D42A27DB-BD31-4B8C-83A1-F6EECF244321}">
                <p14:modId xmlns:p14="http://schemas.microsoft.com/office/powerpoint/2010/main" val="3518331600"/>
              </p:ext>
            </p:extLst>
          </p:nvPr>
        </p:nvGraphicFramePr>
        <p:xfrm>
          <a:off x="5386934" y="2420618"/>
          <a:ext cx="6236106" cy="3959864"/>
        </p:xfrm>
        <a:graphic>
          <a:graphicData uri="http://schemas.openxmlformats.org/drawingml/2006/table">
            <a:tbl>
              <a:tblPr firstRow="1" firstCol="1" bandRow="1">
                <a:tableStyleId>{5C22544A-7EE6-4342-B048-85BDC9FD1C3A}</a:tableStyleId>
              </a:tblPr>
              <a:tblGrid>
                <a:gridCol w="3117659">
                  <a:extLst>
                    <a:ext uri="{9D8B030D-6E8A-4147-A177-3AD203B41FA5}">
                      <a16:colId xmlns:a16="http://schemas.microsoft.com/office/drawing/2014/main" val="148320274"/>
                    </a:ext>
                  </a:extLst>
                </a:gridCol>
                <a:gridCol w="3118447">
                  <a:extLst>
                    <a:ext uri="{9D8B030D-6E8A-4147-A177-3AD203B41FA5}">
                      <a16:colId xmlns:a16="http://schemas.microsoft.com/office/drawing/2014/main" val="4035292709"/>
                    </a:ext>
                  </a:extLst>
                </a:gridCol>
              </a:tblGrid>
              <a:tr h="494983">
                <a:tc>
                  <a:txBody>
                    <a:bodyPr/>
                    <a:lstStyle/>
                    <a:p>
                      <a:pPr algn="ctr">
                        <a:lnSpc>
                          <a:spcPct val="115000"/>
                        </a:lnSpc>
                      </a:pP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词</a:t>
                      </a:r>
                    </a:p>
                  </a:txBody>
                  <a:tcPr marL="68580" marR="68580" marT="0" marB="0" anchor="ctr"/>
                </a:tc>
                <a:tc>
                  <a:txBody>
                    <a:bodyPr/>
                    <a:lstStyle/>
                    <a:p>
                      <a:pPr algn="ctr">
                        <a:lnSpc>
                          <a:spcPct val="115000"/>
                        </a:lnSpc>
                      </a:pP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词频</a:t>
                      </a:r>
                    </a:p>
                  </a:txBody>
                  <a:tcPr marL="68580" marR="68580" marT="0" marB="0" anchor="ctr"/>
                </a:tc>
                <a:extLst>
                  <a:ext uri="{0D108BD9-81ED-4DB2-BD59-A6C34878D82A}">
                    <a16:rowId xmlns:a16="http://schemas.microsoft.com/office/drawing/2014/main" val="2831786148"/>
                  </a:ext>
                </a:extLst>
              </a:tr>
              <a:tr h="494983">
                <a:tc>
                  <a:txBody>
                    <a:bodyPr/>
                    <a:lstStyle/>
                    <a:p>
                      <a:pPr algn="ctr">
                        <a:lnSpc>
                          <a:spcPct val="115000"/>
                        </a:lnSpc>
                      </a:pPr>
                      <a:r>
                        <a:rPr lang="zh-CN" sz="1800" b="1" dirty="0">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可视化</a:t>
                      </a: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1500</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3502740003"/>
                  </a:ext>
                </a:extLst>
              </a:tr>
              <a:tr h="494983">
                <a:tc>
                  <a:txBody>
                    <a:bodyPr/>
                    <a:lstStyle/>
                    <a:p>
                      <a:pPr algn="ctr">
                        <a:lnSpc>
                          <a:spcPct val="115000"/>
                        </a:lnSpc>
                      </a:pPr>
                      <a:r>
                        <a:rPr lang="en-US" sz="1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R</a:t>
                      </a: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语言</a:t>
                      </a: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1100</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750290045"/>
                  </a:ext>
                </a:extLst>
              </a:tr>
              <a:tr h="494983">
                <a:tc>
                  <a:txBody>
                    <a:bodyPr/>
                    <a:lstStyle/>
                    <a:p>
                      <a:pPr algn="ctr">
                        <a:lnSpc>
                          <a:spcPct val="115000"/>
                        </a:lnSpc>
                      </a:pP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分析</a:t>
                      </a: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855</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3684922635"/>
                  </a:ext>
                </a:extLst>
              </a:tr>
              <a:tr h="494983">
                <a:tc>
                  <a:txBody>
                    <a:bodyPr/>
                    <a:lstStyle/>
                    <a:p>
                      <a:pPr algn="ctr">
                        <a:lnSpc>
                          <a:spcPct val="115000"/>
                        </a:lnSpc>
                      </a:pPr>
                      <a:r>
                        <a:rPr lang="en-US" sz="1800" b="1">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a:t>
                      </a:r>
                      <a:endPar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endParaRP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308696460"/>
                  </a:ext>
                </a:extLst>
              </a:tr>
              <a:tr h="494983">
                <a:tc>
                  <a:txBody>
                    <a:bodyPr/>
                    <a:lstStyle/>
                    <a:p>
                      <a:pPr algn="ctr">
                        <a:lnSpc>
                          <a:spcPct val="115000"/>
                        </a:lnSpc>
                      </a:pP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正态分布</a:t>
                      </a: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174</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2277039922"/>
                  </a:ext>
                </a:extLst>
              </a:tr>
              <a:tr h="494983">
                <a:tc>
                  <a:txBody>
                    <a:bodyPr/>
                    <a:lstStyle/>
                    <a:p>
                      <a:pPr algn="ctr">
                        <a:lnSpc>
                          <a:spcPct val="115000"/>
                        </a:lnSpc>
                      </a:pP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图形组合</a:t>
                      </a: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171</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1930789298"/>
                  </a:ext>
                </a:extLst>
              </a:tr>
              <a:tr h="494983">
                <a:tc>
                  <a:txBody>
                    <a:bodyPr/>
                    <a:lstStyle/>
                    <a:p>
                      <a:pPr algn="ctr">
                        <a:lnSpc>
                          <a:spcPct val="115000"/>
                        </a:lnSpc>
                      </a:pPr>
                      <a:r>
                        <a:rPr lang="zh-CN" sz="1800" b="1">
                          <a:effectLst>
                            <a:outerShdw blurRad="38100" dist="38100" dir="2700000" algn="tl">
                              <a:srgbClr val="000000">
                                <a:alpha val="43137"/>
                              </a:srgbClr>
                            </a:outerShdw>
                          </a:effectLst>
                          <a:latin typeface="Cambria" panose="02040503050406030204" pitchFamily="18" charset="0"/>
                          <a:ea typeface="华文细黑" panose="02010600040101010101" pitchFamily="2" charset="-122"/>
                        </a:rPr>
                        <a:t>词云图</a:t>
                      </a:r>
                    </a:p>
                  </a:txBody>
                  <a:tcPr marL="68580" marR="68580" marT="0" marB="0" anchor="ctr"/>
                </a:tc>
                <a:tc>
                  <a:txBody>
                    <a:bodyPr/>
                    <a:lstStyle/>
                    <a:p>
                      <a:pPr algn="ctr">
                        <a:lnSpc>
                          <a:spcPct val="115000"/>
                        </a:lnSpc>
                      </a:pPr>
                      <a:r>
                        <a:rPr lang="en-US" sz="1800" b="1" dirty="0">
                          <a:effectLst/>
                          <a:latin typeface="Cambria" panose="02040503050406030204" pitchFamily="18" charset="0"/>
                          <a:ea typeface="Cambria" panose="02040503050406030204" pitchFamily="18" charset="0"/>
                        </a:rPr>
                        <a:t>171</a:t>
                      </a:r>
                      <a:endParaRPr lang="zh-CN" sz="1800" b="1" dirty="0">
                        <a:effectLst/>
                        <a:latin typeface="Cambria" panose="02040503050406030204" pitchFamily="18" charset="0"/>
                        <a:ea typeface="华文细黑" panose="02010600040101010101" pitchFamily="2" charset="-122"/>
                      </a:endParaRPr>
                    </a:p>
                  </a:txBody>
                  <a:tcPr marL="68580" marR="68580" marT="0" marB="0" anchor="ctr"/>
                </a:tc>
                <a:extLst>
                  <a:ext uri="{0D108BD9-81ED-4DB2-BD59-A6C34878D82A}">
                    <a16:rowId xmlns:a16="http://schemas.microsoft.com/office/drawing/2014/main" val="2069635887"/>
                  </a:ext>
                </a:extLst>
              </a:tr>
            </a:tbl>
          </a:graphicData>
        </a:graphic>
      </p:graphicFrame>
      <p:sp>
        <p:nvSpPr>
          <p:cNvPr id="2" name="Rectangle 2">
            <a:extLst>
              <a:ext uri="{FF2B5EF4-FFF2-40B4-BE49-F238E27FC236}">
                <a16:creationId xmlns:a16="http://schemas.microsoft.com/office/drawing/2014/main" id="{55EF4F65-7900-FB0C-938A-0906CA7761CD}"/>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其他比较方法</a:t>
            </a:r>
          </a:p>
        </p:txBody>
      </p:sp>
    </p:spTree>
    <p:extLst>
      <p:ext uri="{BB962C8B-B14F-4D97-AF65-F5344CB8AC3E}">
        <p14:creationId xmlns:p14="http://schemas.microsoft.com/office/powerpoint/2010/main" val="2736239309"/>
      </p:ext>
    </p:extLst>
  </p:cSld>
  <p:clrMapOvr>
    <a:masterClrMapping/>
  </p:clrMapOvr>
  <p:transition>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词云图</a:t>
            </a:r>
            <a:endParaRPr lang="en-US" altLang="zh-CN" sz="2600" b="1" dirty="0">
              <a:solidFill>
                <a:srgbClr val="002060"/>
              </a:solidFill>
              <a:ea typeface="华文细黑" panose="02010600040101010101" pitchFamily="2" charset="-122"/>
            </a:endParaRPr>
          </a:p>
        </p:txBody>
      </p:sp>
      <p:pic>
        <p:nvPicPr>
          <p:cNvPr id="10" name="图片 9">
            <a:extLst>
              <a:ext uri="{FF2B5EF4-FFF2-40B4-BE49-F238E27FC236}">
                <a16:creationId xmlns:a16="http://schemas.microsoft.com/office/drawing/2014/main" id="{119AC2F9-440D-6303-4903-BAEE1EDB66C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40080" y="1726718"/>
            <a:ext cx="7741920" cy="4663922"/>
          </a:xfrm>
          <a:prstGeom prst="rect">
            <a:avLst/>
          </a:prstGeom>
          <a:noFill/>
          <a:ln w="6350">
            <a:solidFill>
              <a:schemeClr val="bg1">
                <a:lumMod val="75000"/>
              </a:schemeClr>
            </a:solidFill>
          </a:ln>
        </p:spPr>
      </p:pic>
      <p:pic>
        <p:nvPicPr>
          <p:cNvPr id="11" name="图片 10">
            <a:extLst>
              <a:ext uri="{FF2B5EF4-FFF2-40B4-BE49-F238E27FC236}">
                <a16:creationId xmlns:a16="http://schemas.microsoft.com/office/drawing/2014/main" id="{3C1A66CC-0028-8043-0801-EA8F8697A350}"/>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44560" y="1726717"/>
            <a:ext cx="3007360" cy="2149733"/>
          </a:xfrm>
          <a:prstGeom prst="rect">
            <a:avLst/>
          </a:prstGeom>
          <a:noFill/>
          <a:ln w="6350">
            <a:solidFill>
              <a:schemeClr val="bg1">
                <a:lumMod val="75000"/>
              </a:schemeClr>
            </a:solidFill>
          </a:ln>
        </p:spPr>
      </p:pic>
      <p:pic>
        <p:nvPicPr>
          <p:cNvPr id="12" name="图片 11">
            <a:extLst>
              <a:ext uri="{FF2B5EF4-FFF2-40B4-BE49-F238E27FC236}">
                <a16:creationId xmlns:a16="http://schemas.microsoft.com/office/drawing/2014/main" id="{8F8AE8B5-C074-5604-C9CB-100F84DFA38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544560" y="3888798"/>
            <a:ext cx="3007360" cy="2410402"/>
          </a:xfrm>
          <a:prstGeom prst="rect">
            <a:avLst/>
          </a:prstGeom>
          <a:noFill/>
          <a:ln>
            <a:solidFill>
              <a:schemeClr val="bg1">
                <a:lumMod val="75000"/>
              </a:schemeClr>
            </a:solidFill>
          </a:ln>
        </p:spPr>
      </p:pic>
      <p:sp>
        <p:nvSpPr>
          <p:cNvPr id="2" name="Rectangle 2">
            <a:extLst>
              <a:ext uri="{FF2B5EF4-FFF2-40B4-BE49-F238E27FC236}">
                <a16:creationId xmlns:a16="http://schemas.microsoft.com/office/drawing/2014/main" id="{7BACABC2-9062-54A7-2C77-E7BA868AEF48}"/>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3.5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其他比较方法</a:t>
            </a:r>
          </a:p>
        </p:txBody>
      </p:sp>
    </p:spTree>
    <p:extLst>
      <p:ext uri="{BB962C8B-B14F-4D97-AF65-F5344CB8AC3E}">
        <p14:creationId xmlns:p14="http://schemas.microsoft.com/office/powerpoint/2010/main" val="764774811"/>
      </p:ext>
    </p:extLst>
  </p:cSld>
  <p:clrMapOvr>
    <a:masterClrMapping/>
  </p:clrMapOvr>
  <p:transition>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添加推断信息</a:t>
            </a:r>
            <a:endParaRPr lang="en-US" altLang="zh-CN" sz="2600" b="1" dirty="0">
              <a:solidFill>
                <a:srgbClr val="002060"/>
              </a:solidFill>
              <a:ea typeface="华文细黑" panose="02010600040101010101" pitchFamily="2" charset="-122"/>
            </a:endParaRPr>
          </a:p>
        </p:txBody>
      </p: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99470F52-B068-C05D-44A7-7551D71A0826}"/>
                  </a:ext>
                </a:extLst>
              </p:cNvPr>
              <p:cNvSpPr txBox="1">
                <a:spLocks noChangeArrowheads="1"/>
              </p:cNvSpPr>
              <p:nvPr/>
            </p:nvSpPr>
            <p:spPr>
              <a:xfrm>
                <a:off x="660400" y="1636304"/>
                <a:ext cx="10861040" cy="472385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rPr>
                  <a:t>用条形展示多个随机样本的均值，可以将误差信息添加在条形图上</a:t>
                </a:r>
                <a:endParaRPr lang="en-US" altLang="zh-CN" sz="24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rPr>
                  <a:t>关心一个类别变量各类别的频数是否相同，可以将</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华文细黑" panose="02010600040101010101" pitchFamily="2" charset="-122"/>
                          </a:rPr>
                          <m:t>𝜒</m:t>
                        </m:r>
                      </m:e>
                      <m:sup>
                        <m:r>
                          <a:rPr lang="en-US" altLang="zh-CN" sz="2400" i="1">
                            <a:effectLst/>
                            <a:latin typeface="Cambria Math" panose="02040503050406030204" pitchFamily="18" charset="0"/>
                            <a:ea typeface="华文细黑" panose="02010600040101010101" pitchFamily="2" charset="-122"/>
                          </a:rPr>
                          <m:t>2</m:t>
                        </m:r>
                      </m:sup>
                    </m:sSup>
                  </m:oMath>
                </a14:m>
                <a:r>
                  <a:rPr lang="zh-CN" altLang="zh-CN" sz="2400" dirty="0">
                    <a:effectLst/>
                    <a:latin typeface="Cambria" panose="02040503050406030204" pitchFamily="18" charset="0"/>
                    <a:ea typeface="华文细黑" panose="02010600040101010101" pitchFamily="2" charset="-122"/>
                  </a:rPr>
                  <a:t>拟合优度检验的</a:t>
                </a:r>
                <a:r>
                  <a:rPr lang="en-US" altLang="zh-CN" sz="2400" i="1" dirty="0">
                    <a:effectLst/>
                    <a:latin typeface="Cambria" panose="02040503050406030204" pitchFamily="18" charset="0"/>
                    <a:ea typeface="华文细黑" panose="02010600040101010101" pitchFamily="2" charset="-122"/>
                  </a:rPr>
                  <a:t>P</a:t>
                </a:r>
                <a:r>
                  <a:rPr lang="zh-CN" altLang="zh-CN" sz="2400" dirty="0">
                    <a:effectLst/>
                    <a:latin typeface="Cambria" panose="02040503050406030204" pitchFamily="18" charset="0"/>
                    <a:ea typeface="华文细黑" panose="02010600040101010101" pitchFamily="2" charset="-122"/>
                  </a:rPr>
                  <a:t>值添加在条形图上</a:t>
                </a:r>
                <a:endParaRPr lang="en-US" altLang="zh-CN" sz="24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rPr>
                  <a:t>关心两个类别变量是否有关系，可以将</a:t>
                </a:r>
                <a14:m>
                  <m:oMath xmlns:m="http://schemas.openxmlformats.org/officeDocument/2006/math">
                    <m:sSup>
                      <m:sSupPr>
                        <m:ctrlPr>
                          <a:rPr lang="zh-CN" altLang="zh-CN" sz="2400" i="1">
                            <a:effectLst/>
                            <a:latin typeface="Cambria Math" panose="02040503050406030204" pitchFamily="18" charset="0"/>
                            <a:ea typeface="Cambria Math" panose="02040503050406030204" pitchFamily="18" charset="0"/>
                          </a:rPr>
                        </m:ctrlPr>
                      </m:sSupPr>
                      <m:e>
                        <m:r>
                          <a:rPr lang="en-US" altLang="zh-CN" sz="2400" i="1">
                            <a:effectLst/>
                            <a:latin typeface="Cambria Math" panose="02040503050406030204" pitchFamily="18" charset="0"/>
                            <a:ea typeface="华文细黑" panose="02010600040101010101" pitchFamily="2" charset="-122"/>
                          </a:rPr>
                          <m:t>𝜒</m:t>
                        </m:r>
                      </m:e>
                      <m:sup>
                        <m:r>
                          <a:rPr lang="en-US" altLang="zh-CN" sz="2400" i="1">
                            <a:effectLst/>
                            <a:latin typeface="Cambria Math" panose="02040503050406030204" pitchFamily="18" charset="0"/>
                            <a:ea typeface="华文细黑" panose="02010600040101010101" pitchFamily="2" charset="-122"/>
                          </a:rPr>
                          <m:t>2</m:t>
                        </m:r>
                      </m:sup>
                    </m:sSup>
                  </m:oMath>
                </a14:m>
                <a:r>
                  <a:rPr lang="zh-CN" altLang="zh-CN" sz="2400" dirty="0">
                    <a:effectLst/>
                    <a:latin typeface="Cambria" panose="02040503050406030204" pitchFamily="18" charset="0"/>
                    <a:ea typeface="华文细黑" panose="02010600040101010101" pitchFamily="2" charset="-122"/>
                  </a:rPr>
                  <a:t>独立性检验的</a:t>
                </a:r>
                <a:r>
                  <a:rPr lang="en-US" altLang="zh-CN" sz="2400" i="1" dirty="0">
                    <a:effectLst/>
                    <a:latin typeface="Cambria" panose="02040503050406030204" pitchFamily="18" charset="0"/>
                    <a:ea typeface="华文细黑" panose="02010600040101010101" pitchFamily="2" charset="-122"/>
                  </a:rPr>
                  <a:t>P</a:t>
                </a:r>
                <a:r>
                  <a:rPr lang="zh-CN" altLang="zh-CN" sz="2400" dirty="0">
                    <a:effectLst/>
                    <a:latin typeface="Cambria" panose="02040503050406030204" pitchFamily="18" charset="0"/>
                    <a:ea typeface="华文细黑" panose="02010600040101010101" pitchFamily="2" charset="-122"/>
                  </a:rPr>
                  <a:t>值添加在条形图上</a:t>
                </a:r>
                <a:endParaRPr lang="en-US" altLang="zh-CN" sz="2400" dirty="0">
                  <a:effectLst/>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400" dirty="0">
                    <a:effectLst/>
                    <a:latin typeface="Cambria" panose="02040503050406030204" pitchFamily="18" charset="0"/>
                    <a:ea typeface="华文细黑" panose="02010600040101010101" pitchFamily="2" charset="-122"/>
                  </a:rPr>
                  <a:t>将误差和检验的</a:t>
                </a:r>
                <a:r>
                  <a:rPr lang="en-US" altLang="zh-CN" sz="2400" i="1" dirty="0">
                    <a:effectLst/>
                    <a:latin typeface="Cambria" panose="02040503050406030204" pitchFamily="18" charset="0"/>
                    <a:ea typeface="华文细黑" panose="02010600040101010101" pitchFamily="2" charset="-122"/>
                  </a:rPr>
                  <a:t>P</a:t>
                </a:r>
                <a:r>
                  <a:rPr lang="zh-CN" altLang="zh-CN" sz="2400" dirty="0">
                    <a:effectLst/>
                    <a:latin typeface="Cambria" panose="02040503050406030204" pitchFamily="18" charset="0"/>
                    <a:ea typeface="华文细黑" panose="02010600040101010101" pitchFamily="2" charset="-122"/>
                  </a:rPr>
                  <a:t>值添加到条形图上，可以为数据分析提供更多的信息或结论</a:t>
                </a:r>
                <a:endParaRPr lang="zh-CN" altLang="zh-CN" sz="2400" dirty="0">
                  <a:effectLst/>
                  <a:latin typeface="Times New Roman" panose="02020603050405020304" pitchFamily="18" charset="0"/>
                  <a:ea typeface="宋体" panose="0201060003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endParaRPr lang="zh-CN" altLang="zh-CN" sz="2400" kern="0" dirty="0">
                  <a:latin typeface="Cambria" panose="02040503050406030204" pitchFamily="18" charset="0"/>
                  <a:ea typeface="华文细黑" panose="02010600040101010101" pitchFamily="2" charset="-122"/>
                  <a:cs typeface="Times New Roman" panose="02020603050405020304" pitchFamily="18" charset="0"/>
                </a:endParaRPr>
              </a:p>
            </p:txBody>
          </p:sp>
        </mc:Choice>
        <mc:Fallback xmlns="">
          <p:sp>
            <p:nvSpPr>
              <p:cNvPr id="4" name="Rectangle 3">
                <a:extLst>
                  <a:ext uri="{FF2B5EF4-FFF2-40B4-BE49-F238E27FC236}">
                    <a16:creationId xmlns:a16="http://schemas.microsoft.com/office/drawing/2014/main" id="{99470F52-B068-C05D-44A7-7551D71A0826}"/>
                  </a:ext>
                </a:extLst>
              </p:cNvPr>
              <p:cNvSpPr txBox="1">
                <a:spLocks noRot="1" noChangeAspect="1" noMove="1" noResize="1" noEditPoints="1" noAdjustHandles="1" noChangeArrowheads="1" noChangeShapeType="1" noTextEdit="1"/>
              </p:cNvSpPr>
              <p:nvPr/>
            </p:nvSpPr>
            <p:spPr>
              <a:xfrm>
                <a:off x="660400" y="1636304"/>
                <a:ext cx="10861040" cy="4723855"/>
              </a:xfrm>
              <a:prstGeom prst="rect">
                <a:avLst/>
              </a:prstGeom>
              <a:blipFill>
                <a:blip r:embed="rId2"/>
                <a:stretch>
                  <a:fillRect l="-729" r="-841"/>
                </a:stretch>
              </a:blipFill>
              <a:ln w="6350">
                <a:solidFill>
                  <a:schemeClr val="bg1">
                    <a:lumMod val="75000"/>
                  </a:schemeClr>
                </a:solidFill>
                <a:miter lim="800000"/>
                <a:headEnd/>
                <a:tailEnd/>
              </a:ln>
            </p:spPr>
            <p:txBody>
              <a:bodyPr/>
              <a:lstStyle/>
              <a:p>
                <a:r>
                  <a:rPr lang="zh-CN" altLang="en-US">
                    <a:noFill/>
                  </a:rPr>
                  <a:t> </a:t>
                </a:r>
              </a:p>
            </p:txBody>
          </p:sp>
        </mc:Fallback>
      </mc:AlternateContent>
      <p:sp>
        <p:nvSpPr>
          <p:cNvPr id="2" name="Rectangle 2">
            <a:extLst>
              <a:ext uri="{FF2B5EF4-FFF2-40B4-BE49-F238E27FC236}">
                <a16:creationId xmlns:a16="http://schemas.microsoft.com/office/drawing/2014/main" id="{5263A356-7DD3-CA1D-3819-D7AE3C7242F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3.6                </a:t>
            </a:r>
            <a:r>
              <a:rPr lang="zh-CN" altLang="en-US" sz="3200" b="1" dirty="0">
                <a:solidFill>
                  <a:srgbClr val="002060"/>
                </a:solidFill>
                <a:latin typeface="微软雅黑" panose="020B0503020204020204" pitchFamily="34" charset="-122"/>
                <a:ea typeface="微软雅黑" panose="020B0503020204020204" pitchFamily="34" charset="-122"/>
              </a:rPr>
              <a:t>在条形图上添加推断信息</a:t>
            </a:r>
          </a:p>
        </p:txBody>
      </p:sp>
    </p:spTree>
    <p:extLst>
      <p:ext uri="{BB962C8B-B14F-4D97-AF65-F5344CB8AC3E}">
        <p14:creationId xmlns:p14="http://schemas.microsoft.com/office/powerpoint/2010/main" val="2642568633"/>
      </p:ext>
    </p:extLst>
  </p:cSld>
  <p:clrMapOvr>
    <a:masterClrMapping/>
  </p:clrMapOvr>
  <p:transition>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添加误差信息</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误差条形图</a:t>
            </a:r>
            <a:endParaRPr lang="en-US" altLang="zh-CN" sz="2600" b="1" dirty="0">
              <a:solidFill>
                <a:srgbClr val="002060"/>
              </a:solidFill>
              <a:ea typeface="华文细黑" panose="02010600040101010101" pitchFamily="2" charset="-122"/>
            </a:endParaRPr>
          </a:p>
        </p:txBody>
      </p:sp>
      <p:sp>
        <p:nvSpPr>
          <p:cNvPr id="4" name="Rectangle 3">
            <a:extLst>
              <a:ext uri="{FF2B5EF4-FFF2-40B4-BE49-F238E27FC236}">
                <a16:creationId xmlns:a16="http://schemas.microsoft.com/office/drawing/2014/main" id="{99470F52-B068-C05D-44A7-7551D71A0826}"/>
              </a:ext>
            </a:extLst>
          </p:cNvPr>
          <p:cNvSpPr txBox="1">
            <a:spLocks noChangeArrowheads="1"/>
          </p:cNvSpPr>
          <p:nvPr/>
        </p:nvSpPr>
        <p:spPr>
          <a:xfrm>
            <a:off x="609600" y="1676944"/>
            <a:ext cx="4389120" cy="469337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添加误差线的条形图</a:t>
            </a:r>
            <a:r>
              <a:rPr lang="zh-CN" altLang="en-US" sz="1700" dirty="0">
                <a:latin typeface="Cambria" panose="02040503050406030204" pitchFamily="18" charset="0"/>
                <a:ea typeface="华文细黑" panose="02010600040101010101" pitchFamily="2" charset="-122"/>
              </a:rPr>
              <a:t>称为</a:t>
            </a:r>
            <a:r>
              <a:rPr lang="zh-CN" altLang="zh-CN" sz="1700" dirty="0">
                <a:latin typeface="Cambria" panose="02040503050406030204" pitchFamily="18" charset="0"/>
                <a:ea typeface="华文细黑" panose="02010600040101010101" pitchFamily="2" charset="-122"/>
              </a:rPr>
              <a:t>误差条形图（</a:t>
            </a:r>
            <a:r>
              <a:rPr lang="en-US" altLang="zh-CN" sz="1700" dirty="0">
                <a:latin typeface="Cambria" panose="02040503050406030204" pitchFamily="18" charset="0"/>
                <a:ea typeface="华文细黑" panose="02010600040101010101" pitchFamily="2" charset="-122"/>
              </a:rPr>
              <a:t>error bar chart</a:t>
            </a:r>
            <a:r>
              <a:rPr lang="zh-CN" altLang="zh-CN" sz="1700" dirty="0">
                <a:latin typeface="Cambria" panose="02040503050406030204" pitchFamily="18" charset="0"/>
                <a:ea typeface="华文细黑" panose="02010600040101010101" pitchFamily="2" charset="-122"/>
              </a:rPr>
              <a:t>），它是用条形的高度（或长度）表示样本均值，并以均值为中心将一定的误差范围以误差线的形式叠加在条形图上</a:t>
            </a:r>
            <a:endParaRPr lang="en-US" altLang="zh-CN" sz="1700" dirty="0">
              <a:latin typeface="Cambria" panose="02040503050406030204" pitchFamily="18" charset="0"/>
              <a:ea typeface="华文细黑" panose="02010600040101010101" pitchFamily="2" charset="-122"/>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700" dirty="0">
                <a:latin typeface="Cambria" panose="02040503050406030204" pitchFamily="18" charset="0"/>
                <a:ea typeface="华文细黑" panose="02010600040101010101" pitchFamily="2" charset="-122"/>
              </a:rPr>
              <a:t>误差线可以是样本均值±样本标准差（</a:t>
            </a:r>
            <a:r>
              <a:rPr lang="en-US" altLang="zh-CN" sz="1700" dirty="0">
                <a:latin typeface="Cambria" panose="02040503050406030204" pitchFamily="18" charset="0"/>
                <a:ea typeface="华文细黑" panose="02010600040101010101" pitchFamily="2" charset="-122"/>
              </a:rPr>
              <a:t>standard deviation</a:t>
            </a:r>
            <a:r>
              <a:rPr lang="zh-CN" altLang="zh-CN" sz="1700" dirty="0">
                <a:latin typeface="Cambria" panose="02040503050406030204" pitchFamily="18" charset="0"/>
                <a:ea typeface="华文细黑" panose="02010600040101010101" pitchFamily="2" charset="-122"/>
              </a:rPr>
              <a:t>，</a:t>
            </a:r>
            <a:r>
              <a:rPr lang="en-US" altLang="zh-CN" sz="1700" dirty="0" err="1">
                <a:latin typeface="Cambria" panose="02040503050406030204" pitchFamily="18" charset="0"/>
                <a:ea typeface="华文细黑" panose="02010600040101010101" pitchFamily="2" charset="-122"/>
              </a:rPr>
              <a:t>sd</a:t>
            </a:r>
            <a:r>
              <a:rPr lang="zh-CN" altLang="zh-CN" sz="1700" dirty="0">
                <a:latin typeface="Cambria" panose="02040503050406030204" pitchFamily="18" charset="0"/>
                <a:ea typeface="华文细黑" panose="02010600040101010101" pitchFamily="2" charset="-122"/>
              </a:rPr>
              <a:t>），也可以是样本均值±标准误（</a:t>
            </a:r>
            <a:r>
              <a:rPr lang="en-US" altLang="zh-CN" sz="1700" dirty="0">
                <a:latin typeface="Cambria" panose="02040503050406030204" pitchFamily="18" charset="0"/>
                <a:ea typeface="华文细黑" panose="02010600040101010101" pitchFamily="2" charset="-122"/>
              </a:rPr>
              <a:t>standard error</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华文细黑" panose="02010600040101010101" pitchFamily="2" charset="-122"/>
              </a:rPr>
              <a:t>se</a:t>
            </a:r>
            <a:r>
              <a:rPr lang="zh-CN" altLang="zh-CN" sz="1700" dirty="0">
                <a:latin typeface="Cambria" panose="02040503050406030204" pitchFamily="18" charset="0"/>
                <a:ea typeface="华文细黑" panose="02010600040101010101" pitchFamily="2" charset="-122"/>
              </a:rPr>
              <a:t>），还可以是样本均值±估计误差（</a:t>
            </a:r>
            <a:r>
              <a:rPr lang="en-US" altLang="zh-CN" sz="1700" dirty="0">
                <a:latin typeface="Cambria" panose="02040503050406030204" pitchFamily="18" charset="0"/>
                <a:ea typeface="华文细黑" panose="02010600040101010101" pitchFamily="2" charset="-122"/>
              </a:rPr>
              <a:t>evaluated error</a:t>
            </a:r>
            <a:r>
              <a:rPr lang="zh-CN" altLang="zh-CN" sz="1700" dirty="0">
                <a:latin typeface="Cambria" panose="02040503050406030204" pitchFamily="18" charset="0"/>
                <a:ea typeface="华文细黑" panose="02010600040101010101" pitchFamily="2" charset="-122"/>
              </a:rPr>
              <a:t>，</a:t>
            </a:r>
            <a:r>
              <a:rPr lang="en-US" altLang="zh-CN" sz="1700" dirty="0">
                <a:latin typeface="Cambria" panose="02040503050406030204" pitchFamily="18" charset="0"/>
                <a:ea typeface="华文细黑" panose="02010600040101010101" pitchFamily="2" charset="-122"/>
              </a:rPr>
              <a:t>E</a:t>
            </a:r>
            <a:r>
              <a:rPr lang="zh-CN" altLang="zh-CN" sz="1700" dirty="0">
                <a:latin typeface="Cambria" panose="02040503050406030204" pitchFamily="18" charset="0"/>
                <a:ea typeface="华文细黑" panose="02010600040101010101" pitchFamily="2" charset="-122"/>
              </a:rPr>
              <a:t>）</a:t>
            </a:r>
          </a:p>
        </p:txBody>
      </p:sp>
      <mc:AlternateContent xmlns:mc="http://schemas.openxmlformats.org/markup-compatibility/2006" xmlns:a14="http://schemas.microsoft.com/office/drawing/2010/main">
        <mc:Choice Requires="a14">
          <p:sp>
            <p:nvSpPr>
              <p:cNvPr id="5" name="Rectangle 3">
                <a:extLst>
                  <a:ext uri="{FF2B5EF4-FFF2-40B4-BE49-F238E27FC236}">
                    <a16:creationId xmlns:a16="http://schemas.microsoft.com/office/drawing/2014/main" id="{48B9C8FA-B87B-92DB-87F6-E5E9C1648B5D}"/>
                  </a:ext>
                </a:extLst>
              </p:cNvPr>
              <p:cNvSpPr txBox="1">
                <a:spLocks noChangeArrowheads="1"/>
              </p:cNvSpPr>
              <p:nvPr/>
            </p:nvSpPr>
            <p:spPr>
              <a:xfrm>
                <a:off x="5201920" y="1676944"/>
                <a:ext cx="6400800" cy="4693375"/>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dirty="0">
                    <a:latin typeface="Cambria" panose="02040503050406030204" pitchFamily="18" charset="0"/>
                    <a:ea typeface="华文细黑" panose="02010600040101010101" pitchFamily="2" charset="-122"/>
                  </a:rPr>
                  <a:t>添加何种误差线取决于分析目的</a:t>
                </a:r>
                <a:endParaRPr lang="en-US" altLang="zh-CN" dirty="0">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sz="1700" dirty="0">
                    <a:latin typeface="Cambria" panose="02040503050406030204" pitchFamily="18" charset="0"/>
                    <a:ea typeface="华文细黑" panose="02010600040101010101" pitchFamily="2" charset="-122"/>
                  </a:rPr>
                  <a:t>要分析样本（或总体）数据的离散程度，可以用均值加减一定倍数的标准差，通常为</a:t>
                </a:r>
                <a:r>
                  <a:rPr lang="en-US" altLang="zh-CN" sz="1700" dirty="0">
                    <a:latin typeface="Cambria" panose="02040503050406030204" pitchFamily="18" charset="0"/>
                    <a:ea typeface="华文细黑" panose="02010600040101010101" pitchFamily="2" charset="-122"/>
                  </a:rPr>
                  <a:t>1</a:t>
                </a:r>
                <a:r>
                  <a:rPr lang="zh-CN" altLang="zh-CN" sz="1700" dirty="0">
                    <a:latin typeface="Cambria" panose="02040503050406030204" pitchFamily="18" charset="0"/>
                    <a:ea typeface="华文细黑" panose="02010600040101010101" pitchFamily="2" charset="-122"/>
                  </a:rPr>
                  <a:t>个标准差（根据需要，也可以是</a:t>
                </a:r>
                <a:r>
                  <a:rPr lang="en-US" altLang="zh-CN" sz="1700" dirty="0">
                    <a:latin typeface="Cambria" panose="02040503050406030204" pitchFamily="18" charset="0"/>
                    <a:ea typeface="华文细黑" panose="02010600040101010101" pitchFamily="2" charset="-122"/>
                  </a:rPr>
                  <a:t>2</a:t>
                </a:r>
                <a:r>
                  <a:rPr lang="zh-CN" altLang="zh-CN" sz="1700" dirty="0">
                    <a:latin typeface="Cambria" panose="02040503050406030204" pitchFamily="18" charset="0"/>
                    <a:ea typeface="华文细黑" panose="02010600040101010101" pitchFamily="2" charset="-122"/>
                  </a:rPr>
                  <a:t>个标准差</a:t>
                </a:r>
                <a:endParaRPr lang="en-US" altLang="zh-CN" sz="1700" dirty="0">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sz="1700" dirty="0">
                    <a:latin typeface="Cambria" panose="02040503050406030204" pitchFamily="18" charset="0"/>
                    <a:ea typeface="华文细黑" panose="02010600040101010101" pitchFamily="2" charset="-122"/>
                  </a:rPr>
                  <a:t>要分析样本均值的离散程度，则可以用样本均值±标准误</a:t>
                </a:r>
                <a:r>
                  <a:rPr lang="en-US" altLang="zh-CN" sz="1700" dirty="0">
                    <a:latin typeface="Cambria" panose="02040503050406030204" pitchFamily="18" charset="0"/>
                    <a:ea typeface="华文细黑" panose="02010600040101010101" pitchFamily="2" charset="-122"/>
                  </a:rPr>
                  <a:t>(</a:t>
                </a:r>
                <a14:m>
                  <m:oMath xmlns:m="http://schemas.openxmlformats.org/officeDocument/2006/math">
                    <m:f>
                      <m:fPr>
                        <m:type m:val="lin"/>
                        <m:ctrlPr>
                          <a:rPr lang="zh-CN" altLang="zh-CN" sz="1700" i="1">
                            <a:latin typeface="Cambria Math" panose="02040503050406030204" pitchFamily="18" charset="0"/>
                          </a:rPr>
                        </m:ctrlPr>
                      </m:fPr>
                      <m:num>
                        <m:r>
                          <a:rPr lang="en-US" altLang="zh-CN" sz="1700">
                            <a:latin typeface="Cambria Math" panose="02040503050406030204" pitchFamily="18" charset="0"/>
                          </a:rPr>
                          <m:t>𝑠𝑑</m:t>
                        </m:r>
                      </m:num>
                      <m:den>
                        <m:rad>
                          <m:radPr>
                            <m:degHide m:val="on"/>
                            <m:ctrlPr>
                              <a:rPr lang="zh-CN" altLang="zh-CN" sz="1700" i="1">
                                <a:latin typeface="Cambria Math" panose="02040503050406030204" pitchFamily="18" charset="0"/>
                              </a:rPr>
                            </m:ctrlPr>
                          </m:radPr>
                          <m:deg/>
                          <m:e>
                            <m:r>
                              <a:rPr lang="en-US" altLang="zh-CN" sz="1700">
                                <a:latin typeface="Cambria Math" panose="02040503050406030204" pitchFamily="18" charset="0"/>
                              </a:rPr>
                              <m:t>𝑛</m:t>
                            </m:r>
                          </m:e>
                        </m:rad>
                      </m:den>
                    </m:f>
                  </m:oMath>
                </a14:m>
                <a:r>
                  <a:rPr lang="en-US" altLang="zh-CN" sz="1700" dirty="0">
                    <a:latin typeface="Cambria" panose="02040503050406030204" pitchFamily="18" charset="0"/>
                    <a:ea typeface="华文细黑" panose="02010600040101010101" pitchFamily="2" charset="-122"/>
                  </a:rPr>
                  <a:t>)</a:t>
                </a:r>
                <a:r>
                  <a:rPr lang="zh-CN" altLang="zh-CN" sz="1700" dirty="0">
                    <a:latin typeface="Cambria" panose="02040503050406030204" pitchFamily="18" charset="0"/>
                    <a:ea typeface="华文细黑" panose="02010600040101010101" pitchFamily="2" charset="-122"/>
                  </a:rPr>
                  <a:t>，由于均值的标准误总是小于样本标准差，因此均值±标准误的范围总是小于均值±标准差的范围</a:t>
                </a:r>
                <a:endParaRPr lang="en-US" altLang="zh-CN" sz="1700" dirty="0">
                  <a:latin typeface="Cambria" panose="02040503050406030204" pitchFamily="18" charset="0"/>
                  <a:ea typeface="华文细黑" panose="02010600040101010101" pitchFamily="2" charset="-122"/>
                </a:endParaRPr>
              </a:p>
              <a:p>
                <a:pPr marL="720725" lvl="1" indent="-377825" algn="just" eaLnBrk="0" hangingPunct="0">
                  <a:lnSpc>
                    <a:spcPct val="150000"/>
                  </a:lnSpc>
                  <a:spcBef>
                    <a:spcPct val="50000"/>
                  </a:spcBef>
                  <a:buClr>
                    <a:srgbClr val="C00000"/>
                  </a:buClr>
                  <a:buFont typeface="Wingdings" panose="05000000000000000000" pitchFamily="2" charset="2"/>
                  <a:buChar char="Ø"/>
                  <a:defRPr/>
                </a:pPr>
                <a:r>
                  <a:rPr lang="zh-CN" altLang="zh-CN" sz="1700" dirty="0">
                    <a:latin typeface="Cambria" panose="02040503050406030204" pitchFamily="18" charset="0"/>
                    <a:ea typeface="华文细黑" panose="02010600040101010101" pitchFamily="2" charset="-122"/>
                  </a:rPr>
                  <a:t>分析目的是要对总体均值的置信区间做出推断，则可以用样本均值±估计误差。估计误差是给定置信水平时所使用的分布对应的分位数（</a:t>
                </a:r>
                <a14:m>
                  <m:oMath xmlns:m="http://schemas.openxmlformats.org/officeDocument/2006/math">
                    <m:sSub>
                      <m:sSubPr>
                        <m:ctrlPr>
                          <a:rPr lang="zh-CN" altLang="zh-CN" sz="1700" i="1">
                            <a:latin typeface="Cambria Math" panose="02040503050406030204" pitchFamily="18" charset="0"/>
                          </a:rPr>
                        </m:ctrlPr>
                      </m:sSubPr>
                      <m:e>
                        <m:r>
                          <a:rPr lang="en-US" altLang="zh-CN" sz="1700">
                            <a:latin typeface="Cambria Math" panose="02040503050406030204" pitchFamily="18" charset="0"/>
                          </a:rPr>
                          <m:t>𝑞</m:t>
                        </m:r>
                      </m:e>
                      <m:sub>
                        <m:f>
                          <m:fPr>
                            <m:type m:val="lin"/>
                            <m:ctrlPr>
                              <a:rPr lang="zh-CN" altLang="zh-CN" sz="1700" i="1">
                                <a:latin typeface="Cambria Math" panose="02040503050406030204" pitchFamily="18" charset="0"/>
                              </a:rPr>
                            </m:ctrlPr>
                          </m:fPr>
                          <m:num>
                            <m:r>
                              <a:rPr lang="en-US" altLang="zh-CN" sz="1700">
                                <a:latin typeface="Cambria Math" panose="02040503050406030204" pitchFamily="18" charset="0"/>
                              </a:rPr>
                              <m:t>𝛼</m:t>
                            </m:r>
                          </m:num>
                          <m:den>
                            <m:r>
                              <a:rPr lang="en-US" altLang="zh-CN" sz="1700">
                                <a:latin typeface="Cambria Math" panose="02040503050406030204" pitchFamily="18" charset="0"/>
                              </a:rPr>
                              <m:t>2</m:t>
                            </m:r>
                          </m:den>
                        </m:f>
                      </m:sub>
                    </m:sSub>
                  </m:oMath>
                </a14:m>
                <a:r>
                  <a:rPr lang="zh-CN" altLang="zh-CN" sz="1700" dirty="0">
                    <a:latin typeface="Cambria" panose="02040503050406030204" pitchFamily="18" charset="0"/>
                    <a:ea typeface="华文细黑" panose="02010600040101010101" pitchFamily="2" charset="-122"/>
                  </a:rPr>
                  <a:t>）与样本均值的标准误的乘积</a:t>
                </a:r>
                <a:endParaRPr lang="zh-CN" altLang="zh-CN" sz="1700" kern="0" dirty="0">
                  <a:latin typeface="Cambria" panose="02040503050406030204" pitchFamily="18" charset="0"/>
                  <a:ea typeface="华文细黑" panose="02010600040101010101" pitchFamily="2" charset="-122"/>
                  <a:cs typeface="Times New Roman" panose="02020603050405020304" pitchFamily="18" charset="0"/>
                </a:endParaRPr>
              </a:p>
            </p:txBody>
          </p:sp>
        </mc:Choice>
        <mc:Fallback xmlns="">
          <p:sp>
            <p:nvSpPr>
              <p:cNvPr id="5" name="Rectangle 3">
                <a:extLst>
                  <a:ext uri="{FF2B5EF4-FFF2-40B4-BE49-F238E27FC236}">
                    <a16:creationId xmlns:a16="http://schemas.microsoft.com/office/drawing/2014/main" id="{48B9C8FA-B87B-92DB-87F6-E5E9C1648B5D}"/>
                  </a:ext>
                </a:extLst>
              </p:cNvPr>
              <p:cNvSpPr txBox="1">
                <a:spLocks noRot="1" noChangeAspect="1" noMove="1" noResize="1" noEditPoints="1" noAdjustHandles="1" noChangeArrowheads="1" noChangeShapeType="1" noTextEdit="1"/>
              </p:cNvSpPr>
              <p:nvPr/>
            </p:nvSpPr>
            <p:spPr>
              <a:xfrm>
                <a:off x="5201920" y="1676944"/>
                <a:ext cx="6400800" cy="4693375"/>
              </a:xfrm>
              <a:prstGeom prst="rect">
                <a:avLst/>
              </a:prstGeom>
              <a:blipFill>
                <a:blip r:embed="rId2"/>
                <a:stretch>
                  <a:fillRect l="-951" r="-571" b="-3632"/>
                </a:stretch>
              </a:blipFill>
              <a:ln w="6350">
                <a:solidFill>
                  <a:schemeClr val="bg1">
                    <a:lumMod val="75000"/>
                  </a:schemeClr>
                </a:solidFill>
                <a:miter lim="800000"/>
                <a:headEnd/>
                <a:tailEnd/>
              </a:ln>
            </p:spPr>
            <p:txBody>
              <a:bodyPr/>
              <a:lstStyle/>
              <a:p>
                <a:r>
                  <a:rPr lang="zh-CN" altLang="en-US">
                    <a:noFill/>
                  </a:rPr>
                  <a:t> </a:t>
                </a:r>
              </a:p>
            </p:txBody>
          </p:sp>
        </mc:Fallback>
      </mc:AlternateContent>
      <p:sp>
        <p:nvSpPr>
          <p:cNvPr id="6" name="Rectangle 2">
            <a:extLst>
              <a:ext uri="{FF2B5EF4-FFF2-40B4-BE49-F238E27FC236}">
                <a16:creationId xmlns:a16="http://schemas.microsoft.com/office/drawing/2014/main" id="{54CB5F72-8369-E39E-5358-4BEEDEADC84F}"/>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3.6                </a:t>
            </a:r>
            <a:r>
              <a:rPr lang="zh-CN" altLang="en-US" sz="3200" b="1" dirty="0">
                <a:solidFill>
                  <a:srgbClr val="002060"/>
                </a:solidFill>
                <a:latin typeface="微软雅黑" panose="020B0503020204020204" pitchFamily="34" charset="-122"/>
                <a:ea typeface="微软雅黑" panose="020B0503020204020204" pitchFamily="34" charset="-122"/>
              </a:rPr>
              <a:t>在条形图上添加推断信息</a:t>
            </a:r>
          </a:p>
        </p:txBody>
      </p:sp>
    </p:spTree>
    <p:extLst>
      <p:ext uri="{BB962C8B-B14F-4D97-AF65-F5344CB8AC3E}">
        <p14:creationId xmlns:p14="http://schemas.microsoft.com/office/powerpoint/2010/main" val="2817769247"/>
      </p:ext>
    </p:extLst>
  </p:cSld>
  <p:clrMapOvr>
    <a:masterClrMapping/>
  </p:clrMapOvr>
  <p:transition>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97412"/>
            <a:ext cx="3746908" cy="4652587"/>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200000"/>
              </a:lnSpc>
              <a:spcBef>
                <a:spcPct val="50000"/>
              </a:spcBef>
              <a:buClr>
                <a:srgbClr val="000099"/>
              </a:buClr>
              <a:buNone/>
              <a:defRPr/>
            </a:pPr>
            <a:r>
              <a:rPr lang="zh-CN" altLang="zh-CN" sz="2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a:t>
            </a:r>
            <a:r>
              <a:rPr lang="zh-CN" altLang="en-US" sz="2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6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3-1】</a:t>
            </a:r>
          </a:p>
          <a:p>
            <a:pPr marL="0" indent="0" algn="just" eaLnBrk="0" hangingPunct="0">
              <a:lnSpc>
                <a:spcPct val="200000"/>
              </a:lnSpc>
              <a:spcBef>
                <a:spcPct val="50000"/>
              </a:spcBef>
              <a:buClr>
                <a:srgbClr val="000099"/>
              </a:buClr>
              <a:buNone/>
              <a:defRPr/>
            </a:pPr>
            <a:r>
              <a:rPr lang="en-US" altLang="zh-CN" sz="2600" kern="0" dirty="0" err="1">
                <a:latin typeface="Cambria" panose="02040503050406030204" pitchFamily="18" charset="0"/>
                <a:ea typeface="华文细黑" panose="02010600040101010101" pitchFamily="2" charset="-122"/>
                <a:cs typeface="Times New Roman" panose="02020603050405020304" pitchFamily="18" charset="0"/>
              </a:rPr>
              <a:t>geom_errorbar</a:t>
            </a:r>
            <a:r>
              <a:rPr lang="zh-CN" altLang="zh-CN" sz="2600" kern="0" dirty="0">
                <a:latin typeface="Cambria" panose="02040503050406030204" pitchFamily="18" charset="0"/>
                <a:ea typeface="华文细黑" panose="02010600040101010101" pitchFamily="2" charset="-122"/>
                <a:cs typeface="Times New Roman" panose="02020603050405020304" pitchFamily="18" charset="0"/>
              </a:rPr>
              <a:t>函数绘制的误差条形图</a:t>
            </a:r>
            <a:endParaRPr lang="en-US" altLang="zh-CN" sz="2600" kern="0" dirty="0">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200000"/>
              </a:lnSpc>
              <a:spcBef>
                <a:spcPct val="50000"/>
              </a:spcBef>
              <a:buClr>
                <a:srgbClr val="000099"/>
              </a:buClr>
              <a:buNone/>
              <a:defRPr/>
            </a:pPr>
            <a:r>
              <a:rPr lang="en-US" altLang="zh-CN" sz="2600" kern="0" dirty="0">
                <a:latin typeface="Cambria" panose="02040503050406030204" pitchFamily="18" charset="0"/>
                <a:ea typeface="华文细黑" panose="02010600040101010101" pitchFamily="2" charset="-122"/>
                <a:cs typeface="Times New Roman" panose="02020603050405020304" pitchFamily="18" charset="0"/>
              </a:rPr>
              <a:t>## </a:t>
            </a:r>
            <a:r>
              <a:rPr lang="zh-CN" altLang="en-US" sz="2600" kern="0" dirty="0">
                <a:latin typeface="Cambria" panose="02040503050406030204" pitchFamily="18" charset="0"/>
                <a:ea typeface="华文细黑" panose="02010600040101010101" pitchFamily="2" charset="-122"/>
                <a:cs typeface="Times New Roman" panose="02020603050405020304" pitchFamily="18" charset="0"/>
              </a:rPr>
              <a:t>置信区间由</a:t>
            </a:r>
            <a:r>
              <a:rPr lang="en-US" altLang="zh-CN" sz="2600" kern="0" dirty="0">
                <a:latin typeface="Cambria" panose="02040503050406030204" pitchFamily="18" charset="0"/>
                <a:ea typeface="华文细黑" panose="02010600040101010101" pitchFamily="2" charset="-122"/>
                <a:cs typeface="Times New Roman" panose="02020603050405020304" pitchFamily="18" charset="0"/>
              </a:rPr>
              <a:t>t</a:t>
            </a:r>
            <a:r>
              <a:rPr lang="zh-CN" altLang="en-US" sz="2600" kern="0" dirty="0">
                <a:latin typeface="Cambria" panose="02040503050406030204" pitchFamily="18" charset="0"/>
                <a:ea typeface="华文细黑" panose="02010600040101010101" pitchFamily="2" charset="-122"/>
                <a:cs typeface="Times New Roman" panose="02020603050405020304" pitchFamily="18" charset="0"/>
              </a:rPr>
              <a:t>分布构建</a:t>
            </a:r>
            <a:endParaRPr lang="zh-CN" altLang="zh-CN" sz="2600" kern="0" dirty="0">
              <a:latin typeface="Cambria" panose="02040503050406030204" pitchFamily="18" charset="0"/>
              <a:ea typeface="华文细黑" panose="02010600040101010101" pitchFamily="2" charset="-122"/>
              <a:cs typeface="Times New Roman" panose="02020603050405020304" pitchFamily="18" charset="0"/>
            </a:endParaRPr>
          </a:p>
          <a:p>
            <a:pPr marL="0" indent="0" algn="just" eaLnBrk="0" hangingPunct="0">
              <a:lnSpc>
                <a:spcPct val="200000"/>
              </a:lnSpc>
              <a:spcBef>
                <a:spcPct val="50000"/>
              </a:spcBef>
              <a:buClr>
                <a:srgbClr val="000099"/>
              </a:buClr>
              <a:buNone/>
              <a:defRPr/>
            </a:pPr>
            <a:endParaRPr lang="zh-CN" altLang="zh-CN" sz="26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添加误差信息</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误差条形图</a:t>
            </a:r>
            <a:endParaRPr lang="en-US" altLang="zh-CN" sz="2600" b="1" dirty="0">
              <a:solidFill>
                <a:srgbClr val="002060"/>
              </a:solidFill>
              <a:ea typeface="华文细黑" panose="02010600040101010101" pitchFamily="2" charset="-122"/>
            </a:endParaRPr>
          </a:p>
        </p:txBody>
      </p:sp>
      <p:sp>
        <p:nvSpPr>
          <p:cNvPr id="2" name="Rectangle 2">
            <a:extLst>
              <a:ext uri="{FF2B5EF4-FFF2-40B4-BE49-F238E27FC236}">
                <a16:creationId xmlns:a16="http://schemas.microsoft.com/office/drawing/2014/main" id="{C57A649B-EE91-F54E-A869-9BBB4DD3B223}"/>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3.6                </a:t>
            </a:r>
            <a:r>
              <a:rPr lang="zh-CN" altLang="en-US" sz="3200" b="1" dirty="0">
                <a:solidFill>
                  <a:srgbClr val="002060"/>
                </a:solidFill>
                <a:latin typeface="微软雅黑" panose="020B0503020204020204" pitchFamily="34" charset="-122"/>
                <a:ea typeface="微软雅黑" panose="020B0503020204020204" pitchFamily="34" charset="-122"/>
              </a:rPr>
              <a:t>在条形图上添加推断信息</a:t>
            </a:r>
          </a:p>
        </p:txBody>
      </p:sp>
      <p:pic>
        <p:nvPicPr>
          <p:cNvPr id="3" name="图片 2">
            <a:extLst>
              <a:ext uri="{FF2B5EF4-FFF2-40B4-BE49-F238E27FC236}">
                <a16:creationId xmlns:a16="http://schemas.microsoft.com/office/drawing/2014/main" id="{C5E90629-F823-DE4B-A64A-9B0CE05C094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04080" y="1697412"/>
            <a:ext cx="6754268" cy="4652587"/>
          </a:xfrm>
          <a:prstGeom prst="rect">
            <a:avLst/>
          </a:prstGeom>
          <a:noFill/>
          <a:ln w="6350">
            <a:solidFill>
              <a:schemeClr val="bg1">
                <a:lumMod val="75000"/>
              </a:schemeClr>
            </a:solidFill>
          </a:ln>
        </p:spPr>
      </p:pic>
    </p:spTree>
    <p:extLst>
      <p:ext uri="{BB962C8B-B14F-4D97-AF65-F5344CB8AC3E}">
        <p14:creationId xmlns:p14="http://schemas.microsoft.com/office/powerpoint/2010/main" val="3566189871"/>
      </p:ext>
    </p:extLst>
  </p:cSld>
  <p:clrMapOvr>
    <a:masterClrMapping/>
  </p:clrMapOvr>
  <p:transition>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97412"/>
                <a:ext cx="2858634" cy="465452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如果关心一个类别变量各类别的观测频数是否有显著差异，可以做</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rPr>
                        </m:ctrlPr>
                      </m:sSup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𝜒</m:t>
                        </m:r>
                      </m:e>
                      <m:sup>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2</m:t>
                        </m:r>
                      </m:sup>
                    </m:sSup>
                  </m:oMath>
                </a14:m>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拟合优度检验</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如果关心两个类别变量是否有关系，则需要做</a:t>
                </a:r>
                <a14:m>
                  <m:oMath xmlns:m="http://schemas.openxmlformats.org/officeDocument/2006/math">
                    <m:sSup>
                      <m:sSupPr>
                        <m:ctrlPr>
                          <a:rPr lang="zh-CN" altLang="zh-CN" sz="2000" i="1">
                            <a:effectLst/>
                            <a:latin typeface="Cambria Math" panose="02040503050406030204" pitchFamily="18" charset="0"/>
                            <a:ea typeface="Cambria Math" panose="02040503050406030204" pitchFamily="18" charset="0"/>
                          </a:rPr>
                        </m:ctrlPr>
                      </m:sSupPr>
                      <m:e>
                        <m:r>
                          <a:rPr lang="en-US" altLang="zh-CN" sz="1800" i="1">
                            <a:effectLst/>
                            <a:latin typeface="Cambria Math" panose="02040503050406030204" pitchFamily="18" charset="0"/>
                            <a:ea typeface="华文细黑" panose="02010600040101010101" pitchFamily="2" charset="-122"/>
                            <a:cs typeface="Times New Roman" panose="02020603050405020304" pitchFamily="18" charset="0"/>
                          </a:rPr>
                          <m:t>𝜒</m:t>
                        </m:r>
                      </m:e>
                      <m:sup>
                        <m:r>
                          <a:rPr lang="en-US" altLang="zh-CN" sz="1800">
                            <a:effectLst/>
                            <a:latin typeface="Cambria Math" panose="02040503050406030204" pitchFamily="18" charset="0"/>
                            <a:ea typeface="华文细黑" panose="02010600040101010101" pitchFamily="2" charset="-122"/>
                            <a:cs typeface="Times New Roman" panose="02020603050405020304" pitchFamily="18" charset="0"/>
                          </a:rPr>
                          <m:t>2</m:t>
                        </m:r>
                      </m:sup>
                    </m:sSup>
                  </m:oMath>
                </a14:m>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独立性检验</a:t>
                </a:r>
                <a:endParaRPr lang="en-US" altLang="zh-CN" sz="1800" dirty="0">
                  <a:effectLst/>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在条形图上添加检验的</a:t>
                </a:r>
                <a:r>
                  <a:rPr lang="en-US" altLang="zh-CN" sz="1800" i="1" dirty="0">
                    <a:effectLst/>
                    <a:latin typeface="Cambria" panose="02040503050406030204" pitchFamily="18" charset="0"/>
                    <a:ea typeface="华文细黑" panose="02010600040101010101" pitchFamily="2" charset="-122"/>
                    <a:cs typeface="Times New Roman" panose="02020603050405020304" pitchFamily="18" charset="0"/>
                  </a:rPr>
                  <a:t>P</a:t>
                </a:r>
                <a:r>
                  <a:rPr lang="zh-CN" altLang="zh-CN" sz="1800" dirty="0">
                    <a:effectLst/>
                    <a:latin typeface="Cambria" panose="02040503050406030204" pitchFamily="18" charset="0"/>
                    <a:ea typeface="华文细黑" panose="02010600040101010101" pitchFamily="2" charset="-122"/>
                    <a:cs typeface="Times New Roman" panose="02020603050405020304" pitchFamily="18" charset="0"/>
                  </a:rPr>
                  <a:t>值等信息，</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mc:Choice>
        <mc:Fallback xmlns="">
          <p:sp>
            <p:nvSpPr>
              <p:cNvPr id="8" name="Rectangle 3">
                <a:extLst>
                  <a:ext uri="{FF2B5EF4-FFF2-40B4-BE49-F238E27FC236}">
                    <a16:creationId xmlns:a16="http://schemas.microsoft.com/office/drawing/2014/main" id="{E6639952-31FA-4CB6-98CD-CFA110F672FD}"/>
                  </a:ext>
                </a:extLst>
              </p:cNvPr>
              <p:cNvSpPr txBox="1">
                <a:spLocks noRot="1" noChangeAspect="1" noMove="1" noResize="1" noEditPoints="1" noAdjustHandles="1" noChangeArrowheads="1" noChangeShapeType="1" noTextEdit="1"/>
              </p:cNvSpPr>
              <p:nvPr/>
            </p:nvSpPr>
            <p:spPr>
              <a:xfrm>
                <a:off x="733652" y="1697412"/>
                <a:ext cx="2858634" cy="4654529"/>
              </a:xfrm>
              <a:prstGeom prst="rect">
                <a:avLst/>
              </a:prstGeom>
              <a:blipFill>
                <a:blip r:embed="rId2"/>
                <a:stretch>
                  <a:fillRect l="-1277" r="-1702"/>
                </a:stretch>
              </a:blipFill>
              <a:ln w="6350">
                <a:solidFill>
                  <a:schemeClr val="bg1">
                    <a:lumMod val="75000"/>
                  </a:schemeClr>
                </a:solidFill>
                <a:miter lim="800000"/>
                <a:headEnd/>
                <a:tailEnd/>
              </a:ln>
            </p:spPr>
            <p:txBody>
              <a:bodyPr/>
              <a:lstStyle/>
              <a:p>
                <a:r>
                  <a:rPr lang="zh-CN" altLang="en-US">
                    <a:noFill/>
                  </a:rPr>
                  <a:t> </a:t>
                </a:r>
              </a:p>
            </p:txBody>
          </p:sp>
        </mc:Fallback>
      </mc:AlternateContent>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添加检验信息</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3766458" y="1697412"/>
            <a:ext cx="1687286" cy="4652589"/>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带有</a:t>
            </a:r>
            <a:r>
              <a:rPr lang="zh-CN" altLang="en-US" sz="2000" kern="0" dirty="0">
                <a:latin typeface="Cambria" panose="02040503050406030204" pitchFamily="18" charset="0"/>
                <a:ea typeface="华文细黑" panose="02010600040101010101" pitchFamily="2" charset="-122"/>
                <a:cs typeface="Times New Roman" panose="02020603050405020304" pitchFamily="18" charset="0"/>
              </a:rPr>
              <a:t>拟合优度和</a:t>
            </a:r>
            <a:r>
              <a:rPr lang="zh-CN" altLang="zh-CN" sz="2000" kern="0" dirty="0">
                <a:effectLst/>
                <a:latin typeface="Cambria" panose="02040503050406030204" pitchFamily="18" charset="0"/>
                <a:ea typeface="华文细黑" panose="02010600040101010101" pitchFamily="2" charset="-122"/>
                <a:cs typeface="Times New Roman" panose="02020603050405020304" pitchFamily="18" charset="0"/>
              </a:rPr>
              <a:t>独立性检验信息的并列条形图和堆叠条形图</a:t>
            </a:r>
            <a:endParaRPr lang="zh-CN"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2" name="图片 1">
            <a:extLst>
              <a:ext uri="{FF2B5EF4-FFF2-40B4-BE49-F238E27FC236}">
                <a16:creationId xmlns:a16="http://schemas.microsoft.com/office/drawing/2014/main" id="{5CD7F52C-98DF-9513-B333-91C4C47BD5A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627916" y="1697412"/>
            <a:ext cx="5944324" cy="4652588"/>
          </a:xfrm>
          <a:prstGeom prst="rect">
            <a:avLst/>
          </a:prstGeom>
          <a:noFill/>
          <a:ln w="6350">
            <a:solidFill>
              <a:schemeClr val="bg1">
                <a:lumMod val="75000"/>
              </a:schemeClr>
            </a:solidFill>
          </a:ln>
        </p:spPr>
      </p:pic>
      <p:sp>
        <p:nvSpPr>
          <p:cNvPr id="3" name="Rectangle 2">
            <a:extLst>
              <a:ext uri="{FF2B5EF4-FFF2-40B4-BE49-F238E27FC236}">
                <a16:creationId xmlns:a16="http://schemas.microsoft.com/office/drawing/2014/main" id="{181A480B-C1F2-1867-2096-FB7D07BC72A4}"/>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3.6                </a:t>
            </a:r>
            <a:r>
              <a:rPr lang="zh-CN" altLang="en-US" sz="3200" b="1" dirty="0">
                <a:solidFill>
                  <a:srgbClr val="002060"/>
                </a:solidFill>
                <a:latin typeface="微软雅黑" panose="020B0503020204020204" pitchFamily="34" charset="-122"/>
                <a:ea typeface="微软雅黑" panose="020B0503020204020204" pitchFamily="34" charset="-122"/>
              </a:rPr>
              <a:t>在条形图上添加推断信息</a:t>
            </a:r>
          </a:p>
        </p:txBody>
      </p:sp>
    </p:spTree>
    <p:extLst>
      <p:ext uri="{BB962C8B-B14F-4D97-AF65-F5344CB8AC3E}">
        <p14:creationId xmlns:p14="http://schemas.microsoft.com/office/powerpoint/2010/main" val="1849110901"/>
      </p:ext>
    </p:extLst>
  </p:cSld>
  <p:clrMapOvr>
    <a:masterClrMapping/>
  </p:clrMapOvr>
  <p:transition>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733652" y="1697413"/>
            <a:ext cx="2967491" cy="468779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使用</a:t>
            </a:r>
            <a:r>
              <a:rPr lang="en-US" altLang="zh-CN" sz="2200" dirty="0" err="1">
                <a:effectLst/>
                <a:latin typeface="Cambria" panose="02040503050406030204" pitchFamily="18" charset="0"/>
                <a:ea typeface="华文细黑" panose="02010600040101010101" pitchFamily="2" charset="-122"/>
                <a:cs typeface="Times New Roman" panose="02020603050405020304" pitchFamily="18" charset="0"/>
              </a:rPr>
              <a:t>ggstatsplot</a:t>
            </a:r>
            <a:r>
              <a:rPr lang="zh-CN" altLang="zh-CN" sz="2200" dirty="0">
                <a:effectLst/>
                <a:latin typeface="Cambria" panose="02040503050406030204" pitchFamily="18" charset="0"/>
                <a:ea typeface="华文细黑" panose="02010600040101010101" pitchFamily="2" charset="-122"/>
                <a:cs typeface="Times New Roman" panose="02020603050405020304" pitchFamily="18" charset="0"/>
              </a:rPr>
              <a:t>包可以为图形添加更多统计信息</a:t>
            </a:r>
            <a:endParaRPr lang="zh-CN" altLang="zh-CN" sz="2200" kern="0" dirty="0">
              <a:latin typeface="Cambria" panose="02040503050406030204" pitchFamily="18" charset="0"/>
              <a:ea typeface="华文细黑" panose="02010600040101010101" pitchFamily="2" charset="-122"/>
              <a:cs typeface="Times New Roman" panose="02020603050405020304" pitchFamily="18" charset="0"/>
            </a:endParaRP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添加推断信息</a:t>
            </a:r>
            <a:r>
              <a:rPr lang="en-US" altLang="zh-CN" sz="2600" b="1" dirty="0">
                <a:solidFill>
                  <a:srgbClr val="002060"/>
                </a:solidFill>
                <a:ea typeface="华文细黑" panose="02010600040101010101" pitchFamily="2" charset="-122"/>
              </a:rPr>
              <a:t>——</a:t>
            </a:r>
            <a:r>
              <a:rPr lang="zh-CN" altLang="en-US" sz="2600" b="1" dirty="0">
                <a:solidFill>
                  <a:srgbClr val="002060"/>
                </a:solidFill>
                <a:ea typeface="华文细黑" panose="02010600040101010101" pitchFamily="2" charset="-122"/>
              </a:rPr>
              <a:t>添加检验信息</a:t>
            </a:r>
            <a:endParaRPr lang="en-US" altLang="zh-CN" sz="2600" b="1" dirty="0">
              <a:solidFill>
                <a:srgbClr val="002060"/>
              </a:solidFill>
              <a:ea typeface="华文细黑" panose="02010600040101010101" pitchFamily="2" charset="-122"/>
            </a:endParaRPr>
          </a:p>
        </p:txBody>
      </p:sp>
      <p:sp>
        <p:nvSpPr>
          <p:cNvPr id="11" name="Rectangle 3">
            <a:extLst>
              <a:ext uri="{FF2B5EF4-FFF2-40B4-BE49-F238E27FC236}">
                <a16:creationId xmlns:a16="http://schemas.microsoft.com/office/drawing/2014/main" id="{A2BC54C6-D9B6-4B76-BC67-7C0806B6A39E}"/>
              </a:ext>
            </a:extLst>
          </p:cNvPr>
          <p:cNvSpPr txBox="1">
            <a:spLocks noChangeArrowheads="1"/>
          </p:cNvSpPr>
          <p:nvPr/>
        </p:nvSpPr>
        <p:spPr>
          <a:xfrm>
            <a:off x="3897087" y="1697413"/>
            <a:ext cx="7561261" cy="503940"/>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50000"/>
              </a:lnSpc>
              <a:spcBef>
                <a:spcPct val="50000"/>
              </a:spcBef>
              <a:buClr>
                <a:srgbClr val="000099"/>
              </a:buClr>
              <a:buNone/>
              <a:defRPr/>
            </a:pPr>
            <a:r>
              <a:rPr lang="zh-CN"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华文细黑" panose="02010600040101010101" pitchFamily="2" charset="-122"/>
              </a:rPr>
              <a:t>【例</a:t>
            </a:r>
            <a:r>
              <a:rPr lang="en-US" altLang="zh-CN" sz="2000" b="1" dirty="0">
                <a:solidFill>
                  <a:schemeClr val="bg1"/>
                </a:solidFill>
                <a:effectLst>
                  <a:outerShdw blurRad="38100" dist="38100" dir="2700000" algn="tl">
                    <a:srgbClr val="000000">
                      <a:alpha val="43137"/>
                    </a:srgbClr>
                  </a:outerShdw>
                </a:effectLst>
                <a:highlight>
                  <a:srgbClr val="008080"/>
                </a:highlight>
                <a:latin typeface="Cambria" panose="02040503050406030204" pitchFamily="18" charset="0"/>
                <a:ea typeface="Cambria" panose="02040503050406030204" pitchFamily="18" charset="0"/>
              </a:rPr>
              <a:t> 3-1】</a:t>
            </a:r>
            <a:r>
              <a:rPr lang="en-US" altLang="zh-CN" sz="2000" kern="0" dirty="0">
                <a:effectLst/>
                <a:latin typeface="Cambria" panose="02040503050406030204" pitchFamily="18" charset="0"/>
                <a:ea typeface="华文细黑" panose="02010600040101010101" pitchFamily="2" charset="-122"/>
                <a:cs typeface="Times New Roman" panose="02020603050405020304" pitchFamily="18" charset="0"/>
              </a:rPr>
              <a:t>—</a:t>
            </a:r>
            <a:r>
              <a:rPr lang="zh-CN" altLang="zh-CN" sz="2000" kern="0" dirty="0">
                <a:latin typeface="Cambria" panose="02040503050406030204" pitchFamily="18" charset="0"/>
                <a:ea typeface="华文细黑" panose="02010600040101010101" pitchFamily="2" charset="-122"/>
                <a:cs typeface="Times New Roman" panose="02020603050405020304" pitchFamily="18" charset="0"/>
              </a:rPr>
              <a:t>带有</a:t>
            </a:r>
            <a:r>
              <a:rPr lang="zh-CN" altLang="en-US" sz="2000" kern="0" dirty="0">
                <a:latin typeface="Cambria" panose="02040503050406030204" pitchFamily="18" charset="0"/>
                <a:ea typeface="华文细黑" panose="02010600040101010101" pitchFamily="2" charset="-122"/>
                <a:cs typeface="Times New Roman" panose="02020603050405020304" pitchFamily="18" charset="0"/>
              </a:rPr>
              <a:t>多种统计信息</a:t>
            </a:r>
            <a:endParaRPr lang="zh-CN" altLang="zh-CN" sz="2000" kern="0" dirty="0">
              <a:latin typeface="Cambria" panose="02040503050406030204" pitchFamily="18" charset="0"/>
              <a:ea typeface="华文细黑" panose="0201060004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C50441F7-DFF3-ACC4-474E-767F917AD93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897087" y="2295142"/>
            <a:ext cx="7561261" cy="4075178"/>
          </a:xfrm>
          <a:prstGeom prst="rect">
            <a:avLst/>
          </a:prstGeom>
          <a:noFill/>
          <a:ln w="6350">
            <a:solidFill>
              <a:schemeClr val="bg1">
                <a:lumMod val="75000"/>
              </a:schemeClr>
            </a:solidFill>
          </a:ln>
        </p:spPr>
      </p:pic>
      <p:sp>
        <p:nvSpPr>
          <p:cNvPr id="2" name="Rectangle 2">
            <a:extLst>
              <a:ext uri="{FF2B5EF4-FFF2-40B4-BE49-F238E27FC236}">
                <a16:creationId xmlns:a16="http://schemas.microsoft.com/office/drawing/2014/main" id="{2C5D4C6D-561E-C3D0-AD55-F5B7C0193729}"/>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3.6                </a:t>
            </a:r>
            <a:r>
              <a:rPr lang="zh-CN" altLang="en-US" sz="3200" b="1" dirty="0">
                <a:solidFill>
                  <a:srgbClr val="002060"/>
                </a:solidFill>
                <a:latin typeface="微软雅黑" panose="020B0503020204020204" pitchFamily="34" charset="-122"/>
                <a:ea typeface="微软雅黑" panose="020B0503020204020204" pitchFamily="34" charset="-122"/>
              </a:rPr>
              <a:t>在条形图上添加推断信息</a:t>
            </a:r>
          </a:p>
        </p:txBody>
      </p:sp>
    </p:spTree>
    <p:extLst>
      <p:ext uri="{BB962C8B-B14F-4D97-AF65-F5344CB8AC3E}">
        <p14:creationId xmlns:p14="http://schemas.microsoft.com/office/powerpoint/2010/main" val="2671303374"/>
      </p:ext>
    </p:extLst>
  </p:cSld>
  <p:clrMapOvr>
    <a:masterClrMapping/>
  </p:clrMapOvr>
  <p:transition>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a:extLst>
              <a:ext uri="{FF2B5EF4-FFF2-40B4-BE49-F238E27FC236}">
                <a16:creationId xmlns:a16="http://schemas.microsoft.com/office/drawing/2014/main" id="{E6639952-31FA-4CB6-98CD-CFA110F672FD}"/>
              </a:ext>
            </a:extLst>
          </p:cNvPr>
          <p:cNvSpPr txBox="1">
            <a:spLocks noChangeArrowheads="1"/>
          </p:cNvSpPr>
          <p:nvPr/>
        </p:nvSpPr>
        <p:spPr>
          <a:xfrm>
            <a:off x="4470400" y="1656774"/>
            <a:ext cx="6908800" cy="4703386"/>
          </a:xfrm>
          <a:prstGeom prst="rect">
            <a:avLst/>
          </a:prstGeom>
          <a:ln w="6350">
            <a:solidFill>
              <a:schemeClr val="bg1">
                <a:lumMod val="75000"/>
              </a:schemeClr>
            </a:solid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本章介绍的图形主要用于比较各类别对应的数值大小或差异，适用的数据是各类别对应的频数或其他数值，包括类别对应的绝对值、比例或百分比</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条形图是用条的高度或长度表示数值大小或差异；马赛克图和矩形树状图是用矩形表示数值大小；圆堆图和气泡图是用圆表示数值大小；热图是用颜色饱和度表示数值大小</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词云图是一种特殊类别数据的可视化图形，主要用于展示词频的多少</a:t>
            </a:r>
            <a:endParaRPr lang="en-US" altLang="zh-CN" sz="1800" dirty="0">
              <a:latin typeface="Cambria" panose="02040503050406030204" pitchFamily="18" charset="0"/>
              <a:ea typeface="华文细黑" panose="02010600040101010101" pitchFamily="2" charset="-122"/>
              <a:cs typeface="Times New Roman" panose="02020603050405020304" pitchFamily="18" charset="0"/>
            </a:endParaRPr>
          </a:p>
          <a:p>
            <a:pPr marL="442913" indent="-442913" algn="just" eaLnBrk="0" hangingPunct="0">
              <a:lnSpc>
                <a:spcPct val="150000"/>
              </a:lnSpc>
              <a:spcBef>
                <a:spcPct val="50000"/>
              </a:spcBef>
              <a:buClr>
                <a:srgbClr val="000099"/>
              </a:buClr>
              <a:buFont typeface="Wingdings" panose="05000000000000000000" pitchFamily="2" charset="2"/>
              <a:buChar char="l"/>
              <a:defRPr/>
            </a:pPr>
            <a:r>
              <a:rPr lang="zh-CN" altLang="zh-CN" sz="1800" dirty="0">
                <a:latin typeface="Cambria" panose="02040503050406030204" pitchFamily="18" charset="0"/>
                <a:ea typeface="华文细黑" panose="02010600040101010101" pitchFamily="2" charset="-122"/>
                <a:cs typeface="Times New Roman" panose="02020603050405020304" pitchFamily="18" charset="0"/>
              </a:rPr>
              <a:t>极坐标条形图在展示数据中并没有多大优势，有时甚至会扭曲数据，不便于比较不同类别的数值大小，需谨慎使用</a:t>
            </a:r>
          </a:p>
        </p:txBody>
      </p:sp>
      <p:sp>
        <p:nvSpPr>
          <p:cNvPr id="9" name="Rectangle 3">
            <a:extLst>
              <a:ext uri="{FF2B5EF4-FFF2-40B4-BE49-F238E27FC236}">
                <a16:creationId xmlns:a16="http://schemas.microsoft.com/office/drawing/2014/main" id="{085B25E9-15B8-4FCE-9BE2-F6D58CB2F669}"/>
              </a:ext>
            </a:extLst>
          </p:cNvPr>
          <p:cNvSpPr txBox="1">
            <a:spLocks noChangeArrowheads="1"/>
          </p:cNvSpPr>
          <p:nvPr/>
        </p:nvSpPr>
        <p:spPr>
          <a:xfrm>
            <a:off x="0" y="1059044"/>
            <a:ext cx="12192000" cy="503940"/>
          </a:xfrm>
          <a:prstGeom prst="rect">
            <a:avLst/>
          </a:prstGeom>
          <a:noFill/>
          <a:ln w="12700">
            <a:noFill/>
            <a:miter lim="800000"/>
            <a:headEnd/>
            <a:tailEnd/>
          </a:ln>
        </p:spPr>
        <p:txBody>
          <a:bodyPr vert="horz" lIns="90488" tIns="44450" rIns="90488" bIns="4445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lgn="just" eaLnBrk="0" hangingPunct="0">
              <a:lnSpc>
                <a:spcPct val="100000"/>
              </a:lnSpc>
              <a:spcBef>
                <a:spcPct val="50000"/>
              </a:spcBef>
              <a:buClr>
                <a:srgbClr val="000099"/>
              </a:buClr>
              <a:buNone/>
              <a:defRPr/>
            </a:pPr>
            <a:r>
              <a:rPr lang="zh-CN" altLang="en-US" sz="2600" b="1" dirty="0">
                <a:solidFill>
                  <a:srgbClr val="002060"/>
                </a:solidFill>
                <a:ea typeface="华文细黑" panose="02010600040101010101" pitchFamily="2" charset="-122"/>
              </a:rPr>
              <a:t>       本章小结</a:t>
            </a:r>
            <a:endParaRPr lang="en-US" altLang="zh-CN" sz="2600" b="1" dirty="0">
              <a:solidFill>
                <a:srgbClr val="002060"/>
              </a:solidFill>
              <a:ea typeface="华文细黑" panose="02010600040101010101" pitchFamily="2" charset="-122"/>
            </a:endParaRPr>
          </a:p>
        </p:txBody>
      </p:sp>
      <p:sp>
        <p:nvSpPr>
          <p:cNvPr id="3" name="Rectangle 2">
            <a:extLst>
              <a:ext uri="{FF2B5EF4-FFF2-40B4-BE49-F238E27FC236}">
                <a16:creationId xmlns:a16="http://schemas.microsoft.com/office/drawing/2014/main" id="{B291E539-4047-01A8-161B-51AA3081B112}"/>
              </a:ext>
            </a:extLst>
          </p:cNvPr>
          <p:cNvSpPr txBox="1">
            <a:spLocks noChangeArrowheads="1"/>
          </p:cNvSpPr>
          <p:nvPr/>
        </p:nvSpPr>
        <p:spPr>
          <a:xfrm>
            <a:off x="1676400" y="20573"/>
            <a:ext cx="10515600" cy="995661"/>
          </a:xfrm>
          <a:prstGeom prst="rect">
            <a:avLst/>
          </a:prstGeom>
          <a:noFill/>
          <a:ln>
            <a:noFill/>
          </a:ln>
          <a:effectLst>
            <a:outerShdw sx="90000" sy="90000" algn="br" rotWithShape="0">
              <a:prstClr val="black">
                <a:alpha val="59000"/>
              </a:prstClr>
            </a:outerShdw>
          </a:effectLst>
          <a:scene3d>
            <a:camera prst="orthographicFront"/>
            <a:lightRig rig="threePt" dir="t"/>
          </a:scene3d>
          <a:sp3d extrusionH="76200" prstMaterial="metal">
            <a:bevelT/>
            <a:bevelB w="12700" h="12700"/>
            <a:extrusionClr>
              <a:srgbClr val="00B0F0"/>
            </a:extrusionClr>
            <a:contourClr>
              <a:schemeClr val="accent2">
                <a:lumMod val="20000"/>
                <a:lumOff val="80000"/>
              </a:schemeClr>
            </a:contourClr>
          </a:sp3d>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pPr>
              <a:defRPr/>
            </a:pPr>
            <a:r>
              <a:rPr lang="en-US" altLang="zh-CN" sz="3200" b="1" dirty="0">
                <a:solidFill>
                  <a:srgbClr val="FF9933"/>
                </a:solidFill>
                <a:effectLst>
                  <a:outerShdw blurRad="38100" dist="38100" dir="2700000" algn="tl">
                    <a:srgbClr val="000000">
                      <a:alpha val="43137"/>
                    </a:srgbClr>
                  </a:outerShdw>
                </a:effectLst>
                <a:latin typeface="Arial Black" panose="020B0A04020102020204" pitchFamily="34" charset="0"/>
                <a:ea typeface="华文细黑" panose="02010600040101010101" pitchFamily="2" charset="-122"/>
              </a:rPr>
              <a:t>                   </a:t>
            </a:r>
            <a:r>
              <a:rPr lang="zh-CN" altLang="en-US" sz="3200" b="1" dirty="0">
                <a:solidFill>
                  <a:srgbClr val="00206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              </a:t>
            </a:r>
            <a:r>
              <a:rPr lang="zh-CN" altLang="en-US" sz="3200" b="1" dirty="0">
                <a:solidFill>
                  <a:srgbClr val="002060"/>
                </a:solidFill>
                <a:latin typeface="微软雅黑" panose="020B0503020204020204" pitchFamily="34" charset="-122"/>
                <a:ea typeface="微软雅黑" panose="020B0503020204020204" pitchFamily="34" charset="-122"/>
              </a:rPr>
              <a:t>本章小结</a:t>
            </a:r>
          </a:p>
        </p:txBody>
      </p:sp>
      <p:pic>
        <p:nvPicPr>
          <p:cNvPr id="4" name="图片 3">
            <a:extLst>
              <a:ext uri="{FF2B5EF4-FFF2-40B4-BE49-F238E27FC236}">
                <a16:creationId xmlns:a16="http://schemas.microsoft.com/office/drawing/2014/main" id="{7CFE980D-4A18-6429-2438-EEEA43E777B9}"/>
              </a:ext>
            </a:extLst>
          </p:cNvPr>
          <p:cNvPicPr>
            <a:picLocks noChangeAspect="1"/>
          </p:cNvPicPr>
          <p:nvPr/>
        </p:nvPicPr>
        <p:blipFill>
          <a:blip r:embed="rId2"/>
          <a:stretch>
            <a:fillRect/>
          </a:stretch>
        </p:blipFill>
        <p:spPr>
          <a:xfrm>
            <a:off x="566832" y="1656773"/>
            <a:ext cx="3903568" cy="4863837"/>
          </a:xfrm>
          <a:prstGeom prst="rect">
            <a:avLst/>
          </a:prstGeom>
        </p:spPr>
      </p:pic>
    </p:spTree>
    <p:extLst>
      <p:ext uri="{BB962C8B-B14F-4D97-AF65-F5344CB8AC3E}">
        <p14:creationId xmlns:p14="http://schemas.microsoft.com/office/powerpoint/2010/main" val="3040481407"/>
      </p:ext>
    </p:extLst>
  </p:cSld>
  <p:clrMapOvr>
    <a:masterClrMapping/>
  </p:clrMapOvr>
  <p:transition>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auto">
          <a:xfrm>
            <a:off x="2207568" y="342581"/>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7" name="Rectangle 2"/>
          <p:cNvSpPr>
            <a:spLocks noChangeArrowheads="1"/>
          </p:cNvSpPr>
          <p:nvPr/>
        </p:nvSpPr>
        <p:spPr bwMode="auto">
          <a:xfrm>
            <a:off x="6816080" y="5445224"/>
            <a:ext cx="2880320" cy="1080120"/>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pic>
        <p:nvPicPr>
          <p:cNvPr id="2" name="图片 1"/>
          <p:cNvPicPr>
            <a:picLocks noChangeAspect="1"/>
          </p:cNvPicPr>
          <p:nvPr/>
        </p:nvPicPr>
        <p:blipFill>
          <a:blip r:embed="rId3"/>
          <a:stretch>
            <a:fillRect/>
          </a:stretch>
        </p:blipFill>
        <p:spPr>
          <a:xfrm>
            <a:off x="-9746" y="1"/>
            <a:ext cx="12201746" cy="6855722"/>
          </a:xfrm>
          <a:prstGeom prst="rect">
            <a:avLst/>
          </a:prstGeom>
        </p:spPr>
      </p:pic>
      <p:sp>
        <p:nvSpPr>
          <p:cNvPr id="5" name="Rectangle 2">
            <a:extLst>
              <a:ext uri="{FF2B5EF4-FFF2-40B4-BE49-F238E27FC236}">
                <a16:creationId xmlns:a16="http://schemas.microsoft.com/office/drawing/2014/main" id="{A2942906-8373-4413-B144-2030B3A6C93F}"/>
              </a:ext>
            </a:extLst>
          </p:cNvPr>
          <p:cNvSpPr>
            <a:spLocks noChangeArrowheads="1"/>
          </p:cNvSpPr>
          <p:nvPr/>
        </p:nvSpPr>
        <p:spPr bwMode="auto">
          <a:xfrm>
            <a:off x="162573" y="95692"/>
            <a:ext cx="2880320" cy="98442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ctr" eaLnBrk="0" hangingPunct="0"/>
            <a:r>
              <a:rPr kumimoji="1" lang="en-US" altLang="zh-CN" sz="5000" dirty="0">
                <a:solidFill>
                  <a:schemeClr val="bg1"/>
                </a:solidFill>
                <a:latin typeface="Franklin Gothic Book" pitchFamily="34" charset="0"/>
                <a:ea typeface="Yu Gothic Light" pitchFamily="34" charset="-128"/>
              </a:rPr>
              <a:t> THE END</a:t>
            </a:r>
          </a:p>
        </p:txBody>
      </p:sp>
      <p:sp>
        <p:nvSpPr>
          <p:cNvPr id="6" name="Rectangle 2">
            <a:extLst>
              <a:ext uri="{FF2B5EF4-FFF2-40B4-BE49-F238E27FC236}">
                <a16:creationId xmlns:a16="http://schemas.microsoft.com/office/drawing/2014/main" id="{DBEC17C8-105C-4971-8A37-00C8F14BF111}"/>
              </a:ext>
            </a:extLst>
          </p:cNvPr>
          <p:cNvSpPr>
            <a:spLocks noChangeArrowheads="1"/>
          </p:cNvSpPr>
          <p:nvPr/>
        </p:nvSpPr>
        <p:spPr bwMode="auto">
          <a:xfrm>
            <a:off x="9226126" y="5922334"/>
            <a:ext cx="2880320" cy="776177"/>
          </a:xfrm>
          <a:prstGeom prst="rect">
            <a:avLst/>
          </a:prstGeom>
          <a:noFill/>
          <a:ln>
            <a:noFill/>
          </a:ln>
          <a:effectLst/>
          <a:extLst>
            <a:ext uri="{909E8E84-426E-40DD-AFC4-6F175D3DCCD1}">
              <a14:hiddenFill xmlns:a14="http://schemas.microsoft.com/office/drawing/2010/main">
                <a:solidFill>
                  <a:srgbClr val="CC00CC"/>
                </a:solidFill>
              </a14:hiddenFill>
            </a:ext>
            <a:ext uri="{91240B29-F687-4F45-9708-019B960494DF}">
              <a14:hiddenLine xmlns:a14="http://schemas.microsoft.com/office/drawing/2010/main" w="12700">
                <a:solidFill>
                  <a:schemeClr val="tx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nchor="ctr"/>
          <a:lstStyle/>
          <a:p>
            <a:pPr algn="dist" eaLnBrk="0" hangingPunct="0"/>
            <a:r>
              <a:rPr kumimoji="1" lang="en-US" altLang="zh-CN" sz="5000" dirty="0">
                <a:solidFill>
                  <a:schemeClr val="bg1"/>
                </a:solidFill>
                <a:latin typeface="Franklin Gothic Book" pitchFamily="34" charset="0"/>
                <a:ea typeface="Yu Gothic Light" pitchFamily="34" charset="-128"/>
              </a:rPr>
              <a:t> THANKS</a:t>
            </a:r>
          </a:p>
        </p:txBody>
      </p:sp>
      <p:sp>
        <p:nvSpPr>
          <p:cNvPr id="3" name="日期占位符 2">
            <a:extLst>
              <a:ext uri="{FF2B5EF4-FFF2-40B4-BE49-F238E27FC236}">
                <a16:creationId xmlns:a16="http://schemas.microsoft.com/office/drawing/2014/main" id="{34AD9863-2B28-44BA-874F-29D5736D3EFF}"/>
              </a:ext>
            </a:extLst>
          </p:cNvPr>
          <p:cNvSpPr>
            <a:spLocks noGrp="1"/>
          </p:cNvSpPr>
          <p:nvPr>
            <p:ph type="dt" sz="half" idx="10"/>
          </p:nvPr>
        </p:nvSpPr>
        <p:spPr/>
        <p:txBody>
          <a:bodyPr/>
          <a:lstStyle/>
          <a:p>
            <a:fld id="{2556876A-C894-4608-9B10-33028376C2E0}" type="datetime1">
              <a:rPr lang="zh-CN" altLang="en-US" smtClean="0"/>
              <a:t>2025/9/8</a:t>
            </a:fld>
            <a:endParaRPr lang="zh-CN" altLang="en-US"/>
          </a:p>
        </p:txBody>
      </p:sp>
    </p:spTree>
    <p:extLst>
      <p:ext uri="{BB962C8B-B14F-4D97-AF65-F5344CB8AC3E}">
        <p14:creationId xmlns:p14="http://schemas.microsoft.com/office/powerpoint/2010/main" val="3329902808"/>
      </p:ext>
    </p:extLst>
  </p:cSld>
  <p:clrMapOvr>
    <a:masterClrMapping/>
  </p:clrMapOvr>
  <p:transition>
    <p:wipe dir="r"/>
  </p:transition>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5">
            <a:lumMod val="40000"/>
            <a:lumOff val="60000"/>
          </a:schemeClr>
        </a:solidFill>
        <a:scene3d>
          <a:camera prst="orthographicFront"/>
          <a:lightRig rig="threePt" dir="t"/>
        </a:scene3d>
        <a:sp3d>
          <a:bevelT/>
        </a:sp3d>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4542</TotalTime>
  <Words>3314</Words>
  <Application>Microsoft Office PowerPoint</Application>
  <PresentationFormat>宽屏</PresentationFormat>
  <Paragraphs>275</Paragraphs>
  <Slides>43</Slides>
  <Notes>6</Notes>
  <HiddenSlides>0</HiddenSlides>
  <MMClips>0</MMClips>
  <ScaleCrop>false</ScaleCrop>
  <HeadingPairs>
    <vt:vector size="8" baseType="variant">
      <vt:variant>
        <vt:lpstr>已用的字体</vt:lpstr>
      </vt:variant>
      <vt:variant>
        <vt:i4>15</vt:i4>
      </vt:variant>
      <vt:variant>
        <vt:lpstr>主题</vt:lpstr>
      </vt:variant>
      <vt:variant>
        <vt:i4>1</vt:i4>
      </vt:variant>
      <vt:variant>
        <vt:lpstr>嵌入 OLE 服务器</vt:lpstr>
      </vt:variant>
      <vt:variant>
        <vt:i4>1</vt:i4>
      </vt:variant>
      <vt:variant>
        <vt:lpstr>幻灯片标题</vt:lpstr>
      </vt:variant>
      <vt:variant>
        <vt:i4>43</vt:i4>
      </vt:variant>
    </vt:vector>
  </HeadingPairs>
  <TitlesOfParts>
    <vt:vector size="60" baseType="lpstr">
      <vt:lpstr>等线</vt:lpstr>
      <vt:lpstr>等线 Light</vt:lpstr>
      <vt:lpstr>华文琥珀</vt:lpstr>
      <vt:lpstr>华文细黑</vt:lpstr>
      <vt:lpstr>华文行楷</vt:lpstr>
      <vt:lpstr>微软雅黑</vt:lpstr>
      <vt:lpstr>Arial</vt:lpstr>
      <vt:lpstr>Arial Black</vt:lpstr>
      <vt:lpstr>Calibri</vt:lpstr>
      <vt:lpstr>Cambria</vt:lpstr>
      <vt:lpstr>Cambria Math</vt:lpstr>
      <vt:lpstr>Franklin Gothic Book</vt:lpstr>
      <vt:lpstr>Script MT Bold</vt:lpstr>
      <vt:lpstr>Times New Roman</vt:lpstr>
      <vt:lpstr>Wingdings</vt:lpstr>
      <vt:lpstr>Office 主题​​</vt:lpstr>
      <vt:lpstr>Bitmap Image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jiajp99@126.com</dc:creator>
  <cp:lastModifiedBy>俊平 贾</cp:lastModifiedBy>
  <cp:revision>450</cp:revision>
  <dcterms:created xsi:type="dcterms:W3CDTF">2020-11-21T11:10:03Z</dcterms:created>
  <dcterms:modified xsi:type="dcterms:W3CDTF">2025-09-08T04:32:02Z</dcterms:modified>
</cp:coreProperties>
</file>