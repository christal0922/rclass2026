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1470" r:id="rId2"/>
    <p:sldId id="761" r:id="rId3"/>
    <p:sldId id="1103" r:id="rId4"/>
    <p:sldId id="1544" r:id="rId5"/>
    <p:sldId id="1481" r:id="rId6"/>
    <p:sldId id="1533" r:id="rId7"/>
    <p:sldId id="1503" r:id="rId8"/>
    <p:sldId id="1485" r:id="rId9"/>
    <p:sldId id="1484" r:id="rId10"/>
    <p:sldId id="1483" r:id="rId11"/>
    <p:sldId id="1486" r:id="rId12"/>
    <p:sldId id="1487" r:id="rId13"/>
    <p:sldId id="1489" r:id="rId14"/>
    <p:sldId id="1534" r:id="rId15"/>
    <p:sldId id="1490" r:id="rId16"/>
    <p:sldId id="1492" r:id="rId17"/>
    <p:sldId id="1493" r:id="rId18"/>
    <p:sldId id="1488" r:id="rId19"/>
    <p:sldId id="1532" r:id="rId20"/>
    <p:sldId id="1494" r:id="rId21"/>
    <p:sldId id="1497" r:id="rId22"/>
    <p:sldId id="1495" r:id="rId23"/>
    <p:sldId id="1535" r:id="rId24"/>
    <p:sldId id="1496" r:id="rId25"/>
    <p:sldId id="1499" r:id="rId26"/>
    <p:sldId id="1500" r:id="rId27"/>
    <p:sldId id="1536" r:id="rId28"/>
    <p:sldId id="1537" r:id="rId29"/>
    <p:sldId id="1498" r:id="rId30"/>
    <p:sldId id="1543" r:id="rId31"/>
    <p:sldId id="1539" r:id="rId32"/>
    <p:sldId id="1540" r:id="rId33"/>
    <p:sldId id="1542" r:id="rId34"/>
    <p:sldId id="1538" r:id="rId35"/>
    <p:sldId id="1530" r:id="rId36"/>
    <p:sldId id="1531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ajp99@126.com" initials="j" lastIdx="1" clrIdx="0">
    <p:extLst>
      <p:ext uri="{19B8F6BF-5375-455C-9EA6-DF929625EA0E}">
        <p15:presenceInfo xmlns:p15="http://schemas.microsoft.com/office/powerpoint/2012/main" userId="e55687fcb66d4a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99"/>
    <a:srgbClr val="00FFFF"/>
    <a:srgbClr val="0033CC"/>
    <a:srgbClr val="FFFFC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26" autoAdjust="0"/>
  </p:normalViewPr>
  <p:slideViewPr>
    <p:cSldViewPr snapToGrid="0">
      <p:cViewPr varScale="1">
        <p:scale>
          <a:sx n="63" d="100"/>
          <a:sy n="63" d="100"/>
        </p:scale>
        <p:origin x="5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484"/>
    </p:cViewPr>
  </p:sorterViewPr>
  <p:notesViewPr>
    <p:cSldViewPr snapToGrid="0">
      <p:cViewPr varScale="1">
        <p:scale>
          <a:sx n="48" d="100"/>
          <a:sy n="48" d="100"/>
        </p:scale>
        <p:origin x="2460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72BF2E-9CD0-8F8B-2DBD-E13345C7A3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E7A87C-1BAD-0A96-B711-8E9F09C64A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AF2E3-E4BD-48E5-94FA-76B3D3FB0D53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B67335-2517-D287-8902-8A07AC7DB7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F4F11B-7430-6013-5D8A-9A2FD134AD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E99FD-B1BD-40FA-8E90-BD94E271FD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729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54936-C32E-4B5F-9C00-DE18EC293E6D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0304E-243D-4FB6-884F-3E6061F00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6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206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537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829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002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658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574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587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472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684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941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487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189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562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821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139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451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9341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050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746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2564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4985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8126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6324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8830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4754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8214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3657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249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6107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6038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6C0ED60-2263-4EAE-A32E-1C3FDB03FC51}" type="slidenum">
              <a:rPr lang="en-US" altLang="zh-CN" b="0" smtClean="0"/>
              <a:pPr eaLnBrk="1" hangingPunct="1"/>
              <a:t>36</a:t>
            </a:fld>
            <a:endParaRPr lang="en-US" altLang="zh-CN" b="0" dirty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zh-CN" altLang="zh-CN"/>
          </a:p>
        </p:txBody>
      </p:sp>
      <p:sp>
        <p:nvSpPr>
          <p:cNvPr id="4710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9700" y="692150"/>
            <a:ext cx="4038600" cy="2273300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3601272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03911-1325-4990-9323-67866A3DA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D08E5B-80E4-4FD0-9CDA-5500B9FC9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137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33017-8E63-40AD-BA89-BBB2DF06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541B9A-6066-437C-A37E-12AA3A77C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B60100-748D-4E91-93CA-D72E09123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B5C0A2-AE1A-4240-B327-42A20908623E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C4AB81-A6C4-44EF-926A-6AA9872FC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F1667-2E90-4C92-8C58-6F859444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92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41E1B-492C-44FB-9CA3-2420D128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ED9EAE-AE6C-44FA-9A23-7CBD63088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415E1-0EE9-494C-87CA-A87BAD08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08CFB45-BD77-42C2-B43B-9CCE57C43804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EED9C1-6D6B-43B1-88E7-CF357750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9F2E4E-68A6-44F0-89F1-9069558E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76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DCF85-EA79-4E15-B212-198BA5E0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22BAC-4316-4B37-83C8-3CFFCFEE9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57768D-8B1B-4A40-8A1B-0AC0323E3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33FB19-A5D7-478C-8B7B-8299F444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AE7C0A-51A3-489C-9A57-4ED5AAA198D8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CED81C-AAD8-40C0-A43F-9D9FB935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C24794-BF6C-4771-8DBA-AAC07BC3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01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DD335-5E95-437F-8BB9-A5F5CC02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1372A5-726C-4D76-98A6-013BEE003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A37AF2-BF75-4C37-A2FE-D332194D3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FA0C6B-D138-4ACC-9E98-4920C2EAF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BCEC55-53FB-427F-A3DA-B4D5A728B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999D13-5648-462B-A233-9E2CB0C7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763D98-5F04-4BA9-AB85-97856237DB98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BD894E-170B-492B-B70A-EDD9A7FB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15CA6A-9FA6-4365-870E-2DA48DC4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46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BF246-4037-441C-876F-777CC926D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FFBA47-D15B-4A7D-90C5-3FF2B94B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233C68-0546-46EF-826F-31AB21D0E22F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7BC1F9-EF67-4B0A-96D1-EF168C9E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AE28D9-605D-4CD2-B34B-BF76CDF0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63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4973FC-C444-49AD-8778-F5595432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15AE0-43B3-4320-AFBE-87214D5BB912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EC1063-A3F0-4172-BCFB-CD827E2B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AC6608-BFA7-48AD-A590-0E85E9BF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74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3C89A-E0B7-4981-8F0B-4A7A37DF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C0E238-74BD-4EA3-996E-32B10590B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769AF6-4E84-4D70-98D9-479DF698C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D74493-971D-42F5-91FF-A5917C2D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331374-E5A2-4981-B795-16EF6DE65827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CDA75E-D89E-4AE1-8D91-7605D574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F8901A-E4E6-4A7D-8E8C-9057C44E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03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84D86-098B-45E7-8693-7E2DE798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28C271-481B-4D73-8474-75D6D49B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4DE7F4-849E-4963-9100-C8B9B0A08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5913C3-07E4-4E81-AC28-DB408062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EF558D-81CA-4B76-8F12-A95764433413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F2ECCF-DF52-4A0B-9088-6CD8439B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79631-3376-40BB-8D99-D13069AD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34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B782D-E973-4A4C-9768-5AF63655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7AED1F-4B71-4171-BEF5-E90CF2DBB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3CF74F-5A81-42A8-BFDE-9DF8D20D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449A0-A72F-4DFF-AC68-836BF414A89D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E0F45-E0D1-46EA-B198-5F3003E2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FA175A-B4E7-4A78-94E6-0A03CE80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47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3B2054-169E-46FC-87FF-00644348A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E503AE-1314-4E68-BF61-5DAB31ED9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4084A-FB51-4F63-B403-370B4F13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D7C6E1-5A4D-4ECE-B124-9762BAA7798B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99ED0-3608-4FCB-96BE-FFB5DD2C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0F967E-32DE-45B6-9C75-1157F0E4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17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1335447-3F01-D29B-0CAC-8236EA862E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285460" y="9940"/>
            <a:ext cx="10896605" cy="1017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zh-CN" altLang="en-US" sz="3200" b="1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7BBF2C-F801-4650-BCBF-3E6A2B1F4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480" y="1672313"/>
            <a:ext cx="10959546" cy="450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05F5E1-C922-4E5A-89F4-6F2B58D16289}"/>
              </a:ext>
            </a:extLst>
          </p:cNvPr>
          <p:cNvSpPr/>
          <p:nvPr userDrawn="1"/>
        </p:nvSpPr>
        <p:spPr>
          <a:xfrm>
            <a:off x="9935" y="1"/>
            <a:ext cx="1275525" cy="105354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比较样本相似性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ADC6794-BAC4-49B1-8B9A-A91B2A78D5FE}"/>
              </a:ext>
            </a:extLst>
          </p:cNvPr>
          <p:cNvCxnSpPr>
            <a:cxnSpLocks/>
          </p:cNvCxnSpPr>
          <p:nvPr userDrawn="1"/>
        </p:nvCxnSpPr>
        <p:spPr>
          <a:xfrm flipV="1">
            <a:off x="1470992" y="1043609"/>
            <a:ext cx="10721008" cy="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5EAEA1C-2B82-4DF5-B721-B18A8CF883DD}"/>
              </a:ext>
            </a:extLst>
          </p:cNvPr>
          <p:cNvSpPr/>
          <p:nvPr userDrawn="1"/>
        </p:nvSpPr>
        <p:spPr>
          <a:xfrm>
            <a:off x="1441171" y="1"/>
            <a:ext cx="238540" cy="105354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B230C6B-BACC-4B1C-9DFC-332C0E60FE1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0" y="1059044"/>
            <a:ext cx="12192000" cy="50394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5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5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华文细黑" panose="02010600040101010101" pitchFamily="2" charset="-122"/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23835A50-83A6-3EF2-A9C8-95CADE3343D6}"/>
              </a:ext>
            </a:extLst>
          </p:cNvPr>
          <p:cNvSpPr txBox="1">
            <a:spLocks/>
          </p:cNvSpPr>
          <p:nvPr userDrawn="1"/>
        </p:nvSpPr>
        <p:spPr>
          <a:xfrm>
            <a:off x="23188" y="6461539"/>
            <a:ext cx="12172130" cy="396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300" b="1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</a:t>
            </a:r>
            <a:fld id="{40D7A12C-C48C-4203-A694-F2B6F5190069}" type="datetime1">
              <a:rPr lang="zh-CN" altLang="en-US" sz="1300" b="1" smtClean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2025/9/7</a:t>
            </a:fld>
            <a:r>
              <a:rPr lang="zh-CN" altLang="en-US" sz="1300" b="1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                           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数据可视化分析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—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贾俊平                                                                        </a:t>
            </a:r>
            <a:r>
              <a:rPr lang="en-US" altLang="zh-CN" sz="13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1 - </a:t>
            </a:r>
            <a:fld id="{16EAF49E-217F-4E01-A667-C6B4D41E8F57}" type="slidenum">
              <a:rPr lang="en-US" altLang="zh-CN" sz="13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‹#›</a:t>
            </a:fld>
            <a:endParaRPr lang="en-US" altLang="zh-CN" sz="13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13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CA326A9-AB16-7545-7D3E-F42C565F2FBC}"/>
              </a:ext>
            </a:extLst>
          </p:cNvPr>
          <p:cNvSpPr/>
          <p:nvPr userDrawn="1"/>
        </p:nvSpPr>
        <p:spPr>
          <a:xfrm>
            <a:off x="212036" y="1163320"/>
            <a:ext cx="294859" cy="31238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6710108-9C12-B77A-5335-06E43ECF657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134239" y="9940"/>
            <a:ext cx="1017622" cy="101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5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n-lt"/>
          <a:ea typeface="华文细黑" panose="0201060004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140A239C-459A-7748-18ED-9D9FCF06E658}"/>
              </a:ext>
            </a:extLst>
          </p:cNvPr>
          <p:cNvGrpSpPr/>
          <p:nvPr/>
        </p:nvGrpSpPr>
        <p:grpSpPr>
          <a:xfrm>
            <a:off x="-57405" y="0"/>
            <a:ext cx="12271508" cy="6858000"/>
            <a:chOff x="-57405" y="0"/>
            <a:chExt cx="12271508" cy="6858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D2B003D-593F-48DB-BE13-1C28EEAA2375}"/>
                </a:ext>
              </a:extLst>
            </p:cNvPr>
            <p:cNvSpPr/>
            <p:nvPr/>
          </p:nvSpPr>
          <p:spPr>
            <a:xfrm>
              <a:off x="-57405" y="0"/>
              <a:ext cx="12271508" cy="68580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85445D0-CE9B-A4CC-30B0-668A63D7F5B6}"/>
                </a:ext>
              </a:extLst>
            </p:cNvPr>
            <p:cNvSpPr/>
            <p:nvPr/>
          </p:nvSpPr>
          <p:spPr>
            <a:xfrm>
              <a:off x="8533234" y="2415386"/>
              <a:ext cx="2307048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5000" b="1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R </a:t>
              </a:r>
              <a:r>
                <a:rPr lang="zh-CN" altLang="en-US" sz="5000" b="1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语言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74B7932-FC4D-9E74-8C2D-407E06788E45}"/>
                </a:ext>
              </a:extLst>
            </p:cNvPr>
            <p:cNvSpPr txBox="1"/>
            <p:nvPr/>
          </p:nvSpPr>
          <p:spPr>
            <a:xfrm>
              <a:off x="5018314" y="1352666"/>
              <a:ext cx="5821968" cy="10156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琥珀" panose="02010800040101010101" pitchFamily="2" charset="-122"/>
                  <a:ea typeface="华文琥珀" panose="02010800040101010101" pitchFamily="2" charset="-122"/>
                </a:rPr>
                <a:t>数据可视化分析     </a:t>
              </a:r>
              <a:endParaRPr lang="en-US" altLang="zh-CN" sz="6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</p:txBody>
        </p:sp>
        <p:sp>
          <p:nvSpPr>
            <p:cNvPr id="17" name="副标题 2">
              <a:extLst>
                <a:ext uri="{FF2B5EF4-FFF2-40B4-BE49-F238E27FC236}">
                  <a16:creationId xmlns:a16="http://schemas.microsoft.com/office/drawing/2014/main" id="{D7ED5E4C-E3FE-4A85-6B41-62F1AA059163}"/>
                </a:ext>
              </a:extLst>
            </p:cNvPr>
            <p:cNvSpPr txBox="1">
              <a:spLocks/>
            </p:cNvSpPr>
            <p:nvPr/>
          </p:nvSpPr>
          <p:spPr>
            <a:xfrm>
              <a:off x="9100901" y="5201655"/>
              <a:ext cx="1879415" cy="1196834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t>贾俊平</a:t>
              </a:r>
              <a:endPara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fld id="{40D7A12C-C48C-4203-A694-F2B6F5190069}" type="datetime1">
                <a:rPr lang="zh-CN" altLang="en-US" sz="2200" b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pPr>
                  <a:lnSpc>
                    <a:spcPct val="150000"/>
                  </a:lnSpc>
                </a:pPr>
                <a:t>2025/9/7</a:t>
              </a:fld>
              <a:endParaRPr lang="zh-CN" alt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A77711A-D9C3-862C-970B-1304CBB42097}"/>
                </a:ext>
              </a:extLst>
            </p:cNvPr>
            <p:cNvSpPr/>
            <p:nvPr/>
          </p:nvSpPr>
          <p:spPr>
            <a:xfrm>
              <a:off x="348344" y="359229"/>
              <a:ext cx="11506200" cy="61504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CC974D1-DCEA-DAD9-BA84-A0C1B34084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4029" y="598713"/>
            <a:ext cx="10874828" cy="5660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6108840" imgH="4280040" progId="PBrush">
                    <p:embed/>
                  </p:oleObj>
                </mc:Choice>
                <mc:Fallback>
                  <p:oleObj name="Bitmap Image" r:id="rId2" imgW="6108840" imgH="4280040" progId="PBrush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DCC974D1-DCEA-DAD9-BA84-A0C1B34084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64029" y="598713"/>
                          <a:ext cx="10874828" cy="56605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38CC3B9-D273-DA53-3D51-7097270B8979}"/>
                </a:ext>
              </a:extLst>
            </p:cNvPr>
            <p:cNvSpPr/>
            <p:nvPr/>
          </p:nvSpPr>
          <p:spPr>
            <a:xfrm>
              <a:off x="7206344" y="2622251"/>
              <a:ext cx="3718954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基于 </a:t>
              </a:r>
              <a:r>
                <a:rPr lang="en-US" altLang="zh-CN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R </a:t>
              </a:r>
              <a:r>
                <a:rPr lang="zh-CN" altLang="en-US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语言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78B0296-8DCD-A0D4-E6A8-49A8022C13B3}"/>
                </a:ext>
              </a:extLst>
            </p:cNvPr>
            <p:cNvSpPr txBox="1"/>
            <p:nvPr/>
          </p:nvSpPr>
          <p:spPr>
            <a:xfrm>
              <a:off x="5323114" y="1559531"/>
              <a:ext cx="5602183" cy="10156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琥珀" panose="02010800040101010101" pitchFamily="2" charset="-122"/>
                  <a:ea typeface="华文琥珀" panose="02010800040101010101" pitchFamily="2" charset="-122"/>
                </a:rPr>
                <a:t>数据可视化分析     </a:t>
              </a:r>
              <a:endParaRPr lang="en-US" altLang="zh-CN" sz="6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</p:txBody>
        </p:sp>
        <p:sp>
          <p:nvSpPr>
            <p:cNvPr id="21" name="副标题 2">
              <a:extLst>
                <a:ext uri="{FF2B5EF4-FFF2-40B4-BE49-F238E27FC236}">
                  <a16:creationId xmlns:a16="http://schemas.microsoft.com/office/drawing/2014/main" id="{982694FD-A4ED-A422-06B2-71C13249BACF}"/>
                </a:ext>
              </a:extLst>
            </p:cNvPr>
            <p:cNvSpPr txBox="1">
              <a:spLocks/>
            </p:cNvSpPr>
            <p:nvPr/>
          </p:nvSpPr>
          <p:spPr>
            <a:xfrm>
              <a:off x="10319657" y="5505334"/>
              <a:ext cx="1333499" cy="753953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t>贾俊平</a:t>
              </a:r>
              <a:endPara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fld id="{40D7A12C-C48C-4203-A694-F2B6F5190069}" type="datetime1">
                <a:rPr lang="zh-CN" altLang="en-US" sz="1600" b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pPr>
                  <a:lnSpc>
                    <a:spcPct val="100000"/>
                  </a:lnSpc>
                </a:pPr>
                <a:t>2025/9/7</a:t>
              </a:fld>
              <a:endPara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9D668F91-5A97-DC14-A87D-94ECEC1AF98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43801" y="3604606"/>
              <a:ext cx="3296482" cy="2610697"/>
            </a:xfrm>
            <a:prstGeom prst="rect">
              <a:avLst/>
            </a:prstGeom>
            <a:ln w="12700">
              <a:noFill/>
              <a:miter lim="800000"/>
              <a:headEnd/>
              <a:tailEnd/>
            </a:ln>
          </p:spPr>
          <p:txBody>
            <a:bodyPr vert="horz" lIns="90488" tIns="44450" rIns="90488" bIns="44450" rtlCol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本书特色</a:t>
              </a:r>
              <a:endParaRPr lang="en-US" altLang="zh-CN" sz="2400" dirty="0">
                <a:effectLst/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新颖的写作视角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严谨的组织结构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完备的绘制代码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详尽的图形解读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1939524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D2B003D-593F-48DB-BE13-1C28EEAA2375}"/>
              </a:ext>
            </a:extLst>
          </p:cNvPr>
          <p:cNvSpPr/>
          <p:nvPr/>
        </p:nvSpPr>
        <p:spPr>
          <a:xfrm>
            <a:off x="-57405" y="0"/>
            <a:ext cx="12271508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CD5BFEA8-D60A-4E4F-BEA7-36EF403C3802}"/>
              </a:ext>
            </a:extLst>
          </p:cNvPr>
          <p:cNvSpPr txBox="1">
            <a:spLocks/>
          </p:cNvSpPr>
          <p:nvPr/>
        </p:nvSpPr>
        <p:spPr>
          <a:xfrm>
            <a:off x="6096000" y="4864292"/>
            <a:ext cx="2653745" cy="176099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t>贾俊平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fld id="{40D7A12C-C48C-4203-A694-F2B6F5190069}" type="datetime1">
              <a:rPr lang="zh-CN" altLang="en-US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pPr>
                <a:lnSpc>
                  <a:spcPct val="150000"/>
                </a:lnSpc>
              </a:pPr>
              <a:t>2025/9/7</a:t>
            </a:fld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BE89BD-ACBF-40B9-AAFA-85C15C6AD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405" y="-85059"/>
            <a:ext cx="12423070" cy="6943059"/>
          </a:xfrm>
          <a:prstGeom prst="rect">
            <a:avLst/>
          </a:prstGeom>
        </p:spPr>
      </p:pic>
      <p:sp>
        <p:nvSpPr>
          <p:cNvPr id="9" name="圆角矩形 4">
            <a:extLst>
              <a:ext uri="{FF2B5EF4-FFF2-40B4-BE49-F238E27FC236}">
                <a16:creationId xmlns:a16="http://schemas.microsoft.com/office/drawing/2014/main" id="{5B463439-9290-46DE-AF62-1FC729B957BF}"/>
              </a:ext>
            </a:extLst>
          </p:cNvPr>
          <p:cNvSpPr/>
          <p:nvPr/>
        </p:nvSpPr>
        <p:spPr>
          <a:xfrm>
            <a:off x="1318436" y="2586858"/>
            <a:ext cx="9803219" cy="343116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7.1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比较整体相似性</a:t>
            </a: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7.2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比较样本间差异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7.3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2FE301-88C8-43EE-B4E5-A0F8BAC93B90}"/>
              </a:ext>
            </a:extLst>
          </p:cNvPr>
          <p:cNvSpPr txBox="1"/>
          <p:nvPr/>
        </p:nvSpPr>
        <p:spPr>
          <a:xfrm>
            <a:off x="1456660" y="839972"/>
            <a:ext cx="9545916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    </a:t>
            </a:r>
            <a:r>
              <a:rPr lang="zh-CN" altLang="en-US" sz="4000" b="1" spc="15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比较样本相似性</a:t>
            </a:r>
          </a:p>
        </p:txBody>
      </p:sp>
    </p:spTree>
    <p:extLst>
      <p:ext uri="{BB962C8B-B14F-4D97-AF65-F5344CB8AC3E}">
        <p14:creationId xmlns:p14="http://schemas.microsoft.com/office/powerpoint/2010/main" val="413724412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DA86FC8C-868F-5CF5-9BF5-DA491FB8811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>
                <a:solidFill>
                  <a:srgbClr val="002060"/>
                </a:solidFill>
                <a:ea typeface="华文细黑" panose="02010600040101010101" pitchFamily="2" charset="-122"/>
              </a:rPr>
              <a:t>       概要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EFCD20C-5FA1-89E1-2FD4-1E3A76F50824}"/>
              </a:ext>
            </a:extLst>
          </p:cNvPr>
          <p:cNvSpPr txBox="1">
            <a:spLocks noChangeArrowheads="1"/>
          </p:cNvSpPr>
          <p:nvPr/>
        </p:nvSpPr>
        <p:spPr>
          <a:xfrm>
            <a:off x="802641" y="1707572"/>
            <a:ext cx="4003039" cy="4672549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本章介绍</a:t>
            </a:r>
            <a:r>
              <a:rPr lang="zh-CN" altLang="en-US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样本相似性的可视化图形包括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720725" lvl="1" indent="-377825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比较整体相似性的图形，如平行坐标图、雷达图等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720725" lvl="1" indent="-377825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比较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样本间差异的图形，如星图、脸谱图等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720725" lvl="1" indent="-377825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对样本进行分类的图形，如聚类图、聚类热图等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F88C08-D4FD-1935-C24A-41B5922CE497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A357A1D-18DC-5D7D-17D7-89AEF09CFDAB}"/>
              </a:ext>
            </a:extLst>
          </p:cNvPr>
          <p:cNvSpPr txBox="1">
            <a:spLocks noChangeArrowheads="1"/>
          </p:cNvSpPr>
          <p:nvPr/>
        </p:nvSpPr>
        <p:spPr>
          <a:xfrm>
            <a:off x="4968240" y="1707572"/>
            <a:ext cx="6614160" cy="4672549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假定想要比较北京、上海、天津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个地区在食品烟酒、衣着、居住、生活用品及服务、交通通信、教育文化娱乐、医疗保健、其他用品及服务等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项支出方面是否有相似性，这里的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个地区就是样本，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项消费支出是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个变量，这就是多样本在多个变量上取值的相似性问题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如果关心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个地区是否相似，就是样本相似性问题；如果关心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个变量之间是否相似，就是变量相似性问题。变量间的相似性可以使用散点图和相关系数进行分析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194777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平行坐标图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808" y="1722473"/>
            <a:ext cx="3774306" cy="4650945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b="1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平行坐标图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outline plot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）也称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轮廓图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或多线图</a:t>
            </a:r>
            <a:endParaRPr lang="en-US" altLang="zh-C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用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轴表示各样本，用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轴表示每个样本的多个变量的数值（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轴和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轴可以互换），将同一样本在不同变量上的观测值用折线连接起来</a:t>
            </a:r>
            <a:endParaRPr lang="en-US" altLang="zh-C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观察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平行坐标图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中各折线的形状及其排列方式，可以比较各样本在多个变量上取值的相似性及差异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4665602" y="1722474"/>
            <a:ext cx="6886318" cy="53086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—2023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年全国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31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个地区的人均消费支出</a:t>
            </a: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16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F576283-2AEE-643A-BC41-9BCA433FEA1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7.1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比较整体相似性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2474FC4-0E18-69C1-4CF9-76246BAA1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555688"/>
              </p:ext>
            </p:extLst>
          </p:nvPr>
        </p:nvGraphicFramePr>
        <p:xfrm>
          <a:off x="4721065" y="2412833"/>
          <a:ext cx="6830856" cy="39605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5216">
                  <a:extLst>
                    <a:ext uri="{9D8B030D-6E8A-4147-A177-3AD203B41FA5}">
                      <a16:colId xmlns:a16="http://schemas.microsoft.com/office/drawing/2014/main" val="5983217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224418345"/>
                    </a:ext>
                  </a:extLst>
                </a:gridCol>
                <a:gridCol w="467638">
                  <a:extLst>
                    <a:ext uri="{9D8B030D-6E8A-4147-A177-3AD203B41FA5}">
                      <a16:colId xmlns:a16="http://schemas.microsoft.com/office/drawing/2014/main" val="1290854718"/>
                    </a:ext>
                  </a:extLst>
                </a:gridCol>
                <a:gridCol w="607929">
                  <a:extLst>
                    <a:ext uri="{9D8B030D-6E8A-4147-A177-3AD203B41FA5}">
                      <a16:colId xmlns:a16="http://schemas.microsoft.com/office/drawing/2014/main" val="834147763"/>
                    </a:ext>
                  </a:extLst>
                </a:gridCol>
                <a:gridCol w="535832">
                  <a:extLst>
                    <a:ext uri="{9D8B030D-6E8A-4147-A177-3AD203B41FA5}">
                      <a16:colId xmlns:a16="http://schemas.microsoft.com/office/drawing/2014/main" val="3089196308"/>
                    </a:ext>
                  </a:extLst>
                </a:gridCol>
                <a:gridCol w="638272">
                  <a:extLst>
                    <a:ext uri="{9D8B030D-6E8A-4147-A177-3AD203B41FA5}">
                      <a16:colId xmlns:a16="http://schemas.microsoft.com/office/drawing/2014/main" val="2227856922"/>
                    </a:ext>
                  </a:extLst>
                </a:gridCol>
                <a:gridCol w="739035">
                  <a:extLst>
                    <a:ext uri="{9D8B030D-6E8A-4147-A177-3AD203B41FA5}">
                      <a16:colId xmlns:a16="http://schemas.microsoft.com/office/drawing/2014/main" val="3673836864"/>
                    </a:ext>
                  </a:extLst>
                </a:gridCol>
                <a:gridCol w="607929">
                  <a:extLst>
                    <a:ext uri="{9D8B030D-6E8A-4147-A177-3AD203B41FA5}">
                      <a16:colId xmlns:a16="http://schemas.microsoft.com/office/drawing/2014/main" val="1164724449"/>
                    </a:ext>
                  </a:extLst>
                </a:gridCol>
                <a:gridCol w="611272">
                  <a:extLst>
                    <a:ext uri="{9D8B030D-6E8A-4147-A177-3AD203B41FA5}">
                      <a16:colId xmlns:a16="http://schemas.microsoft.com/office/drawing/2014/main" val="2352942848"/>
                    </a:ext>
                  </a:extLst>
                </a:gridCol>
                <a:gridCol w="607929">
                  <a:extLst>
                    <a:ext uri="{9D8B030D-6E8A-4147-A177-3AD203B41FA5}">
                      <a16:colId xmlns:a16="http://schemas.microsoft.com/office/drawing/2014/main" val="179310746"/>
                    </a:ext>
                  </a:extLst>
                </a:gridCol>
                <a:gridCol w="717324">
                  <a:extLst>
                    <a:ext uri="{9D8B030D-6E8A-4147-A177-3AD203B41FA5}">
                      <a16:colId xmlns:a16="http://schemas.microsoft.com/office/drawing/2014/main" val="1334954603"/>
                    </a:ext>
                  </a:extLst>
                </a:gridCol>
              </a:tblGrid>
              <a:tr h="7088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地区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地带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划分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区域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划分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食品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烟酒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衣着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居住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生活用品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及服务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交通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通信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教育文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化娱乐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医疗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保健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其他用品</a:t>
                      </a:r>
                    </a:p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及服务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880470"/>
                  </a:ext>
                </a:extLst>
              </a:tr>
              <a:tr h="4645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北京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东部地带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华北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10142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2053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18668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2352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4858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3799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4276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1438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9872824"/>
                  </a:ext>
                </a:extLst>
              </a:tr>
              <a:tr h="4645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天津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东部地带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华北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9815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1796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7772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1927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4698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3673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3937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dirty="0">
                          <a:effectLst/>
                        </a:rPr>
                        <a:t>1296</a:t>
                      </a:r>
                      <a:endParaRPr lang="zh-CN" sz="12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5767028"/>
                  </a:ext>
                </a:extLst>
              </a:tr>
              <a:tr h="4645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河北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东部地带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华北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6739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1534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4964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1459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3129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2309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2174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613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7501678"/>
                  </a:ext>
                </a:extLst>
              </a:tr>
              <a:tr h="4645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……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7848571"/>
                  </a:ext>
                </a:extLst>
              </a:tr>
              <a:tr h="4645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青海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西部地带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西北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6361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1458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3631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1072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3504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1551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2174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576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8127253"/>
                  </a:ext>
                </a:extLst>
              </a:tr>
              <a:tr h="4645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宁夏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西部地带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西北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6150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1366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3941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1397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3301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2469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2455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549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5236414"/>
                  </a:ext>
                </a:extLst>
              </a:tr>
              <a:tr h="4645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新疆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西部地带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CN" sz="1200" b="1">
                          <a:effectLst/>
                        </a:rPr>
                        <a:t>西北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6261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1432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3585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1106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2753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1725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>
                          <a:effectLst/>
                        </a:rPr>
                        <a:t>2173</a:t>
                      </a:r>
                      <a:endParaRPr lang="zh-CN" sz="12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200" b="1" dirty="0">
                          <a:effectLst/>
                        </a:rPr>
                        <a:t>679</a:t>
                      </a:r>
                      <a:endParaRPr lang="zh-CN" sz="12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1394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703404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平行坐标图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680720" y="1671674"/>
            <a:ext cx="4033519" cy="468848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—2023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年全国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31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个地区的人均消费支出的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平行坐标图</a:t>
            </a: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F576283-2AEE-643A-BC41-9BCA433FEA1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7.1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比较整体相似性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42B90C-B386-D8FA-88FA-C15C9AE4A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255" y="1671674"/>
            <a:ext cx="6655024" cy="468848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91192770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平行坐标图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按因子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分面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86808" y="1766017"/>
            <a:ext cx="2794592" cy="456946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按区域划分和地带划分</a:t>
            </a:r>
            <a:r>
              <a:rPr lang="zh-CN" altLang="en-US" dirty="0">
                <a:latin typeface="Cambria" panose="02040503050406030204" pitchFamily="18" charset="0"/>
                <a:ea typeface="华文细黑" panose="02010600040101010101" pitchFamily="2" charset="-122"/>
              </a:rPr>
              <a:t>分面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的</a:t>
            </a:r>
            <a:r>
              <a:rPr lang="en-US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个地区</a:t>
            </a:r>
            <a:r>
              <a:rPr lang="en-US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8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项人均消费支出的</a:t>
            </a:r>
            <a:r>
              <a:rPr lang="zh-CN" altLang="en-US" dirty="0">
                <a:latin typeface="Cambria" panose="02040503050406030204" pitchFamily="18" charset="0"/>
                <a:ea typeface="华文细黑" panose="02010600040101010101" pitchFamily="2" charset="-122"/>
              </a:rPr>
              <a:t>平行坐标图</a:t>
            </a:r>
            <a:endParaRPr lang="zh-CN" altLang="zh-CN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D59D6D-E7C2-834E-05D8-F5C27B349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922" y="1766017"/>
            <a:ext cx="7782878" cy="456946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CA9DA62-B113-8681-E0E7-50F95E14D8D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7.1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比较整体相似性</a:t>
            </a:r>
          </a:p>
        </p:txBody>
      </p:sp>
    </p:spTree>
    <p:extLst>
      <p:ext uri="{BB962C8B-B14F-4D97-AF65-F5344CB8AC3E}">
        <p14:creationId xmlns:p14="http://schemas.microsoft.com/office/powerpoint/2010/main" val="1041107490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平行坐标图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分析两个特定的变量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86807" y="1722474"/>
            <a:ext cx="10773821" cy="50394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按地带划分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和区域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分组的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个地区食品烟酒支出和居住支出的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平行坐标图</a:t>
            </a:r>
            <a:endParaRPr lang="zh-CN" altLang="zh-CN" sz="18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18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F9A5BB-BA70-AE1B-9B9D-D9DFD1C38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07" y="2306320"/>
            <a:ext cx="10773821" cy="405384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8D2899D-9B6D-A104-7C01-88EFA878317D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7.1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比较整体相似性</a:t>
            </a:r>
          </a:p>
        </p:txBody>
      </p:sp>
    </p:spTree>
    <p:extLst>
      <p:ext uri="{BB962C8B-B14F-4D97-AF65-F5344CB8AC3E}">
        <p14:creationId xmlns:p14="http://schemas.microsoft.com/office/powerpoint/2010/main" val="912773035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平行坐标图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添加节点的直方图与核密度图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86807" y="1722475"/>
            <a:ext cx="10773821" cy="50394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按地带划分分组的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个地区的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平行坐标图</a:t>
            </a:r>
            <a:endParaRPr lang="zh-CN" altLang="zh-CN" sz="18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18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F26941-74DC-50A9-12AC-21557B860621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7.1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比较整体相似性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39BAA0-4BA2-0AD5-9136-B861108E5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26" y="2304966"/>
            <a:ext cx="10739363" cy="4024714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01057011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雷达图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808" y="1722474"/>
            <a:ext cx="10675849" cy="463768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b="1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雷达图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radar chart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）也称为蜘蛛图（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spider chart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）</a:t>
            </a:r>
            <a:endParaRPr lang="en-US" altLang="zh-C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它是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从一个点出发，每个变量用一条射线表示，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个变量形成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条射线（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个坐标轴），每个样本在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个变量上的取值连接成线，即围成一个区域，多个样本围成多个区域，就是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</a:rPr>
              <a:t>雷达图</a:t>
            </a:r>
            <a:endParaRPr lang="en-US" altLang="zh-C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个变量的计量单位可能不同，数值的量级往往差异很大，每条坐标轴的刻度需要根据每个变量单独确定，因此，不同坐标轴的刻度是不可比的</a:t>
            </a:r>
            <a:endParaRPr lang="en-US" altLang="zh-C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利用雷达图也可以研究多个样本之间的相似程度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FD3AAD-3B83-122D-CA79-FA55872EC2A7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7.1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比较整体相似性</a:t>
            </a:r>
          </a:p>
        </p:txBody>
      </p:sp>
    </p:spTree>
    <p:extLst>
      <p:ext uri="{BB962C8B-B14F-4D97-AF65-F5344CB8AC3E}">
        <p14:creationId xmlns:p14="http://schemas.microsoft.com/office/powerpoint/2010/main" val="3164815098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雷达图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86808" y="1722474"/>
            <a:ext cx="2043478" cy="460720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北京、天津和上海</a:t>
            </a:r>
            <a:r>
              <a:rPr lang="en-US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8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项人均消费支出的雷达图</a:t>
            </a: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26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5D94A6-2AF6-CCCB-DD17-F98EC865B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402" y="1722474"/>
            <a:ext cx="8438790" cy="460720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C9A39E-9D74-17F3-31C9-B8D750890AB9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7.1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比较整体相似性</a:t>
            </a:r>
          </a:p>
        </p:txBody>
      </p:sp>
    </p:spTree>
    <p:extLst>
      <p:ext uri="{BB962C8B-B14F-4D97-AF65-F5344CB8AC3E}">
        <p14:creationId xmlns:p14="http://schemas.microsoft.com/office/powerpoint/2010/main" val="3312109231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雷达图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86807" y="1722474"/>
            <a:ext cx="3470233" cy="464784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中南地区</a:t>
            </a:r>
            <a:r>
              <a:rPr lang="en-US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8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项人均消费支出的分面雷达图</a:t>
            </a: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26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4B449AC-9EED-BBF3-5A8A-7FFB7D063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80" y="1722474"/>
            <a:ext cx="6955113" cy="464784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A8A462-0E44-7BCE-F421-13750D51AFD9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7.1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比较整体相似性</a:t>
            </a:r>
          </a:p>
        </p:txBody>
      </p:sp>
    </p:spTree>
    <p:extLst>
      <p:ext uri="{BB962C8B-B14F-4D97-AF65-F5344CB8AC3E}">
        <p14:creationId xmlns:p14="http://schemas.microsoft.com/office/powerpoint/2010/main" val="1336199957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雷达图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86807" y="1722474"/>
            <a:ext cx="2478907" cy="460720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按区域划分和地带划分分组的</a:t>
            </a:r>
            <a:r>
              <a:rPr lang="en-US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8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项人均消费支出的雷达图</a:t>
            </a: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26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51391A5-AA59-8BD4-462D-584D617D1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002" y="1722474"/>
            <a:ext cx="7829191" cy="460720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DB2953D-1C37-644E-087C-0C41A277BFB3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7.1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比较整体相似性</a:t>
            </a:r>
          </a:p>
        </p:txBody>
      </p:sp>
    </p:spTree>
    <p:extLst>
      <p:ext uri="{BB962C8B-B14F-4D97-AF65-F5344CB8AC3E}">
        <p14:creationId xmlns:p14="http://schemas.microsoft.com/office/powerpoint/2010/main" val="3539136758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星图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808" y="1722474"/>
            <a:ext cx="10708506" cy="461736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b="1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星图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star plot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）也被称为雷达图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它用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个变量将圆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等分，并将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个半径与圆心连接，再将一个样本的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个变量的取值连接成一个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边形，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个样本形成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个独立的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边形，即为星图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利用星图可根据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边形比较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个样本的相似性。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绘制星图时，因各样本的计量单位可能不同，或不同变量的数值差异可能很大，因此需要先对变量做标准化处理，之后再绘制星图</a:t>
            </a:r>
            <a:endParaRPr lang="en-US" altLang="zh-CN" sz="20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绘制星图时，因各样本的计量单位可能不同，或不同变量的数值差异可能很大，因此需要先对变量做标准化处理，之后再绘制星图</a:t>
            </a:r>
            <a:endParaRPr lang="zh-CN" altLang="zh-CN" sz="20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E142655-70D7-A8F8-1638-DE6182ED71E9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7.2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比较样本间差异</a:t>
            </a:r>
          </a:p>
        </p:txBody>
      </p:sp>
    </p:spTree>
    <p:extLst>
      <p:ext uri="{BB962C8B-B14F-4D97-AF65-F5344CB8AC3E}">
        <p14:creationId xmlns:p14="http://schemas.microsoft.com/office/powerpoint/2010/main" val="97264577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星图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55609" y="1747520"/>
            <a:ext cx="1410647" cy="459232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全国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个地区的人均消费支出的星图</a:t>
            </a: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20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24D7C7-F7BF-92B4-2B68-46959E2061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842" y="1747520"/>
            <a:ext cx="9347518" cy="459232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4929D9-3ED1-A086-49CB-7229812EDE5B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7.2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比较样本间差异</a:t>
            </a:r>
          </a:p>
        </p:txBody>
      </p:sp>
    </p:spTree>
    <p:extLst>
      <p:ext uri="{BB962C8B-B14F-4D97-AF65-F5344CB8AC3E}">
        <p14:creationId xmlns:p14="http://schemas.microsoft.com/office/powerpoint/2010/main" val="1313220566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星图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散点星图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55609" y="1717040"/>
            <a:ext cx="4009431" cy="466344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首先绘制出两个变量的散点图，然后将每个样本的所有变量将制成星图。这样，就可以在分析所关注的两个变量之间关系的同时，比较各样本在多个变量上的相似性</a:t>
            </a:r>
            <a:endParaRPr lang="en-US" altLang="zh-CN" sz="18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en-US" altLang="zh-CN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全国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个地区人均消费支出的星图</a:t>
            </a: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18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08C174-FF9B-BDE8-7D33-F182096307C3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7.2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比较样本间差异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A3CF50-A22C-C154-763D-6E8CB0730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520" y="1717041"/>
            <a:ext cx="6492240" cy="466344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0669615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脸谱图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99911041-4987-DB4B-B202-4169E6F14576}"/>
              </a:ext>
            </a:extLst>
          </p:cNvPr>
          <p:cNvSpPr txBox="1">
            <a:spLocks/>
          </p:cNvSpPr>
          <p:nvPr/>
        </p:nvSpPr>
        <p:spPr>
          <a:xfrm>
            <a:off x="765546" y="1690322"/>
            <a:ext cx="3646966" cy="467999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400" b="1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脸谱图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faces plot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）由美国统计学家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Chernoff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1973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）首先提出，也称为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Chernoff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脸谱（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Chernoff faces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）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脸谱图将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个变量（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个维度的数据）用人脸部位的形状或大小来表征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通过对脸谱的分析，可根据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个变量对样本进行归类或比较研究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按照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Chernoff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提出的画法，由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个变量决定脸部的特征，若实际变量更多，多出的将被忽略；若实际变量较少，变量将被重复使用</a:t>
            </a:r>
          </a:p>
          <a:p>
            <a:pPr marL="0" indent="0" algn="just">
              <a:lnSpc>
                <a:spcPct val="150000"/>
              </a:lnSpc>
              <a:buClr>
                <a:srgbClr val="00FFFF"/>
              </a:buClr>
              <a:buNone/>
            </a:pPr>
            <a:endParaRPr lang="zh-CN" altLang="zh-CN" sz="14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DC45E2B0-F36E-D807-7BFC-4E31768A3AE0}"/>
              </a:ext>
            </a:extLst>
          </p:cNvPr>
          <p:cNvSpPr txBox="1">
            <a:spLocks/>
          </p:cNvSpPr>
          <p:nvPr/>
        </p:nvSpPr>
        <p:spPr>
          <a:xfrm>
            <a:off x="4550734" y="1690322"/>
            <a:ext cx="6875719" cy="467999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Clr>
                <a:srgbClr val="00FFFF"/>
              </a:buClr>
            </a:pPr>
            <a:r>
              <a:rPr lang="en-US" altLang="zh-CN" sz="1600" b="1" dirty="0">
                <a:solidFill>
                  <a:srgbClr val="FF0000"/>
                </a:solidFill>
                <a:latin typeface="+mn-lt"/>
                <a:ea typeface="华文细黑" panose="02010600040101010101" pitchFamily="2" charset="-122"/>
              </a:rPr>
              <a:t>15 </a:t>
            </a:r>
            <a:r>
              <a:rPr lang="zh-CN" altLang="en-US" sz="1600" b="1" dirty="0">
                <a:solidFill>
                  <a:srgbClr val="FF0000"/>
                </a:solidFill>
                <a:latin typeface="+mn-lt"/>
                <a:ea typeface="华文细黑" panose="02010600040101010101" pitchFamily="2" charset="-122"/>
              </a:rPr>
              <a:t>个变量代表的面部特征</a:t>
            </a:r>
            <a:endParaRPr lang="zh-CN" altLang="zh-CN" sz="1600" b="1" dirty="0">
              <a:solidFill>
                <a:srgbClr val="FF0000"/>
              </a:solidFill>
              <a:latin typeface="+mn-lt"/>
              <a:ea typeface="华文细黑" panose="02010600040101010101" pitchFamily="2" charset="-122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76B9108-8246-4DDE-1336-8D6B7EF9E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9855"/>
              </p:ext>
            </p:extLst>
          </p:nvPr>
        </p:nvGraphicFramePr>
        <p:xfrm>
          <a:off x="4699591" y="2264736"/>
          <a:ext cx="6602819" cy="40039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1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4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5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2214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变量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面部特征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变量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面部特征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变量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面部特征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24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1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2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脸的高度</a:t>
                      </a:r>
                    </a:p>
                    <a:p>
                      <a:pPr algn="ctr" fontAlgn="base">
                        <a:lnSpc>
                          <a:spcPts val="192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(height of face)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6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笑容曲线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(curve of smile)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11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发型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(styling of hair)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24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2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脸的宽度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(width of face)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7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眼睛高度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(height of eyes)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12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鼻子高度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(height of nose)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24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3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脸的形状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(shape of face)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8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眼睛宽度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(width of eyes)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13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鼻子宽度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(width of nose)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77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4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嘴的高度</a:t>
                      </a:r>
                    </a:p>
                    <a:p>
                      <a:pPr algn="ctr" fontAlgn="base">
                        <a:lnSpc>
                          <a:spcPts val="192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(height of mouth)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9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头发高度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(height of hair)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14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耳朵宽度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(width of ears)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24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5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嘴的宽度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(width of mouth)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10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头发宽度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(width of hair)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15</a:t>
                      </a:r>
                      <a:endParaRPr lang="zh-CN" sz="1200" b="1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耳朵高度</a:t>
                      </a:r>
                    </a:p>
                    <a:p>
                      <a:pPr algn="ctr" fontAlgn="base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  <a:ea typeface="华文细黑" panose="02010600040101010101" pitchFamily="2" charset="-122"/>
                        </a:rPr>
                        <a:t>(height of ears)</a:t>
                      </a:r>
                      <a:endParaRPr lang="zh-CN" sz="1200" b="1" dirty="0">
                        <a:effectLst/>
                        <a:latin typeface="+mn-lt"/>
                        <a:ea typeface="华文细黑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CA88D0E9-8B73-49B7-CEDB-08C4C6036EF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7.2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比较样本间差异</a:t>
            </a:r>
          </a:p>
        </p:txBody>
      </p:sp>
    </p:spTree>
    <p:extLst>
      <p:ext uri="{BB962C8B-B14F-4D97-AF65-F5344CB8AC3E}">
        <p14:creationId xmlns:p14="http://schemas.microsoft.com/office/powerpoint/2010/main" val="1128990416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脸谱图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55610" y="1722473"/>
            <a:ext cx="1723430" cy="463832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全国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个地区的人均消费支出的脸谱图</a:t>
            </a: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20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421C669-DDD4-6521-FD10-710C7C094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990" y="1722473"/>
            <a:ext cx="8722400" cy="463832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8CEF88-B53B-6127-699A-D737353FCEA1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7.2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比较样本间差异</a:t>
            </a:r>
          </a:p>
        </p:txBody>
      </p:sp>
    </p:spTree>
    <p:extLst>
      <p:ext uri="{BB962C8B-B14F-4D97-AF65-F5344CB8AC3E}">
        <p14:creationId xmlns:p14="http://schemas.microsoft.com/office/powerpoint/2010/main" val="2551707006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脸谱图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散点脸谱图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55609" y="1722474"/>
            <a:ext cx="3533361" cy="465800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食品烟酒支出和医疗保健支出的脸谱图散点图</a:t>
            </a: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26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922894-51E7-98B2-657F-61441F511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039" y="1722474"/>
            <a:ext cx="6925351" cy="465800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AEA367-2689-4E5F-EFC8-79FBAE6D0C98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7.2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比较样本间差异</a:t>
            </a:r>
          </a:p>
        </p:txBody>
      </p:sp>
    </p:spTree>
    <p:extLst>
      <p:ext uri="{BB962C8B-B14F-4D97-AF65-F5344CB8AC3E}">
        <p14:creationId xmlns:p14="http://schemas.microsoft.com/office/powerpoint/2010/main" val="815551916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散点饼图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B2BAA115-34A8-6A48-273A-12DDEE732156}"/>
              </a:ext>
            </a:extLst>
          </p:cNvPr>
          <p:cNvSpPr txBox="1">
            <a:spLocks/>
          </p:cNvSpPr>
          <p:nvPr/>
        </p:nvSpPr>
        <p:spPr>
          <a:xfrm>
            <a:off x="795670" y="1673632"/>
            <a:ext cx="2597770" cy="473732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将多个样本的饼图绘制成</a:t>
            </a:r>
            <a:r>
              <a:rPr lang="zh-CN" altLang="zh-CN" sz="1800" b="1" dirty="0">
                <a:effectLst/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散点饼图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scatter pie plot</a:t>
            </a:r>
            <a:r>
              <a:rPr lang="zh-CN" altLang="en-US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8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用饼图代替散点图中的各个点，并用饼的大小比较各样本总数值多少，用饼的构成分析各样本数值构成的差异或相似性</a:t>
            </a:r>
            <a:endParaRPr lang="zh-CN" altLang="zh-CN" sz="1800" dirty="0">
              <a:latin typeface="+mn-lt"/>
              <a:ea typeface="华文细黑" panose="0201060004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C69505A-2155-F9A6-45EF-E07795191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520" y="1673632"/>
            <a:ext cx="7975600" cy="473732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5612FB-BABF-EC62-F402-1DCD45F0D1A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7.2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比较样本间差异</a:t>
            </a:r>
          </a:p>
        </p:txBody>
      </p:sp>
    </p:spTree>
    <p:extLst>
      <p:ext uri="{BB962C8B-B14F-4D97-AF65-F5344CB8AC3E}">
        <p14:creationId xmlns:p14="http://schemas.microsoft.com/office/powerpoint/2010/main" val="3650954389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聚类图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B2BAA115-34A8-6A48-273A-12DDEE732156}"/>
              </a:ext>
            </a:extLst>
          </p:cNvPr>
          <p:cNvSpPr txBox="1">
            <a:spLocks/>
          </p:cNvSpPr>
          <p:nvPr/>
        </p:nvSpPr>
        <p:spPr>
          <a:xfrm>
            <a:off x="795670" y="1701208"/>
            <a:ext cx="10715610" cy="462847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b="1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层次</a:t>
            </a:r>
            <a:r>
              <a:rPr lang="zh-CN" altLang="en-US" sz="2000" b="1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聚类</a:t>
            </a:r>
            <a:r>
              <a:rPr lang="zh-CN" altLang="zh-CN" sz="2000" b="1" dirty="0">
                <a:latin typeface="Cambria" panose="02040503050406030204" pitchFamily="18" charset="0"/>
              </a:rPr>
              <a:t>（</a:t>
            </a:r>
            <a:r>
              <a:rPr lang="x-none" altLang="zh-CN" sz="2000" b="1" dirty="0">
                <a:ea typeface="Cambria" panose="02040503050406030204" pitchFamily="18" charset="0"/>
              </a:rPr>
              <a:t>hierarchical cluster</a:t>
            </a:r>
            <a:r>
              <a:rPr lang="zh-CN" altLang="zh-CN" sz="2000" b="1" dirty="0">
                <a:latin typeface="Cambria" panose="02040503050406030204" pitchFamily="18" charset="0"/>
              </a:rPr>
              <a:t>）</a:t>
            </a:r>
            <a:endParaRPr lang="en-US" altLang="zh-C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事先不确定要分多少类，而是先把每一个样本作为一类，然后按照某种方法度量样本之间的距离，并将距离最近的两个样本合并为一个类别，从而形成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k-1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个类别</a:t>
            </a:r>
            <a:endParaRPr lang="en-US" altLang="zh-C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再计算出新产生的类别与其他各类别之间的距离，并将距离最近的两个类别合并为一类。这时，如果类别的个数仍然大于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，则重复这一步上述步骤，直到所有的类别都合并成一类为止</a:t>
            </a:r>
            <a:endParaRPr lang="en-US" altLang="zh-C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000" b="1" dirty="0">
                <a:highlight>
                  <a:srgbClr val="FFFF99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K-</a:t>
            </a:r>
            <a:r>
              <a:rPr lang="zh-CN" altLang="zh-CN" sz="2000" b="1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均值聚类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K-means cluster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）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不是把所有可能的聚类结果都列出来，使用者需要先指定要划分的类别个数，然后确定各聚类中心，再计算出各样本到聚类中心的距离，最后按距离的远近进行分类</a:t>
            </a:r>
            <a:endParaRPr lang="en-US" altLang="zh-C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K-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均值聚类中的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“K”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就是指事先指定要分的类别个数，而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均值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”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则是指聚类的中心</a:t>
            </a:r>
            <a:endParaRPr lang="en-US" altLang="zh-C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738E9CB-AA8E-03A2-B1C2-E7596D432407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</p:spTree>
    <p:extLst>
      <p:ext uri="{BB962C8B-B14F-4D97-AF65-F5344CB8AC3E}">
        <p14:creationId xmlns:p14="http://schemas.microsoft.com/office/powerpoint/2010/main" val="3999683359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层次聚类图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55609" y="1722474"/>
            <a:ext cx="2629848" cy="459704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全国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个地区的人均消费支出的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层次聚类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树状图</a:t>
            </a: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321EB9-2893-E9A9-A26C-F3A60EE78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002" y="1722474"/>
            <a:ext cx="7860389" cy="4597046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4377653-B240-7BB8-A718-8EA66120AF25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</p:spTree>
    <p:extLst>
      <p:ext uri="{BB962C8B-B14F-4D97-AF65-F5344CB8AC3E}">
        <p14:creationId xmlns:p14="http://schemas.microsoft.com/office/powerpoint/2010/main" val="737448363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88265" y="1722474"/>
            <a:ext cx="2520991" cy="460720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层次聚类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的圆形树状图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和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植物形树状图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6D4D717-9D0D-557B-6F0D-7178BF595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402" y="1722474"/>
            <a:ext cx="8006398" cy="460720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CB0657-9390-9ED1-18EC-342B5536478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1A2C88-FFD5-4B2D-A143-DB9FF4AC5ED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层次聚类图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8578277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55610" y="1722474"/>
            <a:ext cx="1396667" cy="456136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层次聚类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的网络形树状图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86C232-3213-6944-AEA4-3DF67D577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520" y="1722473"/>
            <a:ext cx="5588000" cy="456136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EC3806-59EC-9AA4-5E7B-CB86B55E0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762" y="1722473"/>
            <a:ext cx="3594997" cy="456136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061A11C-FA3F-B0E7-0287-E8AB11DA10FC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1D7326-DBB4-91C3-D396-823E6041F1D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层次聚类图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3501317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55610" y="1691994"/>
            <a:ext cx="1835190" cy="465801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层次聚类结果（分成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4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</a:rPr>
              <a:t>类）</a:t>
            </a: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0D209CB-4514-4D3C-DA33-8CEE7C4CF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562710"/>
              </p:ext>
            </p:extLst>
          </p:nvPr>
        </p:nvGraphicFramePr>
        <p:xfrm>
          <a:off x="2794000" y="1691995"/>
          <a:ext cx="8642390" cy="46580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4992">
                  <a:extLst>
                    <a:ext uri="{9D8B030D-6E8A-4147-A177-3AD203B41FA5}">
                      <a16:colId xmlns:a16="http://schemas.microsoft.com/office/drawing/2014/main" val="4167585281"/>
                    </a:ext>
                  </a:extLst>
                </a:gridCol>
                <a:gridCol w="6648421">
                  <a:extLst>
                    <a:ext uri="{9D8B030D-6E8A-4147-A177-3AD203B41FA5}">
                      <a16:colId xmlns:a16="http://schemas.microsoft.com/office/drawing/2014/main" val="3989726211"/>
                    </a:ext>
                  </a:extLst>
                </a:gridCol>
                <a:gridCol w="948977">
                  <a:extLst>
                    <a:ext uri="{9D8B030D-6E8A-4147-A177-3AD203B41FA5}">
                      <a16:colId xmlns:a16="http://schemas.microsoft.com/office/drawing/2014/main" val="821924831"/>
                    </a:ext>
                  </a:extLst>
                </a:gridCol>
              </a:tblGrid>
              <a:tr h="82574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>
                          <a:effectLst/>
                        </a:rPr>
                        <a:t>类别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>
                          <a:effectLst/>
                        </a:rPr>
                        <a:t>地区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 dirty="0">
                          <a:effectLst/>
                        </a:rPr>
                        <a:t>地区数</a:t>
                      </a:r>
                      <a:endParaRPr lang="zh-CN" sz="20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7275677"/>
                  </a:ext>
                </a:extLst>
              </a:tr>
              <a:tr h="82574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>
                          <a:effectLst/>
                        </a:rPr>
                        <a:t>第</a:t>
                      </a:r>
                      <a:r>
                        <a:rPr lang="en-US" sz="2000" b="1">
                          <a:effectLst/>
                        </a:rPr>
                        <a:t>1</a:t>
                      </a:r>
                      <a:r>
                        <a:rPr lang="zh-CN" sz="2000" b="1">
                          <a:effectLst/>
                        </a:rPr>
                        <a:t>类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>
                          <a:effectLst/>
                        </a:rPr>
                        <a:t>北京，上海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effectLst/>
                        </a:rPr>
                        <a:t>2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3164829"/>
                  </a:ext>
                </a:extLst>
              </a:tr>
              <a:tr h="82574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>
                          <a:effectLst/>
                        </a:rPr>
                        <a:t>第</a:t>
                      </a:r>
                      <a:r>
                        <a:rPr lang="en-US" sz="2000" b="1">
                          <a:effectLst/>
                        </a:rPr>
                        <a:t>2</a:t>
                      </a:r>
                      <a:r>
                        <a:rPr lang="zh-CN" sz="2000" b="1">
                          <a:effectLst/>
                        </a:rPr>
                        <a:t>类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>
                          <a:effectLst/>
                        </a:rPr>
                        <a:t>浙江，天津，江苏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effectLst/>
                        </a:rPr>
                        <a:t>3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4564091"/>
                  </a:ext>
                </a:extLst>
              </a:tr>
              <a:tr h="82574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>
                          <a:effectLst/>
                        </a:rPr>
                        <a:t>第</a:t>
                      </a:r>
                      <a:r>
                        <a:rPr lang="en-US" sz="2000" b="1">
                          <a:effectLst/>
                        </a:rPr>
                        <a:t>3</a:t>
                      </a:r>
                      <a:r>
                        <a:rPr lang="zh-CN" sz="2000" b="1">
                          <a:effectLst/>
                        </a:rPr>
                        <a:t>类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>
                          <a:effectLst/>
                        </a:rPr>
                        <a:t>福建，广东，内蒙古，湖北，湖南，山东，重庆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>
                          <a:effectLst/>
                        </a:rPr>
                        <a:t>7</a:t>
                      </a:r>
                      <a:endParaRPr lang="zh-CN" sz="20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92011498"/>
                  </a:ext>
                </a:extLst>
              </a:tr>
              <a:tr h="135502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 dirty="0">
                          <a:effectLst/>
                        </a:rPr>
                        <a:t>第</a:t>
                      </a:r>
                      <a:r>
                        <a:rPr lang="en-US" altLang="zh-CN" sz="2000" b="1" dirty="0">
                          <a:effectLst/>
                        </a:rPr>
                        <a:t>4</a:t>
                      </a:r>
                      <a:r>
                        <a:rPr lang="zh-CN" sz="2000" b="1" dirty="0">
                          <a:effectLst/>
                        </a:rPr>
                        <a:t>类</a:t>
                      </a:r>
                      <a:endParaRPr lang="zh-CN" sz="20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2000" b="1" dirty="0">
                          <a:effectLst/>
                        </a:rPr>
                        <a:t>辽宁，黑龙江，吉林，青海，新疆，安徽，河北，四川，陕西，宁夏，山西，河南，西藏，海南，广西，江西，甘肃，贵州，云南，</a:t>
                      </a:r>
                      <a:endParaRPr lang="zh-CN" sz="20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effectLst/>
                        </a:rPr>
                        <a:t>19</a:t>
                      </a:r>
                      <a:endParaRPr lang="zh-CN" sz="20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90370706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2039848F-C719-4806-676D-74A3393E05A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AA35D01-9E7A-6AD4-C664-90DD9119B03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层次聚类图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5386961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K-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均值聚类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022C4CAD-3936-4CF1-9D7E-09415FA92555}"/>
              </a:ext>
            </a:extLst>
          </p:cNvPr>
          <p:cNvSpPr txBox="1">
            <a:spLocks/>
          </p:cNvSpPr>
          <p:nvPr/>
        </p:nvSpPr>
        <p:spPr>
          <a:xfrm>
            <a:off x="755609" y="1722474"/>
            <a:ext cx="1520231" cy="462752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个地区分成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4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类的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K-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均值聚类图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3E6BC6F-29A6-89C6-88F6-24C43DA8C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082" y="1722474"/>
            <a:ext cx="9147864" cy="462752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BDC2314-65E9-5B03-7977-F39FFEE6C077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</p:spTree>
    <p:extLst>
      <p:ext uri="{BB962C8B-B14F-4D97-AF65-F5344CB8AC3E}">
        <p14:creationId xmlns:p14="http://schemas.microsoft.com/office/powerpoint/2010/main" val="3598625573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>
            <a:extLst>
              <a:ext uri="{FF2B5EF4-FFF2-40B4-BE49-F238E27FC236}">
                <a16:creationId xmlns:a16="http://schemas.microsoft.com/office/drawing/2014/main" id="{DFAE7017-D491-09B6-F12D-8D2A1BCFB212}"/>
              </a:ext>
            </a:extLst>
          </p:cNvPr>
          <p:cNvSpPr txBox="1">
            <a:spLocks/>
          </p:cNvSpPr>
          <p:nvPr/>
        </p:nvSpPr>
        <p:spPr>
          <a:xfrm>
            <a:off x="755610" y="1722474"/>
            <a:ext cx="1552162" cy="464784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个地区分成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4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类的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K-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均值聚类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</a:rPr>
              <a:t>结果</a:t>
            </a: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E9DBB51-5E6F-D307-1249-F38AEFB37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58019"/>
              </p:ext>
            </p:extLst>
          </p:nvPr>
        </p:nvGraphicFramePr>
        <p:xfrm>
          <a:off x="2489200" y="1722474"/>
          <a:ext cx="8947192" cy="46478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8922">
                  <a:extLst>
                    <a:ext uri="{9D8B030D-6E8A-4147-A177-3AD203B41FA5}">
                      <a16:colId xmlns:a16="http://schemas.microsoft.com/office/drawing/2014/main" val="3511484757"/>
                    </a:ext>
                  </a:extLst>
                </a:gridCol>
                <a:gridCol w="2253907">
                  <a:extLst>
                    <a:ext uri="{9D8B030D-6E8A-4147-A177-3AD203B41FA5}">
                      <a16:colId xmlns:a16="http://schemas.microsoft.com/office/drawing/2014/main" val="12607265"/>
                    </a:ext>
                  </a:extLst>
                </a:gridCol>
                <a:gridCol w="1056353">
                  <a:extLst>
                    <a:ext uri="{9D8B030D-6E8A-4147-A177-3AD203B41FA5}">
                      <a16:colId xmlns:a16="http://schemas.microsoft.com/office/drawing/2014/main" val="327988096"/>
                    </a:ext>
                  </a:extLst>
                </a:gridCol>
                <a:gridCol w="977790">
                  <a:extLst>
                    <a:ext uri="{9D8B030D-6E8A-4147-A177-3AD203B41FA5}">
                      <a16:colId xmlns:a16="http://schemas.microsoft.com/office/drawing/2014/main" val="1641702585"/>
                    </a:ext>
                  </a:extLst>
                </a:gridCol>
                <a:gridCol w="2478979">
                  <a:extLst>
                    <a:ext uri="{9D8B030D-6E8A-4147-A177-3AD203B41FA5}">
                      <a16:colId xmlns:a16="http://schemas.microsoft.com/office/drawing/2014/main" val="1848463772"/>
                    </a:ext>
                  </a:extLst>
                </a:gridCol>
                <a:gridCol w="1131241">
                  <a:extLst>
                    <a:ext uri="{9D8B030D-6E8A-4147-A177-3AD203B41FA5}">
                      <a16:colId xmlns:a16="http://schemas.microsoft.com/office/drawing/2014/main" val="4150019568"/>
                    </a:ext>
                  </a:extLst>
                </a:gridCol>
              </a:tblGrid>
              <a:tr h="511718">
                <a:tc gridSpan="3"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分成</a:t>
                      </a:r>
                      <a:r>
                        <a:rPr lang="en-US" sz="1600" b="1">
                          <a:effectLst/>
                        </a:rPr>
                        <a:t>4</a:t>
                      </a:r>
                      <a:r>
                        <a:rPr lang="zh-CN" sz="1600" b="1">
                          <a:effectLst/>
                        </a:rPr>
                        <a:t>类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分成</a:t>
                      </a:r>
                      <a:r>
                        <a:rPr lang="en-US" sz="1600" b="1">
                          <a:effectLst/>
                        </a:rPr>
                        <a:t>3</a:t>
                      </a:r>
                      <a:r>
                        <a:rPr lang="zh-CN" sz="1600" b="1">
                          <a:effectLst/>
                        </a:rPr>
                        <a:t>类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181229"/>
                  </a:ext>
                </a:extLst>
              </a:tr>
              <a:tr h="511718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类别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地区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地区数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类别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地区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 dirty="0">
                          <a:effectLst/>
                        </a:rPr>
                        <a:t>地区数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3675888"/>
                  </a:ext>
                </a:extLst>
              </a:tr>
              <a:tr h="332054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第</a:t>
                      </a:r>
                      <a:r>
                        <a:rPr lang="en-US" sz="1600" b="1">
                          <a:effectLst/>
                        </a:rPr>
                        <a:t>1</a:t>
                      </a:r>
                      <a:r>
                        <a:rPr lang="zh-CN" sz="1600" b="1">
                          <a:effectLst/>
                        </a:rPr>
                        <a:t>类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北京，上海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>
                          <a:effectLst/>
                        </a:rPr>
                        <a:t>2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第</a:t>
                      </a:r>
                      <a:r>
                        <a:rPr lang="en-US" sz="1600" b="1">
                          <a:effectLst/>
                        </a:rPr>
                        <a:t>1</a:t>
                      </a:r>
                      <a:r>
                        <a:rPr lang="zh-CN" sz="1600" b="1">
                          <a:effectLst/>
                        </a:rPr>
                        <a:t>类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北京，上海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8883332"/>
                  </a:ext>
                </a:extLst>
              </a:tr>
              <a:tr h="764196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第</a:t>
                      </a:r>
                      <a:r>
                        <a:rPr lang="en-US" sz="1600" b="1">
                          <a:effectLst/>
                        </a:rPr>
                        <a:t>2</a:t>
                      </a:r>
                      <a:r>
                        <a:rPr lang="zh-CN" sz="1600" b="1">
                          <a:effectLst/>
                        </a:rPr>
                        <a:t>类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天津，浙江，江苏，福建，广东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>
                          <a:effectLst/>
                        </a:rPr>
                        <a:t>5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第</a:t>
                      </a:r>
                      <a:r>
                        <a:rPr lang="en-US" sz="1600" b="1">
                          <a:effectLst/>
                        </a:rPr>
                        <a:t>2</a:t>
                      </a:r>
                      <a:r>
                        <a:rPr lang="zh-CN" sz="1600" b="1">
                          <a:effectLst/>
                        </a:rPr>
                        <a:t>类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天津，浙江，江苏，福建，广东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23060"/>
                  </a:ext>
                </a:extLst>
              </a:tr>
              <a:tr h="1095574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第</a:t>
                      </a:r>
                      <a:r>
                        <a:rPr lang="en-US" sz="1600" b="1">
                          <a:effectLst/>
                        </a:rPr>
                        <a:t>3</a:t>
                      </a:r>
                      <a:r>
                        <a:rPr lang="zh-CN" sz="1600" b="1">
                          <a:effectLst/>
                        </a:rPr>
                        <a:t>类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内蒙古，重庆，山东，四川，辽宁，湖北，湖南，安徽，江西，海南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>
                          <a:effectLst/>
                        </a:rPr>
                        <a:t>10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第</a:t>
                      </a:r>
                      <a:r>
                        <a:rPr lang="en-US" sz="1600" b="1">
                          <a:effectLst/>
                        </a:rPr>
                        <a:t>3</a:t>
                      </a:r>
                      <a:r>
                        <a:rPr lang="zh-CN" sz="1600" b="1">
                          <a:effectLst/>
                        </a:rPr>
                        <a:t>类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新疆，青海，黑龙江，河北，山西，陕西，吉林，西藏，河南，宁夏，甘肃，云南，贵州，广西，内蒙古，辽宁，四川，重庆，安徽，湖北，江西，山东，湖南，海南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24</a:t>
                      </a:r>
                    </a:p>
                    <a:p>
                      <a:pPr algn="just">
                        <a:lnSpc>
                          <a:spcPts val="1560"/>
                        </a:lnSpc>
                      </a:pPr>
                      <a:r>
                        <a:rPr lang="zh-CN" altLang="en-US" sz="1600" b="1" dirty="0">
                          <a:effectLst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3018915"/>
                  </a:ext>
                </a:extLst>
              </a:tr>
              <a:tr h="1432587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第</a:t>
                      </a:r>
                      <a:r>
                        <a:rPr lang="en-US" sz="1600" b="1">
                          <a:effectLst/>
                        </a:rPr>
                        <a:t>4</a:t>
                      </a:r>
                      <a:r>
                        <a:rPr lang="zh-CN" sz="1600" b="1">
                          <a:effectLst/>
                        </a:rPr>
                        <a:t>类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600" b="1">
                          <a:effectLst/>
                        </a:rPr>
                        <a:t>新疆，青海，黑龙江，西藏，陕西，山西，河北，吉林，河南，宁夏，甘肃，云南，贵州，广西</a:t>
                      </a:r>
                      <a:endParaRPr lang="zh-CN" sz="1600" b="1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effectLst/>
                        </a:rPr>
                        <a:t>14</a:t>
                      </a:r>
                      <a:endParaRPr lang="zh-CN" sz="1600" b="1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11909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B42241C0-3199-0B60-5325-E49FD9408F5C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FD381A5-2A6E-8904-E565-E8290BC5782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K-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均值聚类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2023460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副标题 2">
            <a:extLst>
              <a:ext uri="{FF2B5EF4-FFF2-40B4-BE49-F238E27FC236}">
                <a16:creationId xmlns:a16="http://schemas.microsoft.com/office/drawing/2014/main" id="{AEBCD0D5-8C6B-4112-5AF6-3F3A3E309EDA}"/>
              </a:ext>
            </a:extLst>
          </p:cNvPr>
          <p:cNvSpPr txBox="1">
            <a:spLocks/>
          </p:cNvSpPr>
          <p:nvPr/>
        </p:nvSpPr>
        <p:spPr>
          <a:xfrm>
            <a:off x="685800" y="1701208"/>
            <a:ext cx="10809514" cy="462847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b="1" dirty="0">
                <a:highlight>
                  <a:srgbClr val="FFFF99"/>
                </a:highlight>
                <a:latin typeface="+mn-lt"/>
                <a:ea typeface="华文细黑" panose="02010600040101010101" pitchFamily="2" charset="-122"/>
              </a:rPr>
              <a:t>热图</a:t>
            </a:r>
            <a:r>
              <a:rPr lang="zh-CN" altLang="zh-CN" dirty="0">
                <a:latin typeface="+mn-lt"/>
                <a:ea typeface="华文细黑" panose="02010600040101010101" pitchFamily="2" charset="-122"/>
              </a:rPr>
              <a:t>（</a:t>
            </a:r>
            <a:r>
              <a:rPr lang="en-US" altLang="zh-CN" dirty="0">
                <a:latin typeface="+mn-lt"/>
                <a:ea typeface="华文细黑" panose="02010600040101010101" pitchFamily="2" charset="-122"/>
              </a:rPr>
              <a:t>heat map</a:t>
            </a:r>
            <a:r>
              <a:rPr lang="zh-CN" altLang="zh-CN" dirty="0">
                <a:latin typeface="+mn-lt"/>
                <a:ea typeface="华文细黑" panose="02010600040101010101" pitchFamily="2" charset="-122"/>
              </a:rPr>
              <a:t>）是将矩阵中的每个数值转化成一个颜色矩形，用颜色表示数值的近似大小或强度热图在很多领域都有应用，比如基因组数据的可视化</a:t>
            </a:r>
            <a:endParaRPr lang="en-US" altLang="zh-CN" dirty="0">
              <a:latin typeface="+mn-lt"/>
              <a:ea typeface="华文细黑" panose="02010600040101010101" pitchFamily="2" charset="-122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latin typeface="+mn-lt"/>
                <a:ea typeface="华文细黑" panose="02010600040101010101" pitchFamily="2" charset="-122"/>
              </a:rPr>
              <a:t>热图可以在聚类的基础上同时用颜色表示出数据的大小绘制热图时</a:t>
            </a:r>
            <a:endParaRPr lang="en-US" altLang="zh-CN" dirty="0">
              <a:latin typeface="+mn-lt"/>
              <a:ea typeface="华文细黑" panose="02010600040101010101" pitchFamily="2" charset="-122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latin typeface="+mn-lt"/>
                <a:ea typeface="华文细黑" panose="02010600040101010101" pitchFamily="2" charset="-122"/>
              </a:rPr>
              <a:t>要求数据必须是矩阵。由于各变量间的数值差异，一般需要做中心化或标准化处理。当数据量很大时，通常会将数据归类后再绘制热图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D34F7CA-EF15-CD61-FC54-924588D95C1D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EAB86-3E77-AA54-CA85-A2648F2F140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K-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均值聚类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6922285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聚类热图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可视化数值大小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073604-A0FA-FBE5-58D1-133519A67B0D}"/>
              </a:ext>
            </a:extLst>
          </p:cNvPr>
          <p:cNvSpPr txBox="1">
            <a:spLocks/>
          </p:cNvSpPr>
          <p:nvPr/>
        </p:nvSpPr>
        <p:spPr>
          <a:xfrm>
            <a:off x="755609" y="1722474"/>
            <a:ext cx="2346820" cy="457672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个地区居民人均消费支出的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2D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热图和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3D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热图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C81F76A-DEB2-423B-35AE-6FA0D54F2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162" y="1722473"/>
            <a:ext cx="8179118" cy="457672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5777B254-C0A2-D1BA-AD4D-DBC56FC19B3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</p:spTree>
    <p:extLst>
      <p:ext uri="{BB962C8B-B14F-4D97-AF65-F5344CB8AC3E}">
        <p14:creationId xmlns:p14="http://schemas.microsoft.com/office/powerpoint/2010/main" val="4110315432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聚类热图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可视化数据分布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073604-A0FA-FBE5-58D1-133519A67B0D}"/>
              </a:ext>
            </a:extLst>
          </p:cNvPr>
          <p:cNvSpPr txBox="1">
            <a:spLocks/>
          </p:cNvSpPr>
          <p:nvPr/>
        </p:nvSpPr>
        <p:spPr>
          <a:xfrm>
            <a:off x="755610" y="1702154"/>
            <a:ext cx="10836950" cy="54320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个地区居民人均消费支出的频数分布直方图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00054B-D4E1-337E-6E82-F3D9AEC94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10" y="2316480"/>
            <a:ext cx="10836950" cy="402626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E226A61-1399-ED36-ABA6-01806C48C9A5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</p:spTree>
    <p:extLst>
      <p:ext uri="{BB962C8B-B14F-4D97-AF65-F5344CB8AC3E}">
        <p14:creationId xmlns:p14="http://schemas.microsoft.com/office/powerpoint/2010/main" val="2594589269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聚类热图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可视化数据分布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073604-A0FA-FBE5-58D1-133519A67B0D}"/>
              </a:ext>
            </a:extLst>
          </p:cNvPr>
          <p:cNvSpPr txBox="1">
            <a:spLocks/>
          </p:cNvSpPr>
          <p:nvPr/>
        </p:nvSpPr>
        <p:spPr>
          <a:xfrm>
            <a:off x="755609" y="1691995"/>
            <a:ext cx="10826791" cy="51272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个地区居民人均消费支出的密度分布热图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FC095E-7E45-D9D8-2470-CDA98B2C6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09" y="2255520"/>
            <a:ext cx="10826791" cy="413511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5B902F8-DCCB-4324-DFBF-CF969C81B350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</p:spTree>
    <p:extLst>
      <p:ext uri="{BB962C8B-B14F-4D97-AF65-F5344CB8AC3E}">
        <p14:creationId xmlns:p14="http://schemas.microsoft.com/office/powerpoint/2010/main" val="1597806158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聚类热图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可视化数据分布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073604-A0FA-FBE5-58D1-133519A67B0D}"/>
              </a:ext>
            </a:extLst>
          </p:cNvPr>
          <p:cNvSpPr txBox="1">
            <a:spLocks/>
          </p:cNvSpPr>
          <p:nvPr/>
        </p:nvSpPr>
        <p:spPr>
          <a:xfrm>
            <a:off x="755609" y="1722474"/>
            <a:ext cx="1276391" cy="464784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个地区居民人均消费支出的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聚类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热图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426CCAA-EA4F-5702-2DBF-9259A28D6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080" y="1722474"/>
            <a:ext cx="9289840" cy="464784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18D736A-9F5E-5C68-B8C8-3657976D5B6B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</p:spTree>
    <p:extLst>
      <p:ext uri="{BB962C8B-B14F-4D97-AF65-F5344CB8AC3E}">
        <p14:creationId xmlns:p14="http://schemas.microsoft.com/office/powerpoint/2010/main" val="4163001005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聚类热图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对样本或变量分类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073604-A0FA-FBE5-58D1-133519A67B0D}"/>
              </a:ext>
            </a:extLst>
          </p:cNvPr>
          <p:cNvSpPr txBox="1">
            <a:spLocks/>
          </p:cNvSpPr>
          <p:nvPr/>
        </p:nvSpPr>
        <p:spPr>
          <a:xfrm>
            <a:off x="755610" y="1722475"/>
            <a:ext cx="10691876" cy="50394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个地区居民人均消费支出的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密度分布聚类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热图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B5BEBF-5F05-BD77-19CD-4160AD172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10" y="2304626"/>
            <a:ext cx="10691876" cy="403521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B1FA3ECC-1D74-BA69-840E-F55D9D8226D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</p:spTree>
    <p:extLst>
      <p:ext uri="{BB962C8B-B14F-4D97-AF65-F5344CB8AC3E}">
        <p14:creationId xmlns:p14="http://schemas.microsoft.com/office/powerpoint/2010/main" val="3693057907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聚类热图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添加注释信息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073604-A0FA-FBE5-58D1-133519A67B0D}"/>
              </a:ext>
            </a:extLst>
          </p:cNvPr>
          <p:cNvSpPr txBox="1">
            <a:spLocks/>
          </p:cNvSpPr>
          <p:nvPr/>
        </p:nvSpPr>
        <p:spPr>
          <a:xfrm>
            <a:off x="755609" y="1722474"/>
            <a:ext cx="3185019" cy="462389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个地区居民人均消费支出的添加不同注释信息的聚类热图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241A09-AE9C-E07D-7324-2E22B436F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962" y="1722474"/>
            <a:ext cx="7366318" cy="462389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1D3CD7A-35F6-2122-9524-96C7956696A2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</p:spTree>
    <p:extLst>
      <p:ext uri="{BB962C8B-B14F-4D97-AF65-F5344CB8AC3E}">
        <p14:creationId xmlns:p14="http://schemas.microsoft.com/office/powerpoint/2010/main" val="3217983138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聚类热图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圆形聚类热图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073604-A0FA-FBE5-58D1-133519A67B0D}"/>
              </a:ext>
            </a:extLst>
          </p:cNvPr>
          <p:cNvSpPr txBox="1">
            <a:spLocks/>
          </p:cNvSpPr>
          <p:nvPr/>
        </p:nvSpPr>
        <p:spPr>
          <a:xfrm>
            <a:off x="664171" y="1722474"/>
            <a:ext cx="1286549" cy="456000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7-1】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31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个地区居民人均消费支出的圆形聚类热图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8E9215F-A9CE-E116-85EF-4849C1045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576" y="1722474"/>
            <a:ext cx="4778755" cy="456000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680EF04-F837-2D3C-0F2E-9D7D20D90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187" y="1722474"/>
            <a:ext cx="4822720" cy="456000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C6C8CAC-003F-4801-9898-9B944B5999A7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7.3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对样本进行分类</a:t>
            </a:r>
          </a:p>
        </p:txBody>
      </p:sp>
    </p:spTree>
    <p:extLst>
      <p:ext uri="{BB962C8B-B14F-4D97-AF65-F5344CB8AC3E}">
        <p14:creationId xmlns:p14="http://schemas.microsoft.com/office/powerpoint/2010/main" val="2673390793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E6639952-31FA-4CB6-98CD-CFA110F672FD}"/>
              </a:ext>
            </a:extLst>
          </p:cNvPr>
          <p:cNvSpPr txBox="1">
            <a:spLocks noChangeArrowheads="1"/>
          </p:cNvSpPr>
          <p:nvPr/>
        </p:nvSpPr>
        <p:spPr>
          <a:xfrm>
            <a:off x="5333999" y="1722373"/>
            <a:ext cx="6224427" cy="462762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本章介绍的图形主要用于比较多个样本之间的相似性或差异</a:t>
            </a:r>
            <a:endParaRPr lang="en-US" altLang="zh-CN" sz="16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用于比较多个样本整体相似性的图形主要有平行坐标图和雷达图，它们易于比较和理解，但样本不易过多</a:t>
            </a:r>
            <a:endParaRPr lang="en-US" altLang="zh-CN" sz="16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比较样本间差异的图形主要有星图和脸谱图，它们是将每个样本画成一个图形，适合于比较多个样本之间差异的细节，但不宜做整体比较</a:t>
            </a:r>
            <a:endParaRPr lang="en-US" altLang="zh-CN" sz="16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对样本进行分类的图形主要有聚类图，它是使用统计中的聚类分析方法将多个样本进行分类，并画出图形，是分析样本相似性的理想图形。热图是用颜色饱和度来展示矩阵中交叉单元格的数值大小，但它不是为了精确观察数据差异，而是找出数据分布的大致模式，通常与聚类图结合使用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本章小结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738A85-C91D-1828-7EC9-BA0A08BF198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7B6FCE-5E76-9F3C-13FB-D306DD90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75" y="1691893"/>
            <a:ext cx="4758023" cy="480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81407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2207568" y="342581"/>
            <a:ext cx="288032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THE END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816080" y="5445224"/>
            <a:ext cx="288032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dist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THANKS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46" y="1"/>
            <a:ext cx="12201746" cy="685572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2942906-8373-4413-B144-2030B3A6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73" y="95692"/>
            <a:ext cx="2880320" cy="984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THE END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EC17C8-105C-4971-8A37-00C8F14B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126" y="5922334"/>
            <a:ext cx="2880320" cy="776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dist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THANKS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AD9863-2B28-44BA-874F-29D5736D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876A-C894-4608-9B10-33028376C2E0}" type="datetime1">
              <a:rPr lang="zh-CN" altLang="en-US" smtClean="0"/>
              <a:t>2025/9/7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17844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3827</TotalTime>
  <Words>2434</Words>
  <Application>Microsoft Office PowerPoint</Application>
  <PresentationFormat>宽屏</PresentationFormat>
  <Paragraphs>379</Paragraphs>
  <Slides>36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等线</vt:lpstr>
      <vt:lpstr>等线 Light</vt:lpstr>
      <vt:lpstr>华文琥珀</vt:lpstr>
      <vt:lpstr>华文细黑</vt:lpstr>
      <vt:lpstr>华文行楷</vt:lpstr>
      <vt:lpstr>微软雅黑</vt:lpstr>
      <vt:lpstr>Arial</vt:lpstr>
      <vt:lpstr>Arial Black</vt:lpstr>
      <vt:lpstr>Cambria</vt:lpstr>
      <vt:lpstr>Franklin Gothic Book</vt:lpstr>
      <vt:lpstr>Script MT Bold</vt:lpstr>
      <vt:lpstr>Times New Roman</vt:lpstr>
      <vt:lpstr>Wingdings</vt:lpstr>
      <vt:lpstr>Office 主题​​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jiajp99@126.com</dc:creator>
  <cp:lastModifiedBy>俊平 贾</cp:lastModifiedBy>
  <cp:revision>369</cp:revision>
  <dcterms:created xsi:type="dcterms:W3CDTF">2020-11-21T11:10:03Z</dcterms:created>
  <dcterms:modified xsi:type="dcterms:W3CDTF">2025-09-07T06:32:34Z</dcterms:modified>
</cp:coreProperties>
</file>