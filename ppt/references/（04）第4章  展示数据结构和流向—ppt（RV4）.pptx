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1470" r:id="rId2"/>
    <p:sldId id="761" r:id="rId3"/>
    <p:sldId id="1463" r:id="rId4"/>
    <p:sldId id="1531" r:id="rId5"/>
    <p:sldId id="1498" r:id="rId6"/>
    <p:sldId id="1500" r:id="rId7"/>
    <p:sldId id="1499" r:id="rId8"/>
    <p:sldId id="1501" r:id="rId9"/>
    <p:sldId id="1502" r:id="rId10"/>
    <p:sldId id="1532" r:id="rId11"/>
    <p:sldId id="1504" r:id="rId12"/>
    <p:sldId id="1503" r:id="rId13"/>
    <p:sldId id="1435" r:id="rId14"/>
    <p:sldId id="1433" r:id="rId15"/>
    <p:sldId id="1516" r:id="rId16"/>
    <p:sldId id="1434" r:id="rId17"/>
    <p:sldId id="1439" r:id="rId18"/>
    <p:sldId id="1515" r:id="rId19"/>
    <p:sldId id="1436" r:id="rId20"/>
    <p:sldId id="1530" r:id="rId21"/>
    <p:sldId id="1459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jp99@126.com" initials="j" lastIdx="1" clrIdx="0">
    <p:extLst>
      <p:ext uri="{19B8F6BF-5375-455C-9EA6-DF929625EA0E}">
        <p15:presenceInfo xmlns:p15="http://schemas.microsoft.com/office/powerpoint/2012/main" userId="e55687fcb66d4a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99"/>
    <a:srgbClr val="00FFFF"/>
    <a:srgbClr val="0033CC"/>
    <a:srgbClr val="FF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724" autoAdjust="0"/>
  </p:normalViewPr>
  <p:slideViewPr>
    <p:cSldViewPr snapToGrid="0">
      <p:cViewPr varScale="1">
        <p:scale>
          <a:sx n="63" d="100"/>
          <a:sy n="63" d="100"/>
        </p:scale>
        <p:origin x="544" y="48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484"/>
    </p:cViewPr>
  </p:sorterViewPr>
  <p:notesViewPr>
    <p:cSldViewPr snapToGrid="0">
      <p:cViewPr varScale="1">
        <p:scale>
          <a:sx n="48" d="100"/>
          <a:sy n="48" d="100"/>
        </p:scale>
        <p:origin x="2460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2FDA811-53E1-1105-7042-0B0AE999D6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2FF950-628B-AE62-405C-F0CEAAD9BC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E44E6C-33F5-463E-99EB-4793D62960AB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F912B5-D9EE-BD35-4489-4EBD83B342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982223-9C76-131A-AA57-CAE854AEED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45267-8F9F-49F7-A93F-4C2D5D3B05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983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4936-C32E-4B5F-9C00-DE18EC293E6D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0304E-243D-4FB6-884F-3E6061F00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6C0ED60-2263-4EAE-A32E-1C3FDB03FC51}" type="slidenum">
              <a:rPr lang="en-US" altLang="zh-CN" b="0" smtClean="0"/>
              <a:pPr eaLnBrk="1" hangingPunct="1"/>
              <a:t>21</a:t>
            </a:fld>
            <a:endParaRPr lang="en-US" altLang="zh-CN" b="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zh-CN" altLang="zh-CN"/>
          </a:p>
        </p:txBody>
      </p:sp>
      <p:sp>
        <p:nvSpPr>
          <p:cNvPr id="471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42625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03911-1325-4990-9323-67866A3D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08E5B-80E4-4FD0-9CDA-5500B9FC9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13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33017-8E63-40AD-BA89-BBB2DF06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41B9A-6066-437C-A37E-12AA3A77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60100-748D-4E91-93CA-D72E0912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B5C0A2-AE1A-4240-B327-42A20908623E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4AB81-A6C4-44EF-926A-6AA9872F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F1667-2E90-4C92-8C58-6F859444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2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1E1B-492C-44FB-9CA3-2420D128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ED9EAE-AE6C-44FA-9A23-7CBD63088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415E1-0EE9-494C-87CA-A87BAD08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8CFB45-BD77-42C2-B43B-9CCE57C43804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ED9C1-6D6B-43B1-88E7-CF357750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F2E4E-68A6-44F0-89F1-9069558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6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DCF85-EA79-4E15-B212-198BA5E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22BAC-4316-4B37-83C8-3CFFCFEE9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768D-8B1B-4A40-8A1B-0AC0323E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33FB19-A5D7-478C-8B7B-8299F444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AE7C0A-51A3-489C-9A57-4ED5AAA198D8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ED81C-AAD8-40C0-A43F-9D9FB935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C24794-BF6C-4771-8DBA-AAC07BC3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DD335-5E95-437F-8BB9-A5F5CC02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372A5-726C-4D76-98A6-013BEE00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37AF2-BF75-4C37-A2FE-D332194D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FA0C6B-D138-4ACC-9E98-4920C2EAF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BCEC55-53FB-427F-A3DA-B4D5A728B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999D13-5648-462B-A233-9E2CB0C7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763D98-5F04-4BA9-AB85-97856237DB98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BD894E-170B-492B-B70A-EDD9A7FB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15CA6A-9FA6-4365-870E-2DA48DC4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6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BF246-4037-441C-876F-777CC926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FFBA47-D15B-4A7D-90C5-3FF2B94B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233C68-0546-46EF-826F-31AB21D0E22F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7BC1F9-EF67-4B0A-96D1-EF168C9E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AE28D9-605D-4CD2-B34B-BF76CDF0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3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973FC-C444-49AD-8778-F5595432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15AE0-43B3-4320-AFBE-87214D5BB912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EC1063-A3F0-4172-BCFB-CD827E2B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C6608-BFA7-48AD-A590-0E85E9B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7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C89A-E0B7-4981-8F0B-4A7A37DF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0E238-74BD-4EA3-996E-32B10590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769AF6-4E84-4D70-98D9-479DF698C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D74493-971D-42F5-91FF-A5917C2D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331374-E5A2-4981-B795-16EF6DE65827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DA75E-D89E-4AE1-8D91-7605D574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8901A-E4E6-4A7D-8E8C-9057C44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0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84D86-098B-45E7-8693-7E2DE798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28C271-481B-4D73-8474-75D6D49B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DE7F4-849E-4963-9100-C8B9B0A08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5913C3-07E4-4E81-AC28-DB408062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EF558D-81CA-4B76-8F12-A95764433413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2ECCF-DF52-4A0B-9088-6CD8439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79631-3376-40BB-8D99-D13069A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34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B782D-E973-4A4C-9768-5AF63655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AED1F-4B71-4171-BEF5-E90CF2DB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CF74F-5A81-42A8-BFDE-9DF8D20D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449A0-A72F-4DFF-AC68-836BF414A89D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0F45-E0D1-46EA-B198-5F3003E2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A175A-B4E7-4A78-94E6-0A03CE80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B2054-169E-46FC-87FF-00644348A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E503AE-1314-4E68-BF61-5DAB31ED9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4084A-FB51-4F63-B403-370B4F13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D7C6E1-5A4D-4ECE-B124-9762BAA7798B}" type="datetime1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99ED0-3608-4FCB-96BE-FFB5DD2C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967E-32DE-45B6-9C75-1157F0E4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7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D40C92A-1280-7102-0F1E-4D6E3E15ED20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295395" y="9940"/>
            <a:ext cx="10886670" cy="1017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zh-CN" altLang="en-US" sz="3200" b="1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BBF2C-F801-4650-BCBF-3E6A2B1F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480" y="1672313"/>
            <a:ext cx="10959546" cy="450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05F5E1-C922-4E5A-89F4-6F2B58D16289}"/>
              </a:ext>
            </a:extLst>
          </p:cNvPr>
          <p:cNvSpPr/>
          <p:nvPr userDrawn="1"/>
        </p:nvSpPr>
        <p:spPr>
          <a:xfrm>
            <a:off x="9935" y="1"/>
            <a:ext cx="1275525" cy="105354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展示数据结构和流向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ADC6794-BAC4-49B1-8B9A-A91B2A78D5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470992" y="1043609"/>
            <a:ext cx="10721008" cy="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5EAEA1C-2B82-4DF5-B721-B18A8CF883DD}"/>
              </a:ext>
            </a:extLst>
          </p:cNvPr>
          <p:cNvSpPr/>
          <p:nvPr userDrawn="1"/>
        </p:nvSpPr>
        <p:spPr>
          <a:xfrm>
            <a:off x="1441171" y="1"/>
            <a:ext cx="238540" cy="10535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B230C6B-BACC-4B1C-9DFC-332C0E60FE1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1059044"/>
            <a:ext cx="12192000" cy="503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细黑" panose="02010600040101010101" pitchFamily="2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BAB4A17-B612-4D54-7E08-634D82262A87}"/>
              </a:ext>
            </a:extLst>
          </p:cNvPr>
          <p:cNvSpPr txBox="1">
            <a:spLocks/>
          </p:cNvSpPr>
          <p:nvPr userDrawn="1"/>
        </p:nvSpPr>
        <p:spPr>
          <a:xfrm>
            <a:off x="23188" y="6461539"/>
            <a:ext cx="12172130" cy="396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</a:t>
            </a:r>
            <a:fld id="{40D7A12C-C48C-4203-A694-F2B6F5190069}" type="datetime1">
              <a:rPr lang="zh-CN" altLang="en-US" sz="1300" b="1" smtClean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2025/11/10</a:t>
            </a:fld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数据可视化分析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贾俊平                                                                        </a:t>
            </a:r>
            <a:r>
              <a:rPr lang="en-US" altLang="zh-CN" sz="13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1 - </a:t>
            </a:r>
            <a:fld id="{16EAF49E-217F-4E01-A667-C6B4D41E8F57}" type="slidenum">
              <a:rPr lang="en-US" altLang="zh-CN" sz="13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‹#›</a:t>
            </a:fld>
            <a:endParaRPr lang="en-US" altLang="zh-CN" sz="13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1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8327DF7-B6F2-4246-0B00-DD716D54DD0C}"/>
              </a:ext>
            </a:extLst>
          </p:cNvPr>
          <p:cNvSpPr/>
          <p:nvPr userDrawn="1"/>
        </p:nvSpPr>
        <p:spPr>
          <a:xfrm>
            <a:off x="212036" y="1163320"/>
            <a:ext cx="294859" cy="31238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E8573B3-9BDD-5148-0EA5-7E5EEDE50EB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165840" y="19179"/>
            <a:ext cx="1004310" cy="1005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5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华文细黑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40A239C-459A-7748-18ED-9D9FCF06E658}"/>
              </a:ext>
            </a:extLst>
          </p:cNvPr>
          <p:cNvGrpSpPr/>
          <p:nvPr/>
        </p:nvGrpSpPr>
        <p:grpSpPr>
          <a:xfrm>
            <a:off x="-57405" y="0"/>
            <a:ext cx="12271508" cy="6858000"/>
            <a:chOff x="-57405" y="0"/>
            <a:chExt cx="12271508" cy="6858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D2B003D-593F-48DB-BE13-1C28EEAA2375}"/>
                </a:ext>
              </a:extLst>
            </p:cNvPr>
            <p:cNvSpPr/>
            <p:nvPr/>
          </p:nvSpPr>
          <p:spPr>
            <a:xfrm>
              <a:off x="-57405" y="0"/>
              <a:ext cx="12271508" cy="6858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5445D0-CE9B-A4CC-30B0-668A63D7F5B6}"/>
                </a:ext>
              </a:extLst>
            </p:cNvPr>
            <p:cNvSpPr/>
            <p:nvPr/>
          </p:nvSpPr>
          <p:spPr>
            <a:xfrm>
              <a:off x="8533234" y="2415386"/>
              <a:ext cx="230704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74B7932-FC4D-9E74-8C2D-407E06788E45}"/>
                </a:ext>
              </a:extLst>
            </p:cNvPr>
            <p:cNvSpPr txBox="1"/>
            <p:nvPr/>
          </p:nvSpPr>
          <p:spPr>
            <a:xfrm>
              <a:off x="5018314" y="1352666"/>
              <a:ext cx="5821968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D7ED5E4C-E3FE-4A85-6B41-62F1AA059163}"/>
                </a:ext>
              </a:extLst>
            </p:cNvPr>
            <p:cNvSpPr txBox="1">
              <a:spLocks/>
            </p:cNvSpPr>
            <p:nvPr/>
          </p:nvSpPr>
          <p:spPr>
            <a:xfrm>
              <a:off x="9100901" y="5201655"/>
              <a:ext cx="1879415" cy="11968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fld id="{40D7A12C-C48C-4203-A694-F2B6F5190069}" type="datetime1">
                <a:rPr lang="zh-CN" altLang="en-US" sz="22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50000"/>
                  </a:lnSpc>
                </a:pPr>
                <a:t>2025/11/10</a:t>
              </a:fld>
              <a:endPara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A77711A-D9C3-862C-970B-1304CBB42097}"/>
                </a:ext>
              </a:extLst>
            </p:cNvPr>
            <p:cNvSpPr/>
            <p:nvPr/>
          </p:nvSpPr>
          <p:spPr>
            <a:xfrm>
              <a:off x="348344" y="359229"/>
              <a:ext cx="11506200" cy="6150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CC974D1-DCEA-DAD9-BA84-A0C1B34084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4029" y="598713"/>
            <a:ext cx="10874828" cy="5660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108840" imgH="4280040" progId="PBrush">
                    <p:embed/>
                  </p:oleObj>
                </mc:Choice>
                <mc:Fallback>
                  <p:oleObj name="Bitmap Image" r:id="rId2" imgW="6108840" imgH="4280040" progId="PBrush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CC974D1-DCEA-DAD9-BA84-A0C1B34084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4029" y="598713"/>
                          <a:ext cx="10874828" cy="5660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38CC3B9-D273-DA53-3D51-7097270B8979}"/>
                </a:ext>
              </a:extLst>
            </p:cNvPr>
            <p:cNvSpPr/>
            <p:nvPr/>
          </p:nvSpPr>
          <p:spPr>
            <a:xfrm>
              <a:off x="7206344" y="2622251"/>
              <a:ext cx="3718954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基于 </a:t>
              </a:r>
              <a:r>
                <a:rPr lang="en-US" altLang="zh-CN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8B0296-8DCD-A0D4-E6A8-49A8022C13B3}"/>
                </a:ext>
              </a:extLst>
            </p:cNvPr>
            <p:cNvSpPr txBox="1"/>
            <p:nvPr/>
          </p:nvSpPr>
          <p:spPr>
            <a:xfrm>
              <a:off x="5323114" y="1559531"/>
              <a:ext cx="5602183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982694FD-A4ED-A422-06B2-71C13249BACF}"/>
                </a:ext>
              </a:extLst>
            </p:cNvPr>
            <p:cNvSpPr txBox="1">
              <a:spLocks/>
            </p:cNvSpPr>
            <p:nvPr/>
          </p:nvSpPr>
          <p:spPr>
            <a:xfrm>
              <a:off x="10319657" y="5505334"/>
              <a:ext cx="1333499" cy="75395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fld id="{40D7A12C-C48C-4203-A694-F2B6F5190069}" type="datetime1">
                <a:rPr lang="zh-CN" altLang="en-US" sz="16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00000"/>
                  </a:lnSpc>
                </a:pPr>
                <a:t>2025/11/10</a:t>
              </a:fld>
              <a:endPara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9D668F91-5A97-DC14-A87D-94ECEC1AF9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43801" y="3604606"/>
              <a:ext cx="3296482" cy="2610697"/>
            </a:xfrm>
            <a:prstGeom prst="rect">
              <a:avLst/>
            </a:prstGeom>
            <a:ln w="12700">
              <a:noFill/>
              <a:miter lim="800000"/>
              <a:headEnd/>
              <a:tailEnd/>
            </a:ln>
          </p:spPr>
          <p:txBody>
            <a:bodyPr vert="horz" lIns="90488" tIns="44450" rIns="90488" bIns="4445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本书特色</a:t>
              </a:r>
              <a:endParaRPr lang="en-US" altLang="zh-CN" sz="2400" dirty="0">
                <a:effectLst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新颖的写作视角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严谨的组织结构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完备的绘制代码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详尽的图形解读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93952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D2B003D-593F-48DB-BE13-1C28EEAA2375}"/>
              </a:ext>
            </a:extLst>
          </p:cNvPr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CD5BFEA8-D60A-4E4F-BEA7-36EF403C3802}"/>
              </a:ext>
            </a:extLst>
          </p:cNvPr>
          <p:cNvSpPr txBox="1">
            <a:spLocks/>
          </p:cNvSpPr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2025/11/10</a:t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BE89BD-ACBF-40B9-AAFA-85C15C6A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>
            <a:extLst>
              <a:ext uri="{FF2B5EF4-FFF2-40B4-BE49-F238E27FC236}">
                <a16:creationId xmlns:a16="http://schemas.microsoft.com/office/drawing/2014/main" id="{5B463439-9290-46DE-AF62-1FC729B957BF}"/>
              </a:ext>
            </a:extLst>
          </p:cNvPr>
          <p:cNvSpPr/>
          <p:nvPr/>
        </p:nvSpPr>
        <p:spPr>
          <a:xfrm>
            <a:off x="1329301" y="2505362"/>
            <a:ext cx="9633339" cy="336203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4.1</a:t>
            </a: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4.2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展示多层结构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  <a:p>
            <a:pPr marL="609600" indent="-609600">
              <a:lnSpc>
                <a:spcPct val="15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4.3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2FE301-88C8-43EE-B4E5-A0F8BAC93B90}"/>
              </a:ext>
            </a:extLst>
          </p:cNvPr>
          <p:cNvSpPr txBox="1"/>
          <p:nvPr/>
        </p:nvSpPr>
        <p:spPr>
          <a:xfrm>
            <a:off x="1456660" y="839972"/>
            <a:ext cx="9545916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36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展示数据结构和流向</a:t>
            </a:r>
            <a:r>
              <a:rPr lang="en-US" altLang="zh-CN" sz="3600" b="1" spc="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3600" b="1" spc="1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24412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>
            <a:extLst>
              <a:ext uri="{FF2B5EF4-FFF2-40B4-BE49-F238E27FC236}">
                <a16:creationId xmlns:a16="http://schemas.microsoft.com/office/drawing/2014/main" id="{6E94D264-6FC3-43E2-9B81-55AAF75CEB21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>
                <a:solidFill>
                  <a:srgbClr val="002060"/>
                </a:solidFill>
                <a:ea typeface="华文细黑" panose="02010600040101010101" pitchFamily="2" charset="-122"/>
              </a:rPr>
              <a:t>       概要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38155EE-2BAE-119B-DDB2-DF2F72956E31}"/>
              </a:ext>
            </a:extLst>
          </p:cNvPr>
          <p:cNvSpPr txBox="1">
            <a:spLocks noChangeArrowheads="1"/>
          </p:cNvSpPr>
          <p:nvPr/>
        </p:nvSpPr>
        <p:spPr>
          <a:xfrm>
            <a:off x="749511" y="1666932"/>
            <a:ext cx="4970569" cy="4724051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本章图形适用的数据与第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3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章相同，但展示的侧重点则是数据结构和流向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b="1" dirty="0">
                <a:solidFill>
                  <a:srgbClr val="E36C0A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数据结构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data structure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）或</a:t>
            </a:r>
            <a:r>
              <a:rPr lang="zh-CN" altLang="zh-CN" sz="2000" b="1" dirty="0">
                <a:solidFill>
                  <a:srgbClr val="E36C0A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构成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composition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）是指类别的部分与整体的关系，通常用部分类别的数值占全部数值的比例或百分比表示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b="1" dirty="0">
                <a:solidFill>
                  <a:srgbClr val="E36C0A"/>
                </a:solidFill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数据流向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data flow direction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）是指数据在不同类别之间的流动方向及流量的多少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094BE-3641-8917-4280-CF39D7BB21D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F14555-7F6D-D979-1161-1F77BEC900EC}"/>
              </a:ext>
            </a:extLst>
          </p:cNvPr>
          <p:cNvSpPr txBox="1">
            <a:spLocks noChangeArrowheads="1"/>
          </p:cNvSpPr>
          <p:nvPr/>
        </p:nvSpPr>
        <p:spPr>
          <a:xfrm>
            <a:off x="5841998" y="1657116"/>
            <a:ext cx="5750561" cy="473386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对于只涉及一个类别变量的单层结构，其可视化图形主要有饼图、扇形图、环形图、弧形图等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对于涉及两个或两个以上类别变量的多层结构，其可视化图形主要有饼环图、旭日图、沃罗诺伊图等</a:t>
            </a:r>
            <a:endParaRPr lang="en-US" altLang="zh-CN" sz="2000" dirty="0">
              <a:effectLst/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数据流向的</a:t>
            </a:r>
            <a:r>
              <a:rPr lang="zh-CN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可视化图形主要有桑基图、和弦图等。</a:t>
            </a:r>
            <a:endParaRPr lang="en-US" altLang="zh-CN" sz="20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29765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饼图和扇形图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饼图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0" y="1656772"/>
            <a:ext cx="10864309" cy="1021113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800" b="1" kern="0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饼图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pie chart</a:t>
            </a:r>
            <a:r>
              <a:rPr lang="zh-CN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）是用圆形及圆内扇形的角度表示数值大小的图形，它主要用于展示一个类别变量（单层结构）中各类别的频数（或其他数值）占总值的百分比，对研究单层结构十分有用</a:t>
            </a:r>
            <a:endParaRPr lang="zh-CN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719733" y="2873829"/>
            <a:ext cx="1637387" cy="347616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defPPr>
              <a:defRPr lang="zh-CN"/>
            </a:defPPr>
            <a:lvl1pPr indent="0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Arial" panose="020B0604020202020204" pitchFamily="34" charset="0"/>
              <a:buNone/>
              <a:defRPr b="1" kern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zh-CN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</a:rPr>
              <a:t>【例</a:t>
            </a:r>
            <a:r>
              <a:rPr lang="en-US" altLang="zh-C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</a:rPr>
              <a:t> 3-1】</a:t>
            </a:r>
            <a:r>
              <a:rPr lang="en-US" altLang="zh-CN" dirty="0"/>
              <a:t>—</a:t>
            </a:r>
            <a:r>
              <a:rPr lang="zh-CN" altLang="zh-CN" b="0" dirty="0"/>
              <a:t>不同网购原因和不同满意度人数构成的饼图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FC59A9-A295-2ADD-4674-0F2C4A1E4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873830"/>
            <a:ext cx="9032239" cy="347616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C862A4D-D367-4C27-9100-95175F0417C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4.1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</a:p>
        </p:txBody>
      </p:sp>
    </p:spTree>
    <p:extLst>
      <p:ext uri="{BB962C8B-B14F-4D97-AF65-F5344CB8AC3E}">
        <p14:creationId xmlns:p14="http://schemas.microsoft.com/office/powerpoint/2010/main" val="3423167457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饼图和扇形图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饼图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719733" y="1717040"/>
            <a:ext cx="4736187" cy="46634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defPPr>
              <a:defRPr lang="zh-CN"/>
            </a:defPPr>
            <a:lvl1pPr indent="0"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Arial" panose="020B0604020202020204" pitchFamily="34" charset="0"/>
              <a:buNone/>
              <a:defRPr b="1" kern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zh-CN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</a:rPr>
              <a:t>【例</a:t>
            </a:r>
            <a:r>
              <a:rPr lang="en-US" altLang="zh-CN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</a:rPr>
              <a:t> 3-2】</a:t>
            </a:r>
            <a:r>
              <a:rPr lang="en-US" altLang="zh-CN" sz="2400" dirty="0"/>
              <a:t>—</a:t>
            </a:r>
            <a:r>
              <a:rPr lang="en-US" altLang="zh-CN" sz="2400" b="0" dirty="0"/>
              <a:t>2023</a:t>
            </a:r>
            <a:r>
              <a:rPr lang="zh-CN" altLang="en-US" sz="2400" b="0" dirty="0"/>
              <a:t>年</a:t>
            </a:r>
            <a:r>
              <a:rPr lang="en-US" altLang="zh-CN" sz="2400" b="0" dirty="0"/>
              <a:t>4</a:t>
            </a:r>
            <a:r>
              <a:rPr lang="zh-CN" altLang="en-US" sz="2400" b="0" dirty="0"/>
              <a:t>各地区的人均消费支出</a:t>
            </a:r>
            <a:endParaRPr lang="zh-CN" altLang="zh-CN" sz="2400" b="0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94E79430-822C-2495-4CF3-EE9423416DB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4.1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DD1615-A0C7-3325-F208-3021F9225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887" y="1717040"/>
            <a:ext cx="5822633" cy="46634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06741462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饼图和扇形图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扇形图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656772"/>
            <a:ext cx="5027069" cy="319970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kern="0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扇形图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fan chart</a:t>
            </a:r>
            <a:r>
              <a:rPr lang="zh-CN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是饼图的一个变种</a:t>
            </a:r>
            <a:r>
              <a:rPr lang="zh-CN" altLang="en-US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，它是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将饼图绘制成半圆或一定起始和终止角度的扇形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860C1CB-D2A5-B2F0-43FB-26A42168D0C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5069840"/>
            <a:ext cx="5027069" cy="124968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3-2】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2023</a:t>
            </a:r>
            <a:r>
              <a:rPr lang="zh-CN" altLang="en-US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各地区的人均消费支出</a:t>
            </a:r>
            <a:endParaRPr lang="zh-CN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3617EA7-1A15-536A-705C-2CB9C105BE2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4.1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F6E686-4D9A-109A-9643-CAAAC35CB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2637" y="1656772"/>
            <a:ext cx="5595712" cy="466274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82423922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环形图和弧形图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环形图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730070"/>
            <a:ext cx="3070651" cy="463009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b="1" kern="0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环形图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donut chart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）环形图（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donut chart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）是将饼图的中间部分挖掉后剩下的圆环，也称为甜甜圈图</a:t>
            </a:r>
            <a:endParaRPr lang="en-US" altLang="zh-CN" sz="17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环形图可视为饼图的变种，它是用圆环的各个分段来展示各部分的构成</a:t>
            </a:r>
            <a:endParaRPr lang="en-US" altLang="zh-CN" sz="17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与饼图相比，环形图更简洁和清晰，可作为饼图的替代图形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860C1CB-D2A5-B2F0-43FB-26A42168D0C8}"/>
              </a:ext>
            </a:extLst>
          </p:cNvPr>
          <p:cNvSpPr txBox="1">
            <a:spLocks noChangeArrowheads="1"/>
          </p:cNvSpPr>
          <p:nvPr/>
        </p:nvSpPr>
        <p:spPr>
          <a:xfrm>
            <a:off x="3901440" y="1730069"/>
            <a:ext cx="1503680" cy="463009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3-2】</a:t>
            </a:r>
            <a:r>
              <a:rPr lang="en-US" altLang="zh-CN" sz="17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2023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年北京</a:t>
            </a:r>
            <a:r>
              <a:rPr lang="zh-CN" altLang="en-US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天津、上海和重庆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居民人均消费支出的环形图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55D81C-D8F3-2181-F8DC-CFA8A7EBD10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4.1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6198B4-5213-0187-65BB-C342AD00B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257" y="1730069"/>
            <a:ext cx="6086926" cy="463009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3480289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环形图和弧形图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弧形图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730069"/>
            <a:ext cx="2802029" cy="465082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b="1" kern="0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弧形图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arc chart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）是将各个部分绘制成一个弧形，并用弧的分段表示各类别的数值</a:t>
            </a:r>
            <a:endParaRPr lang="en-US" altLang="zh-CN" sz="17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跨度可以为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180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度（半圆），也可以是其他跨度的圆弧形式</a:t>
            </a:r>
            <a:endParaRPr lang="en-US" altLang="zh-CN" sz="17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弧形图简洁清晰，更节省空间，可作为饼图和环形图的替代图形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14DC966-E65B-ED52-2E3E-68541A17E849}"/>
              </a:ext>
            </a:extLst>
          </p:cNvPr>
          <p:cNvSpPr txBox="1">
            <a:spLocks noChangeArrowheads="1"/>
          </p:cNvSpPr>
          <p:nvPr/>
        </p:nvSpPr>
        <p:spPr>
          <a:xfrm>
            <a:off x="3606800" y="1730068"/>
            <a:ext cx="1016000" cy="465083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3-2】</a:t>
            </a:r>
            <a:r>
              <a:rPr lang="en-US" altLang="zh-CN" sz="17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2023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年北京</a:t>
            </a:r>
            <a:r>
              <a:rPr lang="zh-CN" altLang="en-US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、天津、上海和重庆</a:t>
            </a:r>
            <a:r>
              <a:rPr lang="zh-CN" altLang="zh-CN" sz="17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居民人均消费支出的环形图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FC1BB9-9EB9-E61A-CB0D-036F1866035C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4.1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展示单层结构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FC3755F-CE0F-1453-C906-AFA634959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754" y="1730068"/>
            <a:ext cx="6900614" cy="465083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72472392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饼环图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730070"/>
            <a:ext cx="2294029" cy="463966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kern="0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饼环图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pie and donut plot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）是将饼图和环形图组合在一起的有一种图形，它将一个类别变量绘制成饼图，在饼图分类的基础上，绘制出另一个类别变量的环形图</a:t>
            </a:r>
            <a:endParaRPr lang="zh-CN" altLang="zh-CN" sz="20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860C1CB-D2A5-B2F0-43FB-26A42168D0C8}"/>
              </a:ext>
            </a:extLst>
          </p:cNvPr>
          <p:cNvSpPr txBox="1">
            <a:spLocks noChangeArrowheads="1"/>
          </p:cNvSpPr>
          <p:nvPr/>
        </p:nvSpPr>
        <p:spPr>
          <a:xfrm>
            <a:off x="3190240" y="1730069"/>
            <a:ext cx="8432800" cy="503941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3-1】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网购原因与满意度、满意度与性别的饼环图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FAEB9-C747-A072-E15B-22AF005B5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240" y="2360454"/>
            <a:ext cx="4350930" cy="398954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D7C95B5-0407-C8AD-44B1-F74D0E3F3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6670" y="2360455"/>
            <a:ext cx="4176369" cy="399487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78EDA04-9AF5-A1AA-87F8-13EE41CC971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</p:spTree>
    <p:extLst>
      <p:ext uri="{BB962C8B-B14F-4D97-AF65-F5344CB8AC3E}">
        <p14:creationId xmlns:p14="http://schemas.microsoft.com/office/powerpoint/2010/main" val="94152484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饼环图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682851" y="1730070"/>
            <a:ext cx="2832509" cy="462689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如果特别关注某一部分，可以将关注的部分炸开</a:t>
            </a:r>
            <a:endParaRPr lang="en-US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如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关注饼图的“男性”部分</a:t>
            </a:r>
            <a:r>
              <a:rPr lang="zh-CN" altLang="en-US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、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</a:rPr>
              <a:t>关注外环的“满意”部分</a:t>
            </a:r>
            <a:endParaRPr lang="zh-CN" altLang="zh-CN" sz="22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zh-CN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860C1CB-D2A5-B2F0-43FB-26A42168D0C8}"/>
              </a:ext>
            </a:extLst>
          </p:cNvPr>
          <p:cNvSpPr txBox="1">
            <a:spLocks noChangeArrowheads="1"/>
          </p:cNvSpPr>
          <p:nvPr/>
        </p:nvSpPr>
        <p:spPr>
          <a:xfrm>
            <a:off x="3709093" y="1730069"/>
            <a:ext cx="7990593" cy="503941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3-1】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网购原因与满意度、满意度与性别的饼环图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864CDDC-FB2B-3FBF-8A78-D6F4589C0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094" y="2360454"/>
            <a:ext cx="4010505" cy="397938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569BC1-01FD-F115-78AD-1CF92E74E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813" y="2360454"/>
            <a:ext cx="4009874" cy="397938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CEEA7713-076F-A4F0-CF61-06CD8BE48C3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</p:spTree>
    <p:extLst>
      <p:ext uri="{BB962C8B-B14F-4D97-AF65-F5344CB8AC3E}">
        <p14:creationId xmlns:p14="http://schemas.microsoft.com/office/powerpoint/2010/main" val="2176440131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旭日图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09725" y="1696720"/>
            <a:ext cx="10821875" cy="464312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b="1" kern="0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旭日图</a:t>
            </a:r>
            <a:r>
              <a:rPr lang="zh-CN" altLang="zh-CN" sz="2000" b="1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sunburst chart</a:t>
            </a:r>
            <a:r>
              <a:rPr lang="zh-CN" altLang="zh-CN" sz="2000" b="1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是多个环形图的集合，或看作是矩形树状图的一种极坐标形式</a:t>
            </a:r>
            <a:endParaRPr lang="en-US" altLang="zh-CN" sz="20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当数据集只有一个分层时，旭日图就是环形图</a:t>
            </a:r>
            <a:endParaRPr lang="en-US" altLang="zh-CN" sz="20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数据集有多个分层时，旭日图是一种嵌套的多层环形图，其中的每一个圆环代表同一级别的数据比例，离原点（圆心）越近的圆环级别越高，最内层的圆环表示层次结构的顶级，称为父层，向外的圆环级别依次降低，称为子层。相邻两层中，是内层包含外层的关系</a:t>
            </a:r>
            <a:endParaRPr lang="en-US" altLang="zh-CN" sz="20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0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旭日图还可以绘制若干条从原点放射出去的射线，这些射线展示出了不同级别数据间的脉络关系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2D7A18-9C39-D60A-9AAD-47D4FE18D8D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</p:spTree>
    <p:extLst>
      <p:ext uri="{BB962C8B-B14F-4D97-AF65-F5344CB8AC3E}">
        <p14:creationId xmlns:p14="http://schemas.microsoft.com/office/powerpoint/2010/main" val="2273302472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旭日图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例题分析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860C1CB-D2A5-B2F0-43FB-26A42168D0C8}"/>
              </a:ext>
            </a:extLst>
          </p:cNvPr>
          <p:cNvSpPr txBox="1">
            <a:spLocks noChangeArrowheads="1"/>
          </p:cNvSpPr>
          <p:nvPr/>
        </p:nvSpPr>
        <p:spPr>
          <a:xfrm>
            <a:off x="718457" y="1676400"/>
            <a:ext cx="1262743" cy="47142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700" b="1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3-1】</a:t>
            </a: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en-US" altLang="zh-CN" sz="1700" b="1" kern="0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1700" b="1" kern="0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1700" b="1" kern="0" dirty="0">
                <a:solidFill>
                  <a:schemeClr val="bg1"/>
                </a:solidFill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3-3】</a:t>
            </a:r>
            <a:endParaRPr lang="zh-CN" altLang="zh-CN" sz="1700" kern="0" dirty="0"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45EF2C-8D14-2076-8FA5-407C96B73A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320" y="1676400"/>
            <a:ext cx="9903015" cy="471424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BF80381-615C-6BFC-BAB7-50759153780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</p:spTree>
    <p:extLst>
      <p:ext uri="{BB962C8B-B14F-4D97-AF65-F5344CB8AC3E}">
        <p14:creationId xmlns:p14="http://schemas.microsoft.com/office/powerpoint/2010/main" val="2233226007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       沃罗诺伊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(Voronoi)</a:t>
            </a: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图</a:t>
            </a:r>
            <a:endParaRPr lang="en-US" altLang="zh-CN" sz="2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3"/>
            <a:ext cx="6334406" cy="4619139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沃罗诺伊图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Voronoi diagram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）又称泰森多边形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由俄国数学家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Georgy </a:t>
            </a:r>
            <a:r>
              <a:rPr lang="en-US" altLang="zh-C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Fedoseevich</a:t>
            </a:r>
            <a:r>
              <a:rPr lang="en-US" altLang="zh-CN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Voronio</a:t>
            </a: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提出的一种划分和分解空间的方法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将平面空间分成若干个多边形，每个多边形内仅含有一个离散点数据，多边形内的点到相应离散点的距离最近，位于多边形边上的点到其两边的离散点的距离相等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400" dirty="0">
                <a:latin typeface="Cambria" panose="02040503050406030204" pitchFamily="18" charset="0"/>
                <a:ea typeface="华文细黑" panose="02010600040101010101" pitchFamily="2" charset="-122"/>
              </a:rPr>
              <a:t>比较各多边形的大小就可以分析不同数据点的差异</a:t>
            </a: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en-US" altLang="zh-C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1686A66-ED89-4289-BC0E-3411032DC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4560" y="1710540"/>
            <a:ext cx="4405984" cy="461913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B83E408C-8BA9-76F9-BEEB-F95AFA283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81" y="4602480"/>
            <a:ext cx="3055557" cy="161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D398048-BAE0-8BE2-1F1C-8EBDAE601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922" y="4602480"/>
            <a:ext cx="3055557" cy="163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5F9B4E4F-0D71-4760-CFC4-64A9F74EA0D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</p:spTree>
    <p:extLst>
      <p:ext uri="{BB962C8B-B14F-4D97-AF65-F5344CB8AC3E}">
        <p14:creationId xmlns:p14="http://schemas.microsoft.com/office/powerpoint/2010/main" val="358205469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       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Voronoi</a:t>
            </a: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图</a:t>
            </a:r>
            <a:r>
              <a:rPr lang="en-US" altLang="zh-CN" sz="2600" b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latin typeface="Cambria" panose="02040503050406030204" pitchFamily="18" charset="0"/>
                <a:ea typeface="华文细黑" panose="02010600040101010101" pitchFamily="2" charset="-122"/>
              </a:rPr>
              <a:t>例题分析</a:t>
            </a:r>
            <a:endParaRPr lang="en-US" altLang="zh-CN" sz="2600" b="1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881" y="1722474"/>
            <a:ext cx="4104639" cy="4627526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defRPr/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+mn-lt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+mn-lt"/>
                <a:ea typeface="华文细黑" panose="02010600040101010101" pitchFamily="2" charset="-122"/>
              </a:rPr>
              <a:t> 3-3】</a:t>
            </a:r>
            <a:r>
              <a:rPr lang="en-US" altLang="zh-CN" sz="2600" dirty="0">
                <a:latin typeface="+mn-lt"/>
                <a:ea typeface="华文细黑" panose="02010600040101010101" pitchFamily="2" charset="-122"/>
              </a:rPr>
              <a:t>—</a:t>
            </a:r>
            <a:r>
              <a:rPr lang="zh-CN" altLang="zh-CN" sz="2600" dirty="0">
                <a:latin typeface="+mn-lt"/>
                <a:ea typeface="华文细黑" panose="02010600040101010101" pitchFamily="2" charset="-122"/>
              </a:rPr>
              <a:t>按地带划分</a:t>
            </a:r>
            <a:r>
              <a:rPr lang="zh-CN" altLang="en-US" sz="2600" dirty="0">
                <a:latin typeface="+mn-lt"/>
                <a:ea typeface="华文细黑" panose="02010600040101010101" pitchFamily="2" charset="-122"/>
              </a:rPr>
              <a:t>和区域划分</a:t>
            </a:r>
            <a:r>
              <a:rPr lang="zh-CN" altLang="zh-CN" sz="2600" dirty="0">
                <a:latin typeface="+mn-lt"/>
                <a:ea typeface="华文细黑" panose="02010600040101010101" pitchFamily="2" charset="-122"/>
              </a:rPr>
              <a:t>分组的地区生产总值的沃罗诺伊图</a:t>
            </a:r>
            <a:endParaRPr lang="en-US" altLang="zh-CN" sz="2600" dirty="0">
              <a:latin typeface="+mn-lt"/>
              <a:ea typeface="华文细黑" panose="02010600040101010101" pitchFamily="2" charset="-122"/>
            </a:endParaRPr>
          </a:p>
          <a:p>
            <a:pPr algn="just" defTabSz="685800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defRPr/>
            </a:pPr>
            <a:endParaRPr lang="en-US" altLang="zh-CN" sz="2600" dirty="0">
              <a:latin typeface="+mn-lt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433A1FB-49E3-4DD1-5B58-E3ADE547955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4.2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展示多层结构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376004-5256-6FFB-43E7-2B0A72ADD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878" y="1722474"/>
            <a:ext cx="6572010" cy="46275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0645322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桑基图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10643697" cy="4561368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桑基图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Sankey diagram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）也称桑基能量平衡图，它是一种特定类型的流程图。图中延伸的分支的宽度对应数据流量的大小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因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1898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年桑基（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Matthew Henry Phineas </a:t>
            </a:r>
            <a:r>
              <a:rPr lang="en-US" altLang="zh-CN" sz="2200" dirty="0" err="1">
                <a:latin typeface="Cambria" panose="02040503050406030204" pitchFamily="18" charset="0"/>
                <a:ea typeface="Cambria" panose="02040503050406030204" pitchFamily="18" charset="0"/>
              </a:rPr>
              <a:t>Riall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 Sankey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）绘制的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“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蒸汽机的能源效率图</a:t>
            </a:r>
            <a:r>
              <a:rPr lang="en-US" altLang="zh-CN" sz="2200" dirty="0">
                <a:latin typeface="Cambria" panose="02040503050406030204" pitchFamily="18" charset="0"/>
                <a:ea typeface="Cambria" panose="02040503050406030204" pitchFamily="18" charset="0"/>
              </a:rPr>
              <a:t>”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而闻名，此后便以其名字命名为桑基图</a:t>
            </a: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可用于展示不同分类维度之间的相关性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</a:rPr>
              <a:t>桑基图的起点数据量与终点数据量总是相等的，即主支宽度的总和与所有分支宽度的总和相等，无论数据如何流动，都不可能产生新的数据</a:t>
            </a:r>
            <a:endParaRPr lang="en-US" altLang="zh-C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F3F54CA-FDCB-F289-7C36-EF1E721C718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4.3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</a:p>
        </p:txBody>
      </p:sp>
    </p:spTree>
    <p:extLst>
      <p:ext uri="{BB962C8B-B14F-4D97-AF65-F5344CB8AC3E}">
        <p14:creationId xmlns:p14="http://schemas.microsoft.com/office/powerpoint/2010/main" val="1233282936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桑基图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例题分析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41ACC339-4447-45FC-9E75-CAEAA330BFBD}"/>
              </a:ext>
            </a:extLst>
          </p:cNvPr>
          <p:cNvSpPr txBox="1">
            <a:spLocks/>
          </p:cNvSpPr>
          <p:nvPr/>
        </p:nvSpPr>
        <p:spPr>
          <a:xfrm>
            <a:off x="775416" y="1722474"/>
            <a:ext cx="5281524" cy="41732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-2】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  <a:p>
            <a:pPr marL="0" indent="0" algn="just">
              <a:lnSpc>
                <a:spcPct val="120000"/>
              </a:lnSpc>
              <a:buNone/>
            </a:pP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副标题 2">
            <a:extLst>
              <a:ext uri="{FF2B5EF4-FFF2-40B4-BE49-F238E27FC236}">
                <a16:creationId xmlns:a16="http://schemas.microsoft.com/office/drawing/2014/main" id="{1AA10CF1-CE2E-8887-42EE-16FBD96A69F2}"/>
              </a:ext>
            </a:extLst>
          </p:cNvPr>
          <p:cNvSpPr txBox="1">
            <a:spLocks/>
          </p:cNvSpPr>
          <p:nvPr/>
        </p:nvSpPr>
        <p:spPr>
          <a:xfrm>
            <a:off x="6228081" y="1692470"/>
            <a:ext cx="5404064" cy="46608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】</a:t>
            </a:r>
            <a:endParaRPr lang="en-US" altLang="zh-CN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华文细黑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7CF524-C6BD-58E4-4BE4-2439E2073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081" y="2288042"/>
            <a:ext cx="5404064" cy="402131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DEFEF36-1460-3B2F-DCD4-4DFD7C06ACA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4.3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C94E8AB-7906-B515-8B5F-DF197753A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6" y="2299292"/>
            <a:ext cx="5281524" cy="401006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7666404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桑基图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动态交互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41ACC339-4447-45FC-9E75-CAEAA330BFBD}"/>
              </a:ext>
            </a:extLst>
          </p:cNvPr>
          <p:cNvSpPr txBox="1">
            <a:spLocks/>
          </p:cNvSpPr>
          <p:nvPr/>
        </p:nvSpPr>
        <p:spPr>
          <a:xfrm>
            <a:off x="786809" y="1722474"/>
            <a:ext cx="3327991" cy="46551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3-2】</a:t>
            </a:r>
            <a:r>
              <a:rPr lang="en-US" altLang="zh-CN" sz="2600" dirty="0">
                <a:latin typeface="Cambria" panose="02040503050406030204" pitchFamily="18" charset="0"/>
                <a:ea typeface="Cambria" panose="02040503050406030204" pitchFamily="18" charset="0"/>
              </a:rPr>
              <a:t>—2023</a:t>
            </a:r>
            <a:r>
              <a:rPr lang="zh-CN" altLang="zh-CN" sz="2600" dirty="0">
                <a:latin typeface="Cambria" panose="02040503050406030204" pitchFamily="18" charset="0"/>
                <a:ea typeface="华文细黑" panose="02010600040101010101" pitchFamily="2" charset="-122"/>
              </a:rPr>
              <a:t>年北京、天津、上海和重庆居民人均消费支出的动态交互桑基图</a:t>
            </a:r>
            <a:endParaRPr lang="en-US" altLang="zh-C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8D1519-12BA-D3BA-D0BD-49C44165C26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4.3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5E5997-7638-2119-399C-4AE760A1B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3706" y="1722474"/>
            <a:ext cx="7257733" cy="465510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36990512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和弦图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13" name="副标题 2">
            <a:extLst>
              <a:ext uri="{FF2B5EF4-FFF2-40B4-BE49-F238E27FC236}">
                <a16:creationId xmlns:a16="http://schemas.microsoft.com/office/drawing/2014/main" id="{594C2978-0D29-4EC6-8EBB-7A5E80A4D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8074" y="1722474"/>
            <a:ext cx="10774326" cy="4561368"/>
          </a:xfr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b="1" dirty="0">
                <a:highlight>
                  <a:srgbClr val="FFFF99"/>
                </a:highlight>
                <a:latin typeface="+mn-lt"/>
                <a:ea typeface="华文细黑" panose="02010600040101010101" pitchFamily="2" charset="-122"/>
              </a:rPr>
              <a:t>和弦图</a:t>
            </a:r>
            <a:r>
              <a:rPr lang="zh-CN" altLang="zh-CN" dirty="0">
                <a:latin typeface="+mn-lt"/>
                <a:ea typeface="华文细黑" panose="02010600040101010101" pitchFamily="2" charset="-122"/>
              </a:rPr>
              <a:t>（</a:t>
            </a:r>
            <a:r>
              <a:rPr lang="en-US" altLang="zh-CN" dirty="0">
                <a:latin typeface="+mn-lt"/>
                <a:ea typeface="华文细黑" panose="02010600040101010101" pitchFamily="2" charset="-122"/>
              </a:rPr>
              <a:t>chord diagram</a:t>
            </a:r>
            <a:r>
              <a:rPr lang="zh-CN" altLang="zh-CN" dirty="0">
                <a:latin typeface="+mn-lt"/>
                <a:ea typeface="华文细黑" panose="02010600040101010101" pitchFamily="2" charset="-122"/>
              </a:rPr>
              <a:t>）也可以称为圆形图（</a:t>
            </a:r>
            <a:r>
              <a:rPr lang="en-US" altLang="zh-CN" dirty="0">
                <a:latin typeface="+mn-lt"/>
                <a:ea typeface="华文细黑" panose="02010600040101010101" pitchFamily="2" charset="-122"/>
              </a:rPr>
              <a:t>circular plot</a:t>
            </a:r>
            <a:r>
              <a:rPr lang="zh-CN" altLang="zh-CN" dirty="0">
                <a:latin typeface="+mn-lt"/>
                <a:ea typeface="华文细黑" panose="02010600040101010101" pitchFamily="2" charset="-122"/>
              </a:rPr>
              <a:t>），它是显示矩阵、数据框或二维列联表中各组别数据间相互关系的可视化图形</a:t>
            </a:r>
            <a:endParaRPr lang="en-US" altLang="zh-CN" dirty="0">
              <a:latin typeface="+mn-lt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+mn-lt"/>
                <a:ea typeface="华文细黑" panose="02010600040101010101" pitchFamily="2" charset="-122"/>
              </a:rPr>
              <a:t>其节点数据（组别或类别）沿圆周径向排列，节点之间使用不同宽度的弧线链接</a:t>
            </a:r>
            <a:endParaRPr lang="en-US" altLang="zh-CN" dirty="0">
              <a:latin typeface="+mn-lt"/>
              <a:ea typeface="华文细黑" panose="02010600040101010101" pitchFamily="2" charset="-122"/>
            </a:endParaRPr>
          </a:p>
          <a:p>
            <a:pPr marL="442913" indent="-442913" algn="just" defTabSz="685800" eaLnBrk="0" hangingPunct="0">
              <a:lnSpc>
                <a:spcPct val="17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dirty="0">
                <a:latin typeface="+mn-lt"/>
                <a:ea typeface="华文细黑" panose="02010600040101010101" pitchFamily="2" charset="-122"/>
              </a:rPr>
              <a:t>和弦图是用圆形来表达数据流量的分布结构，可用于不同组别之间的关系或相似性比较</a:t>
            </a:r>
            <a:endParaRPr lang="en-US" altLang="zh-CN" dirty="0">
              <a:latin typeface="+mn-lt"/>
              <a:ea typeface="华文细黑" panose="02010600040101010101" pitchFamily="2" charset="-122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9F513A2-A0D4-1B75-7189-454DEB6FD7E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4.3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</a:p>
        </p:txBody>
      </p:sp>
    </p:spTree>
    <p:extLst>
      <p:ext uri="{BB962C8B-B14F-4D97-AF65-F5344CB8AC3E}">
        <p14:creationId xmlns:p14="http://schemas.microsoft.com/office/powerpoint/2010/main" val="3010694523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和弦图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例题分析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41ACC339-4447-45FC-9E75-CAEAA330BFBD}"/>
              </a:ext>
            </a:extLst>
          </p:cNvPr>
          <p:cNvSpPr txBox="1">
            <a:spLocks/>
          </p:cNvSpPr>
          <p:nvPr/>
        </p:nvSpPr>
        <p:spPr>
          <a:xfrm>
            <a:off x="754342" y="1748843"/>
            <a:ext cx="5341658" cy="4562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3-2】</a:t>
            </a:r>
            <a:endParaRPr lang="en-US" altLang="zh-CN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842549E-CFFC-69E4-5DAA-2B31061D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94000"/>
            <a:ext cx="5440886" cy="3038612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6" name="副标题 2">
            <a:extLst>
              <a:ext uri="{FF2B5EF4-FFF2-40B4-BE49-F238E27FC236}">
                <a16:creationId xmlns:a16="http://schemas.microsoft.com/office/drawing/2014/main" id="{00B9AE0D-CB43-F865-CC7E-26EE7A5AC189}"/>
              </a:ext>
            </a:extLst>
          </p:cNvPr>
          <p:cNvSpPr txBox="1">
            <a:spLocks/>
          </p:cNvSpPr>
          <p:nvPr/>
        </p:nvSpPr>
        <p:spPr>
          <a:xfrm>
            <a:off x="6145614" y="1760454"/>
            <a:ext cx="5341658" cy="45628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 3-1】</a:t>
            </a:r>
            <a:endParaRPr lang="en-US" altLang="zh-CN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808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16DF35-398B-4258-1F9A-B0779EDD683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4.3   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展示数据流向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04FE60E-8E5B-9DD2-3C84-4094AC612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42" y="2775540"/>
            <a:ext cx="5257856" cy="3057072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62043369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4962719" y="1687252"/>
            <a:ext cx="6595707" cy="470338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本章介绍的图形主要用于展示类别数据的结构和流向</a:t>
            </a:r>
            <a:endParaRPr lang="en-US" altLang="zh-CN" sz="17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只涉及一个类别变量的单层结构，最常用的图形是饼图，也可以使用作为饼图变种的扇形图、环形图和弧形图等，这些图形比饼图更简洁。饼图及其变种所展示的类别数不宜过多，一般不超过</a:t>
            </a:r>
            <a:r>
              <a:rPr lang="en-US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个，否则难以区分各扇区的大小</a:t>
            </a:r>
            <a:endParaRPr lang="en-US" altLang="zh-CN" sz="17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当类别数较多时，可以使用沃罗诺伊图</a:t>
            </a:r>
            <a:r>
              <a:rPr lang="zh-CN" altLang="zh-CN" sz="170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作为替代</a:t>
            </a:r>
            <a:r>
              <a:rPr lang="zh-CN" altLang="en-US" sz="170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饼图</a:t>
            </a:r>
            <a:r>
              <a:rPr lang="zh-CN" altLang="zh-CN" sz="170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涉及两个类别变量时，可使用饼环图、双环图来展示和比较双层结构。涉及两个以上类别变量时，可使用旭日图、沃罗诺伊图等来比较多层结构</a:t>
            </a:r>
            <a:endParaRPr lang="en-US" altLang="zh-CN" sz="17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7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桑基图和和弦图主要用于展示数据在各类之间的流向和流量，但展示的类别数也不宜过多，否则难以识别和分析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本章小结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80502D-2310-326F-A573-747FA4897CF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                  </a:t>
            </a:r>
            <a:r>
              <a:rPr lang="zh-CN" alt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32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7FDBB1-C882-3876-0130-8DCCE1A8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93" y="1616132"/>
            <a:ext cx="4329147" cy="48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1407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207568" y="342581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816080" y="5445224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46" y="1"/>
            <a:ext cx="12201746" cy="685572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2942906-8373-4413-B144-2030B3A6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3" y="95692"/>
            <a:ext cx="2880320" cy="98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EC17C8-105C-4971-8A37-00C8F14B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126" y="5922334"/>
            <a:ext cx="2880320" cy="77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D9863-2B28-44BA-874F-29D5736D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876A-C894-4608-9B10-33028376C2E0}" type="datetime1">
              <a:rPr lang="zh-CN" altLang="en-US" smtClean="0"/>
              <a:t>2025/11/10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880610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3679</TotalTime>
  <Words>1437</Words>
  <Application>Microsoft Office PowerPoint</Application>
  <PresentationFormat>宽屏</PresentationFormat>
  <Paragraphs>112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6" baseType="lpstr">
      <vt:lpstr>等线</vt:lpstr>
      <vt:lpstr>等线 Light</vt:lpstr>
      <vt:lpstr>华文琥珀</vt:lpstr>
      <vt:lpstr>华文细黑</vt:lpstr>
      <vt:lpstr>华文行楷</vt:lpstr>
      <vt:lpstr>微软雅黑</vt:lpstr>
      <vt:lpstr>Arial</vt:lpstr>
      <vt:lpstr>Arial Black</vt:lpstr>
      <vt:lpstr>Cambria</vt:lpstr>
      <vt:lpstr>Franklin Gothic Book</vt:lpstr>
      <vt:lpstr>Script MT Bold</vt:lpstr>
      <vt:lpstr>Times New Roman</vt:lpstr>
      <vt:lpstr>Wingdings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jiajp99@126.com</dc:creator>
  <cp:lastModifiedBy>俊平 贾</cp:lastModifiedBy>
  <cp:revision>390</cp:revision>
  <dcterms:created xsi:type="dcterms:W3CDTF">2020-11-21T11:10:03Z</dcterms:created>
  <dcterms:modified xsi:type="dcterms:W3CDTF">2025-11-10T08:16:58Z</dcterms:modified>
</cp:coreProperties>
</file>