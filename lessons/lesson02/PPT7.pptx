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sldSz cx="12192000" cy="68580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6112" y="2029968"/>
            <a:ext cx="6766560" cy="1691640"/>
          </a:xfrm>
        </p:spPr>
        <p:txBody>
          <a:bodyPr/>
          <a:lstStyle>
            <a:lvl1pPr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931920"/>
            <a:ext cx="6766560" cy="1188720"/>
          </a:xfrm>
        </p:spPr>
        <p:txBody>
          <a:bodyPr/>
          <a:lstStyle>
            <a:lvl1pPr marL="0" indent="0" algn="l">
              <a:buNone/>
              <a:defRPr sz="3000">
                <a:solidFill>
                  <a:srgbClr val="F3F6F9"/>
                </a:solidFill>
                <a:latin typeface="+mn-lt"/>
                <a:ea typeface="+mn-ea"/>
                <a:cs typeface="+mn-cs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20" name="PPT7-CBAR"/>
          <p:cNvSpPr/>
          <p:nvPr/>
        </p:nvSpPr>
        <p:spPr>
          <a:xfrm>
            <a:off x="914400" y="1773936"/>
            <a:ext cx="1371600" cy="7772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/>
          <a:lstStyle/>
          <a:p/>
        </p:txBody>
      </p:sp>
      <p:sp>
        <p:nvSpPr>
          <p:cNvPr id="921" name="PPT7-RING1"/>
          <p:cNvSpPr/>
          <p:nvPr/>
        </p:nvSpPr>
        <p:spPr>
          <a:xfrm>
            <a:off x="8732520" y="1051560"/>
            <a:ext cx="4206240" cy="4206240"/>
          </a:xfrm>
          <a:prstGeom prst="ellipse">
            <a:avLst/>
          </a:prstGeom>
          <a:noFill/>
          <a:ln w="20320" cap="flat" cmpd="sng" algn="ctr">
            <a:solidFill>
              <a:srgbClr val="78C8F5">
                <a:alpha val="20000"/>
              </a:srgbClr>
            </a:solidFill>
            <a:round/>
          </a:ln>
        </p:spPr>
        <p:txBody>
          <a:bodyPr/>
          <a:lstStyle/>
          <a:p/>
        </p:txBody>
      </p:sp>
      <p:sp>
        <p:nvSpPr>
          <p:cNvPr id="922" name="PPT7-RING2"/>
          <p:cNvSpPr/>
          <p:nvPr/>
        </p:nvSpPr>
        <p:spPr>
          <a:xfrm>
            <a:off x="9829800" y="3977639"/>
            <a:ext cx="3108960" cy="3108960"/>
          </a:xfrm>
          <a:prstGeom prst="ellipse">
            <a:avLst/>
          </a:prstGeom>
          <a:noFill/>
          <a:ln w="15240" cap="flat" cmpd="sng" algn="ctr">
            <a:solidFill>
              <a:srgbClr val="FFD166">
                <a:alpha val="16000"/>
              </a:srgbClr>
            </a:solidFill>
            <a:round/>
          </a:ln>
        </p:spPr>
        <p:txBody>
          <a:bodyPr/>
          <a:lstStyle/>
          <a:p/>
        </p:txBody>
      </p:sp>
      <p:sp>
        <p:nvSpPr>
          <p:cNvPr id="923" name="PPT7-INFO"/>
          <p:cNvSpPr txBox="1"/>
          <p:nvPr/>
        </p:nvSpPr>
        <p:spPr>
          <a:xfrm>
            <a:off x="914400" y="5321808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zh-CN" sz="2400" b="0" dirty="0">
                <a:solidFill>
                  <a:srgbClr val="8296A5"/>
                </a:solidFill>
                <a:latin typeface="Microsoft YaHei"/>
                <a:ea typeface="Microsoft YaHei"/>
                <a:cs typeface="Microsoft YaHei"/>
              </a:rPr>
              <a:t>《R 语言与数据可视化》　大数据专业　2 课时（90 分钟）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>
            <a:lvl1pPr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928" y="1463040"/>
            <a:ext cx="11055096" cy="5138928"/>
          </a:xfrm>
        </p:spPr>
        <p:txBody>
          <a:bodyPr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2761488"/>
            <a:ext cx="10058400" cy="1325880"/>
          </a:xfrm>
        </p:spPr>
        <p:txBody>
          <a:bodyPr anchor="t"/>
          <a:lstStyle>
            <a:lvl1pPr algn="l">
              <a:defRPr sz="3400" b="1" cap="all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4114800"/>
            <a:ext cx="10058400" cy="868680"/>
          </a:xfrm>
        </p:spPr>
        <p:txBody>
          <a:bodyPr anchor="b"/>
          <a:lstStyle>
            <a:lvl1pPr marL="0" indent="0" algn="l">
              <a:buNone/>
              <a:defRPr sz="3000">
                <a:solidFill>
                  <a:srgbClr val="B8C3CE"/>
                </a:solidFill>
                <a:latin typeface="+mn-lt"/>
                <a:ea typeface="+mn-ea"/>
                <a:cs typeface="+mn-cs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30" name="PPT7-SECBAR"/>
          <p:cNvSpPr/>
          <p:nvPr/>
        </p:nvSpPr>
        <p:spPr>
          <a:xfrm>
            <a:off x="1078992" y="2450592"/>
            <a:ext cx="1371600" cy="7772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/>
          <a:lstStyle/>
          <a:p/>
        </p:txBody>
      </p:sp>
      <p:sp>
        <p:nvSpPr>
          <p:cNvPr id="931" name="PPT7-SRING"/>
          <p:cNvSpPr/>
          <p:nvPr/>
        </p:nvSpPr>
        <p:spPr>
          <a:xfrm>
            <a:off x="9326880" y="2377440"/>
            <a:ext cx="3931920" cy="3931920"/>
          </a:xfrm>
          <a:prstGeom prst="ellipse">
            <a:avLst/>
          </a:prstGeom>
          <a:noFill/>
          <a:ln w="19050" cap="flat" cmpd="sng" algn="ctr">
            <a:solidFill>
              <a:srgbClr val="78C8F5">
                <a:alpha val="14000"/>
              </a:srgbClr>
            </a:solidFill>
            <a:round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>
            <a:lvl1pPr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928" y="1463040"/>
            <a:ext cx="5340096" cy="5138928"/>
          </a:xfrm>
        </p:spPr>
        <p:txBody>
          <a:bodyPr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1928" y="1463040"/>
            <a:ext cx="5340096" cy="5138928"/>
          </a:xfrm>
        </p:spPr>
        <p:txBody>
          <a:bodyPr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>
            <a:lvl1pPr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928" y="1463040"/>
            <a:ext cx="5340096" cy="60350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342900" indent="0">
              <a:buNone/>
              <a:defRPr sz="2800" b="1"/>
            </a:lvl2pPr>
            <a:lvl3pPr marL="685800" indent="0">
              <a:buNone/>
              <a:defRPr sz="2800" b="1"/>
            </a:lvl3pPr>
            <a:lvl4pPr marL="1028700" indent="0">
              <a:buNone/>
              <a:defRPr sz="2800" b="1"/>
            </a:lvl4pPr>
            <a:lvl5pPr marL="1371600" indent="0">
              <a:buNone/>
              <a:defRPr sz="2800" b="1"/>
            </a:lvl5pPr>
            <a:lvl6pPr marL="1714500" indent="0">
              <a:buNone/>
              <a:defRPr sz="2800" b="1"/>
            </a:lvl6pPr>
            <a:lvl7pPr marL="2057400" indent="0">
              <a:buNone/>
              <a:defRPr sz="2800" b="1"/>
            </a:lvl7pPr>
            <a:lvl8pPr marL="2400300" indent="0">
              <a:buNone/>
              <a:defRPr sz="2800" b="1"/>
            </a:lvl8pPr>
            <a:lvl9pPr marL="2743200" indent="0">
              <a:buNone/>
              <a:defRPr sz="2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928" y="2103120"/>
            <a:ext cx="5340096" cy="4498848"/>
          </a:xfrm>
        </p:spPr>
        <p:txBody>
          <a:bodyPr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81928" y="1463040"/>
            <a:ext cx="5340096" cy="60350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342900" indent="0">
              <a:buNone/>
              <a:defRPr sz="2800" b="1"/>
            </a:lvl2pPr>
            <a:lvl3pPr marL="685800" indent="0">
              <a:buNone/>
              <a:defRPr sz="2800" b="1"/>
            </a:lvl3pPr>
            <a:lvl4pPr marL="1028700" indent="0">
              <a:buNone/>
              <a:defRPr sz="2800" b="1"/>
            </a:lvl4pPr>
            <a:lvl5pPr marL="1371600" indent="0">
              <a:buNone/>
              <a:defRPr sz="2800" b="1"/>
            </a:lvl5pPr>
            <a:lvl6pPr marL="1714500" indent="0">
              <a:buNone/>
              <a:defRPr sz="2800" b="1"/>
            </a:lvl6pPr>
            <a:lvl7pPr marL="2057400" indent="0">
              <a:buNone/>
              <a:defRPr sz="2800" b="1"/>
            </a:lvl7pPr>
            <a:lvl8pPr marL="2400300" indent="0">
              <a:buNone/>
              <a:defRPr sz="2800" b="1"/>
            </a:lvl8pPr>
            <a:lvl9pPr marL="2743200" indent="0">
              <a:buNone/>
              <a:defRPr sz="2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81928" y="2103120"/>
            <a:ext cx="5340096" cy="4498848"/>
          </a:xfrm>
        </p:spPr>
        <p:txBody>
          <a:bodyPr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>
            <a:lvl1pPr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 anchor="b"/>
          <a:lstStyle>
            <a:lvl1pPr algn="l"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1928" y="1463040"/>
            <a:ext cx="5340096" cy="5138928"/>
          </a:xfrm>
        </p:spPr>
        <p:txBody>
          <a:bodyPr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928" y="1463040"/>
            <a:ext cx="5340096" cy="5138928"/>
          </a:xfrm>
        </p:spPr>
        <p:txBody>
          <a:bodyPr/>
          <a:lstStyle>
            <a:lvl1pPr marL="0" indent="0">
              <a:buNone/>
              <a:defRPr sz="3000"/>
            </a:lvl1pPr>
            <a:lvl2pPr marL="342900" indent="0">
              <a:buNone/>
              <a:defRPr sz="2800"/>
            </a:lvl2pPr>
            <a:lvl3pPr marL="685800" indent="0">
              <a:buNone/>
              <a:defRPr sz="2800"/>
            </a:lvl3pPr>
            <a:lvl4pPr marL="1028700" indent="0">
              <a:buNone/>
              <a:defRPr sz="2800"/>
            </a:lvl4pPr>
            <a:lvl5pPr marL="1371600" indent="0">
              <a:buNone/>
              <a:defRPr sz="2800"/>
            </a:lvl5pPr>
            <a:lvl6pPr marL="1714500" indent="0">
              <a:buNone/>
              <a:defRPr sz="2800"/>
            </a:lvl6pPr>
            <a:lvl7pPr marL="2057400" indent="0">
              <a:buNone/>
              <a:defRPr sz="2800"/>
            </a:lvl7pPr>
            <a:lvl8pPr marL="2400300" indent="0">
              <a:buNone/>
              <a:defRPr sz="2800"/>
            </a:lvl8pPr>
            <a:lvl9pPr marL="2743200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 anchor="b"/>
          <a:lstStyle>
            <a:lvl1pPr algn="l"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6928" y="1463040"/>
            <a:ext cx="11055096" cy="4160520"/>
          </a:xfrm>
        </p:spPr>
        <p:txBody>
          <a:bodyPr/>
          <a:lstStyle>
            <a:lvl1pPr marL="0" indent="0">
              <a:buNone/>
              <a:defRPr sz="3000"/>
            </a:lvl1pPr>
            <a:lvl2pPr marL="342900" indent="0">
              <a:buNone/>
              <a:defRPr sz="2800"/>
            </a:lvl2pPr>
            <a:lvl3pPr marL="685800" indent="0">
              <a:buNone/>
              <a:defRPr sz="2800"/>
            </a:lvl3pPr>
            <a:lvl4pPr marL="1028700" indent="0">
              <a:buNone/>
              <a:defRPr sz="2800"/>
            </a:lvl4pPr>
            <a:lvl5pPr marL="1371600" indent="0">
              <a:buNone/>
              <a:defRPr sz="2800"/>
            </a:lvl5pPr>
            <a:lvl6pPr marL="1714500" indent="0">
              <a:buNone/>
              <a:defRPr sz="2800"/>
            </a:lvl6pPr>
            <a:lvl7pPr marL="2057400" indent="0">
              <a:buNone/>
              <a:defRPr sz="2800"/>
            </a:lvl7pPr>
            <a:lvl8pPr marL="2400300" indent="0">
              <a:buNone/>
              <a:defRPr sz="2800"/>
            </a:lvl8pPr>
            <a:lvl9pPr marL="2743200" indent="0">
              <a:buNone/>
              <a:defRPr sz="2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928" y="5760720"/>
            <a:ext cx="11055096" cy="731520"/>
          </a:xfrm>
        </p:spPr>
        <p:txBody>
          <a:bodyPr/>
          <a:lstStyle>
            <a:lvl1pPr marL="0" indent="0">
              <a:buNone/>
              <a:defRPr sz="3000"/>
            </a:lvl1pPr>
            <a:lvl2pPr marL="342900" indent="0">
              <a:buNone/>
              <a:defRPr sz="2800"/>
            </a:lvl2pPr>
            <a:lvl3pPr marL="685800" indent="0">
              <a:buNone/>
              <a:defRPr sz="2800"/>
            </a:lvl3pPr>
            <a:lvl4pPr marL="1028700" indent="0">
              <a:buNone/>
              <a:defRPr sz="2800"/>
            </a:lvl4pPr>
            <a:lvl5pPr marL="1371600" indent="0">
              <a:buNone/>
              <a:defRPr sz="2800"/>
            </a:lvl5pPr>
            <a:lvl6pPr marL="1714500" indent="0">
              <a:buNone/>
              <a:defRPr sz="2800"/>
            </a:lvl6pPr>
            <a:lvl7pPr marL="2057400" indent="0">
              <a:buNone/>
              <a:defRPr sz="2800"/>
            </a:lvl7pPr>
            <a:lvl8pPr marL="2400300" indent="0">
              <a:buNone/>
              <a:defRPr sz="2800"/>
            </a:lvl8pPr>
            <a:lvl9pPr marL="2743200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66184"/>
            <a:ext cx="14630400" cy="1524000"/>
          </a:xfrm>
        </p:spPr>
        <p:txBody>
          <a:bodyPr/>
          <a:lstStyle>
            <a:lvl1pPr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133601"/>
            <a:ext cx="14630400" cy="6034616"/>
          </a:xfrm>
        </p:spPr>
        <p:txBody>
          <a:bodyPr vert="eaVert"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>
            <a:lvl1pPr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09600" y="1600201"/>
            <a:ext cx="10972800" cy="452596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10" name="PPT7-NAV"/>
          <p:cNvSpPr txBox="1"/>
          <p:nvPr/>
        </p:nvSpPr>
        <p:spPr>
          <a:xfrm>
            <a:off x="2926080" y="128016"/>
            <a:ext cx="8695944" cy="4572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r"/>
            <a:r>
              <a:rPr b="0" dirty="0" lang="zh-CN" sz="2400">
                <a:solidFill>
                  <a:srgbClr val="8296A5"/>
                </a:solidFill>
                <a:latin typeface="Microsoft YaHei"/>
                <a:ea typeface="Microsoft YaHei"/>
                <a:cs typeface="Microsoft YaHei"/>
              </a:rPr>
              <a:t>项目背景　·　新知探究　·　项目任务　·　项目总结</a:t>
            </a:r>
          </a:p>
        </p:txBody>
      </p:sp>
      <p:sp>
        <p:nvSpPr>
          <p:cNvPr id="911" name="PPT7-PAGE"/>
          <p:cNvSpPr txBox="1"/>
          <p:nvPr/>
        </p:nvSpPr>
        <p:spPr>
          <a:xfrm>
            <a:off x="566928" y="128016"/>
            <a:ext cx="1463040" cy="4572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l"/>
            <a:fld id="{7A2F1B90-3C41-4E2A-9E77-2B5D0A1C4E01}" type="slidenum">
              <a:rPr b="0" lang="zh-CN" sz="2400">
                <a:solidFill>
                  <a:srgbClr val="8296A5"/>
                </a:solidFill>
                <a:latin typeface="Microsoft YaHei"/>
                <a:ea typeface="Microsoft YaHei"/>
              </a:rPr>
              <a:t>1</a:t>
            </a:fld>
          </a:p>
        </p:txBody>
      </p:sp>
      <p:sp>
        <p:nvSpPr>
          <p:cNvPr id="912" name="PPT7-LINE"/>
          <p:cNvSpPr/>
          <p:nvPr/>
        </p:nvSpPr>
        <p:spPr>
          <a:xfrm>
            <a:off x="566928" y="676656"/>
            <a:ext cx="11055096" cy="12801"/>
          </a:xfrm>
          <a:prstGeom prst="rect">
            <a:avLst/>
          </a:prstGeom>
          <a:solidFill>
            <a:srgbClr val="2C4256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b="1" kern="1200" sz="3400">
          <a:solidFill>
            <a:srgbClr val="78C8F5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lnSpc>
          <a:spcPct val="95000"/>
        </a:lnSpc>
        <a:spcBef>
          <a:spcPct val="12000"/>
        </a:spcBef>
        <a:buFont typeface="Arial"/>
        <a:buChar char="•"/>
        <a:defRPr kern="1200" sz="3000">
          <a:solidFill>
            <a:srgbClr val="F3F6F9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lnSpc>
          <a:spcPct val="95000"/>
        </a:lnSpc>
        <a:spcBef>
          <a:spcPct val="12000"/>
        </a:spcBef>
        <a:buFont typeface="Arial"/>
        <a:buChar char="‒"/>
        <a:defRPr kern="1200" sz="2800">
          <a:solidFill>
            <a:srgbClr val="F3F6F9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685800" rtl="0">
        <a:lnSpc>
          <a:spcPct val="95000"/>
        </a:lnSpc>
        <a:spcBef>
          <a:spcPct val="12000"/>
        </a:spcBef>
        <a:buFont typeface="Arial"/>
        <a:buChar char="•"/>
        <a:defRPr kern="1200" sz="2800">
          <a:solidFill>
            <a:srgbClr val="F3F6F9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028700" rtl="0">
        <a:lnSpc>
          <a:spcPct val="95000"/>
        </a:lnSpc>
        <a:spcBef>
          <a:spcPct val="12000"/>
        </a:spcBef>
        <a:buFont typeface="Arial"/>
        <a:buChar char="•"/>
        <a:defRPr kern="1200" sz="2800">
          <a:solidFill>
            <a:srgbClr val="F3F6F9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371600" rtl="0">
        <a:lnSpc>
          <a:spcPct val="95000"/>
        </a:lnSpc>
        <a:spcBef>
          <a:spcPct val="12000"/>
        </a:spcBef>
        <a:buFont typeface="Arial"/>
        <a:buChar char="•"/>
        <a:defRPr kern="1200" sz="2800">
          <a:solidFill>
            <a:srgbClr val="F3F6F9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1714500" rtl="0">
        <a:lnSpc>
          <a:spcPct val="95000"/>
        </a:lnSpc>
        <a:spcBef>
          <a:spcPct val="12000"/>
        </a:spcBef>
        <a:buFont typeface="Arial"/>
        <a:buChar char="•"/>
        <a:defRPr kern="1200" sz="2800">
          <a:solidFill>
            <a:srgbClr val="F3F6F9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057400" rtl="0">
        <a:lnSpc>
          <a:spcPct val="95000"/>
        </a:lnSpc>
        <a:spcBef>
          <a:spcPct val="12000"/>
        </a:spcBef>
        <a:buFont typeface="Arial"/>
        <a:buChar char="•"/>
        <a:defRPr kern="1200" sz="2800">
          <a:solidFill>
            <a:srgbClr val="F3F6F9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400300" rtl="0">
        <a:lnSpc>
          <a:spcPct val="95000"/>
        </a:lnSpc>
        <a:spcBef>
          <a:spcPct val="12000"/>
        </a:spcBef>
        <a:buFont typeface="Arial"/>
        <a:buChar char="•"/>
        <a:defRPr kern="1200" sz="2800">
          <a:solidFill>
            <a:srgbClr val="F3F6F9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2743200" rtl="0">
        <a:lnSpc>
          <a:spcPct val="95000"/>
        </a:lnSpc>
        <a:spcBef>
          <a:spcPct val="12000"/>
        </a:spcBef>
        <a:buFont typeface="Arial"/>
        <a:buChar char="•"/>
        <a:defRPr kern="1200" sz="2800">
          <a:solidFill>
            <a:srgbClr val="F3F6F9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2800">
          <a:solidFill>
            <a:srgbClr val="243039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2800">
          <a:solidFill>
            <a:srgbClr val="243039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2800">
          <a:solidFill>
            <a:srgbClr val="243039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2800">
          <a:solidFill>
            <a:srgbClr val="243039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2800">
          <a:solidFill>
            <a:srgbClr val="243039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2800">
          <a:solidFill>
            <a:srgbClr val="243039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2800">
          <a:solidFill>
            <a:srgbClr val="243039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2800">
          <a:solidFill>
            <a:srgbClr val="243039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2800">
          <a:solidFill>
            <a:srgbClr val="243039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6112" y="2029968"/>
            <a:ext cx="6766560" cy="1691640"/>
          </a:xfrm>
        </p:spPr>
        <p:txBody>
          <a:bodyPr/>
          <a:lstStyle/>
          <a:p>
            <a:pPr lvl="0" indent="0" marL="0">
              <a:buNone/>
            </a:pPr>
            <a:r>
              <a:rPr/>
              <a:t>02 ggplot2 绘图基础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914400" y="3931920"/>
            <a:ext cx="676656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数据如何改变战争？——基于南丁格尔玫瑰图的可视化项目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2761488"/>
            <a:ext cx="10058400" cy="13258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项目背景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课堂的第一个问题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1854 年，克里米亚战争。士兵主要死于战伤，还是死于本可预防的疾病？</a:t>
            </a:r>
          </a:p>
          <a:p>
            <a:pPr lvl="0"/>
            <a:r>
              <a:rPr/>
              <a:t>A　战伤</a:t>
            </a:r>
          </a:p>
          <a:p>
            <a:pPr lvl="0"/>
            <a:r>
              <a:rPr/>
              <a:t>B　可预防疾病</a:t>
            </a:r>
          </a:p>
          <a:p>
            <a:pPr lvl="0"/>
            <a:r>
              <a:rPr/>
              <a:t>C　其他原因</a:t>
            </a:r>
          </a:p>
          <a:p>
            <a:pPr lvl="0"/>
            <a:r>
              <a:rPr/>
              <a:t>D　需要数据，暂时无法判断</a:t>
            </a:r>
          </a:p>
          <a:p>
            <a:pPr lvl="0" indent="0" marL="0">
              <a:buNone/>
            </a:pPr>
            <a:r>
              <a:rPr b="1"/>
              <a:t>先凭直觉投一票，然后再用数据检验。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战场之外的死亡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当时的公众认知：士兵的生命结束于战场——被子弹击中，因伤口恶化。</a:t>
            </a:r>
          </a:p>
          <a:p>
            <a:pPr lvl="0" indent="0" marL="0">
              <a:buNone/>
            </a:pPr>
            <a:r>
              <a:rPr/>
              <a:t>随军护士</a:t>
            </a:r>
            <a:r>
              <a:rPr b="1"/>
              <a:t>弗洛伦丝·南丁格尔</a:t>
            </a:r>
            <a:r>
              <a:rPr/>
              <a:t>抵达斯库塔里战地医院后，看到的是另一个战场：没有冲锋号，只有拥挤、污秽、疾病蔓延的病区。</a:t>
            </a:r>
          </a:p>
          <a:p>
            <a:pPr lvl="0" indent="0" marL="0">
              <a:buNone/>
            </a:pPr>
            <a:r>
              <a:rPr/>
              <a:t>她整理了 1854 年 4 月至 1856 年 3 月，共 </a:t>
            </a:r>
            <a:r>
              <a:rPr b="1"/>
              <a:t>24 个月</a:t>
            </a:r>
            <a:r>
              <a:rPr/>
              <a:t>的英军伤亡数据。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思考三问</a:t>
            </a:r>
          </a:p>
          <a:p>
            <a:pPr lvl="0"/>
            <a:r>
              <a:rPr/>
              <a:t>如果主要死因不是战伤，问题出在哪里？</a:t>
            </a:r>
          </a:p>
          <a:p>
            <a:pPr lvl="0"/>
            <a:r>
              <a:rPr/>
              <a:t>医院与营地里，什么在杀死士兵？</a:t>
            </a:r>
          </a:p>
          <a:p>
            <a:pPr lvl="0"/>
            <a:r>
              <a:rPr/>
              <a:t>用什么证据才能说服政府投入资源？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斯库塔里：没有枪声的战场</a:t>
            </a:r>
          </a:p>
        </p:txBody>
      </p:sp>
      <p:pic>
        <p:nvPicPr>
          <p:cNvPr descr="ppt7_assets/banner_w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500" y="1460500"/>
            <a:ext cx="10756900" cy="462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58800" y="6083300"/>
            <a:ext cx="11049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战地医院的真实场景：拥挤、污秽、疾病蔓延的病区。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一张图，改变了一次决策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1855 年 3 月，英国政府派卫生委员会实施基础卫生工程：清理粪坑与污水池、冲洗下水道、清除污染水源的动物尸体、改善通风与病房拥挤</a:t>
            </a:r>
          </a:p>
          <a:p>
            <a:pPr lvl="0"/>
            <a:r>
              <a:rPr/>
              <a:t>1858 年，南丁格尔在《影响英军健康、效率与医院管理的笔记》中发表这样一张图</a:t>
            </a:r>
          </a:p>
          <a:p>
            <a:pPr lvl="0"/>
            <a:r>
              <a:rPr b="1"/>
              <a:t>两个并排的扇形图</a:t>
            </a:r>
            <a:r>
              <a:rPr/>
              <a:t> = 卫生改革前后各 12 个月</a:t>
            </a:r>
          </a:p>
          <a:p>
            <a:pPr lvl="0"/>
            <a:r>
              <a:rPr/>
              <a:t>每个月的</a:t>
            </a:r>
            <a:r>
              <a:rPr b="1"/>
              <a:t>扇形面积</a:t>
            </a:r>
            <a:r>
              <a:rPr/>
              <a:t> = 该月的死亡水平</a:t>
            </a:r>
          </a:p>
          <a:p>
            <a:pPr lvl="0"/>
            <a:r>
              <a:rPr b="1"/>
              <a:t>颜色</a:t>
            </a:r>
            <a:r>
              <a:rPr/>
              <a:t> = 三类死亡原因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可视化不只是把数字画出来，而是</a:t>
            </a:r>
            <a:r>
              <a:rPr sz="2800" b="1">
                <a:solidFill>
                  <a:srgbClr val="FFD166"/>
                </a:solidFill>
              </a:rPr>
              <a:t>让证据被看见</a:t>
            </a:r>
            <a:r>
              <a:rPr sz="2800">
                <a:solidFill>
                  <a:srgbClr val="FFD166"/>
                </a:solidFill>
              </a:rPr>
              <a:t>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本项目的目标图形</a:t>
            </a:r>
          </a:p>
        </p:txBody>
      </p:sp>
      <p:pic>
        <p:nvPicPr>
          <p:cNvPr descr="ppt7_assets/fig_ro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" y="1460500"/>
            <a:ext cx="10718800" cy="462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58800" y="6083300"/>
            <a:ext cx="11049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改革前后各 12 个月：面积 = 死亡水平，颜色 = 死亡原因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你在这个项目中的角色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你的身份：军队卫生改革数据顾问</a:t>
            </a:r>
          </a:p>
          <a:p>
            <a:pPr lvl="0" indent="0" marL="0">
              <a:buNone/>
            </a:pPr>
            <a:r>
              <a:rPr/>
              <a:t>政府需要决定：有限的资源，应该优先用于</a:t>
            </a:r>
            <a:r>
              <a:rPr b="1"/>
              <a:t>战伤救治</a:t>
            </a:r>
            <a:r>
              <a:rPr/>
              <a:t>，还是用于改善</a:t>
            </a:r>
            <a:r>
              <a:rPr b="1"/>
              <a:t>医院与营地的卫生条件</a:t>
            </a:r>
            <a:r>
              <a:rPr/>
              <a:t>？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驱动性问题：数据能否为卫生改革的资源投入提供</a:t>
            </a:r>
            <a:r>
              <a:rPr sz="2800" b="1">
                <a:solidFill>
                  <a:srgbClr val="FFD166"/>
                </a:solidFill>
              </a:rPr>
              <a:t>可信证据</a:t>
            </a:r>
            <a:r>
              <a:rPr sz="2800">
                <a:solidFill>
                  <a:srgbClr val="FFD166"/>
                </a:solidFill>
              </a:rPr>
              <a:t>？</a:t>
            </a:r>
          </a:p>
          <a:p>
            <a:pPr lvl="0"/>
            <a:r>
              <a:rPr b="1"/>
              <a:t>4 幅证据图</a:t>
            </a:r>
            <a:r>
              <a:rPr/>
              <a:t>：分别服务于 4 个不同的分析问题</a:t>
            </a:r>
          </a:p>
          <a:p>
            <a:pPr lvl="0"/>
            <a:r>
              <a:rPr b="1"/>
              <a:t>1 段图表解读</a:t>
            </a:r>
            <a:r>
              <a:rPr/>
              <a:t>：按”结论—证据—建议—局限”组织</a:t>
            </a:r>
          </a:p>
          <a:p>
            <a:pPr lvl="0"/>
            <a:r>
              <a:rPr b="1"/>
              <a:t>1 项行动建议</a:t>
            </a:r>
            <a:r>
              <a:rPr/>
              <a:t>：面向公共卫生决策，并说明结论的边界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数据从哪里来</a:t>
            </a:r>
          </a:p>
        </p:txBody>
      </p:sp>
      <p:pic>
        <p:nvPicPr>
          <p:cNvPr descr="ppt7_assets/banner_des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500" y="1460500"/>
            <a:ext cx="10756900" cy="462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58800" y="6083300"/>
            <a:ext cx="11049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南丁格尔整理的英军月度伤亡数据（共 24 个月）。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数据与研究对象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数据来源</a:t>
            </a:r>
            <a:r>
              <a:rPr/>
              <a:t>：</a:t>
            </a:r>
            <a:r>
              <a:rPr>
                <a:latin typeface="Courier"/>
              </a:rPr>
              <a:t>HistData::Nightingale</a:t>
            </a:r>
            <a:r>
              <a:rPr/>
              <a:t>，南丁格尔记录并整理的英军月度伤亡数据</a:t>
            </a:r>
          </a:p>
          <a:p>
            <a:pPr lvl="0"/>
            <a:r>
              <a:rPr b="1"/>
              <a:t>时间范围</a:t>
            </a:r>
            <a:r>
              <a:rPr/>
              <a:t>：1854 年 4 月—1856 年 3 月，共 </a:t>
            </a:r>
            <a:r>
              <a:rPr b="1"/>
              <a:t>24 个月</a:t>
            </a:r>
          </a:p>
          <a:p>
            <a:pPr lvl="0"/>
            <a:r>
              <a:rPr b="1"/>
              <a:t>改革前</a:t>
            </a:r>
            <a:r>
              <a:rPr/>
              <a:t>：1854 年 4 月—1855 年 3 月（12 个月）</a:t>
            </a:r>
          </a:p>
          <a:p>
            <a:pPr lvl="0"/>
            <a:r>
              <a:rPr b="1"/>
              <a:t>改革后</a:t>
            </a:r>
            <a:r>
              <a:rPr/>
              <a:t>：1855 年 4 月—1856 年 3 月（12 个月）</a:t>
            </a:r>
          </a:p>
          <a:p>
            <a:pPr lvl="0"/>
            <a:r>
              <a:rPr b="1"/>
              <a:t>死亡原因</a:t>
            </a:r>
            <a:r>
              <a:rPr/>
              <a:t>：可预防疾病、战伤、其他原因</a:t>
            </a:r>
          </a:p>
          <a:p>
            <a:pPr lvl="0"/>
            <a:r>
              <a:rPr b="1"/>
              <a:t>军队人数</a:t>
            </a:r>
            <a:r>
              <a:rPr/>
              <a:t>：当月英军平均人数的估计值，是计算死亡率的</a:t>
            </a:r>
            <a:r>
              <a:rPr b="1"/>
              <a:t>分母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为什么必须用”率”而不是”人数”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军队人数在 24 个月里不断变化。</a:t>
            </a:r>
          </a:p>
          <a:p>
            <a:pPr lvl="0"/>
            <a:r>
              <a:rPr/>
              <a:t>只看死亡人数，会把”</a:t>
            </a:r>
            <a:r>
              <a:rPr b="1"/>
              <a:t>士兵多所以死得多</a:t>
            </a:r>
            <a:r>
              <a:rPr/>
              <a:t>”误当成”</a:t>
            </a:r>
            <a:r>
              <a:rPr b="1"/>
              <a:t>风险高</a:t>
            </a:r>
            <a:r>
              <a:rPr/>
              <a:t>”</a:t>
            </a:r>
          </a:p>
          <a:p>
            <a:pPr lvl="0"/>
            <a:r>
              <a:rPr/>
              <a:t>死亡人数回答”死了多少人”——</a:t>
            </a:r>
            <a:r>
              <a:rPr b="1"/>
              <a:t>负担</a:t>
            </a:r>
          </a:p>
          <a:p>
            <a:pPr lvl="0"/>
            <a:r>
              <a:rPr/>
              <a:t>年化死亡率回答”风险有多高”——</a:t>
            </a:r>
            <a:r>
              <a:rPr b="1"/>
              <a:t>风险</a:t>
            </a:r>
          </a:p>
          <a:p>
            <a:pPr lvl="0" indent="0" marL="0">
              <a:buNone/>
            </a:pPr>
            <a:r>
              <a:rPr/>
              <a:t>年化死亡率 = 12 × 1000 × 死亡人数 ÷ 军队人数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数据字典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日期</a:t>
            </a:r>
            <a:r>
              <a:rPr/>
              <a:t>：观测月份，1854-04 至 1856-03</a:t>
            </a:r>
          </a:p>
          <a:p>
            <a:pPr lvl="0"/>
            <a:r>
              <a:rPr b="1"/>
              <a:t>月份</a:t>
            </a:r>
            <a:r>
              <a:rPr/>
              <a:t>：4 月 → 次年 3 月，已按战争时间顺序排列（分类变量）</a:t>
            </a:r>
          </a:p>
          <a:p>
            <a:pPr lvl="0"/>
            <a:r>
              <a:rPr b="1"/>
              <a:t>军队人数</a:t>
            </a:r>
            <a:r>
              <a:rPr/>
              <a:t>：当月英军平均人数（人）</a:t>
            </a:r>
          </a:p>
          <a:p>
            <a:pPr lvl="0"/>
            <a:r>
              <a:rPr b="1"/>
              <a:t>阶段</a:t>
            </a:r>
            <a:r>
              <a:rPr/>
              <a:t>：改革前 / 改革后（分类变量）</a:t>
            </a:r>
          </a:p>
          <a:p>
            <a:pPr lvl="0"/>
            <a:r>
              <a:rPr b="1"/>
              <a:t>死亡原因</a:t>
            </a:r>
            <a:r>
              <a:rPr/>
              <a:t>：可预防疾病 / 战伤 / 其他原因（分类变量）</a:t>
            </a:r>
          </a:p>
          <a:p>
            <a:pPr lvl="0"/>
            <a:r>
              <a:rPr b="1"/>
              <a:t>死亡人数</a:t>
            </a:r>
            <a:r>
              <a:rPr/>
              <a:t>：当月因该类原因死亡的人数（人）</a:t>
            </a:r>
          </a:p>
          <a:p>
            <a:pPr lvl="0"/>
            <a:r>
              <a:rPr b="1"/>
              <a:t>死亡率</a:t>
            </a:r>
            <a:r>
              <a:rPr/>
              <a:t>：年化死亡率（每千人年）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三类死因分别指什么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可预防疾病</a:t>
            </a:r>
            <a:r>
              <a:rPr/>
              <a:t>：霍乱、痢疾、斑疹伤寒等与卫生条件密切相关的传染病</a:t>
            </a:r>
          </a:p>
          <a:p>
            <a:pPr lvl="0"/>
            <a:r>
              <a:rPr b="1"/>
              <a:t>战伤</a:t>
            </a:r>
            <a:r>
              <a:rPr/>
              <a:t>：在战斗中受伤并因此死亡</a:t>
            </a:r>
          </a:p>
          <a:p>
            <a:pPr lvl="0"/>
            <a:r>
              <a:rPr b="1"/>
              <a:t>其他原因</a:t>
            </a:r>
            <a:r>
              <a:rPr/>
              <a:t>：意外、其他疾病等</a:t>
            </a:r>
          </a:p>
          <a:p>
            <a:pPr lvl="0" indent="0" marL="0">
              <a:buNone/>
            </a:pPr>
            <a:r>
              <a:rPr sz="2800" b="1">
                <a:solidFill>
                  <a:srgbClr val="FFD166"/>
                </a:solidFill>
              </a:rPr>
              <a:t>关键：假设必须建立在变量的含义上——</a:t>
            </a:r>
            <a:r>
              <a:rPr sz="2800">
                <a:solidFill>
                  <a:srgbClr val="FFD166"/>
                </a:solidFill>
              </a:rPr>
              <a:t>可以预防的疾病，理论上可以被卫生条件改变。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数据准备（一）读取数据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8E44AD"/>
                </a:solidFill>
                <a:latin typeface="Courier"/>
              </a:rPr>
              <a:t>library</a:t>
            </a:r>
            <a:r>
              <a:rPr sz="2000">
                <a:solidFill>
                  <a:srgbClr val="CFCFC2"/>
                </a:solidFill>
                <a:latin typeface="Courier"/>
              </a:rPr>
              <a:t>(tidyverse)</a:t>
            </a:r>
            <a:br/>
            <a:r>
              <a:rPr sz="2000">
                <a:solidFill>
                  <a:srgbClr val="8E44AD"/>
                </a:solidFill>
                <a:latin typeface="Courier"/>
              </a:rPr>
              <a:t>library</a:t>
            </a:r>
            <a:r>
              <a:rPr sz="2000">
                <a:solidFill>
                  <a:srgbClr val="CFCFC2"/>
                </a:solidFill>
                <a:latin typeface="Courier"/>
              </a:rPr>
              <a:t>(HistData)</a:t>
            </a:r>
            <a:br/>
            <a:br/>
            <a:r>
              <a:rPr sz="2000">
                <a:solidFill>
                  <a:srgbClr val="CFCFC2"/>
                </a:solidFill>
                <a:latin typeface="Courier"/>
              </a:rPr>
              <a:t>nightingale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HistData</a:t>
            </a:r>
            <a:r>
              <a:rPr sz="2000">
                <a:solidFill>
                  <a:srgbClr val="3DAEE9"/>
                </a:solidFill>
                <a:latin typeface="Courier"/>
              </a:rPr>
              <a:t>::</a:t>
            </a:r>
            <a:r>
              <a:rPr sz="2000">
                <a:solidFill>
                  <a:srgbClr val="CFCFC2"/>
                </a:solidFill>
                <a:latin typeface="Courier"/>
              </a:rPr>
              <a:t>Nightingale</a:t>
            </a:r>
            <a:br/>
            <a:r>
              <a:rPr sz="2000">
                <a:solidFill>
                  <a:srgbClr val="8E44AD"/>
                </a:solidFill>
                <a:latin typeface="Courier"/>
              </a:rPr>
              <a:t>head</a:t>
            </a:r>
            <a:r>
              <a:rPr sz="2000">
                <a:solidFill>
                  <a:srgbClr val="CFCFC2"/>
                </a:solidFill>
                <a:latin typeface="Courier"/>
              </a:rPr>
              <a:t>(nightingale)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数据准备（二）宽表 → 长表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原始数据是</a:t>
            </a:r>
            <a:r>
              <a:rPr b="1"/>
              <a:t>宽表</a:t>
            </a:r>
            <a:r>
              <a:rPr/>
              <a:t>（三类死因各占一列），绘图需要</a:t>
            </a:r>
            <a:r>
              <a:rPr b="1"/>
              <a:t>长表</a:t>
            </a:r>
            <a:r>
              <a:rPr/>
              <a:t>（一行 = 某月 × 某类死因）。</a:t>
            </a:r>
          </a:p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CFCFC2"/>
                </a:solidFill>
                <a:latin typeface="Courier"/>
              </a:rPr>
              <a:t>nightingale_long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nightingale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mutate</a:t>
            </a:r>
            <a:r>
              <a:rPr sz="2000">
                <a:solidFill>
                  <a:srgbClr val="CFCFC2"/>
                </a:solidFill>
                <a:latin typeface="Courier"/>
              </a:rPr>
              <a:t>(阶段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factor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8E44AD"/>
                </a:solidFill>
                <a:latin typeface="Courier"/>
              </a:rPr>
              <a:t>rep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8E44AD"/>
                </a:solidFill>
                <a:latin typeface="Courier"/>
              </a:rPr>
              <a:t>c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F44F4F"/>
                </a:solidFill>
                <a:latin typeface="Courier"/>
              </a:rPr>
              <a:t>"改革前"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F44F4F"/>
                </a:solidFill>
                <a:latin typeface="Courier"/>
              </a:rPr>
              <a:t>"改革后"</a:t>
            </a:r>
            <a:r>
              <a:rPr sz="2000">
                <a:solidFill>
                  <a:srgbClr val="CFCFC2"/>
                </a:solidFill>
                <a:latin typeface="Courier"/>
              </a:rPr>
              <a:t>), </a:t>
            </a:r>
            <a:r>
              <a:rPr sz="2000">
                <a:solidFill>
                  <a:srgbClr val="2980B9"/>
                </a:solidFill>
                <a:latin typeface="Courier"/>
              </a:rPr>
              <a:t>each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67400"/>
                </a:solidFill>
                <a:latin typeface="Courier"/>
              </a:rPr>
              <a:t>12</a:t>
            </a:r>
            <a:r>
              <a:rPr sz="2000">
                <a:solidFill>
                  <a:srgbClr val="CFCFC2"/>
                </a:solidFill>
                <a:latin typeface="Courier"/>
              </a:rPr>
              <a:t>),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              </a:t>
            </a:r>
            <a:r>
              <a:rPr sz="2000">
                <a:solidFill>
                  <a:srgbClr val="2980B9"/>
                </a:solidFill>
                <a:latin typeface="Courier"/>
              </a:rPr>
              <a:t>levels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c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F44F4F"/>
                </a:solidFill>
                <a:latin typeface="Courier"/>
              </a:rPr>
              <a:t>"改革前"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F44F4F"/>
                </a:solidFill>
                <a:latin typeface="Courier"/>
              </a:rPr>
              <a:t>"改革后"</a:t>
            </a:r>
            <a:r>
              <a:rPr sz="2000">
                <a:solidFill>
                  <a:srgbClr val="CFCFC2"/>
                </a:solidFill>
                <a:latin typeface="Courier"/>
              </a:rPr>
              <a:t>)))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rename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Disease.count =</a:t>
            </a:r>
            <a:r>
              <a:rPr sz="2000">
                <a:solidFill>
                  <a:srgbClr val="CFCFC2"/>
                </a:solidFill>
                <a:latin typeface="Courier"/>
              </a:rPr>
              <a:t> Disease, </a:t>
            </a:r>
            <a:r>
              <a:rPr sz="2000">
                <a:solidFill>
                  <a:srgbClr val="2980B9"/>
                </a:solidFill>
                <a:latin typeface="Courier"/>
              </a:rPr>
              <a:t>Wounds.count =</a:t>
            </a:r>
            <a:r>
              <a:rPr sz="2000">
                <a:solidFill>
                  <a:srgbClr val="CFCFC2"/>
                </a:solidFill>
                <a:latin typeface="Courier"/>
              </a:rPr>
              <a:t> Wounds,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</a:t>
            </a:r>
            <a:r>
              <a:rPr sz="2000">
                <a:solidFill>
                  <a:srgbClr val="2980B9"/>
                </a:solidFill>
                <a:latin typeface="Courier"/>
              </a:rPr>
              <a:t>Other.count =</a:t>
            </a:r>
            <a:r>
              <a:rPr sz="2000">
                <a:solidFill>
                  <a:srgbClr val="CFCFC2"/>
                </a:solidFill>
                <a:latin typeface="Courier"/>
              </a:rPr>
              <a:t> Other)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pivot_longer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</a:t>
            </a:r>
            <a:r>
              <a:rPr sz="2000">
                <a:solidFill>
                  <a:srgbClr val="2980B9"/>
                </a:solidFill>
                <a:latin typeface="Courier"/>
              </a:rPr>
              <a:t>cols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c</a:t>
            </a:r>
            <a:r>
              <a:rPr sz="2000">
                <a:solidFill>
                  <a:srgbClr val="CFCFC2"/>
                </a:solidFill>
                <a:latin typeface="Courier"/>
              </a:rPr>
              <a:t>(Disease.count, Wounds.count, Other.count,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    Disease.rate, Wounds.rate, Other.rate),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</a:t>
            </a:r>
            <a:r>
              <a:rPr sz="2000">
                <a:solidFill>
                  <a:srgbClr val="2980B9"/>
                </a:solidFill>
                <a:latin typeface="Courier"/>
              </a:rPr>
              <a:t>names_to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c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F44F4F"/>
                </a:solidFill>
                <a:latin typeface="Courier"/>
              </a:rPr>
              <a:t>"死亡原因"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F44F4F"/>
                </a:solidFill>
                <a:latin typeface="Courier"/>
              </a:rPr>
              <a:t>".value"</a:t>
            </a:r>
            <a:r>
              <a:rPr sz="2000">
                <a:solidFill>
                  <a:srgbClr val="CFCFC2"/>
                </a:solidFill>
                <a:latin typeface="Courier"/>
              </a:rPr>
              <a:t>), </a:t>
            </a:r>
            <a:r>
              <a:rPr sz="2000">
                <a:solidFill>
                  <a:srgbClr val="2980B9"/>
                </a:solidFill>
                <a:latin typeface="Courier"/>
              </a:rPr>
              <a:t>names_sep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</a:t>
            </a:r>
            <a:r>
              <a:rPr sz="2000">
                <a:solidFill>
                  <a:srgbClr val="3DAEE9"/>
                </a:solidFill>
                <a:latin typeface="Courier"/>
              </a:rPr>
              <a:t>\\</a:t>
            </a:r>
            <a:r>
              <a:rPr sz="2000">
                <a:solidFill>
                  <a:srgbClr val="F44F4F"/>
                </a:solidFill>
                <a:latin typeface="Courier"/>
              </a:rPr>
              <a:t>."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数据准备：整理列名与派生数据框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CFCFC2"/>
                </a:solidFill>
                <a:latin typeface="Courier"/>
              </a:rPr>
              <a:t>nightingale_long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nightingale_long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rename</a:t>
            </a:r>
            <a:r>
              <a:rPr sz="2000">
                <a:solidFill>
                  <a:srgbClr val="CFCFC2"/>
                </a:solidFill>
                <a:latin typeface="Courier"/>
              </a:rPr>
              <a:t>(日期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Date, 年份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Year, 军队人数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Army,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死亡人数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count, 死亡率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rate)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mutate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月份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factor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8E44AD"/>
                </a:solidFill>
                <a:latin typeface="Courier"/>
              </a:rPr>
              <a:t>as.integer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8E44AD"/>
                </a:solidFill>
                <a:latin typeface="Courier"/>
              </a:rPr>
              <a:t>format</a:t>
            </a:r>
            <a:r>
              <a:rPr sz="2000">
                <a:solidFill>
                  <a:srgbClr val="CFCFC2"/>
                </a:solidFill>
                <a:latin typeface="Courier"/>
              </a:rPr>
              <a:t>(日期, </a:t>
            </a:r>
            <a:r>
              <a:rPr sz="2000">
                <a:solidFill>
                  <a:srgbClr val="F44F4F"/>
                </a:solidFill>
                <a:latin typeface="Courier"/>
              </a:rPr>
              <a:t>"%m"</a:t>
            </a:r>
            <a:r>
              <a:rPr sz="2000">
                <a:solidFill>
                  <a:srgbClr val="CFCFC2"/>
                </a:solidFill>
                <a:latin typeface="Courier"/>
              </a:rPr>
              <a:t>)),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         </a:t>
            </a:r>
            <a:r>
              <a:rPr sz="2000">
                <a:solidFill>
                  <a:srgbClr val="2980B9"/>
                </a:solidFill>
                <a:latin typeface="Courier"/>
              </a:rPr>
              <a:t>levels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c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F67400"/>
                </a:solidFill>
                <a:latin typeface="Courier"/>
              </a:rPr>
              <a:t>4</a:t>
            </a:r>
            <a:r>
              <a:rPr sz="2000">
                <a:solidFill>
                  <a:srgbClr val="3DAEE9"/>
                </a:solidFill>
                <a:latin typeface="Courier"/>
              </a:rPr>
              <a:t>:</a:t>
            </a:r>
            <a:r>
              <a:rPr sz="2000">
                <a:solidFill>
                  <a:srgbClr val="F67400"/>
                </a:solidFill>
                <a:latin typeface="Courier"/>
              </a:rPr>
              <a:t>12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F67400"/>
                </a:solidFill>
                <a:latin typeface="Courier"/>
              </a:rPr>
              <a:t>1</a:t>
            </a:r>
            <a:r>
              <a:rPr sz="2000">
                <a:solidFill>
                  <a:srgbClr val="3DAEE9"/>
                </a:solidFill>
                <a:latin typeface="Courier"/>
              </a:rPr>
              <a:t>:</a:t>
            </a:r>
            <a:r>
              <a:rPr sz="2000">
                <a:solidFill>
                  <a:srgbClr val="F67400"/>
                </a:solidFill>
                <a:latin typeface="Courier"/>
              </a:rPr>
              <a:t>3</a:t>
            </a:r>
            <a:r>
              <a:rPr sz="2000">
                <a:solidFill>
                  <a:srgbClr val="CFCFC2"/>
                </a:solidFill>
                <a:latin typeface="Courier"/>
              </a:rPr>
              <a:t>),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         </a:t>
            </a:r>
            <a:r>
              <a:rPr sz="2000">
                <a:solidFill>
                  <a:srgbClr val="2980B9"/>
                </a:solidFill>
                <a:latin typeface="Courier"/>
              </a:rPr>
              <a:t>labels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paste0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8E44AD"/>
                </a:solidFill>
                <a:latin typeface="Courier"/>
              </a:rPr>
              <a:t>c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F67400"/>
                </a:solidFill>
                <a:latin typeface="Courier"/>
              </a:rPr>
              <a:t>4</a:t>
            </a:r>
            <a:r>
              <a:rPr sz="2000">
                <a:solidFill>
                  <a:srgbClr val="3DAEE9"/>
                </a:solidFill>
                <a:latin typeface="Courier"/>
              </a:rPr>
              <a:t>:</a:t>
            </a:r>
            <a:r>
              <a:rPr sz="2000">
                <a:solidFill>
                  <a:srgbClr val="F67400"/>
                </a:solidFill>
                <a:latin typeface="Courier"/>
              </a:rPr>
              <a:t>12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F67400"/>
                </a:solidFill>
                <a:latin typeface="Courier"/>
              </a:rPr>
              <a:t>1</a:t>
            </a:r>
            <a:r>
              <a:rPr sz="2000">
                <a:solidFill>
                  <a:srgbClr val="3DAEE9"/>
                </a:solidFill>
                <a:latin typeface="Courier"/>
              </a:rPr>
              <a:t>:</a:t>
            </a:r>
            <a:r>
              <a:rPr sz="2000">
                <a:solidFill>
                  <a:srgbClr val="F67400"/>
                </a:solidFill>
                <a:latin typeface="Courier"/>
              </a:rPr>
              <a:t>3</a:t>
            </a:r>
            <a:r>
              <a:rPr sz="2000">
                <a:solidFill>
                  <a:srgbClr val="CFCFC2"/>
                </a:solidFill>
                <a:latin typeface="Courier"/>
              </a:rPr>
              <a:t>), </a:t>
            </a:r>
            <a:r>
              <a:rPr sz="2000">
                <a:solidFill>
                  <a:srgbClr val="F44F4F"/>
                </a:solidFill>
                <a:latin typeface="Courier"/>
              </a:rPr>
              <a:t>"月"</a:t>
            </a:r>
            <a:r>
              <a:rPr sz="2000">
                <a:solidFill>
                  <a:srgbClr val="CFCFC2"/>
                </a:solidFill>
                <a:latin typeface="Courier"/>
              </a:rPr>
              <a:t>)),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死亡原因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factor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8E44AD"/>
                </a:solidFill>
                <a:latin typeface="Courier"/>
              </a:rPr>
              <a:t>recode</a:t>
            </a:r>
            <a:r>
              <a:rPr sz="2000">
                <a:solidFill>
                  <a:srgbClr val="CFCFC2"/>
                </a:solidFill>
                <a:latin typeface="Courier"/>
              </a:rPr>
              <a:t>(死亡原因, </a:t>
            </a:r>
            <a:r>
              <a:rPr sz="2000">
                <a:solidFill>
                  <a:srgbClr val="F44F4F"/>
                </a:solidFill>
                <a:latin typeface="Courier"/>
              </a:rPr>
              <a:t>"Disease"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"可预防疾病"</a:t>
            </a:r>
            <a:r>
              <a:rPr sz="2000">
                <a:solidFill>
                  <a:srgbClr val="CFCFC2"/>
                </a:solidFill>
                <a:latin typeface="Courier"/>
              </a:rPr>
              <a:t>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                    </a:t>
            </a:r>
            <a:r>
              <a:rPr sz="2000">
                <a:solidFill>
                  <a:srgbClr val="F44F4F"/>
                </a:solidFill>
                <a:latin typeface="Courier"/>
              </a:rPr>
              <a:t>"Wounds"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"战伤"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F44F4F"/>
                </a:solidFill>
                <a:latin typeface="Courier"/>
              </a:rPr>
              <a:t>"Other"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"其他原因"</a:t>
            </a:r>
            <a:r>
              <a:rPr sz="2000">
                <a:solidFill>
                  <a:srgbClr val="CFCFC2"/>
                </a:solidFill>
                <a:latin typeface="Courier"/>
              </a:rPr>
              <a:t>),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             </a:t>
            </a:r>
            <a:r>
              <a:rPr sz="2000">
                <a:solidFill>
                  <a:srgbClr val="2980B9"/>
                </a:solidFill>
                <a:latin typeface="Courier"/>
              </a:rPr>
              <a:t>levels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c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F44F4F"/>
                </a:solidFill>
                <a:latin typeface="Courier"/>
              </a:rPr>
              <a:t>"可预防疾病"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F44F4F"/>
                </a:solidFill>
                <a:latin typeface="Courier"/>
              </a:rPr>
              <a:t>"战伤"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F44F4F"/>
                </a:solidFill>
                <a:latin typeface="Courier"/>
              </a:rPr>
              <a:t>"其他原因"</a:t>
            </a:r>
            <a:r>
              <a:rPr sz="2000">
                <a:solidFill>
                  <a:srgbClr val="CFCFC2"/>
                </a:solidFill>
                <a:latin typeface="Courier"/>
              </a:rPr>
              <a:t>))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)</a:t>
            </a:r>
            <a:br/>
            <a:br/>
            <a:r>
              <a:rPr sz="2000">
                <a:solidFill>
                  <a:srgbClr val="CFCFC2"/>
                </a:solidFill>
                <a:latin typeface="Courier"/>
              </a:rPr>
              <a:t>before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nightingale_long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filter</a:t>
            </a:r>
            <a:r>
              <a:rPr sz="2000">
                <a:solidFill>
                  <a:srgbClr val="CFCFC2"/>
                </a:solidFill>
                <a:latin typeface="Courier"/>
              </a:rPr>
              <a:t>(阶段 </a:t>
            </a:r>
            <a:r>
              <a:rPr sz="2000">
                <a:solidFill>
                  <a:srgbClr val="3DAEE9"/>
                </a:solidFill>
                <a:latin typeface="Courier"/>
              </a:rPr>
              <a:t>==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"改革前"</a:t>
            </a:r>
            <a:r>
              <a:rPr sz="2000">
                <a:solidFill>
                  <a:srgbClr val="CFCFC2"/>
                </a:solidFill>
                <a:latin typeface="Courier"/>
              </a:rPr>
              <a:t>)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after 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nightingale_long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filter</a:t>
            </a:r>
            <a:r>
              <a:rPr sz="2000">
                <a:solidFill>
                  <a:srgbClr val="CFCFC2"/>
                </a:solidFill>
                <a:latin typeface="Courier"/>
              </a:rPr>
              <a:t>(阶段 </a:t>
            </a:r>
            <a:r>
              <a:rPr sz="2000">
                <a:solidFill>
                  <a:srgbClr val="3DAEE9"/>
                </a:solidFill>
                <a:latin typeface="Courier"/>
              </a:rPr>
              <a:t>==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"改革后"</a:t>
            </a:r>
            <a:r>
              <a:rPr sz="2000">
                <a:solidFill>
                  <a:srgbClr val="CFCFC2"/>
                </a:solidFill>
                <a:latin typeface="Courier"/>
              </a:rPr>
              <a:t>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项目目标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完成本项目后，我能够：</a:t>
            </a:r>
          </a:p>
          <a:p>
            <a:pPr lvl="0"/>
            <a:r>
              <a:rPr/>
              <a:t>从真实问题中提取</a:t>
            </a:r>
            <a:r>
              <a:rPr b="1"/>
              <a:t>分析目的</a:t>
            </a:r>
            <a:r>
              <a:rPr/>
              <a:t>，并确定需要比较的变量与指标</a:t>
            </a:r>
          </a:p>
          <a:p>
            <a:pPr lvl="0"/>
            <a:r>
              <a:rPr/>
              <a:t>建立「</a:t>
            </a:r>
            <a:r>
              <a:rPr b="1"/>
              <a:t>变量 → 视觉通道</a:t>
            </a:r>
            <a:r>
              <a:rPr/>
              <a:t>」的映射关系，独立完成证据图</a:t>
            </a:r>
          </a:p>
          <a:p>
            <a:pPr lvl="0"/>
            <a:r>
              <a:rPr/>
              <a:t>用 </a:t>
            </a:r>
            <a:r>
              <a:rPr>
                <a:latin typeface="Courier"/>
              </a:rPr>
              <a:t>ggplot()</a:t>
            </a:r>
            <a:r>
              <a:rPr/>
              <a:t>、</a:t>
            </a:r>
            <a:r>
              <a:rPr>
                <a:latin typeface="Courier"/>
              </a:rPr>
              <a:t>aes()</a:t>
            </a:r>
            <a:r>
              <a:rPr/>
              <a:t>、</a:t>
            </a:r>
            <a:r>
              <a:rPr>
                <a:latin typeface="Courier"/>
              </a:rPr>
              <a:t>geom_col()</a:t>
            </a:r>
            <a:r>
              <a:rPr/>
              <a:t>、</a:t>
            </a:r>
            <a:r>
              <a:rPr>
                <a:latin typeface="Courier"/>
              </a:rPr>
              <a:t>labs()</a:t>
            </a:r>
            <a:r>
              <a:rPr/>
              <a:t>、</a:t>
            </a:r>
            <a:r>
              <a:rPr>
                <a:latin typeface="Courier"/>
              </a:rPr>
              <a:t>facet_wrap()</a:t>
            </a:r>
            <a:r>
              <a:rPr/>
              <a:t>、</a:t>
            </a:r>
            <a:r>
              <a:rPr>
                <a:latin typeface="Courier"/>
              </a:rPr>
              <a:t>coord_polar()</a:t>
            </a:r>
            <a:r>
              <a:rPr/>
              <a:t>、</a:t>
            </a:r>
            <a:r>
              <a:rPr>
                <a:latin typeface="Courier"/>
              </a:rPr>
              <a:t>scale_y_sqrt()</a:t>
            </a:r>
            <a:r>
              <a:rPr/>
              <a:t> 组合出所需图形</a:t>
            </a:r>
          </a:p>
          <a:p>
            <a:pPr lvl="0"/>
            <a:r>
              <a:rPr/>
              <a:t>区分「</a:t>
            </a:r>
            <a:r>
              <a:rPr b="1"/>
              <a:t>变量映射</a:t>
            </a:r>
            <a:r>
              <a:rPr/>
              <a:t>」与「</a:t>
            </a:r>
            <a:r>
              <a:rPr b="1"/>
              <a:t>属性设定</a:t>
            </a:r>
            <a:r>
              <a:rPr/>
              <a:t>」</a:t>
            </a:r>
          </a:p>
          <a:p>
            <a:pPr lvl="0"/>
            <a:r>
              <a:rPr/>
              <a:t>按「</a:t>
            </a:r>
            <a:r>
              <a:rPr b="1"/>
              <a:t>结论—证据—建议—局限</a:t>
            </a:r>
            <a:r>
              <a:rPr/>
              <a:t>」解读图表，并说明结论的边界</a:t>
            </a:r>
          </a:p>
          <a:p>
            <a:pPr lvl="0"/>
            <a:r>
              <a:rPr/>
              <a:t>在 AI 辅助环境中保持对数据、代码和结论的</a:t>
            </a:r>
            <a:r>
              <a:rPr b="1"/>
              <a:t>主体判断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可视化全流程地图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这条链是本项目的主线：</a:t>
            </a:r>
          </a:p>
          <a:p>
            <a:pPr lvl="0"/>
            <a:r>
              <a:rPr b="1"/>
              <a:t>真实问题</a:t>
            </a:r>
            <a:r>
              <a:rPr/>
              <a:t> → ① 明确分析目的 → ② 选择指标 → ③ 建立映射</a:t>
            </a:r>
          </a:p>
          <a:p>
            <a:pPr lvl="0"/>
            <a:r>
              <a:rPr/>
              <a:t>④ 构建图形 → ⑤ 解读证据 → ⑥ 形成建议</a:t>
            </a:r>
          </a:p>
          <a:p>
            <a:pPr lvl="0" indent="0" marL="0">
              <a:buNone/>
            </a:pPr>
            <a:r>
              <a:rPr b="1"/>
              <a:t>先想一想：①④⑥ 三个空该填什么？</a:t>
            </a:r>
          </a:p>
          <a:p>
            <a:pPr lvl="0" indent="0" marL="0">
              <a:buNone/>
            </a:pPr>
            <a:r>
              <a:rPr/>
              <a:t>备选环节：认识数据 / 明确分析目的 / 构建图形 / 形成建议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每个环节要回答什么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① 明确分析目的</a:t>
            </a:r>
            <a:r>
              <a:rPr/>
              <a:t>：要回答什么问题？→ 驱动性问题</a:t>
            </a:r>
          </a:p>
          <a:p>
            <a:pPr lvl="0"/>
            <a:r>
              <a:rPr b="1"/>
              <a:t>② 选择指标</a:t>
            </a:r>
            <a:r>
              <a:rPr/>
              <a:t>：用什么数据回答？→ 人数 / 年化死亡率</a:t>
            </a:r>
          </a:p>
          <a:p>
            <a:pPr lvl="0"/>
            <a:r>
              <a:rPr b="1"/>
              <a:t>③ 建立映射</a:t>
            </a:r>
            <a:r>
              <a:rPr/>
              <a:t>：变量映射到哪？→ 映射表</a:t>
            </a:r>
          </a:p>
          <a:p>
            <a:pPr lvl="0"/>
            <a:r>
              <a:rPr b="1"/>
              <a:t>④ 构建图形</a:t>
            </a:r>
            <a:r>
              <a:rPr/>
              <a:t>：用什么图层画？→ ggplot2 代码</a:t>
            </a:r>
          </a:p>
          <a:p>
            <a:pPr lvl="0"/>
            <a:r>
              <a:rPr b="1"/>
              <a:t>⑤ 解读证据</a:t>
            </a:r>
            <a:r>
              <a:rPr/>
              <a:t>：证据在哪里？→ 图表解读</a:t>
            </a:r>
          </a:p>
          <a:p>
            <a:pPr lvl="0"/>
            <a:r>
              <a:rPr b="1"/>
              <a:t>⑥ 形成建议</a:t>
            </a:r>
            <a:r>
              <a:rPr/>
              <a:t>：话能说到什么程度？→ 决策建议与局限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如果在 ⑤ 发现图形答不出问题，就要回到 ②③④ 修改，而不是继续往下做。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四个任务构成完整问题链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任务 1</a:t>
            </a:r>
            <a:r>
              <a:rPr/>
              <a:t>：哪一类死亡原因造成的死亡</a:t>
            </a:r>
            <a:r>
              <a:rPr b="1"/>
              <a:t>负担</a:t>
            </a:r>
            <a:r>
              <a:rPr/>
              <a:t>最重？→ 累计死亡人数对比图</a:t>
            </a:r>
          </a:p>
          <a:p>
            <a:pPr lvl="0"/>
            <a:r>
              <a:rPr b="1"/>
              <a:t>任务 2</a:t>
            </a:r>
            <a:r>
              <a:rPr/>
              <a:t>：高死亡水平是否</a:t>
            </a:r>
            <a:r>
              <a:rPr b="1"/>
              <a:t>集中在个别月份</a:t>
            </a:r>
            <a:r>
              <a:rPr/>
              <a:t>？→ 月度堆叠柱形图</a:t>
            </a:r>
          </a:p>
          <a:p>
            <a:pPr lvl="0"/>
            <a:r>
              <a:rPr b="1"/>
              <a:t>巩固提升</a:t>
            </a:r>
            <a:r>
              <a:rPr/>
              <a:t>：三类死因的月度变化是否一致？怎样改进表达？</a:t>
            </a:r>
          </a:p>
          <a:p>
            <a:pPr lvl="0"/>
            <a:r>
              <a:rPr b="1"/>
              <a:t>任务 3</a:t>
            </a:r>
            <a:r>
              <a:rPr/>
              <a:t>：卫生改革前后</a:t>
            </a:r>
            <a:r>
              <a:rPr b="1"/>
              <a:t>发生了什么变化</a:t>
            </a:r>
            <a:r>
              <a:rPr/>
              <a:t>？→ 按阶段分面对比图</a:t>
            </a:r>
          </a:p>
          <a:p>
            <a:pPr lvl="0"/>
            <a:r>
              <a:rPr b="1"/>
              <a:t>任务 4</a:t>
            </a:r>
            <a:r>
              <a:rPr/>
              <a:t>：玫瑰图适合</a:t>
            </a:r>
            <a:r>
              <a:rPr b="1"/>
              <a:t>分析</a:t>
            </a:r>
            <a:r>
              <a:rPr/>
              <a:t>还是</a:t>
            </a:r>
            <a:r>
              <a:rPr b="1"/>
              <a:t>传播</a:t>
            </a:r>
            <a:r>
              <a:rPr/>
              <a:t>？→ 玫瑰图与图形取舍评价</a:t>
            </a:r>
          </a:p>
          <a:p>
            <a:pPr lvl="0"/>
            <a:r>
              <a:rPr b="1"/>
              <a:t>项目结论</a:t>
            </a:r>
            <a:r>
              <a:rPr/>
              <a:t>：证据支持怎样的</a:t>
            </a:r>
            <a:r>
              <a:rPr b="1"/>
              <a:t>行动建议</a:t>
            </a:r>
            <a:r>
              <a:rPr/>
              <a:t>？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两课时安排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第一课时</a:t>
            </a:r>
            <a:r>
              <a:rPr/>
              <a:t>　任务 1 · 任务 2 · 巩固提升</a:t>
            </a:r>
          </a:p>
          <a:p>
            <a:pPr lvl="0"/>
            <a:r>
              <a:rPr/>
              <a:t>新知支撑：视觉通道、图形映射、ggplot2 基础语法、统一配色</a:t>
            </a:r>
          </a:p>
          <a:p>
            <a:pPr lvl="0" indent="0" marL="0">
              <a:buNone/>
            </a:pPr>
            <a:r>
              <a:rPr b="1"/>
              <a:t>第二课时</a:t>
            </a:r>
            <a:r>
              <a:rPr/>
              <a:t>　任务 3 · 任务 4</a:t>
            </a:r>
          </a:p>
          <a:p>
            <a:pPr lvl="0"/>
            <a:r>
              <a:rPr/>
              <a:t>新知支撑：分面、极坐标与面积编码、图形选择与评价</a:t>
            </a:r>
          </a:p>
          <a:p>
            <a:pPr lvl="0" indent="0" marL="0">
              <a:buNone/>
            </a:pPr>
            <a:r>
              <a:rPr/>
              <a:t>实践路线：</a:t>
            </a:r>
            <a:r>
              <a:rPr b="1"/>
              <a:t>分析目的 → 数据映射 → 图形建构 → 图表解读</a:t>
            </a:r>
          </a:p>
          <a:p>
            <a:pPr lvl="0" indent="0" marL="0">
              <a:buNone/>
            </a:pPr>
            <a:r>
              <a:rPr/>
              <a:t>分层要求：★ 基础必做　★★ 进阶选做　★★★ 挑战合作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2761488"/>
            <a:ext cx="10058400" cy="13258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新知探究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视觉通道：把数据送进眼睛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数据变量必须通过</a:t>
            </a:r>
            <a:r>
              <a:rPr b="1"/>
              <a:t>视觉通道</a:t>
            </a:r>
            <a:r>
              <a:rPr/>
              <a:t>才能进入图形。</a:t>
            </a:r>
          </a:p>
          <a:p>
            <a:pPr lvl="0"/>
            <a:r>
              <a:rPr b="1"/>
              <a:t>位置</a:t>
            </a:r>
            <a:r>
              <a:rPr/>
              <a:t>：最精确，可读出高低、左右 → 月份、累计死亡人数</a:t>
            </a:r>
          </a:p>
          <a:p>
            <a:pPr lvl="0"/>
            <a:r>
              <a:rPr b="1"/>
              <a:t>长度</a:t>
            </a:r>
            <a:r>
              <a:rPr/>
              <a:t>：很精确，可直接比较长短 → 柱形高度、年化死亡率</a:t>
            </a:r>
          </a:p>
          <a:p>
            <a:pPr lvl="0"/>
            <a:r>
              <a:rPr b="1"/>
              <a:t>角度 / 面积</a:t>
            </a:r>
            <a:r>
              <a:rPr/>
              <a:t>：较粗略，容易被夸大 → 玫瑰图中的扇形</a:t>
            </a:r>
          </a:p>
          <a:p>
            <a:pPr lvl="0"/>
            <a:r>
              <a:rPr b="1"/>
              <a:t>颜色（色相）</a:t>
            </a:r>
            <a:r>
              <a:rPr/>
              <a:t>：擅长区分</a:t>
            </a:r>
            <a:r>
              <a:rPr b="1"/>
              <a:t>类别</a:t>
            </a:r>
            <a:r>
              <a:rPr/>
              <a:t>，不擅长比较大小 → 死亡原因</a:t>
            </a:r>
          </a:p>
          <a:p>
            <a:pPr lvl="0"/>
            <a:r>
              <a:rPr b="1"/>
              <a:t>分面</a:t>
            </a:r>
            <a:r>
              <a:rPr/>
              <a:t>：把整体拆成结构相同的小图 → 改革前 / 改革后</a:t>
            </a:r>
          </a:p>
          <a:p>
            <a:pPr lvl="0" indent="0" marL="0">
              <a:buNone/>
            </a:pPr>
            <a:r>
              <a:rPr b="1"/>
              <a:t>先想一想：要精确比较三类死因的死亡水平，应该优先使用哪两个通道？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视觉通道：怎么选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要</a:t>
            </a:r>
            <a:r>
              <a:rPr b="1"/>
              <a:t>精确比较</a:t>
            </a:r>
            <a:r>
              <a:rPr/>
              <a:t>，用「</a:t>
            </a:r>
            <a:r>
              <a:rPr b="1"/>
              <a:t>位置</a:t>
            </a:r>
            <a:r>
              <a:rPr/>
              <a:t>」和「</a:t>
            </a:r>
            <a:r>
              <a:rPr b="1"/>
              <a:t>长度</a:t>
            </a:r>
            <a:r>
              <a:rPr/>
              <a:t>」：柱高与数值成线性关系，可直接读出高低和差值</a:t>
            </a:r>
          </a:p>
          <a:p>
            <a:pPr lvl="0"/>
            <a:r>
              <a:rPr b="1"/>
              <a:t>角度、面积</a:t>
            </a:r>
            <a:r>
              <a:rPr/>
              <a:t>与半径是平方关系，读者容易把差异看成数值的倍数</a:t>
            </a:r>
          </a:p>
          <a:p>
            <a:pPr lvl="0"/>
            <a:r>
              <a:rPr b="1"/>
              <a:t>颜色</a:t>
            </a:r>
            <a:r>
              <a:rPr/>
              <a:t>擅长回答”是哪一个”，不擅长回答”大多少”——让颜色只管分类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一句话原则：</a:t>
            </a:r>
            <a:r>
              <a:rPr sz="2800" b="1">
                <a:solidFill>
                  <a:srgbClr val="FFD166"/>
                </a:solidFill>
              </a:rPr>
              <a:t>要精确比较，用位置和长度；要用颜色，就让颜色只管分类。</a:t>
            </a:r>
          </a:p>
          <a:p>
            <a:pPr lvl="0" indent="0" marL="0">
              <a:buNone/>
            </a:pPr>
            <a:r>
              <a:rPr/>
              <a:t>本项目图形分工：柱形图看负担、堆叠柱形图看月份、分面图看阶段、玫瑰图让公众一眼看懂。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ggplot2 图形语法：完整框架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ggplot2 用”</a:t>
            </a:r>
            <a:r>
              <a:rPr b="1"/>
              <a:t>数据 + 映射 + 图层</a:t>
            </a:r>
            <a:r>
              <a:rPr/>
              <a:t>”逐步建构图形。</a:t>
            </a:r>
          </a:p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8E44AD"/>
                </a:solidFill>
                <a:latin typeface="Courier"/>
              </a:rPr>
              <a:t>ggplot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data =</a:t>
            </a:r>
            <a:r>
              <a:rPr sz="2000">
                <a:solidFill>
                  <a:srgbClr val="CFCFC2"/>
                </a:solidFill>
                <a:latin typeface="Courier"/>
              </a:rPr>
              <a:t> 数据框,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</a:t>
            </a:r>
            <a:r>
              <a:rPr sz="2000">
                <a:solidFill>
                  <a:srgbClr val="8E44AD"/>
                </a:solidFill>
                <a:latin typeface="Courier"/>
              </a:rPr>
              <a:t>aes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x =</a:t>
            </a:r>
            <a:r>
              <a:rPr sz="2000">
                <a:solidFill>
                  <a:srgbClr val="CFCFC2"/>
                </a:solidFill>
                <a:latin typeface="Courier"/>
              </a:rPr>
              <a:t> 横轴变量,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 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纵轴变量,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  </a:t>
            </a:r>
            <a:r>
              <a:rPr sz="2000">
                <a:solidFill>
                  <a:srgbClr val="2980B9"/>
                </a:solidFill>
                <a:latin typeface="Courier"/>
              </a:rPr>
              <a:t>fill =</a:t>
            </a:r>
            <a:r>
              <a:rPr sz="2000">
                <a:solidFill>
                  <a:srgbClr val="CFCFC2"/>
                </a:solidFill>
                <a:latin typeface="Courier"/>
              </a:rPr>
              <a:t> 分类变量))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geom_几何对象()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r>
              <a:rPr sz="2000">
                <a:solidFill>
                  <a:srgbClr val="CFCFC2"/>
                </a:solidFill>
                <a:latin typeface="Courier"/>
              </a:rPr>
              <a:t>       </a:t>
            </a:r>
            <a:r>
              <a:rPr sz="2000">
                <a:solidFill>
                  <a:srgbClr val="7A7C7D"/>
                </a:solidFill>
                <a:latin typeface="Courier"/>
              </a:rPr>
              <a:t># 柱、点、线等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stat_统计变换()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r>
              <a:rPr sz="2000">
                <a:solidFill>
                  <a:srgbClr val="CFCFC2"/>
                </a:solidFill>
                <a:latin typeface="Courier"/>
              </a:rPr>
              <a:t>       </a:t>
            </a:r>
            <a:r>
              <a:rPr sz="2000">
                <a:solidFill>
                  <a:srgbClr val="7A7C7D"/>
                </a:solidFill>
                <a:latin typeface="Courier"/>
              </a:rPr>
              <a:t># 计数、汇总等（可选）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scale_标度()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r>
              <a:rPr sz="2000">
                <a:solidFill>
                  <a:srgbClr val="CFCFC2"/>
                </a:solidFill>
                <a:latin typeface="Courier"/>
              </a:rPr>
              <a:t>          </a:t>
            </a:r>
            <a:r>
              <a:rPr sz="2000">
                <a:solidFill>
                  <a:srgbClr val="7A7C7D"/>
                </a:solidFill>
                <a:latin typeface="Courier"/>
              </a:rPr>
              <a:t># 颜色、坐标刻度等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facet_分面()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r>
              <a:rPr sz="2000">
                <a:solidFill>
                  <a:srgbClr val="CFCFC2"/>
                </a:solidFill>
                <a:latin typeface="Courier"/>
              </a:rPr>
              <a:t>          </a:t>
            </a:r>
            <a:r>
              <a:rPr sz="2000">
                <a:solidFill>
                  <a:srgbClr val="7A7C7D"/>
                </a:solidFill>
                <a:latin typeface="Courier"/>
              </a:rPr>
              <a:t># 分组比较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coord_坐标系()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r>
              <a:rPr sz="2000">
                <a:solidFill>
                  <a:srgbClr val="CFCFC2"/>
                </a:solidFill>
                <a:latin typeface="Courier"/>
              </a:rPr>
              <a:t>        </a:t>
            </a:r>
            <a:r>
              <a:rPr sz="2000">
                <a:solidFill>
                  <a:srgbClr val="7A7C7D"/>
                </a:solidFill>
                <a:latin typeface="Courier"/>
              </a:rPr>
              <a:t># 直角或极坐标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labs</a:t>
            </a:r>
            <a:r>
              <a:rPr sz="2000">
                <a:solidFill>
                  <a:srgbClr val="CFCFC2"/>
                </a:solidFill>
                <a:latin typeface="Courier"/>
              </a:rPr>
              <a:t>(...)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r>
              <a:rPr sz="2000">
                <a:solidFill>
                  <a:srgbClr val="CFCFC2"/>
                </a:solidFill>
                <a:latin typeface="Courier"/>
              </a:rPr>
              <a:t>             </a:t>
            </a:r>
            <a:r>
              <a:rPr sz="2000">
                <a:solidFill>
                  <a:srgbClr val="7A7C7D"/>
                </a:solidFill>
                <a:latin typeface="Courier"/>
              </a:rPr>
              <a:t># 标题、轴名、图例名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theme_主题()             </a:t>
            </a:r>
            <a:r>
              <a:rPr sz="2000">
                <a:solidFill>
                  <a:srgbClr val="7A7C7D"/>
                </a:solidFill>
                <a:latin typeface="Courier"/>
              </a:rPr>
              <a:t># 非数据元素</a:t>
            </a:r>
          </a:p>
          <a:p>
            <a:pPr lvl="0" indent="0" marL="0">
              <a:buNone/>
            </a:pPr>
            <a:r>
              <a:rPr b="1"/>
              <a:t>核心骨架：</a:t>
            </a:r>
            <a:r>
              <a:rPr>
                <a:latin typeface="Courier"/>
              </a:rPr>
              <a:t>ggplot(data, aes(...)) + geom_*()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ggplot2 图层的职责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data</a:t>
            </a:r>
            <a:r>
              <a:rPr/>
              <a:t>：使用哪份数据？→ </a:t>
            </a:r>
            <a:r>
              <a:rPr>
                <a:latin typeface="Courier"/>
              </a:rPr>
              <a:t>ggplot(data = ...)</a:t>
            </a:r>
          </a:p>
          <a:p>
            <a:pPr lvl="0"/>
            <a:r>
              <a:rPr b="1"/>
              <a:t>mapping</a:t>
            </a:r>
            <a:r>
              <a:rPr/>
              <a:t>：变量映射到哪里？→ </a:t>
            </a:r>
            <a:r>
              <a:rPr>
                <a:latin typeface="Courier"/>
              </a:rPr>
              <a:t>aes(x, y, fill)</a:t>
            </a:r>
          </a:p>
          <a:p>
            <a:pPr lvl="0"/>
            <a:r>
              <a:rPr b="1"/>
              <a:t>geom</a:t>
            </a:r>
            <a:r>
              <a:rPr/>
              <a:t>：用什么图形表达？→ </a:t>
            </a:r>
            <a:r>
              <a:rPr>
                <a:latin typeface="Courier"/>
              </a:rPr>
              <a:t>geom_col()</a:t>
            </a:r>
          </a:p>
          <a:p>
            <a:pPr lvl="0"/>
            <a:r>
              <a:rPr b="1"/>
              <a:t>scale</a:t>
            </a:r>
            <a:r>
              <a:rPr/>
              <a:t>：颜色和刻度怎样显示？→ </a:t>
            </a:r>
            <a:r>
              <a:rPr>
                <a:latin typeface="Courier"/>
              </a:rPr>
              <a:t>scale_fill_manual()</a:t>
            </a:r>
          </a:p>
          <a:p>
            <a:pPr lvl="0"/>
            <a:r>
              <a:rPr b="1"/>
              <a:t>facet</a:t>
            </a:r>
            <a:r>
              <a:rPr/>
              <a:t>：怎样分组比较？→ </a:t>
            </a:r>
            <a:r>
              <a:rPr>
                <a:latin typeface="Courier"/>
              </a:rPr>
              <a:t>facet_wrap()</a:t>
            </a:r>
          </a:p>
          <a:p>
            <a:pPr lvl="0"/>
            <a:r>
              <a:rPr b="1"/>
              <a:t>coord</a:t>
            </a:r>
            <a:r>
              <a:rPr/>
              <a:t>：使用什么坐标系统？→ </a:t>
            </a:r>
            <a:r>
              <a:rPr>
                <a:latin typeface="Courier"/>
              </a:rPr>
              <a:t>coord_polar()</a:t>
            </a:r>
          </a:p>
          <a:p>
            <a:pPr lvl="0"/>
            <a:r>
              <a:rPr b="1"/>
              <a:t>labs</a:t>
            </a:r>
            <a:r>
              <a:rPr/>
              <a:t>：标题、轴名、图例名</a:t>
            </a:r>
          </a:p>
          <a:p>
            <a:pPr lvl="0"/>
            <a:r>
              <a:rPr b="1"/>
              <a:t>theme</a:t>
            </a:r>
            <a:r>
              <a:rPr/>
              <a:t>：非数据元素怎样显示？→ </a:t>
            </a:r>
            <a:r>
              <a:rPr>
                <a:latin typeface="Courier"/>
              </a:rPr>
              <a:t>theme_minimal()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  <a:latin typeface="Courier"/>
              </a:rPr>
              <a:t>ggplot() + geom_*()</a:t>
            </a:r>
            <a:r>
              <a:rPr sz="2800">
                <a:solidFill>
                  <a:srgbClr val="FFD166"/>
                </a:solidFill>
              </a:rPr>
              <a:t> 决定”</a:t>
            </a:r>
            <a:r>
              <a:rPr sz="2800" b="1">
                <a:solidFill>
                  <a:srgbClr val="FFD166"/>
                </a:solidFill>
              </a:rPr>
              <a:t>画什么</a:t>
            </a:r>
            <a:r>
              <a:rPr sz="2800">
                <a:solidFill>
                  <a:srgbClr val="FFD166"/>
                </a:solidFill>
              </a:rPr>
              <a:t>”；</a:t>
            </a:r>
            <a:r>
              <a:rPr sz="2800">
                <a:solidFill>
                  <a:srgbClr val="FFD166"/>
                </a:solidFill>
                <a:latin typeface="Courier"/>
              </a:rPr>
              <a:t>scale_*()</a:t>
            </a:r>
            <a:r>
              <a:rPr sz="2800">
                <a:solidFill>
                  <a:srgbClr val="FFD166"/>
                </a:solidFill>
              </a:rPr>
              <a:t>、</a:t>
            </a:r>
            <a:r>
              <a:rPr sz="2800">
                <a:solidFill>
                  <a:srgbClr val="FFD166"/>
                </a:solidFill>
                <a:latin typeface="Courier"/>
              </a:rPr>
              <a:t>facet_*()</a:t>
            </a:r>
            <a:r>
              <a:rPr sz="2800">
                <a:solidFill>
                  <a:srgbClr val="FFD166"/>
                </a:solidFill>
              </a:rPr>
              <a:t>、</a:t>
            </a:r>
            <a:r>
              <a:rPr sz="2800">
                <a:solidFill>
                  <a:srgbClr val="FFD166"/>
                </a:solidFill>
                <a:latin typeface="Courier"/>
              </a:rPr>
              <a:t>coord_*()</a:t>
            </a:r>
            <a:r>
              <a:rPr sz="2800">
                <a:solidFill>
                  <a:srgbClr val="FFD166"/>
                </a:solidFill>
              </a:rPr>
              <a:t> 决定”</a:t>
            </a:r>
            <a:r>
              <a:rPr sz="2800" b="1">
                <a:solidFill>
                  <a:srgbClr val="FFD166"/>
                </a:solidFill>
              </a:rPr>
              <a:t>怎样显示</a:t>
            </a:r>
            <a:r>
              <a:rPr sz="2800">
                <a:solidFill>
                  <a:srgbClr val="FFD166"/>
                </a:solidFill>
              </a:rPr>
              <a:t>”。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变量映射 vs 属性设定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映射：写在 </a:t>
            </a:r>
            <a:r>
              <a:rPr b="1">
                <a:latin typeface="Courier"/>
              </a:rPr>
              <a:t>aes()</a:t>
            </a:r>
            <a:r>
              <a:rPr b="1"/>
              <a:t> 内</a:t>
            </a:r>
          </a:p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8E44AD"/>
                </a:solidFill>
                <a:latin typeface="Courier"/>
              </a:rPr>
              <a:t>ggplot</a:t>
            </a:r>
            <a:r>
              <a:rPr sz="2000">
                <a:solidFill>
                  <a:srgbClr val="CFCFC2"/>
                </a:solidFill>
                <a:latin typeface="Courier"/>
              </a:rPr>
              <a:t>(before,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</a:t>
            </a:r>
            <a:r>
              <a:rPr sz="2000">
                <a:solidFill>
                  <a:srgbClr val="8E44AD"/>
                </a:solidFill>
                <a:latin typeface="Courier"/>
              </a:rPr>
              <a:t>aes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x =</a:t>
            </a:r>
            <a:r>
              <a:rPr sz="2000">
                <a:solidFill>
                  <a:srgbClr val="CFCFC2"/>
                </a:solidFill>
                <a:latin typeface="Courier"/>
              </a:rPr>
              <a:t> 月份,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 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死亡率,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  </a:t>
            </a:r>
            <a:r>
              <a:rPr sz="2000">
                <a:solidFill>
                  <a:srgbClr val="2980B9"/>
                </a:solidFill>
                <a:latin typeface="Courier"/>
              </a:rPr>
              <a:t>fill =</a:t>
            </a:r>
            <a:r>
              <a:rPr sz="2000">
                <a:solidFill>
                  <a:srgbClr val="CFCFC2"/>
                </a:solidFill>
                <a:latin typeface="Courier"/>
              </a:rPr>
              <a:t> 死亡原因))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geom_col</a:t>
            </a:r>
            <a:r>
              <a:rPr sz="2000">
                <a:solidFill>
                  <a:srgbClr val="CFCFC2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颜色随死亡原因变化，并自动生成图例。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属性设定：写在 </a:t>
            </a:r>
            <a:r>
              <a:rPr b="1">
                <a:latin typeface="Courier"/>
              </a:rPr>
              <a:t>aes()</a:t>
            </a:r>
            <a:r>
              <a:rPr b="1"/>
              <a:t> 外</a:t>
            </a:r>
          </a:p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8E44AD"/>
                </a:solidFill>
                <a:latin typeface="Courier"/>
              </a:rPr>
              <a:t>ggplot</a:t>
            </a:r>
            <a:r>
              <a:rPr sz="2000">
                <a:solidFill>
                  <a:srgbClr val="CFCFC2"/>
                </a:solidFill>
                <a:latin typeface="Courier"/>
              </a:rPr>
              <a:t>(before,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</a:t>
            </a:r>
            <a:r>
              <a:rPr sz="2000">
                <a:solidFill>
                  <a:srgbClr val="8E44AD"/>
                </a:solidFill>
                <a:latin typeface="Courier"/>
              </a:rPr>
              <a:t>aes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x =</a:t>
            </a:r>
            <a:r>
              <a:rPr sz="2000">
                <a:solidFill>
                  <a:srgbClr val="CFCFC2"/>
                </a:solidFill>
                <a:latin typeface="Courier"/>
              </a:rPr>
              <a:t> 月份,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 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死亡率))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geom_col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fill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"steelblue"</a:t>
            </a:r>
            <a:r>
              <a:rPr sz="2000">
                <a:solidFill>
                  <a:srgbClr val="CFCFC2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所有柱子同一种颜色，不会生成图例。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变量映射 vs 属性设定：判断题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先想一想：</a:t>
            </a:r>
          </a:p>
          <a:p>
            <a:pPr lvl="0"/>
            <a:r>
              <a:rPr>
                <a:latin typeface="Courier"/>
              </a:rPr>
              <a:t>geom_col(fill = "steelblue")</a:t>
            </a:r>
            <a:r>
              <a:rPr/>
              <a:t> 会让三类死因变成几种颜色？</a:t>
            </a:r>
          </a:p>
          <a:p>
            <a:pPr lvl="0"/>
            <a:r>
              <a:rPr>
                <a:latin typeface="Courier"/>
              </a:rPr>
              <a:t>aes(fill = 死亡原因)</a:t>
            </a:r>
            <a:r>
              <a:rPr/>
              <a:t> 中的颜色由什么决定？</a:t>
            </a:r>
          </a:p>
          <a:p>
            <a:pPr lvl="0"/>
            <a:r>
              <a:rPr/>
              <a:t>如果任务 4 的玫瑰图漏掉了 </a:t>
            </a:r>
            <a:r>
              <a:rPr>
                <a:latin typeface="Courier"/>
              </a:rPr>
              <a:t>fill = 死亡原因</a:t>
            </a:r>
            <a:r>
              <a:rPr/>
              <a:t>，会发生什么？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提示：请分别说出”颜色由谁决定”，再判断它会不会生成图例。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geom_col()</a:t>
            </a:r>
            <a:r>
              <a:rPr/>
              <a:t> 还是 </a:t>
            </a:r>
            <a:r>
              <a:rPr>
                <a:latin typeface="Courier"/>
              </a:rPr>
              <a:t>geom_bar()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geom_bar()</a:t>
            </a:r>
            <a:r>
              <a:rPr/>
              <a:t>：自动统计每类有多少行 → 回答”每个类别</a:t>
            </a:r>
            <a:r>
              <a:rPr b="1"/>
              <a:t>出现多少次</a:t>
            </a:r>
            <a:r>
              <a:rPr/>
              <a:t>”</a:t>
            </a:r>
          </a:p>
          <a:p>
            <a:pPr lvl="0"/>
            <a:r>
              <a:rPr b="1">
                <a:latin typeface="Courier"/>
              </a:rPr>
              <a:t>geom_col()</a:t>
            </a:r>
            <a:r>
              <a:rPr/>
              <a:t>：直接使用已有的 y 变量 → 回答”每类</a:t>
            </a:r>
            <a:r>
              <a:rPr b="1"/>
              <a:t>已有数值是多少</a:t>
            </a:r>
            <a:r>
              <a:rPr/>
              <a:t>”</a:t>
            </a:r>
          </a:p>
          <a:p>
            <a:pPr lvl="0" indent="0" marL="0">
              <a:buNone/>
            </a:pPr>
            <a:r>
              <a:rPr/>
              <a:t>本项目已经拥有 </a:t>
            </a:r>
            <a:r>
              <a:rPr>
                <a:latin typeface="Courier"/>
              </a:rPr>
              <a:t>累计死亡人数</a:t>
            </a:r>
            <a:r>
              <a:rPr/>
              <a:t> 和 </a:t>
            </a:r>
            <a:r>
              <a:rPr>
                <a:latin typeface="Courier"/>
              </a:rPr>
              <a:t>死亡率</a:t>
            </a:r>
            <a:r>
              <a:rPr/>
              <a:t>，因此全部使用 </a:t>
            </a:r>
            <a:r>
              <a:rPr>
                <a:latin typeface="Courier"/>
              </a:rPr>
              <a:t>geom_col()</a:t>
            </a:r>
            <a:r>
              <a:rPr/>
              <a:t>：</a:t>
            </a:r>
          </a:p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8E44AD"/>
                </a:solidFill>
                <a:latin typeface="Courier"/>
              </a:rPr>
              <a:t>ggplot</a:t>
            </a:r>
            <a:r>
              <a:rPr sz="2000">
                <a:solidFill>
                  <a:srgbClr val="CFCFC2"/>
                </a:solidFill>
                <a:latin typeface="Courier"/>
              </a:rPr>
              <a:t>(cause_summary,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</a:t>
            </a:r>
            <a:r>
              <a:rPr sz="2000">
                <a:solidFill>
                  <a:srgbClr val="8E44AD"/>
                </a:solidFill>
                <a:latin typeface="Courier"/>
              </a:rPr>
              <a:t>aes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x =</a:t>
            </a:r>
            <a:r>
              <a:rPr sz="2000">
                <a:solidFill>
                  <a:srgbClr val="CFCFC2"/>
                </a:solidFill>
                <a:latin typeface="Courier"/>
              </a:rPr>
              <a:t> 死亡原因,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累计死亡人数, </a:t>
            </a:r>
            <a:r>
              <a:rPr sz="2000">
                <a:solidFill>
                  <a:srgbClr val="2980B9"/>
                </a:solidFill>
                <a:latin typeface="Courier"/>
              </a:rPr>
              <a:t>fill =</a:t>
            </a:r>
            <a:r>
              <a:rPr sz="2000">
                <a:solidFill>
                  <a:srgbClr val="CFCFC2"/>
                </a:solidFill>
                <a:latin typeface="Courier"/>
              </a:rPr>
              <a:t> 死亡原因))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geom_col</a:t>
            </a:r>
            <a:r>
              <a:rPr sz="2000">
                <a:solidFill>
                  <a:srgbClr val="CFCFC2"/>
                </a:solidFill>
                <a:latin typeface="Courier"/>
              </a:rPr>
              <a:t>()          </a:t>
            </a:r>
            <a:r>
              <a:rPr sz="2000">
                <a:solidFill>
                  <a:srgbClr val="7A7C7D"/>
                </a:solidFill>
                <a:latin typeface="Courier"/>
              </a:rPr>
              <a:t># 数据里已经有 y 值，直接用 geom_col()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一句话记忆：</a:t>
            </a:r>
            <a:r>
              <a:rPr sz="2800" b="1">
                <a:solidFill>
                  <a:srgbClr val="FFD166"/>
                </a:solidFill>
              </a:rPr>
              <a:t>有数值就用 col，数条数才用 bar。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统一配色：</a:t>
            </a:r>
            <a:r>
              <a:rPr>
                <a:latin typeface="Courier"/>
              </a:rPr>
              <a:t>scale_fill_manual()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本项目</a:t>
            </a:r>
            <a:r>
              <a:rPr b="1"/>
              <a:t>全项目只用一套颜色</a:t>
            </a:r>
            <a:r>
              <a:rPr/>
              <a:t>，定义在数据准备代码里，之后任何地方都不再改动：</a:t>
            </a:r>
          </a:p>
          <a:p>
            <a:pPr lvl="0"/>
            <a:r>
              <a:rPr b="1"/>
              <a:t>可预防疾病</a:t>
            </a:r>
            <a:r>
              <a:rPr/>
              <a:t> = </a:t>
            </a:r>
            <a:r>
              <a:rPr>
                <a:latin typeface="Courier"/>
              </a:rPr>
              <a:t>#BCC7C9</a:t>
            </a:r>
            <a:r>
              <a:rPr/>
              <a:t>（灰蓝）</a:t>
            </a:r>
          </a:p>
          <a:p>
            <a:pPr lvl="0"/>
            <a:r>
              <a:rPr b="1"/>
              <a:t>战伤</a:t>
            </a:r>
            <a:r>
              <a:rPr/>
              <a:t> = </a:t>
            </a:r>
            <a:r>
              <a:rPr>
                <a:latin typeface="Courier"/>
              </a:rPr>
              <a:t>#E6BDB8</a:t>
            </a:r>
            <a:r>
              <a:rPr/>
              <a:t>（灰粉）</a:t>
            </a:r>
          </a:p>
          <a:p>
            <a:pPr lvl="0"/>
            <a:r>
              <a:rPr b="1"/>
              <a:t>其他原因</a:t>
            </a:r>
            <a:r>
              <a:rPr/>
              <a:t> = </a:t>
            </a:r>
            <a:r>
              <a:rPr>
                <a:latin typeface="Courier"/>
              </a:rPr>
              <a:t>#777777</a:t>
            </a:r>
            <a:r>
              <a:rPr/>
              <a:t>（深灰）</a:t>
            </a:r>
          </a:p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CFCFC2"/>
                </a:solidFill>
                <a:latin typeface="Courier"/>
              </a:rPr>
              <a:t>cause_colors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c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F44F4F"/>
                </a:solidFill>
                <a:latin typeface="Courier"/>
              </a:rPr>
              <a:t>"可预防疾病"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"#BCC7C9"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F44F4F"/>
                </a:solidFill>
                <a:latin typeface="Courier"/>
              </a:rPr>
              <a:t>"战伤"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"#E6BDB8"</a:t>
            </a:r>
            <a:r>
              <a:rPr sz="2000">
                <a:solidFill>
                  <a:srgbClr val="CFCFC2"/>
                </a:solidFill>
                <a:latin typeface="Courier"/>
              </a:rPr>
              <a:t>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         </a:t>
            </a:r>
            <a:r>
              <a:rPr sz="2000">
                <a:solidFill>
                  <a:srgbClr val="F44F4F"/>
                </a:solidFill>
                <a:latin typeface="Courier"/>
              </a:rPr>
              <a:t>"其他原因"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"#777777"</a:t>
            </a:r>
            <a:r>
              <a:rPr sz="2000">
                <a:solidFill>
                  <a:srgbClr val="CFCFC2"/>
                </a:solidFill>
                <a:latin typeface="Courier"/>
              </a:rPr>
              <a:t>)</a:t>
            </a:r>
            <a:br/>
            <a:br/>
            <a:r>
              <a:rPr sz="2000">
                <a:solidFill>
                  <a:srgbClr val="8E44AD"/>
                </a:solidFill>
                <a:latin typeface="Courier"/>
              </a:rPr>
              <a:t>ggplot</a:t>
            </a:r>
            <a:r>
              <a:rPr sz="2000">
                <a:solidFill>
                  <a:srgbClr val="CFCFC2"/>
                </a:solidFill>
                <a:latin typeface="Courier"/>
              </a:rPr>
              <a:t>(cause_summary, </a:t>
            </a:r>
            <a:r>
              <a:rPr sz="2000">
                <a:solidFill>
                  <a:srgbClr val="8E44AD"/>
                </a:solidFill>
                <a:latin typeface="Courier"/>
              </a:rPr>
              <a:t>aes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x =</a:t>
            </a:r>
            <a:r>
              <a:rPr sz="2000">
                <a:solidFill>
                  <a:srgbClr val="CFCFC2"/>
                </a:solidFill>
                <a:latin typeface="Courier"/>
              </a:rPr>
              <a:t> 死亡原因,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累计死亡人数, </a:t>
            </a:r>
            <a:r>
              <a:rPr sz="2000">
                <a:solidFill>
                  <a:srgbClr val="2980B9"/>
                </a:solidFill>
                <a:latin typeface="Courier"/>
              </a:rPr>
              <a:t>fill =</a:t>
            </a:r>
            <a:r>
              <a:rPr sz="2000">
                <a:solidFill>
                  <a:srgbClr val="CFCFC2"/>
                </a:solidFill>
                <a:latin typeface="Courier"/>
              </a:rPr>
              <a:t> 死亡原因))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geom_col</a:t>
            </a:r>
            <a:r>
              <a:rPr sz="2000">
                <a:solidFill>
                  <a:srgbClr val="CFCFC2"/>
                </a:solidFill>
                <a:latin typeface="Courier"/>
              </a:rPr>
              <a:t>()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scale_fill_manual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values =</a:t>
            </a:r>
            <a:r>
              <a:rPr sz="2000">
                <a:solidFill>
                  <a:srgbClr val="CFCFC2"/>
                </a:solidFill>
                <a:latin typeface="Courier"/>
              </a:rPr>
              <a:t> cause_colors)   </a:t>
            </a:r>
            <a:r>
              <a:rPr sz="2000">
                <a:solidFill>
                  <a:srgbClr val="7A7C7D"/>
                </a:solidFill>
                <a:latin typeface="Courier"/>
              </a:rPr>
              <a:t># 套用统一配色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表达红线：不要覆盖 </a:t>
            </a:r>
            <a:r>
              <a:rPr>
                <a:latin typeface="Courier"/>
              </a:rPr>
              <a:t>cause_colors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要</a:t>
            </a:r>
            <a:r>
              <a:rPr b="1"/>
              <a:t>自选</a:t>
            </a:r>
            <a:r>
              <a:rPr/>
              <a:t>颜色时（例如巩固提升的进阶任务），请另起一个变量名：</a:t>
            </a:r>
          </a:p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CFCFC2"/>
                </a:solidFill>
                <a:latin typeface="Courier"/>
              </a:rPr>
              <a:t>my_colors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c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F44F4F"/>
                </a:solidFill>
                <a:latin typeface="Courier"/>
              </a:rPr>
              <a:t>"可预防疾病"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"#3B7EA1"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F44F4F"/>
                </a:solidFill>
                <a:latin typeface="Courier"/>
              </a:rPr>
              <a:t>"战伤"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"#C4622D"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F44F4F"/>
                </a:solidFill>
                <a:latin typeface="Courier"/>
              </a:rPr>
              <a:t>"其他原因"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"#6E6E6E"</a:t>
            </a:r>
            <a:r>
              <a:rPr sz="2000">
                <a:solidFill>
                  <a:srgbClr val="CFCFC2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一旦覆盖 </a:t>
            </a:r>
            <a:r>
              <a:rPr>
                <a:latin typeface="Courier"/>
              </a:rPr>
              <a:t>cause_colors</a:t>
            </a:r>
            <a:r>
              <a:rPr/>
              <a:t>，后面任务的配色会跟着变，</a:t>
            </a:r>
            <a:r>
              <a:rPr b="1"/>
              <a:t>“同一类死因在所有图里颜色相同”就断了</a:t>
            </a:r>
            <a:r>
              <a:rPr/>
              <a:t>。</a:t>
            </a:r>
          </a:p>
          <a:p>
            <a:pPr lvl="0" indent="0" marL="0">
              <a:buNone/>
            </a:pPr>
            <a:r>
              <a:rPr/>
              <a:t>配色是</a:t>
            </a:r>
            <a:r>
              <a:rPr b="1"/>
              <a:t>属性层</a:t>
            </a:r>
            <a:r>
              <a:rPr/>
              <a:t>的决策，不能污染</a:t>
            </a:r>
            <a:r>
              <a:rPr b="1"/>
              <a:t>映射层</a:t>
            </a:r>
            <a:r>
              <a:rPr/>
              <a:t>的约定。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分面：</a:t>
            </a:r>
            <a:r>
              <a:rPr>
                <a:latin typeface="Courier"/>
              </a:rPr>
              <a:t>facet_wrap()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分面把一张图拆成</a:t>
            </a:r>
            <a:r>
              <a:rPr b="1"/>
              <a:t>结构相同</a:t>
            </a:r>
            <a:r>
              <a:rPr/>
              <a:t>的多个小图，让小图之间可以直接比较。</a:t>
            </a:r>
          </a:p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8E44AD"/>
                </a:solidFill>
                <a:latin typeface="Courier"/>
              </a:rPr>
              <a:t>ggplot</a:t>
            </a:r>
            <a:r>
              <a:rPr sz="2000">
                <a:solidFill>
                  <a:srgbClr val="CFCFC2"/>
                </a:solidFill>
                <a:latin typeface="Courier"/>
              </a:rPr>
              <a:t>(nightingale_long, </a:t>
            </a:r>
            <a:r>
              <a:rPr sz="2000">
                <a:solidFill>
                  <a:srgbClr val="8E44AD"/>
                </a:solidFill>
                <a:latin typeface="Courier"/>
              </a:rPr>
              <a:t>aes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x =</a:t>
            </a:r>
            <a:r>
              <a:rPr sz="2000">
                <a:solidFill>
                  <a:srgbClr val="CFCFC2"/>
                </a:solidFill>
                <a:latin typeface="Courier"/>
              </a:rPr>
              <a:t> 月份,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死亡率, </a:t>
            </a:r>
            <a:r>
              <a:rPr sz="2000">
                <a:solidFill>
                  <a:srgbClr val="2980B9"/>
                </a:solidFill>
                <a:latin typeface="Courier"/>
              </a:rPr>
              <a:t>fill =</a:t>
            </a:r>
            <a:r>
              <a:rPr sz="2000">
                <a:solidFill>
                  <a:srgbClr val="CFCFC2"/>
                </a:solidFill>
                <a:latin typeface="Courier"/>
              </a:rPr>
              <a:t> 死亡原因))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geom_col</a:t>
            </a:r>
            <a:r>
              <a:rPr sz="2000">
                <a:solidFill>
                  <a:srgbClr val="CFCFC2"/>
                </a:solidFill>
                <a:latin typeface="Courier"/>
              </a:rPr>
              <a:t>()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facet_wrap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3DAEE9"/>
                </a:solidFill>
                <a:latin typeface="Courier"/>
              </a:rPr>
              <a:t>~</a:t>
            </a:r>
            <a:r>
              <a:rPr sz="2000">
                <a:solidFill>
                  <a:srgbClr val="CFCFC2"/>
                </a:solidFill>
                <a:latin typeface="Courier"/>
              </a:rPr>
              <a:t> 阶段, </a:t>
            </a:r>
            <a:r>
              <a:rPr sz="2000">
                <a:solidFill>
                  <a:srgbClr val="2980B9"/>
                </a:solidFill>
                <a:latin typeface="Courier"/>
              </a:rPr>
              <a:t>ncol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67400"/>
                </a:solidFill>
                <a:latin typeface="Courier"/>
              </a:rPr>
              <a:t>2</a:t>
            </a:r>
            <a:r>
              <a:rPr sz="2000">
                <a:solidFill>
                  <a:srgbClr val="CFCFC2"/>
                </a:solidFill>
                <a:latin typeface="Courier"/>
              </a:rPr>
              <a:t>)      </a:t>
            </a:r>
            <a:r>
              <a:rPr sz="2000">
                <a:solidFill>
                  <a:srgbClr val="7A7C7D"/>
                </a:solidFill>
                <a:latin typeface="Courier"/>
              </a:rPr>
              <a:t># 按阶段拆成两张小图</a:t>
            </a:r>
          </a:p>
          <a:p>
            <a:pPr lvl="0" indent="0" marL="0">
              <a:buNone/>
            </a:pPr>
            <a:r>
              <a:rPr/>
              <a:t>分面能成立的三个条件：</a:t>
            </a:r>
          </a:p>
          <a:p>
            <a:pPr lvl="0"/>
            <a:r>
              <a:rPr b="1"/>
              <a:t>纵轴尺度</a:t>
            </a:r>
            <a:r>
              <a:rPr/>
              <a:t>必须一致（</a:t>
            </a:r>
            <a:r>
              <a:rPr>
                <a:latin typeface="Courier"/>
              </a:rPr>
              <a:t>scales = "fixed"</a:t>
            </a:r>
            <a:r>
              <a:rPr/>
              <a:t>，默认值）</a:t>
            </a:r>
          </a:p>
          <a:p>
            <a:pPr lvl="0"/>
            <a:r>
              <a:rPr b="1"/>
              <a:t>月份顺序</a:t>
            </a:r>
            <a:r>
              <a:rPr/>
              <a:t>两个阶段都用 4 月 → 次年 3 月</a:t>
            </a:r>
          </a:p>
          <a:p>
            <a:pPr lvl="0"/>
            <a:r>
              <a:rPr b="1"/>
              <a:t>颜色含义</a:t>
            </a:r>
            <a:r>
              <a:rPr/>
              <a:t>两个面板都用 </a:t>
            </a:r>
            <a:r>
              <a:rPr>
                <a:latin typeface="Courier"/>
              </a:rPr>
              <a:t>cause_colors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分面 = 同样的图形结构 + 同样的尺度 + 不同的分组。少了任何一条，比较就不成立。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极坐标与面积编码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玫瑰图 = 柱形图 + </a:t>
            </a:r>
            <a:r>
              <a:rPr b="1"/>
              <a:t>极坐标</a:t>
            </a:r>
            <a:r>
              <a:rPr/>
              <a:t> + </a:t>
            </a:r>
            <a:r>
              <a:rPr b="1"/>
              <a:t>平方根尺度</a:t>
            </a:r>
            <a:r>
              <a:rPr/>
              <a:t>。</a:t>
            </a:r>
          </a:p>
          <a:p>
            <a:pPr lvl="0" indent="0" marL="0">
              <a:buNone/>
            </a:pPr>
            <a:r>
              <a:rPr/>
              <a:t>等角扇形的面积满足 </a:t>
            </a:r>
            <a:r>
              <a:rPr b="1"/>
              <a:t>A = ½·θ·r²</a:t>
            </a:r>
            <a:r>
              <a:rPr/>
              <a:t>。要让</a:t>
            </a:r>
            <a:r>
              <a:rPr b="1"/>
              <a:t>面积</a:t>
            </a:r>
            <a:r>
              <a:rPr/>
              <a:t>与死亡率成正比，半径必须按死亡率的</a:t>
            </a:r>
            <a:r>
              <a:rPr b="1"/>
              <a:t>平方根</a:t>
            </a:r>
            <a:r>
              <a:rPr/>
              <a:t>缩放：</a:t>
            </a:r>
          </a:p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CFCFC2"/>
                </a:solidFill>
                <a:latin typeface="Courier"/>
              </a:rPr>
              <a:t>p4_rose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p4_base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scale_y_sqrt</a:t>
            </a:r>
            <a:r>
              <a:rPr sz="2000">
                <a:solidFill>
                  <a:srgbClr val="CFCFC2"/>
                </a:solidFill>
                <a:latin typeface="Courier"/>
              </a:rPr>
              <a:t>()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r>
              <a:rPr sz="2000">
                <a:solidFill>
                  <a:srgbClr val="CFCFC2"/>
                </a:solidFill>
                <a:latin typeface="Courier"/>
              </a:rPr>
              <a:t>     </a:t>
            </a:r>
            <a:r>
              <a:rPr sz="2000">
                <a:solidFill>
                  <a:srgbClr val="7A7C7D"/>
                </a:solidFill>
                <a:latin typeface="Courier"/>
              </a:rPr>
              <a:t># 半径 = √数值，使面积对应数值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coord_polar</a:t>
            </a:r>
            <a:r>
              <a:rPr sz="2000">
                <a:solidFill>
                  <a:srgbClr val="CFCFC2"/>
                </a:solidFill>
                <a:latin typeface="Courier"/>
              </a:rPr>
              <a:t>()        </a:t>
            </a:r>
            <a:r>
              <a:rPr sz="2000">
                <a:solidFill>
                  <a:srgbClr val="7A7C7D"/>
                </a:solidFill>
                <a:latin typeface="Courier"/>
              </a:rPr>
              <a:t># 直角坐标 → 极坐标</a:t>
            </a:r>
          </a:p>
          <a:p>
            <a:pPr lvl="0" indent="0" marL="0">
              <a:buNone/>
            </a:pPr>
            <a:r>
              <a:rPr/>
              <a:t>又因为三类死因是</a:t>
            </a:r>
            <a:r>
              <a:rPr b="1"/>
              <a:t>叠加</a:t>
            </a:r>
            <a:r>
              <a:rPr/>
              <a:t>画的，第 k 类死因所占扇环的面积为</a:t>
            </a:r>
          </a:p>
          <a:p>
            <a:pPr lvl="0" indent="0" marL="0">
              <a:buNone/>
            </a:pPr>
            <a:r>
              <a:rPr b="1"/>
              <a:t>A(k) = ½·θ·( r(k)² − r(k−1)² ) = ½·θ·d(k)</a:t>
            </a:r>
            <a:r>
              <a:rPr/>
              <a:t>　（θ = 每月所占角度，d(k) = 第 k 类死因当月死亡率）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极坐标：三个问题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先想一想：</a:t>
            </a:r>
          </a:p>
          <a:p>
            <a:pPr lvl="0"/>
            <a:r>
              <a:rPr/>
              <a:t>柱形图用什么表达数值？玫瑰图用什么表达数值？</a:t>
            </a:r>
          </a:p>
          <a:p>
            <a:pPr lvl="0"/>
            <a:r>
              <a:rPr/>
              <a:t>如果把半径的倍数直接当成死亡率的倍数，会犯什么错？</a:t>
            </a:r>
          </a:p>
          <a:p>
            <a:pPr lvl="0"/>
            <a:r>
              <a:rPr/>
              <a:t>既然面积编码这么绕，为什么南丁格尔还要用它？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参考数据（1855 年 1 月）：可预防疾病 1022.8、战伤 30.7、其他原因 120.0</a:t>
            </a:r>
          </a:p>
          <a:p>
            <a:pPr lvl="0" indent="0" marL="0">
              <a:buNone/>
            </a:pPr>
            <a:r>
              <a:rPr b="1"/>
              <a:t>结论：每一类死因扇环的面积，恰好与它自己的死亡率成正比。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三个容易混淆的概念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变量映射</a:t>
            </a:r>
            <a:r>
              <a:rPr/>
              <a:t>：颜色 / 位置由</a:t>
            </a:r>
            <a:r>
              <a:rPr b="1"/>
              <a:t>数据变量</a:t>
            </a:r>
            <a:r>
              <a:rPr/>
              <a:t>决定 → </a:t>
            </a:r>
            <a:r>
              <a:rPr>
                <a:latin typeface="Courier"/>
              </a:rPr>
              <a:t>aes(fill = 死亡原因)</a:t>
            </a:r>
          </a:p>
          <a:p>
            <a:pPr lvl="0"/>
            <a:r>
              <a:rPr b="1"/>
              <a:t>属性设定</a:t>
            </a:r>
            <a:r>
              <a:rPr/>
              <a:t>：颜色 / 大小由</a:t>
            </a:r>
            <a:r>
              <a:rPr b="1"/>
              <a:t>你指定</a:t>
            </a:r>
            <a:r>
              <a:rPr/>
              <a:t>，与数据无关 → </a:t>
            </a:r>
            <a:r>
              <a:rPr>
                <a:latin typeface="Courier"/>
              </a:rPr>
              <a:t>geom_col(fill = "steelblue")</a:t>
            </a:r>
          </a:p>
          <a:p>
            <a:pPr lvl="0"/>
            <a:r>
              <a:rPr b="1"/>
              <a:t>指标</a:t>
            </a:r>
            <a:r>
              <a:rPr/>
              <a:t>：用什么数字回答问题 → 累计死亡人数（负担）／年化死亡率（风险）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三者中只有</a:t>
            </a:r>
            <a:r>
              <a:rPr sz="2800" b="1">
                <a:solidFill>
                  <a:srgbClr val="FFD166"/>
                </a:solidFill>
              </a:rPr>
              <a:t>变量映射</a:t>
            </a:r>
            <a:r>
              <a:rPr sz="2800">
                <a:solidFill>
                  <a:srgbClr val="FFD166"/>
                </a:solidFill>
              </a:rPr>
              <a:t>会自动生成图例。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代码解释关卡（两人一组）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data</a:t>
            </a:r>
            <a:r>
              <a:rPr/>
              <a:t> 指定了什么？</a:t>
            </a:r>
            <a:r>
              <a:rPr>
                <a:latin typeface="Courier"/>
              </a:rPr>
              <a:t>aes()</a:t>
            </a:r>
            <a:r>
              <a:rPr/>
              <a:t> 建立了哪些映射？</a:t>
            </a:r>
          </a:p>
          <a:p>
            <a:pPr lvl="0"/>
            <a:r>
              <a:rPr>
                <a:latin typeface="Courier"/>
              </a:rPr>
              <a:t>geom_col()</a:t>
            </a:r>
            <a:r>
              <a:rPr/>
              <a:t> 为什么适合本任务？</a:t>
            </a:r>
          </a:p>
          <a:p>
            <a:pPr lvl="0"/>
            <a:r>
              <a:rPr/>
              <a:t>如果把 </a:t>
            </a:r>
            <a:r>
              <a:rPr>
                <a:latin typeface="Courier"/>
              </a:rPr>
              <a:t>fill = 死亡原因</a:t>
            </a:r>
            <a:r>
              <a:rPr/>
              <a:t> 移到 </a:t>
            </a:r>
            <a:r>
              <a:rPr>
                <a:latin typeface="Courier"/>
              </a:rPr>
              <a:t>aes()</a:t>
            </a:r>
            <a:r>
              <a:rPr/>
              <a:t> 外，会发生什么？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通过标准：不看讲义，用自己的语言说明每一行代码。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2761488"/>
            <a:ext cx="10058400" cy="13258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项目任务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第一课时：任务 1、任务 2、巩固提升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任务 1</a:t>
            </a:r>
            <a:r>
              <a:rPr/>
              <a:t>　认识数据、选指标：哪一类死亡原因造成的死亡</a:t>
            </a:r>
            <a:r>
              <a:rPr b="1"/>
              <a:t>负担</a:t>
            </a:r>
            <a:r>
              <a:rPr/>
              <a:t>最重？→ 累计死亡人数对比图</a:t>
            </a:r>
          </a:p>
          <a:p>
            <a:pPr lvl="0"/>
            <a:r>
              <a:rPr b="1"/>
              <a:t>任务 2</a:t>
            </a:r>
            <a:r>
              <a:rPr/>
              <a:t>　换月度视角：高死亡水平是否</a:t>
            </a:r>
            <a:r>
              <a:rPr b="1"/>
              <a:t>集中在个别月份</a:t>
            </a:r>
            <a:r>
              <a:rPr/>
              <a:t>？→ 月度堆叠柱形图</a:t>
            </a:r>
          </a:p>
          <a:p>
            <a:pPr lvl="0"/>
            <a:r>
              <a:rPr b="1"/>
              <a:t>巩固提升</a:t>
            </a:r>
            <a:r>
              <a:rPr/>
              <a:t>　三星分层：三类死因的月度变化是否一致？怎样改进表达？</a:t>
            </a:r>
          </a:p>
          <a:p>
            <a:pPr lvl="0" indent="0" marL="0">
              <a:buNone/>
            </a:pPr>
            <a:r>
              <a:rPr/>
              <a:t>第一课时的重点：完成”</a:t>
            </a:r>
            <a:r>
              <a:rPr b="1"/>
              <a:t>分类比较</a:t>
            </a:r>
            <a:r>
              <a:rPr/>
              <a:t>”与”</a:t>
            </a:r>
            <a:r>
              <a:rPr b="1"/>
              <a:t>月份变化</a:t>
            </a:r>
            <a:r>
              <a:rPr/>
              <a:t>”两个层次的证据构建。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1：哪类死因的负担最重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先想一想</a:t>
            </a:r>
          </a:p>
          <a:p>
            <a:pPr lvl="0" indent="0" marL="0">
              <a:buNone/>
            </a:pPr>
            <a:r>
              <a:rPr b="1"/>
              <a:t>卫生改革前这 12 个月里，三类死因各自累计死亡多少人，谁的死亡负担最重？</a:t>
            </a:r>
          </a:p>
          <a:p>
            <a:pPr lvl="0"/>
            <a:r>
              <a:rPr/>
              <a:t>我要比较的是：__________</a:t>
            </a:r>
          </a:p>
          <a:p>
            <a:pPr lvl="0"/>
            <a:r>
              <a:rPr/>
              <a:t>我要比较的变量是：__________</a:t>
            </a:r>
          </a:p>
          <a:p>
            <a:pPr lvl="0"/>
            <a:r>
              <a:rPr/>
              <a:t>我的预测：负担最重的是 __________，理由是 __________</a:t>
            </a:r>
          </a:p>
          <a:p>
            <a:pPr lvl="0" indent="0" marL="0">
              <a:buNone/>
            </a:pPr>
            <a:r>
              <a:rPr/>
              <a:t>决策问题：比较对象（三类死因）· 比较指标（</a:t>
            </a:r>
            <a:r>
              <a:rPr b="1"/>
              <a:t>累计死亡人数</a:t>
            </a:r>
            <a:r>
              <a:rPr/>
              <a:t>）· 使用数据（</a:t>
            </a:r>
            <a:r>
              <a:rPr>
                <a:latin typeface="Courier"/>
              </a:rPr>
              <a:t>before</a:t>
            </a:r>
            <a:r>
              <a:rPr/>
              <a:t>）· 图形受众（没有统计基础的政府官员）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1：变量如何进入图形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把每个数据变量放到它应该去的视觉通道上。</a:t>
            </a:r>
          </a:p>
          <a:p>
            <a:pPr lvl="0"/>
            <a:r>
              <a:rPr b="1"/>
              <a:t>死亡原因</a:t>
            </a:r>
            <a:r>
              <a:rPr/>
              <a:t> → 横轴位置 → </a:t>
            </a:r>
            <a:r>
              <a:rPr>
                <a:latin typeface="Courier"/>
              </a:rPr>
              <a:t>x = ______</a:t>
            </a:r>
          </a:p>
          <a:p>
            <a:pPr lvl="0"/>
            <a:r>
              <a:rPr b="1"/>
              <a:t>累计死亡人数</a:t>
            </a:r>
            <a:r>
              <a:rPr/>
              <a:t> → 柱形高度 → </a:t>
            </a:r>
            <a:r>
              <a:rPr>
                <a:latin typeface="Courier"/>
              </a:rPr>
              <a:t>y = ______</a:t>
            </a:r>
          </a:p>
          <a:p>
            <a:pPr lvl="0"/>
            <a:r>
              <a:rPr b="1"/>
              <a:t>死亡原因</a:t>
            </a:r>
            <a:r>
              <a:rPr/>
              <a:t> → 填充颜色 → </a:t>
            </a:r>
            <a:r>
              <a:rPr>
                <a:latin typeface="Courier"/>
              </a:rPr>
              <a:t>fill = ______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选 </a:t>
            </a:r>
            <a:r>
              <a:rPr sz="2800">
                <a:solidFill>
                  <a:srgbClr val="FFD166"/>
                </a:solidFill>
                <a:latin typeface="Courier"/>
              </a:rPr>
              <a:t>geom_col()</a:t>
            </a:r>
            <a:r>
              <a:rPr sz="2800">
                <a:solidFill>
                  <a:srgbClr val="FFD166"/>
                </a:solidFill>
              </a:rPr>
              <a:t> 的理由：数据里已经有 </a:t>
            </a:r>
            <a:r>
              <a:rPr sz="2800">
                <a:solidFill>
                  <a:srgbClr val="FFD166"/>
                </a:solidFill>
                <a:latin typeface="Courier"/>
              </a:rPr>
              <a:t>累计死亡人数</a:t>
            </a:r>
            <a:r>
              <a:rPr sz="2800">
                <a:solidFill>
                  <a:srgbClr val="FFD166"/>
                </a:solidFill>
              </a:rPr>
              <a:t>，柱形高度</a:t>
            </a:r>
            <a:r>
              <a:rPr sz="2800" b="1">
                <a:solidFill>
                  <a:srgbClr val="FFD166"/>
                </a:solidFill>
              </a:rPr>
              <a:t>直接使用</a:t>
            </a:r>
            <a:r>
              <a:rPr sz="2800">
                <a:solidFill>
                  <a:srgbClr val="FFD166"/>
                </a:solidFill>
              </a:rPr>
              <a:t>该数值。</a:t>
            </a:r>
          </a:p>
          <a:p>
            <a:pPr lvl="0" indent="0" marL="0">
              <a:buNone/>
            </a:pPr>
            <a:r>
              <a:rPr/>
              <a:t>同一个变量可以同时映射到多个通道：颜色并不提供额外信息，只是让三类死因更容易区分，所以本图可以隐藏图例。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1：图形建构（一）先汇总数据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CFCFC2"/>
                </a:solidFill>
                <a:latin typeface="Courier"/>
              </a:rPr>
              <a:t>cause_summary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before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group_by</a:t>
            </a:r>
            <a:r>
              <a:rPr sz="2000">
                <a:solidFill>
                  <a:srgbClr val="CFCFC2"/>
                </a:solidFill>
                <a:latin typeface="Courier"/>
              </a:rPr>
              <a:t>(死亡原因)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summarise</a:t>
            </a:r>
            <a:r>
              <a:rPr sz="2000">
                <a:solidFill>
                  <a:srgbClr val="CFCFC2"/>
                </a:solidFill>
                <a:latin typeface="Courier"/>
              </a:rPr>
              <a:t>(累计死亡人数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sum</a:t>
            </a:r>
            <a:r>
              <a:rPr sz="2000">
                <a:solidFill>
                  <a:srgbClr val="CFCFC2"/>
                </a:solidFill>
                <a:latin typeface="Courier"/>
              </a:rPr>
              <a:t>(死亡人数),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     平均死亡率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mean</a:t>
            </a:r>
            <a:r>
              <a:rPr sz="2000">
                <a:solidFill>
                  <a:srgbClr val="CFCFC2"/>
                </a:solidFill>
                <a:latin typeface="Courier"/>
              </a:rPr>
              <a:t>(死亡率), </a:t>
            </a:r>
            <a:r>
              <a:rPr sz="2000">
                <a:solidFill>
                  <a:srgbClr val="2980B9"/>
                </a:solidFill>
                <a:latin typeface="Courier"/>
              </a:rPr>
              <a:t>.groups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"drop"</a:t>
            </a:r>
            <a:r>
              <a:rPr sz="2000">
                <a:solidFill>
                  <a:srgbClr val="CFCFC2"/>
                </a:solidFill>
                <a:latin typeface="Courier"/>
              </a:rPr>
              <a:t>)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mutate</a:t>
            </a:r>
            <a:r>
              <a:rPr sz="2000">
                <a:solidFill>
                  <a:srgbClr val="CFCFC2"/>
                </a:solidFill>
                <a:latin typeface="Courier"/>
              </a:rPr>
              <a:t>(占比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67400"/>
                </a:solidFill>
                <a:latin typeface="Courier"/>
              </a:rPr>
              <a:t>100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3DAEE9"/>
                </a:solidFill>
                <a:latin typeface="Courier"/>
              </a:rPr>
              <a:t>*</a:t>
            </a:r>
            <a:r>
              <a:rPr sz="2000">
                <a:solidFill>
                  <a:srgbClr val="CFCFC2"/>
                </a:solidFill>
                <a:latin typeface="Courier"/>
              </a:rPr>
              <a:t> 累计死亡人数 </a:t>
            </a:r>
            <a:r>
              <a:rPr sz="2000">
                <a:solidFill>
                  <a:srgbClr val="3DAEE9"/>
                </a:solidFill>
                <a:latin typeface="Courier"/>
              </a:rPr>
              <a:t>/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sum</a:t>
            </a:r>
            <a:r>
              <a:rPr sz="2000">
                <a:solidFill>
                  <a:srgbClr val="CFCFC2"/>
                </a:solidFill>
                <a:latin typeface="Courier"/>
              </a:rPr>
              <a:t>(累计死亡人数))</a:t>
            </a:r>
            <a:br/>
            <a:br/>
            <a:r>
              <a:rPr sz="2000">
                <a:solidFill>
                  <a:srgbClr val="CFCFC2"/>
                </a:solidFill>
                <a:latin typeface="Courier"/>
              </a:rPr>
              <a:t>cause_summary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1：图形建构（二）再补全画图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CFCFC2"/>
                </a:solidFill>
                <a:latin typeface="Courier"/>
              </a:rPr>
              <a:t>p1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ggplot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2980B9"/>
                </a:solidFill>
                <a:latin typeface="Courier"/>
              </a:rPr>
              <a:t>data =</a:t>
            </a:r>
            <a:r>
              <a:rPr sz="2000">
                <a:solidFill>
                  <a:srgbClr val="CFCFC2"/>
                </a:solidFill>
                <a:latin typeface="Courier"/>
              </a:rPr>
              <a:t> cause_summary,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aes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x =</a:t>
            </a:r>
            <a:r>
              <a:rPr sz="2000">
                <a:solidFill>
                  <a:srgbClr val="CFCFC2"/>
                </a:solidFill>
                <a:latin typeface="Courier"/>
              </a:rPr>
              <a:t> ____,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____, </a:t>
            </a:r>
            <a:r>
              <a:rPr sz="2000">
                <a:solidFill>
                  <a:srgbClr val="2980B9"/>
                </a:solidFill>
                <a:latin typeface="Courier"/>
              </a:rPr>
              <a:t>fill =</a:t>
            </a:r>
            <a:r>
              <a:rPr sz="2000">
                <a:solidFill>
                  <a:srgbClr val="CFCFC2"/>
                </a:solidFill>
                <a:latin typeface="Courier"/>
              </a:rPr>
              <a:t> ____)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geom_col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width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67400"/>
                </a:solidFill>
                <a:latin typeface="Courier"/>
              </a:rPr>
              <a:t>0.7</a:t>
            </a:r>
            <a:r>
              <a:rPr sz="2000">
                <a:solidFill>
                  <a:srgbClr val="CFCFC2"/>
                </a:solidFill>
                <a:latin typeface="Courier"/>
              </a:rPr>
              <a:t>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scale_fill_manual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values =</a:t>
            </a:r>
            <a:r>
              <a:rPr sz="2000">
                <a:solidFill>
                  <a:srgbClr val="CFCFC2"/>
                </a:solidFill>
                <a:latin typeface="Courier"/>
              </a:rPr>
              <a:t> cause_colors)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labs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</a:t>
            </a:r>
            <a:r>
              <a:rPr sz="2000">
                <a:solidFill>
                  <a:srgbClr val="2980B9"/>
                </a:solidFill>
                <a:latin typeface="Courier"/>
              </a:rPr>
              <a:t>title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"____________________________________"</a:t>
            </a:r>
            <a:r>
              <a:rPr sz="2000">
                <a:solidFill>
                  <a:srgbClr val="CFCFC2"/>
                </a:solidFill>
                <a:latin typeface="Courier"/>
              </a:rPr>
              <a:t>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</a:t>
            </a:r>
            <a:r>
              <a:rPr sz="2000">
                <a:solidFill>
                  <a:srgbClr val="2980B9"/>
                </a:solidFill>
                <a:latin typeface="Courier"/>
              </a:rPr>
              <a:t>subtitle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"1854 年 4 月—1855 年 3 月，共 12 个月"</a:t>
            </a:r>
            <a:r>
              <a:rPr sz="2000">
                <a:solidFill>
                  <a:srgbClr val="CFCFC2"/>
                </a:solidFill>
                <a:latin typeface="Courier"/>
              </a:rPr>
              <a:t>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</a:t>
            </a:r>
            <a:r>
              <a:rPr sz="2000">
                <a:solidFill>
                  <a:srgbClr val="2980B9"/>
                </a:solidFill>
                <a:latin typeface="Courier"/>
              </a:rPr>
              <a:t>x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b="1" sz="2000">
                <a:solidFill>
                  <a:srgbClr val="27AEAE"/>
                </a:solidFill>
                <a:latin typeface="Courier"/>
              </a:rPr>
              <a:t>NULL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"____________________"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2980B9"/>
                </a:solidFill>
                <a:latin typeface="Courier"/>
              </a:rPr>
              <a:t>fill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"死亡原因"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)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p1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1 结果：累计死亡人数对比图</a:t>
            </a:r>
          </a:p>
        </p:txBody>
      </p:sp>
      <p:pic>
        <p:nvPicPr>
          <p:cNvPr descr="ppt7_assets/fig_p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" y="1460500"/>
            <a:ext cx="10718800" cy="462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58800" y="6083300"/>
            <a:ext cx="11049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可预防疾病的累计死亡人数远高于战伤与其他原因。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1：图表解读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先想一想：用证据回答问题</a:t>
            </a:r>
          </a:p>
          <a:p>
            <a:pPr lvl="0"/>
            <a:r>
              <a:rPr b="1"/>
              <a:t>结论</a:t>
            </a:r>
            <a:r>
              <a:rPr/>
              <a:t>：死亡负担最重的是 __________</a:t>
            </a:r>
          </a:p>
          <a:p>
            <a:pPr lvl="0"/>
            <a:r>
              <a:rPr b="1"/>
              <a:t>证据</a:t>
            </a:r>
            <a:r>
              <a:rPr/>
              <a:t>：累计死亡 ________ 人，占全部死亡的 ________%</a:t>
            </a:r>
          </a:p>
          <a:p>
            <a:pPr lvl="0"/>
            <a:r>
              <a:rPr b="1"/>
              <a:t>局限</a:t>
            </a:r>
            <a:r>
              <a:rPr/>
              <a:t>：该图只反映 12 个月的合计，不能说明 __________</a:t>
            </a:r>
          </a:p>
          <a:p>
            <a:pPr lvl="0" indent="0" marL="0">
              <a:buNone/>
            </a:pPr>
            <a:r>
              <a:rPr/>
              <a:t>读图时按三个问题依次回答：</a:t>
            </a:r>
          </a:p>
          <a:p>
            <a:pPr lvl="0" indent="-342900" marL="342900">
              <a:buAutoNum type="arabicPeriod"/>
            </a:pPr>
            <a:r>
              <a:rPr/>
              <a:t>谁最高？</a:t>
            </a:r>
          </a:p>
          <a:p>
            <a:pPr lvl="0" indent="-342900" marL="342900">
              <a:buAutoNum type="arabicPeriod"/>
            </a:pPr>
            <a:r>
              <a:rPr/>
              <a:t>高多少？（给出数值与占比）</a:t>
            </a:r>
          </a:p>
          <a:p>
            <a:pPr lvl="0" indent="-342900" marL="342900">
              <a:buAutoNum type="arabicPeriod"/>
            </a:pPr>
            <a:r>
              <a:rPr/>
              <a:t>这张图还不能说明什么？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2：高风险是否集中在个别月份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先想一想</a:t>
            </a:r>
          </a:p>
          <a:p>
            <a:pPr lvl="0" indent="0" marL="0">
              <a:buNone/>
            </a:pPr>
            <a:r>
              <a:rPr b="1"/>
              <a:t>改革前这 12 个月里，哪些月份的死亡水平较高？它们是否相邻？主要由哪类死因贡献？</a:t>
            </a:r>
          </a:p>
          <a:p>
            <a:pPr lvl="0"/>
            <a:r>
              <a:rPr/>
              <a:t>本任务观察的时间单位是 __________，使用的指标是 __________</a:t>
            </a:r>
          </a:p>
          <a:p>
            <a:pPr lvl="0"/>
            <a:r>
              <a:rPr/>
              <a:t>我判断”高值是否集中”的依据是：__________</a:t>
            </a:r>
          </a:p>
          <a:p>
            <a:pPr lvl="0"/>
            <a:r>
              <a:rPr/>
              <a:t>我的预测：最高的月份是 ________，它应该在 ________ 季</a:t>
            </a:r>
          </a:p>
          <a:p>
            <a:pPr lvl="0" indent="0" marL="0">
              <a:buNone/>
            </a:pPr>
            <a:r>
              <a:rPr b="1"/>
              <a:t>关键决策：</a:t>
            </a:r>
            <a:r>
              <a:rPr/>
              <a:t>任务 1 用”人数”看负担，任务 2 必须换成”</a:t>
            </a:r>
            <a:r>
              <a:rPr b="1"/>
              <a:t>年化死亡率</a:t>
            </a:r>
            <a:r>
              <a:rPr/>
              <a:t>”看风险。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2：月份、死亡率与死因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月份先后</a:t>
            </a:r>
            <a:r>
              <a:rPr/>
              <a:t> → 横轴位置 → </a:t>
            </a:r>
            <a:r>
              <a:rPr>
                <a:latin typeface="Courier"/>
              </a:rPr>
              <a:t>x = 月份</a:t>
            </a:r>
          </a:p>
          <a:p>
            <a:pPr lvl="0"/>
            <a:r>
              <a:rPr b="1"/>
              <a:t>某月某类死因的死亡水平</a:t>
            </a:r>
            <a:r>
              <a:rPr/>
              <a:t> → 柱形高度 → </a:t>
            </a:r>
            <a:r>
              <a:rPr>
                <a:latin typeface="Courier"/>
              </a:rPr>
              <a:t>y = 死亡率</a:t>
            </a:r>
          </a:p>
          <a:p>
            <a:pPr lvl="0"/>
            <a:r>
              <a:rPr b="1"/>
              <a:t>不同死因的贡献</a:t>
            </a:r>
            <a:r>
              <a:rPr/>
              <a:t> → 填充颜色 → </a:t>
            </a:r>
            <a:r>
              <a:rPr>
                <a:latin typeface="Courier"/>
              </a:rPr>
              <a:t>fill = 死亡原因</a:t>
            </a:r>
          </a:p>
          <a:p>
            <a:pPr lvl="0" indent="0" marL="0">
              <a:buNone/>
            </a:pPr>
            <a:r>
              <a:rPr/>
              <a:t>使用</a:t>
            </a:r>
            <a:r>
              <a:rPr b="1"/>
              <a:t>堆叠柱形图</a:t>
            </a:r>
            <a:r>
              <a:rPr/>
              <a:t>（</a:t>
            </a:r>
            <a:r>
              <a:rPr>
                <a:latin typeface="Courier"/>
              </a:rPr>
              <a:t>geom_col()</a:t>
            </a:r>
            <a:r>
              <a:rPr/>
              <a:t> 的默认位置）：</a:t>
            </a:r>
          </a:p>
          <a:p>
            <a:pPr lvl="0"/>
            <a:r>
              <a:rPr/>
              <a:t>柱子的总高度 = 当月三类死因合计的年化死亡率</a:t>
            </a:r>
          </a:p>
          <a:p>
            <a:pPr lvl="0"/>
            <a:r>
              <a:rPr/>
              <a:t>每种颜色 = 一类死因的贡献</a:t>
            </a:r>
          </a:p>
          <a:p>
            <a:pPr lvl="0"/>
            <a:r>
              <a:rPr/>
              <a:t>读图顺序：</a:t>
            </a:r>
            <a:r>
              <a:rPr b="1"/>
              <a:t>先看总高度，再看颜色构成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同一个月里，三类死因共享</a:t>
            </a:r>
            <a:r>
              <a:rPr sz="2800" b="1">
                <a:solidFill>
                  <a:srgbClr val="FFD166"/>
                </a:solidFill>
              </a:rPr>
              <a:t>同一个军队人数</a:t>
            </a:r>
            <a:r>
              <a:rPr sz="2800">
                <a:solidFill>
                  <a:srgbClr val="FFD166"/>
                </a:solidFill>
              </a:rPr>
              <a:t>作分母，所以它们的年化死亡率可以叠加。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2：图形建构（一）画出堆叠柱形图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CFCFC2"/>
                </a:solidFill>
                <a:latin typeface="Courier"/>
              </a:rPr>
              <a:t>p2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ggplot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2980B9"/>
                </a:solidFill>
                <a:latin typeface="Courier"/>
              </a:rPr>
              <a:t>data =</a:t>
            </a:r>
            <a:r>
              <a:rPr sz="2000">
                <a:solidFill>
                  <a:srgbClr val="CFCFC2"/>
                </a:solidFill>
                <a:latin typeface="Courier"/>
              </a:rPr>
              <a:t> ____,                       </a:t>
            </a:r>
            <a:r>
              <a:rPr sz="2000">
                <a:solidFill>
                  <a:srgbClr val="7A7C7D"/>
                </a:solidFill>
                <a:latin typeface="Courier"/>
              </a:rPr>
              <a:t># 提示：使用改革前的数据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aes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x =</a:t>
            </a:r>
            <a:r>
              <a:rPr sz="2000">
                <a:solidFill>
                  <a:srgbClr val="CFCFC2"/>
                </a:solidFill>
                <a:latin typeface="Courier"/>
              </a:rPr>
              <a:t> ____,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____, </a:t>
            </a:r>
            <a:r>
              <a:rPr sz="2000">
                <a:solidFill>
                  <a:srgbClr val="2980B9"/>
                </a:solidFill>
                <a:latin typeface="Courier"/>
              </a:rPr>
              <a:t>fill =</a:t>
            </a:r>
            <a:r>
              <a:rPr sz="2000">
                <a:solidFill>
                  <a:srgbClr val="CFCFC2"/>
                </a:solidFill>
                <a:latin typeface="Courier"/>
              </a:rPr>
              <a:t> ____)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geom_col</a:t>
            </a:r>
            <a:r>
              <a:rPr sz="2000">
                <a:solidFill>
                  <a:srgbClr val="CFCFC2"/>
                </a:solidFill>
                <a:latin typeface="Courier"/>
              </a:rPr>
              <a:t>()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scale_fill_manual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values =</a:t>
            </a:r>
            <a:r>
              <a:rPr sz="2000">
                <a:solidFill>
                  <a:srgbClr val="CFCFC2"/>
                </a:solidFill>
                <a:latin typeface="Courier"/>
              </a:rPr>
              <a:t> cause_colors)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labs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</a:t>
            </a:r>
            <a:r>
              <a:rPr sz="2000">
                <a:solidFill>
                  <a:srgbClr val="2980B9"/>
                </a:solidFill>
                <a:latin typeface="Courier"/>
              </a:rPr>
              <a:t>title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"____________________________"</a:t>
            </a:r>
            <a:r>
              <a:rPr sz="2000">
                <a:solidFill>
                  <a:srgbClr val="CFCFC2"/>
                </a:solidFill>
                <a:latin typeface="Courier"/>
              </a:rPr>
              <a:t>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</a:t>
            </a:r>
            <a:r>
              <a:rPr sz="2000">
                <a:solidFill>
                  <a:srgbClr val="2980B9"/>
                </a:solidFill>
                <a:latin typeface="Courier"/>
              </a:rPr>
              <a:t>subtitle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"改革前：1854 年 4 月—1855 年 3 月"</a:t>
            </a:r>
            <a:r>
              <a:rPr sz="2000">
                <a:solidFill>
                  <a:srgbClr val="CFCFC2"/>
                </a:solidFill>
                <a:latin typeface="Courier"/>
              </a:rPr>
              <a:t>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</a:t>
            </a:r>
            <a:r>
              <a:rPr sz="2000">
                <a:solidFill>
                  <a:srgbClr val="2980B9"/>
                </a:solidFill>
                <a:latin typeface="Courier"/>
              </a:rPr>
              <a:t>x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b="1" sz="2000">
                <a:solidFill>
                  <a:srgbClr val="27AEAE"/>
                </a:solidFill>
                <a:latin typeface="Courier"/>
              </a:rPr>
              <a:t>NULL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"____________________"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2980B9"/>
                </a:solidFill>
                <a:latin typeface="Courier"/>
              </a:rPr>
              <a:t>fill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"死亡原因"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)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p2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2：图形建构（二）找出最高的 3 个月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CFCFC2"/>
                </a:solidFill>
                <a:latin typeface="Courier"/>
              </a:rPr>
              <a:t>n_high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before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group_by</a:t>
            </a:r>
            <a:r>
              <a:rPr sz="2000">
                <a:solidFill>
                  <a:srgbClr val="CFCFC2"/>
                </a:solidFill>
                <a:latin typeface="Courier"/>
              </a:rPr>
              <a:t>(日期, 月份)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summarise</a:t>
            </a:r>
            <a:r>
              <a:rPr sz="2000">
                <a:solidFill>
                  <a:srgbClr val="CFCFC2"/>
                </a:solidFill>
                <a:latin typeface="Courier"/>
              </a:rPr>
              <a:t>(月合计死亡率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sum</a:t>
            </a:r>
            <a:r>
              <a:rPr sz="2000">
                <a:solidFill>
                  <a:srgbClr val="CFCFC2"/>
                </a:solidFill>
                <a:latin typeface="Courier"/>
              </a:rPr>
              <a:t>(死亡率), </a:t>
            </a:r>
            <a:r>
              <a:rPr sz="2000">
                <a:solidFill>
                  <a:srgbClr val="2980B9"/>
                </a:solidFill>
                <a:latin typeface="Courier"/>
              </a:rPr>
              <a:t>.groups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"drop"</a:t>
            </a:r>
            <a:r>
              <a:rPr sz="2000">
                <a:solidFill>
                  <a:srgbClr val="CFCFC2"/>
                </a:solidFill>
                <a:latin typeface="Courier"/>
              </a:rPr>
              <a:t>)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slice_max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order_by =</a:t>
            </a:r>
            <a:r>
              <a:rPr sz="2000">
                <a:solidFill>
                  <a:srgbClr val="CFCFC2"/>
                </a:solidFill>
                <a:latin typeface="Courier"/>
              </a:rPr>
              <a:t> ____, </a:t>
            </a:r>
            <a:r>
              <a:rPr sz="2000">
                <a:solidFill>
                  <a:srgbClr val="2980B9"/>
                </a:solidFill>
                <a:latin typeface="Courier"/>
              </a:rPr>
              <a:t>n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67400"/>
                </a:solidFill>
                <a:latin typeface="Courier"/>
              </a:rPr>
              <a:t>3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2980B9"/>
                </a:solidFill>
                <a:latin typeface="Courier"/>
              </a:rPr>
              <a:t>with_ties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b="1" sz="2000">
                <a:solidFill>
                  <a:srgbClr val="27AEAE"/>
                </a:solidFill>
                <a:latin typeface="Courier"/>
              </a:rPr>
              <a:t>FALSE</a:t>
            </a:r>
            <a:r>
              <a:rPr sz="2000">
                <a:solidFill>
                  <a:srgbClr val="CFCFC2"/>
                </a:solidFill>
                <a:latin typeface="Courier"/>
              </a:rPr>
              <a:t>)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arrange</a:t>
            </a:r>
            <a:r>
              <a:rPr sz="2000">
                <a:solidFill>
                  <a:srgbClr val="CFCFC2"/>
                </a:solidFill>
                <a:latin typeface="Courier"/>
              </a:rPr>
              <a:t>(日期)</a:t>
            </a:r>
            <a:br/>
            <a:br/>
            <a:r>
              <a:rPr sz="2000">
                <a:solidFill>
                  <a:srgbClr val="CFCFC2"/>
                </a:solidFill>
                <a:latin typeface="Courier"/>
              </a:rPr>
              <a:t>n_high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2 结果：月度堆叠柱形图</a:t>
            </a:r>
          </a:p>
        </p:txBody>
      </p:sp>
      <p:pic>
        <p:nvPicPr>
          <p:cNvPr descr="ppt7_assets/fig_p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" y="1460500"/>
            <a:ext cx="10718800" cy="462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58800" y="6083300"/>
            <a:ext cx="11049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柱高 = 当月合计年化死亡率；颜色 = 各类死因的贡献。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2：最高的 3 个月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第 1 高：</a:t>
            </a:r>
            <a:r>
              <a:rPr b="1"/>
              <a:t>1855 年 1 月</a:t>
            </a:r>
            <a:r>
              <a:rPr/>
              <a:t>，月合计年化死亡率 </a:t>
            </a:r>
            <a:r>
              <a:rPr b="1"/>
              <a:t>1173.5</a:t>
            </a:r>
          </a:p>
          <a:p>
            <a:pPr lvl="0"/>
            <a:r>
              <a:rPr/>
              <a:t>第 2 高：</a:t>
            </a:r>
            <a:r>
              <a:rPr b="1"/>
              <a:t>1855 年 2 月</a:t>
            </a:r>
            <a:r>
              <a:rPr/>
              <a:t>，月合计年化死亡率 </a:t>
            </a:r>
            <a:r>
              <a:rPr b="1"/>
              <a:t>979.2</a:t>
            </a:r>
          </a:p>
          <a:p>
            <a:pPr lvl="0"/>
            <a:r>
              <a:rPr/>
              <a:t>第 3 高：</a:t>
            </a:r>
            <a:r>
              <a:rPr b="1"/>
              <a:t>1854 年 12 月</a:t>
            </a:r>
            <a:r>
              <a:rPr/>
              <a:t>，月合计年化死亡率 </a:t>
            </a:r>
            <a:r>
              <a:rPr b="1"/>
              <a:t>721.2</a:t>
            </a:r>
          </a:p>
          <a:p>
            <a:pPr lvl="0"/>
            <a:r>
              <a:rPr/>
              <a:t>最低：1854 年 6 月，仅 </a:t>
            </a:r>
            <a:r>
              <a:rPr b="1"/>
              <a:t>7.2</a:t>
            </a:r>
            <a:r>
              <a:rPr/>
              <a:t>——与最高月相差约 </a:t>
            </a:r>
            <a:r>
              <a:rPr b="1"/>
              <a:t>1166.3</a:t>
            </a:r>
          </a:p>
          <a:p>
            <a:pPr lvl="0" indent="0" marL="0">
              <a:buNone/>
            </a:pPr>
            <a:r>
              <a:rPr/>
              <a:t>三个高值月份是</a:t>
            </a:r>
            <a:r>
              <a:rPr b="1"/>
              <a:t>连续的冬季月</a:t>
            </a:r>
            <a:r>
              <a:rPr/>
              <a:t>（1854 年 12 月—1855 年 2 月）。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2：图表解读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先想一想：证据接力</a:t>
            </a:r>
            <a:r>
              <a:rPr/>
              <a:t>——每组说一句话，后一组必须引用前一组的证据。</a:t>
            </a:r>
          </a:p>
          <a:p>
            <a:pPr lvl="0" indent="-342900" marL="342900">
              <a:buAutoNum type="arabicPeriod"/>
            </a:pPr>
            <a:r>
              <a:rPr b="1"/>
              <a:t>描述</a:t>
            </a:r>
            <a:r>
              <a:rPr/>
              <a:t>：最高的月份是 ________</a:t>
            </a:r>
          </a:p>
          <a:p>
            <a:pPr lvl="0" indent="-342900" marL="342900">
              <a:buAutoNum type="arabicPeriod"/>
            </a:pPr>
            <a:r>
              <a:rPr b="1"/>
              <a:t>比较</a:t>
            </a:r>
            <a:r>
              <a:rPr/>
              <a:t>：它明显高于 ____________</a:t>
            </a:r>
          </a:p>
          <a:p>
            <a:pPr lvl="0" indent="-342900" marL="342900">
              <a:buAutoNum type="arabicPeriod"/>
            </a:pPr>
            <a:r>
              <a:rPr b="1"/>
              <a:t>构成</a:t>
            </a:r>
            <a:r>
              <a:rPr/>
              <a:t>：高值主要由 ________ 死亡构成</a:t>
            </a:r>
          </a:p>
          <a:p>
            <a:pPr lvl="0" indent="-342900" marL="342900">
              <a:buAutoNum type="arabicPeriod"/>
            </a:pPr>
            <a:r>
              <a:rPr b="1"/>
              <a:t>边界</a:t>
            </a:r>
            <a:r>
              <a:rPr/>
              <a:t>：图中还不能说明 ________________</a:t>
            </a:r>
          </a:p>
          <a:p>
            <a:pPr lvl="0" indent="0" marL="0">
              <a:buNone/>
            </a:pPr>
            <a:r>
              <a:rPr b="1"/>
              <a:t>分层任务：</a:t>
            </a:r>
            <a:r>
              <a:rPr/>
              <a:t>★ 找出最高月份与主因　｜　★★ 比较”人数图”与”死亡率图”　｜　★★★ 说明</a:t>
            </a:r>
            <a:r>
              <a:rPr b="1"/>
              <a:t>不同月份</a:t>
            </a:r>
            <a:r>
              <a:rPr/>
              <a:t>为何可直接比较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巩固提升：三星分层任务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基础任务必做，进阶与挑战任务按自己的学习情况选做。所有图形继续使用</a:t>
            </a:r>
            <a:r>
              <a:rPr b="1"/>
              <a:t>统一配色</a:t>
            </a:r>
            <a:r>
              <a:rPr/>
              <a:t> </a:t>
            </a:r>
            <a:r>
              <a:rPr>
                <a:latin typeface="Courier"/>
              </a:rPr>
              <a:t>cause_colors</a:t>
            </a:r>
            <a:r>
              <a:rPr/>
              <a:t>。</a:t>
            </a:r>
          </a:p>
          <a:p>
            <a:pPr lvl="0"/>
            <a:r>
              <a:rPr/>
              <a:t>★ </a:t>
            </a:r>
            <a:r>
              <a:rPr b="1"/>
              <a:t>基础</a:t>
            </a:r>
            <a:r>
              <a:rPr/>
              <a:t>：三类死因的月度变化是否一致？</a:t>
            </a:r>
            <a:r>
              <a:rPr b="1"/>
              <a:t>分开</a:t>
            </a:r>
            <a:r>
              <a:rPr/>
              <a:t>呈现 → </a:t>
            </a:r>
            <a:r>
              <a:rPr>
                <a:latin typeface="Courier"/>
              </a:rPr>
              <a:t>facet_wrap()</a:t>
            </a:r>
          </a:p>
          <a:p>
            <a:pPr lvl="0"/>
            <a:r>
              <a:rPr/>
              <a:t>★★ </a:t>
            </a:r>
            <a:r>
              <a:rPr b="1"/>
              <a:t>进阶</a:t>
            </a:r>
            <a:r>
              <a:rPr/>
              <a:t>：为上一张图</a:t>
            </a:r>
            <a:r>
              <a:rPr b="1"/>
              <a:t>自选三种填充颜色</a:t>
            </a:r>
            <a:r>
              <a:rPr/>
              <a:t> → </a:t>
            </a:r>
            <a:r>
              <a:rPr>
                <a:latin typeface="Courier"/>
              </a:rPr>
              <a:t>scale_fill_manual()</a:t>
            </a:r>
          </a:p>
          <a:p>
            <a:pPr lvl="0"/>
            <a:r>
              <a:rPr/>
              <a:t>★★★ </a:t>
            </a:r>
            <a:r>
              <a:rPr b="1"/>
              <a:t>挑战</a:t>
            </a:r>
            <a:r>
              <a:rPr/>
              <a:t>：为任务 1 的图加上</a:t>
            </a:r>
            <a:r>
              <a:rPr b="1"/>
              <a:t>数值标签</a:t>
            </a:r>
            <a:r>
              <a:rPr/>
              <a:t> → </a:t>
            </a:r>
            <a:r>
              <a:rPr>
                <a:latin typeface="Courier"/>
              </a:rPr>
              <a:t>geom_text()</a:t>
            </a:r>
            <a:r>
              <a:rPr/>
              <a:t> + </a:t>
            </a:r>
            <a:r>
              <a:rPr>
                <a:latin typeface="Courier"/>
              </a:rPr>
              <a:t>expand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自选颜色请</a:t>
            </a:r>
            <a:r>
              <a:rPr sz="2800" b="1">
                <a:solidFill>
                  <a:srgbClr val="FFD166"/>
                </a:solidFill>
              </a:rPr>
              <a:t>另起变量名</a:t>
            </a:r>
            <a:r>
              <a:rPr sz="2800">
                <a:solidFill>
                  <a:srgbClr val="FFD166"/>
                </a:solidFill>
              </a:rPr>
              <a:t>（如 </a:t>
            </a:r>
            <a:r>
              <a:rPr sz="2800">
                <a:solidFill>
                  <a:srgbClr val="FFD166"/>
                </a:solidFill>
                <a:latin typeface="Courier"/>
              </a:rPr>
              <a:t>my_colors</a:t>
            </a:r>
            <a:r>
              <a:rPr sz="2800">
                <a:solidFill>
                  <a:srgbClr val="FFD166"/>
                </a:solidFill>
              </a:rPr>
              <a:t>），不要覆盖 </a:t>
            </a:r>
            <a:r>
              <a:rPr sz="2800">
                <a:solidFill>
                  <a:srgbClr val="FFD166"/>
                </a:solidFill>
                <a:latin typeface="Courier"/>
              </a:rPr>
              <a:t>cause_colors</a:t>
            </a:r>
            <a:r>
              <a:rPr sz="2800">
                <a:solidFill>
                  <a:srgbClr val="FFD166"/>
                </a:solidFill>
              </a:rPr>
              <a:t>——任务 3、任务 4 还要用它做跨图对照。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巩固提升 ★ 结果：三类死因分开看</a:t>
            </a:r>
          </a:p>
        </p:txBody>
      </p:sp>
      <p:pic>
        <p:nvPicPr>
          <p:cNvPr descr="ppt7_assets/fig_p2_face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" y="1460500"/>
            <a:ext cx="10718800" cy="462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58800" y="6083300"/>
            <a:ext cx="11049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分面之后，可以分别观察三类死因的月度变化节奏。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巩固提升 ★★ 结果：配色只改变外观</a:t>
            </a:r>
          </a:p>
        </p:txBody>
      </p:sp>
      <p:pic>
        <p:nvPicPr>
          <p:cNvPr descr="ppt7_assets/fig_p2_custo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" y="1460500"/>
            <a:ext cx="10718800" cy="462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58800" y="6083300"/>
            <a:ext cx="11049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只改变外观：柱高、峰值月份与分析结论都不变。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巩固提升 ★★★ 结果：加上数值标签</a:t>
            </a:r>
          </a:p>
        </p:txBody>
      </p:sp>
      <p:pic>
        <p:nvPicPr>
          <p:cNvPr descr="ppt7_assets/fig_p1_labele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" y="1460500"/>
            <a:ext cx="10718800" cy="462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58800" y="6083300"/>
            <a:ext cx="11049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标签在柱顶上方，须用 expansion() 补足顶部留白。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第一课时小结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哪类死因的负担最重？</a:t>
            </a:r>
            <a:r>
              <a:rPr/>
              <a:t>→ 可预防疾病 </a:t>
            </a:r>
            <a:r>
              <a:rPr b="1"/>
              <a:t>11157</a:t>
            </a:r>
            <a:r>
              <a:rPr/>
              <a:t> 人，占 </a:t>
            </a:r>
            <a:r>
              <a:rPr b="1"/>
              <a:t>83.93%</a:t>
            </a:r>
          </a:p>
          <a:p>
            <a:pPr lvl="0"/>
            <a:r>
              <a:rPr b="1"/>
              <a:t>高死亡是否集中在个别月份？</a:t>
            </a:r>
            <a:r>
              <a:rPr/>
              <a:t>→ 集中在 1854-12—1855-02 三个连续冬季月</a:t>
            </a:r>
          </a:p>
          <a:p>
            <a:pPr lvl="0"/>
            <a:r>
              <a:rPr b="1"/>
              <a:t>三类死因的变化是否一致？</a:t>
            </a:r>
            <a:r>
              <a:rPr/>
              <a:t>→ 峰值不在同一个月，必须</a:t>
            </a:r>
            <a:r>
              <a:rPr b="1"/>
              <a:t>分开看</a:t>
            </a:r>
          </a:p>
          <a:p>
            <a:pPr lvl="0" indent="0" marL="0">
              <a:buNone/>
            </a:pPr>
            <a:r>
              <a:rPr b="1"/>
              <a:t>仍待解决：</a:t>
            </a:r>
            <a:r>
              <a:rPr/>
              <a:t>卫生条件改善后，死亡模式是否发生变化？</a:t>
            </a:r>
          </a:p>
          <a:p>
            <a:pPr lvl="0" indent="0" marL="0">
              <a:buNone/>
            </a:pPr>
            <a:r>
              <a:rPr/>
              <a:t>带着假设进入第二课时：可预防疾病的死亡水平将 __________。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第二课时：任务 3、任务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任务 3</a:t>
            </a:r>
            <a:r>
              <a:rPr/>
              <a:t>　加入阶段维度：卫生改革前后</a:t>
            </a:r>
            <a:r>
              <a:rPr b="1"/>
              <a:t>发生了什么变化</a:t>
            </a:r>
            <a:r>
              <a:rPr/>
              <a:t>？→ 按阶段分面对比图</a:t>
            </a:r>
          </a:p>
          <a:p>
            <a:pPr lvl="0"/>
            <a:r>
              <a:rPr b="1"/>
              <a:t>任务 4</a:t>
            </a:r>
            <a:r>
              <a:rPr/>
              <a:t>　换一种坐标：玫瑰图适合</a:t>
            </a:r>
            <a:r>
              <a:rPr b="1"/>
              <a:t>分析</a:t>
            </a:r>
            <a:r>
              <a:rPr/>
              <a:t>还是</a:t>
            </a:r>
            <a:r>
              <a:rPr b="1"/>
              <a:t>传播</a:t>
            </a:r>
            <a:r>
              <a:rPr/>
              <a:t>？→ 玫瑰图与图形取舍评价</a:t>
            </a:r>
          </a:p>
          <a:p>
            <a:pPr lvl="0"/>
            <a:r>
              <a:rPr b="1"/>
              <a:t>项目总结</a:t>
            </a:r>
            <a:r>
              <a:rPr/>
              <a:t>　汇总证据：证据支持怎样的</a:t>
            </a:r>
            <a:r>
              <a:rPr b="1"/>
              <a:t>行动建议</a:t>
            </a:r>
            <a:r>
              <a:rPr/>
              <a:t>？</a:t>
            </a:r>
          </a:p>
          <a:p>
            <a:pPr lvl="0" indent="0" marL="0">
              <a:buNone/>
            </a:pPr>
            <a:r>
              <a:rPr/>
              <a:t>第二课时的重点：</a:t>
            </a:r>
            <a:r>
              <a:rPr b="1"/>
              <a:t>比较阶段差异</a:t>
            </a:r>
            <a:r>
              <a:rPr/>
              <a:t>，并</a:t>
            </a:r>
            <a:r>
              <a:rPr b="1"/>
              <a:t>评价不同图形的表达价值</a:t>
            </a:r>
            <a:r>
              <a:rPr/>
              <a:t>。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3：改革前后发生了什么变化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先想一想</a:t>
            </a:r>
          </a:p>
          <a:p>
            <a:pPr lvl="0" indent="0" marL="0">
              <a:buNone/>
            </a:pPr>
            <a:r>
              <a:rPr b="1"/>
              <a:t>两个阶段的月度死亡水平与死因构成有什么差异？同一种死因的平均水平变化了多少？</a:t>
            </a:r>
          </a:p>
          <a:p>
            <a:pPr lvl="0"/>
            <a:r>
              <a:rPr/>
              <a:t>我的假设是：卫生改革后，________ 造成的死亡会 ________，因为 ________</a:t>
            </a:r>
          </a:p>
          <a:p>
            <a:pPr lvl="0"/>
            <a:r>
              <a:rPr/>
              <a:t>我预计</a:t>
            </a:r>
            <a:r>
              <a:rPr b="1"/>
              <a:t>变化最小</a:t>
            </a:r>
            <a:r>
              <a:rPr/>
              <a:t>的是 ________，理由是 ________</a:t>
            </a:r>
          </a:p>
          <a:p>
            <a:pPr lvl="0" indent="0" marL="0">
              <a:buNone/>
            </a:pPr>
            <a:r>
              <a:rPr/>
              <a:t>决策问题：比较对象（改革前 12 个月 vs 改革后 12 个月）· 核心指标（年化死亡率）· 比较方法（</a:t>
            </a:r>
            <a:r>
              <a:rPr b="1"/>
              <a:t>分面</a:t>
            </a:r>
            <a:r>
              <a:rPr/>
              <a:t>）· 使用数据（</a:t>
            </a:r>
            <a:r>
              <a:rPr>
                <a:latin typeface="Courier"/>
              </a:rPr>
              <a:t>nightingale_long</a:t>
            </a:r>
            <a:r>
              <a:rPr/>
              <a:t>）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3：增加阶段映射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任务 2 的三个映射保持不变，再增加一个</a:t>
            </a:r>
            <a:r>
              <a:rPr b="1"/>
              <a:t>分面</a:t>
            </a:r>
            <a:r>
              <a:rPr/>
              <a:t>维度：</a:t>
            </a:r>
          </a:p>
          <a:p>
            <a:pPr lvl="0"/>
            <a:r>
              <a:rPr b="1"/>
              <a:t>月份</a:t>
            </a:r>
            <a:r>
              <a:rPr/>
              <a:t> → 横轴位置 → </a:t>
            </a:r>
            <a:r>
              <a:rPr>
                <a:latin typeface="Courier"/>
              </a:rPr>
              <a:t>x = 月份</a:t>
            </a:r>
          </a:p>
          <a:p>
            <a:pPr lvl="0"/>
            <a:r>
              <a:rPr b="1"/>
              <a:t>死亡率</a:t>
            </a:r>
            <a:r>
              <a:rPr/>
              <a:t> → 柱形高度 → </a:t>
            </a:r>
            <a:r>
              <a:rPr>
                <a:latin typeface="Courier"/>
              </a:rPr>
              <a:t>y = 死亡率</a:t>
            </a:r>
          </a:p>
          <a:p>
            <a:pPr lvl="0"/>
            <a:r>
              <a:rPr b="1"/>
              <a:t>死亡原因</a:t>
            </a:r>
            <a:r>
              <a:rPr/>
              <a:t> → 填充颜色 → </a:t>
            </a:r>
            <a:r>
              <a:rPr>
                <a:latin typeface="Courier"/>
              </a:rPr>
              <a:t>fill = 死亡原因</a:t>
            </a:r>
          </a:p>
          <a:p>
            <a:pPr lvl="0"/>
            <a:r>
              <a:rPr b="1"/>
              <a:t>阶段</a:t>
            </a:r>
            <a:r>
              <a:rPr/>
              <a:t> → 拆成左右两个小图对比 → </a:t>
            </a:r>
            <a:r>
              <a:rPr>
                <a:latin typeface="Courier"/>
              </a:rPr>
              <a:t>facet_wrap(~ 阶段)</a:t>
            </a:r>
          </a:p>
          <a:p>
            <a:pPr lvl="0" indent="0" marL="0">
              <a:buNone/>
            </a:pPr>
            <a:r>
              <a:rPr/>
              <a:t>分面能成立的前提：两个面板必须保持</a:t>
            </a:r>
            <a:r>
              <a:rPr b="1"/>
              <a:t>相同的纵轴尺度</a:t>
            </a:r>
            <a:r>
              <a:rPr/>
              <a:t>、</a:t>
            </a:r>
            <a:r>
              <a:rPr b="1"/>
              <a:t>相同的月份顺序</a:t>
            </a:r>
            <a:r>
              <a:rPr/>
              <a:t>、</a:t>
            </a:r>
            <a:r>
              <a:rPr b="1"/>
              <a:t>相同的颜色含义</a:t>
            </a:r>
            <a:r>
              <a:rPr/>
              <a:t>。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只要有一条不同，读者看到的就是两张”各自为政”的图，比较就不成立。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3：分面对比图（一）补全分面图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CFCFC2"/>
                </a:solidFill>
                <a:latin typeface="Courier"/>
              </a:rPr>
              <a:t>p3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ggplot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2980B9"/>
                </a:solidFill>
                <a:latin typeface="Courier"/>
              </a:rPr>
              <a:t>data =</a:t>
            </a:r>
            <a:r>
              <a:rPr sz="2000">
                <a:solidFill>
                  <a:srgbClr val="CFCFC2"/>
                </a:solidFill>
                <a:latin typeface="Courier"/>
              </a:rPr>
              <a:t> ____,                        </a:t>
            </a:r>
            <a:r>
              <a:rPr sz="2000">
                <a:solidFill>
                  <a:srgbClr val="7A7C7D"/>
                </a:solidFill>
                <a:latin typeface="Courier"/>
              </a:rPr>
              <a:t># 提示：使用全部长表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aes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x =</a:t>
            </a:r>
            <a:r>
              <a:rPr sz="2000">
                <a:solidFill>
                  <a:srgbClr val="CFCFC2"/>
                </a:solidFill>
                <a:latin typeface="Courier"/>
              </a:rPr>
              <a:t> ____,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____, </a:t>
            </a:r>
            <a:r>
              <a:rPr sz="2000">
                <a:solidFill>
                  <a:srgbClr val="2980B9"/>
                </a:solidFill>
                <a:latin typeface="Courier"/>
              </a:rPr>
              <a:t>fill =</a:t>
            </a:r>
            <a:r>
              <a:rPr sz="2000">
                <a:solidFill>
                  <a:srgbClr val="CFCFC2"/>
                </a:solidFill>
                <a:latin typeface="Courier"/>
              </a:rPr>
              <a:t> ____)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geom_col</a:t>
            </a:r>
            <a:r>
              <a:rPr sz="2000">
                <a:solidFill>
                  <a:srgbClr val="CFCFC2"/>
                </a:solidFill>
                <a:latin typeface="Courier"/>
              </a:rPr>
              <a:t>()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facet_wrap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3DAEE9"/>
                </a:solidFill>
                <a:latin typeface="Courier"/>
              </a:rPr>
              <a:t>~</a:t>
            </a:r>
            <a:r>
              <a:rPr sz="2000">
                <a:solidFill>
                  <a:srgbClr val="CFCFC2"/>
                </a:solidFill>
                <a:latin typeface="Courier"/>
              </a:rPr>
              <a:t> ____, </a:t>
            </a:r>
            <a:r>
              <a:rPr sz="2000">
                <a:solidFill>
                  <a:srgbClr val="2980B9"/>
                </a:solidFill>
                <a:latin typeface="Courier"/>
              </a:rPr>
              <a:t>ncol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67400"/>
                </a:solidFill>
                <a:latin typeface="Courier"/>
              </a:rPr>
              <a:t>2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2980B9"/>
                </a:solidFill>
                <a:latin typeface="Courier"/>
              </a:rPr>
              <a:t>scales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"fixed"</a:t>
            </a:r>
            <a:r>
              <a:rPr sz="2000">
                <a:solidFill>
                  <a:srgbClr val="CFCFC2"/>
                </a:solidFill>
                <a:latin typeface="Courier"/>
              </a:rPr>
              <a:t>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scale_fill_manual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values =</a:t>
            </a:r>
            <a:r>
              <a:rPr sz="2000">
                <a:solidFill>
                  <a:srgbClr val="CFCFC2"/>
                </a:solidFill>
                <a:latin typeface="Courier"/>
              </a:rPr>
              <a:t> cause_colors)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labs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</a:t>
            </a:r>
            <a:r>
              <a:rPr sz="2000">
                <a:solidFill>
                  <a:srgbClr val="2980B9"/>
                </a:solidFill>
                <a:latin typeface="Courier"/>
              </a:rPr>
              <a:t>title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"____________________________________"</a:t>
            </a:r>
            <a:r>
              <a:rPr sz="2000">
                <a:solidFill>
                  <a:srgbClr val="CFCFC2"/>
                </a:solidFill>
                <a:latin typeface="Courier"/>
              </a:rPr>
              <a:t>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</a:t>
            </a:r>
            <a:r>
              <a:rPr sz="2000">
                <a:solidFill>
                  <a:srgbClr val="2980B9"/>
                </a:solidFill>
                <a:latin typeface="Courier"/>
              </a:rPr>
              <a:t>subtitle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"两个阶段均按 4 月至次年 3 月排列，纵轴尺度一致"</a:t>
            </a:r>
            <a:r>
              <a:rPr sz="2000">
                <a:solidFill>
                  <a:srgbClr val="CFCFC2"/>
                </a:solidFill>
                <a:latin typeface="Courier"/>
              </a:rPr>
              <a:t>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</a:t>
            </a:r>
            <a:r>
              <a:rPr sz="2000">
                <a:solidFill>
                  <a:srgbClr val="2980B9"/>
                </a:solidFill>
                <a:latin typeface="Courier"/>
              </a:rPr>
              <a:t>x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b="1" sz="2000">
                <a:solidFill>
                  <a:srgbClr val="27AEAE"/>
                </a:solidFill>
                <a:latin typeface="Courier"/>
              </a:rPr>
              <a:t>NULL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"____________________"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2980B9"/>
                </a:solidFill>
                <a:latin typeface="Courier"/>
              </a:rPr>
              <a:t>fill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"死亡原因"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)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p3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3：分面对比图（二）量化阶段差异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CFCFC2"/>
                </a:solidFill>
                <a:latin typeface="Courier"/>
              </a:rPr>
              <a:t>stage_summary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nightingale_long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group_by</a:t>
            </a:r>
            <a:r>
              <a:rPr sz="2000">
                <a:solidFill>
                  <a:srgbClr val="CFCFC2"/>
                </a:solidFill>
                <a:latin typeface="Courier"/>
              </a:rPr>
              <a:t>(阶段, 死亡原因)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summarise</a:t>
            </a:r>
            <a:r>
              <a:rPr sz="2000">
                <a:solidFill>
                  <a:srgbClr val="CFCFC2"/>
                </a:solidFill>
                <a:latin typeface="Courier"/>
              </a:rPr>
              <a:t>(平均死亡率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mean</a:t>
            </a:r>
            <a:r>
              <a:rPr sz="2000">
                <a:solidFill>
                  <a:srgbClr val="CFCFC2"/>
                </a:solidFill>
                <a:latin typeface="Courier"/>
              </a:rPr>
              <a:t>(____), </a:t>
            </a:r>
            <a:r>
              <a:rPr sz="2000">
                <a:solidFill>
                  <a:srgbClr val="2980B9"/>
                </a:solidFill>
                <a:latin typeface="Courier"/>
              </a:rPr>
              <a:t>.groups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"drop"</a:t>
            </a:r>
            <a:r>
              <a:rPr sz="2000">
                <a:solidFill>
                  <a:srgbClr val="CFCFC2"/>
                </a:solidFill>
                <a:latin typeface="Courier"/>
              </a:rPr>
              <a:t>)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pivot_wider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names_from =</a:t>
            </a:r>
            <a:r>
              <a:rPr sz="2000">
                <a:solidFill>
                  <a:srgbClr val="CFCFC2"/>
                </a:solidFill>
                <a:latin typeface="Courier"/>
              </a:rPr>
              <a:t> 阶段, </a:t>
            </a:r>
            <a:r>
              <a:rPr sz="2000">
                <a:solidFill>
                  <a:srgbClr val="2980B9"/>
                </a:solidFill>
                <a:latin typeface="Courier"/>
              </a:rPr>
              <a:t>values_from =</a:t>
            </a:r>
            <a:r>
              <a:rPr sz="2000">
                <a:solidFill>
                  <a:srgbClr val="CFCFC2"/>
                </a:solidFill>
                <a:latin typeface="Courier"/>
              </a:rPr>
              <a:t> 平均死亡率) </a:t>
            </a:r>
            <a:r>
              <a:rPr sz="2000">
                <a:solidFill>
                  <a:srgbClr val="3DAEE9"/>
                </a:solidFill>
                <a:latin typeface="Courier"/>
              </a:rPr>
              <a:t>%&gt;%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mutate</a:t>
            </a:r>
            <a:r>
              <a:rPr sz="2000">
                <a:solidFill>
                  <a:srgbClr val="CFCFC2"/>
                </a:solidFill>
                <a:latin typeface="Courier"/>
              </a:rPr>
              <a:t>(变化幅度 </a:t>
            </a:r>
            <a:r>
              <a:rPr sz="2000">
                <a:solidFill>
                  <a:srgbClr val="27AE60"/>
                </a:solidFill>
                <a:latin typeface="Courier"/>
              </a:rPr>
              <a:t>=</a:t>
            </a:r>
            <a:r>
              <a:rPr sz="2000">
                <a:solidFill>
                  <a:srgbClr val="CFCFC2"/>
                </a:solidFill>
                <a:latin typeface="Courier"/>
              </a:rPr>
              <a:t> (改革后 </a:t>
            </a:r>
            <a:r>
              <a:rPr sz="2000">
                <a:solidFill>
                  <a:srgbClr val="3DAEE9"/>
                </a:solidFill>
                <a:latin typeface="Courier"/>
              </a:rPr>
              <a:t>-</a:t>
            </a:r>
            <a:r>
              <a:rPr sz="2000">
                <a:solidFill>
                  <a:srgbClr val="CFCFC2"/>
                </a:solidFill>
                <a:latin typeface="Courier"/>
              </a:rPr>
              <a:t> 改革前) </a:t>
            </a:r>
            <a:r>
              <a:rPr sz="2000">
                <a:solidFill>
                  <a:srgbClr val="3DAEE9"/>
                </a:solidFill>
                <a:latin typeface="Courier"/>
              </a:rPr>
              <a:t>/</a:t>
            </a:r>
            <a:r>
              <a:rPr sz="2000">
                <a:solidFill>
                  <a:srgbClr val="CFCFC2"/>
                </a:solidFill>
                <a:latin typeface="Courier"/>
              </a:rPr>
              <a:t> 改革前 </a:t>
            </a:r>
            <a:r>
              <a:rPr sz="2000">
                <a:solidFill>
                  <a:srgbClr val="3DAEE9"/>
                </a:solidFill>
                <a:latin typeface="Courier"/>
              </a:rPr>
              <a:t>*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67400"/>
                </a:solidFill>
                <a:latin typeface="Courier"/>
              </a:rPr>
              <a:t>100</a:t>
            </a:r>
            <a:r>
              <a:rPr sz="2000">
                <a:solidFill>
                  <a:srgbClr val="CFCFC2"/>
                </a:solidFill>
                <a:latin typeface="Courier"/>
              </a:rPr>
              <a:t>)</a:t>
            </a:r>
            <a:br/>
            <a:br/>
            <a:r>
              <a:rPr sz="2000">
                <a:solidFill>
                  <a:srgbClr val="CFCFC2"/>
                </a:solidFill>
                <a:latin typeface="Courier"/>
              </a:rPr>
              <a:t>stage_summary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3 结果：分面对比图</a:t>
            </a:r>
          </a:p>
        </p:txBody>
      </p:sp>
      <p:pic>
        <p:nvPicPr>
          <p:cNvPr descr="ppt7_assets/fig_p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" y="1460500"/>
            <a:ext cx="10718800" cy="462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58800" y="6083300"/>
            <a:ext cx="11049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两个面板共用同一纵轴尺度，改革前后的差异可直接比较。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3 结果：两个阶段的平均死亡风险</a:t>
            </a:r>
          </a:p>
        </p:txBody>
      </p:sp>
      <p:pic>
        <p:nvPicPr>
          <p:cNvPr descr="ppt7_assets/fig_st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" y="1460500"/>
            <a:ext cx="10718800" cy="462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58800" y="6083300"/>
            <a:ext cx="11049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可预防疾病的平均年化死亡率降幅最大，战伤基本持平。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3：图表解读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先想一想：从图中提取证据</a:t>
            </a:r>
          </a:p>
          <a:p>
            <a:pPr lvl="0"/>
            <a:r>
              <a:rPr b="1"/>
              <a:t>结论</a:t>
            </a:r>
            <a:r>
              <a:rPr/>
              <a:t>：改革主要影响的是 ________，而不是 ________</a:t>
            </a:r>
          </a:p>
          <a:p>
            <a:pPr lvl="0"/>
            <a:r>
              <a:rPr b="1"/>
              <a:t>证据 1</a:t>
            </a:r>
            <a:r>
              <a:rPr/>
              <a:t>：可预防疾病平均年化死亡率由 ________ 降到 ________（每千人年）</a:t>
            </a:r>
          </a:p>
          <a:p>
            <a:pPr lvl="0"/>
            <a:r>
              <a:rPr b="1"/>
              <a:t>证据 2</a:t>
            </a:r>
            <a:r>
              <a:rPr/>
              <a:t>：战伤由 ________ 变为 ________，基本 ________</a:t>
            </a:r>
          </a:p>
          <a:p>
            <a:pPr lvl="0"/>
            <a:r>
              <a:rPr b="1"/>
              <a:t>局限</a:t>
            </a:r>
            <a:r>
              <a:rPr/>
              <a:t>：两阶段差异还可能受到 ________________ 的影响</a:t>
            </a:r>
          </a:p>
          <a:p>
            <a:pPr lvl="0" indent="0" marL="0">
              <a:buNone/>
            </a:pPr>
            <a:r>
              <a:rPr b="1"/>
              <a:t>观察顺序：</a:t>
            </a:r>
            <a:r>
              <a:rPr/>
              <a:t>① 比整体柱高 → ② 找变化最大的颜色 → ③ 查其他死因是否</a:t>
            </a:r>
            <a:r>
              <a:rPr b="1"/>
              <a:t>同步</a:t>
            </a:r>
            <a:r>
              <a:rPr/>
              <a:t>下降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3：寻找反证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支持”改革有效”的证据</a:t>
            </a:r>
          </a:p>
          <a:p>
            <a:pPr lvl="0"/>
            <a:r>
              <a:rPr/>
              <a:t>哪类死亡下降最明显？降幅多少？</a:t>
            </a:r>
          </a:p>
          <a:p>
            <a:pPr lvl="0"/>
            <a:r>
              <a:rPr/>
              <a:t>两个阶段的总体水平怎样变化？</a:t>
            </a:r>
          </a:p>
          <a:p>
            <a:pPr lvl="0"/>
            <a:r>
              <a:rPr/>
              <a:t>改革前后时间是否相邻、可比？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“仍需谨慎”的证据</a:t>
            </a:r>
          </a:p>
          <a:p>
            <a:pPr lvl="0"/>
            <a:r>
              <a:rPr/>
              <a:t>数据还缺少哪些影响因素？</a:t>
            </a:r>
          </a:p>
          <a:p>
            <a:pPr lvl="0"/>
            <a:r>
              <a:rPr/>
              <a:t>季节变化、作战强度是否可能影响结果？</a:t>
            </a:r>
          </a:p>
          <a:p>
            <a:pPr lvl="0"/>
            <a:r>
              <a:rPr/>
              <a:t>能否区分每一项卫生措施各自的作用？</a:t>
            </a:r>
          </a:p>
          <a:p>
            <a:pPr lvl="0" indent="0" marL="0">
              <a:buNone/>
            </a:pPr>
            <a:r>
              <a:rPr sz="2800" b="1">
                <a:solidFill>
                  <a:srgbClr val="FFD166"/>
                </a:solidFill>
              </a:rPr>
              <a:t>汇报要求：</a:t>
            </a:r>
            <a:r>
              <a:rPr sz="2800">
                <a:solidFill>
                  <a:srgbClr val="FFD166"/>
                </a:solidFill>
              </a:rPr>
              <a:t>观点必须指向图中的</a:t>
            </a:r>
            <a:r>
              <a:rPr sz="2800" b="1">
                <a:solidFill>
                  <a:srgbClr val="FFD166"/>
                </a:solidFill>
              </a:rPr>
              <a:t>具体位置</a:t>
            </a:r>
            <a:r>
              <a:rPr sz="2800">
                <a:solidFill>
                  <a:srgbClr val="FFD166"/>
                </a:solidFill>
              </a:rPr>
              <a:t>或</a:t>
            </a:r>
            <a:r>
              <a:rPr sz="2800" b="1">
                <a:solidFill>
                  <a:srgbClr val="FFD166"/>
                </a:solidFill>
              </a:rPr>
              <a:t>具体数据变量</a:t>
            </a:r>
            <a:r>
              <a:rPr sz="2800">
                <a:solidFill>
                  <a:srgbClr val="FFD166"/>
                </a:solidFill>
              </a:rPr>
              <a:t>。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4：玫瑰图适合分析还是传播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先想一想</a:t>
            </a:r>
          </a:p>
          <a:p>
            <a:pPr lvl="0" indent="0" marL="0">
              <a:buNone/>
            </a:pPr>
            <a:r>
              <a:rPr b="1"/>
              <a:t>面向”精确分析”与面向”公众展示”两种目的，柱形图与玫瑰图各有什么优势和限制？</a:t>
            </a:r>
          </a:p>
          <a:p>
            <a:pPr lvl="0"/>
            <a:r>
              <a:rPr/>
              <a:t>面向</a:t>
            </a:r>
            <a:r>
              <a:rPr b="1"/>
              <a:t>分析人员</a:t>
            </a:r>
            <a:r>
              <a:rPr/>
              <a:t>，我需要图形帮我比较 ________________</a:t>
            </a:r>
          </a:p>
          <a:p>
            <a:pPr lvl="0"/>
            <a:r>
              <a:rPr/>
              <a:t>面向</a:t>
            </a:r>
            <a:r>
              <a:rPr b="1"/>
              <a:t>普通公众</a:t>
            </a:r>
            <a:r>
              <a:rPr/>
              <a:t>，我需要图形帮读者感受 ________________</a:t>
            </a:r>
          </a:p>
          <a:p>
            <a:pPr lvl="0"/>
            <a:r>
              <a:rPr/>
              <a:t>我的预判：分析报告用 ________，公众展示用 ________</a:t>
            </a:r>
          </a:p>
          <a:p>
            <a:pPr lvl="0" indent="0" marL="0">
              <a:buNone/>
            </a:pPr>
            <a:r>
              <a:rPr/>
              <a:t>本任务使用与任务 3 </a:t>
            </a:r>
            <a:r>
              <a:rPr b="1"/>
              <a:t>完全相同</a:t>
            </a:r>
            <a:r>
              <a:rPr/>
              <a:t>的数据、指标与数值范围—— </a:t>
            </a:r>
            <a:r>
              <a:rPr b="1"/>
              <a:t>不是找”最好看的图”，而是判断”哪幅图更适合当前目的”。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4：坐标系改变，映射保持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月份</a:t>
            </a:r>
            <a:r>
              <a:rPr/>
              <a:t>：柱形图是横轴位置 → 玫瑰图是</a:t>
            </a:r>
            <a:r>
              <a:rPr b="1"/>
              <a:t>圆周角度</a:t>
            </a:r>
            <a:r>
              <a:rPr/>
              <a:t>（一个圆 = 12 个月）</a:t>
            </a:r>
          </a:p>
          <a:p>
            <a:pPr lvl="0"/>
            <a:r>
              <a:rPr b="1"/>
              <a:t>死亡率</a:t>
            </a:r>
            <a:r>
              <a:rPr/>
              <a:t>：柱形图是</a:t>
            </a:r>
            <a:r>
              <a:rPr b="1"/>
              <a:t>柱形高度</a:t>
            </a:r>
            <a:r>
              <a:rPr/>
              <a:t> → 玫瑰图是</a:t>
            </a:r>
            <a:r>
              <a:rPr b="1"/>
              <a:t>扇形面积</a:t>
            </a:r>
            <a:r>
              <a:rPr/>
              <a:t>（半径按平方根缩放）</a:t>
            </a:r>
          </a:p>
          <a:p>
            <a:pPr lvl="0"/>
            <a:r>
              <a:rPr b="1"/>
              <a:t>死亡原因</a:t>
            </a:r>
            <a:r>
              <a:rPr/>
              <a:t>：两张图都用 </a:t>
            </a:r>
            <a:r>
              <a:rPr>
                <a:latin typeface="Courier"/>
              </a:rPr>
              <a:t>fill = 死亡原因</a:t>
            </a:r>
          </a:p>
          <a:p>
            <a:pPr lvl="0"/>
            <a:r>
              <a:rPr b="1"/>
              <a:t>阶段</a:t>
            </a:r>
            <a:r>
              <a:rPr/>
              <a:t>：分面为左右两个小图 → </a:t>
            </a:r>
            <a:r>
              <a:rPr b="1"/>
              <a:t>两个极坐标圆并排</a:t>
            </a:r>
          </a:p>
          <a:p>
            <a:pPr lvl="0"/>
            <a:r>
              <a:rPr b="1">
                <a:latin typeface="Courier"/>
              </a:rPr>
              <a:t>cause_colors</a:t>
            </a:r>
            <a:r>
              <a:rPr/>
              <a:t>：让同一死因在两张图中颜色一致，保持可对照</a:t>
            </a:r>
          </a:p>
          <a:p>
            <a:pPr lvl="0" indent="0" marL="0">
              <a:buNone/>
            </a:pPr>
            <a:r>
              <a:rPr sz="2800" b="1">
                <a:solidFill>
                  <a:srgbClr val="FFD166"/>
                </a:solidFill>
              </a:rPr>
              <a:t>不要漏掉 </a:t>
            </a:r>
            <a:r>
              <a:rPr sz="2800" b="1">
                <a:solidFill>
                  <a:srgbClr val="FFD166"/>
                </a:solidFill>
                <a:latin typeface="Courier"/>
              </a:rPr>
              <a:t>fill</a:t>
            </a:r>
            <a:r>
              <a:rPr sz="2800" b="1">
                <a:solidFill>
                  <a:srgbClr val="FFD166"/>
                </a:solidFill>
              </a:rPr>
              <a:t>：</a:t>
            </a:r>
            <a:r>
              <a:rPr sz="2800">
                <a:solidFill>
                  <a:srgbClr val="FFD166"/>
                </a:solidFill>
              </a:rPr>
              <a:t>如果玫瑰图漏掉 </a:t>
            </a:r>
            <a:r>
              <a:rPr sz="2800">
                <a:solidFill>
                  <a:srgbClr val="FFD166"/>
                </a:solidFill>
                <a:latin typeface="Courier"/>
              </a:rPr>
              <a:t>aes(fill = 死亡原因)</a:t>
            </a:r>
            <a:r>
              <a:rPr sz="2800">
                <a:solidFill>
                  <a:srgbClr val="FFD166"/>
                </a:solidFill>
              </a:rPr>
              <a:t>，所有扇形同色，看不出每个月的高死亡水平由哪类原因贡献。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4：玫瑰图（一）先建柱形底图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CFCFC2"/>
                </a:solidFill>
                <a:latin typeface="Courier"/>
              </a:rPr>
              <a:t>p4_base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8E44AD"/>
                </a:solidFill>
                <a:latin typeface="Courier"/>
              </a:rPr>
              <a:t>ggplot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2980B9"/>
                </a:solidFill>
                <a:latin typeface="Courier"/>
              </a:rPr>
              <a:t>data =</a:t>
            </a:r>
            <a:r>
              <a:rPr sz="2000">
                <a:solidFill>
                  <a:srgbClr val="CFCFC2"/>
                </a:solidFill>
                <a:latin typeface="Courier"/>
              </a:rPr>
              <a:t> nightingale_long,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aes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x =</a:t>
            </a:r>
            <a:r>
              <a:rPr sz="2000">
                <a:solidFill>
                  <a:srgbClr val="CFCFC2"/>
                </a:solidFill>
                <a:latin typeface="Courier"/>
              </a:rPr>
              <a:t> 月份,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死亡率, </a:t>
            </a:r>
            <a:r>
              <a:rPr sz="2000">
                <a:solidFill>
                  <a:srgbClr val="2980B9"/>
                </a:solidFill>
                <a:latin typeface="Courier"/>
              </a:rPr>
              <a:t>fill =</a:t>
            </a:r>
            <a:r>
              <a:rPr sz="2000">
                <a:solidFill>
                  <a:srgbClr val="CFCFC2"/>
                </a:solidFill>
                <a:latin typeface="Courier"/>
              </a:rPr>
              <a:t> 死亡原因)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geom_col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width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67400"/>
                </a:solidFill>
                <a:latin typeface="Courier"/>
              </a:rPr>
              <a:t>1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2980B9"/>
                </a:solidFill>
                <a:latin typeface="Courier"/>
              </a:rPr>
              <a:t>colour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"white"</a:t>
            </a:r>
            <a:r>
              <a:rPr sz="2000">
                <a:solidFill>
                  <a:srgbClr val="CFCFC2"/>
                </a:solidFill>
                <a:latin typeface="Courier"/>
              </a:rPr>
              <a:t>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scale_fill_manual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values =</a:t>
            </a:r>
            <a:r>
              <a:rPr sz="2000">
                <a:solidFill>
                  <a:srgbClr val="CFCFC2"/>
                </a:solidFill>
                <a:latin typeface="Courier"/>
              </a:rPr>
              <a:t> cause_colors)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facet_wrap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3DAEE9"/>
                </a:solidFill>
                <a:latin typeface="Courier"/>
              </a:rPr>
              <a:t>~</a:t>
            </a:r>
            <a:r>
              <a:rPr sz="2000">
                <a:solidFill>
                  <a:srgbClr val="CFCFC2"/>
                </a:solidFill>
                <a:latin typeface="Courier"/>
              </a:rPr>
              <a:t> 阶段, </a:t>
            </a:r>
            <a:r>
              <a:rPr sz="2000">
                <a:solidFill>
                  <a:srgbClr val="2980B9"/>
                </a:solidFill>
                <a:latin typeface="Courier"/>
              </a:rPr>
              <a:t>ncol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67400"/>
                </a:solidFill>
                <a:latin typeface="Courier"/>
              </a:rPr>
              <a:t>2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2980B9"/>
                </a:solidFill>
                <a:latin typeface="Courier"/>
              </a:rPr>
              <a:t>scales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"fixed"</a:t>
            </a:r>
            <a:r>
              <a:rPr sz="2000">
                <a:solidFill>
                  <a:srgbClr val="CFCFC2"/>
                </a:solidFill>
                <a:latin typeface="Courier"/>
              </a:rPr>
              <a:t>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labs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r>
              <a:rPr sz="2000">
                <a:solidFill>
                  <a:srgbClr val="2980B9"/>
                </a:solidFill>
                <a:latin typeface="Courier"/>
              </a:rPr>
              <a:t>x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b="1" sz="2000">
                <a:solidFill>
                  <a:srgbClr val="27AEAE"/>
                </a:solidFill>
                <a:latin typeface="Courier"/>
              </a:rPr>
              <a:t>NULL</a:t>
            </a:r>
            <a:r>
              <a:rPr sz="2000">
                <a:solidFill>
                  <a:srgbClr val="CFCFC2"/>
                </a:solidFill>
                <a:latin typeface="Courier"/>
              </a:rPr>
              <a:t>,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"年化死亡率（每千人年）"</a:t>
            </a:r>
            <a:r>
              <a:rPr sz="2000">
                <a:solidFill>
                  <a:srgbClr val="CFCFC2"/>
                </a:solidFill>
                <a:latin typeface="Courier"/>
              </a:rPr>
              <a:t>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   </a:t>
            </a:r>
            <a:r>
              <a:rPr sz="2000">
                <a:solidFill>
                  <a:srgbClr val="2980B9"/>
                </a:solidFill>
                <a:latin typeface="Courier"/>
              </a:rPr>
              <a:t>title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"改革前后各月三类死因的死亡风险（柱形表达）"</a:t>
            </a:r>
            <a:r>
              <a:rPr sz="2000">
                <a:solidFill>
                  <a:srgbClr val="CFCFC2"/>
                </a:solidFill>
                <a:latin typeface="Courier"/>
              </a:rPr>
              <a:t>)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4：玫瑰图（二）换成极坐标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CFCFC2"/>
                </a:solidFill>
                <a:latin typeface="Courier"/>
              </a:rPr>
              <a:t>p4_rose </a:t>
            </a:r>
            <a:r>
              <a:rPr sz="2000">
                <a:solidFill>
                  <a:srgbClr val="27AE60"/>
                </a:solidFill>
                <a:latin typeface="Courier"/>
              </a:rPr>
              <a:t>&lt;-</a:t>
            </a:r>
            <a:r>
              <a:rPr sz="2000">
                <a:solidFill>
                  <a:srgbClr val="CFCFC2"/>
                </a:solidFill>
                <a:latin typeface="Courier"/>
              </a:rPr>
              <a:t> p4_base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____</a:t>
            </a:r>
            <a:r>
              <a:rPr sz="2000">
                <a:solidFill>
                  <a:srgbClr val="CFCFC2"/>
                </a:solidFill>
                <a:latin typeface="Courier"/>
              </a:rPr>
              <a:t>()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r>
              <a:rPr sz="2000">
                <a:solidFill>
                  <a:srgbClr val="CFCFC2"/>
                </a:solidFill>
                <a:latin typeface="Courier"/>
              </a:rPr>
              <a:t>      </a:t>
            </a:r>
            <a:r>
              <a:rPr sz="2000">
                <a:solidFill>
                  <a:srgbClr val="7A7C7D"/>
                </a:solidFill>
                <a:latin typeface="Courier"/>
              </a:rPr>
              <a:t># 填入纵轴尺度函数：使扇形面积对应死亡率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____</a:t>
            </a:r>
            <a:r>
              <a:rPr sz="2000">
                <a:solidFill>
                  <a:srgbClr val="CFCFC2"/>
                </a:solidFill>
                <a:latin typeface="Courier"/>
              </a:rPr>
              <a:t>() </a:t>
            </a:r>
            <a:r>
              <a:rPr sz="2000">
                <a:solidFill>
                  <a:srgbClr val="3DAEE9"/>
                </a:solidFill>
                <a:latin typeface="Courier"/>
              </a:rPr>
              <a:t>+</a:t>
            </a:r>
            <a:r>
              <a:rPr sz="2000">
                <a:solidFill>
                  <a:srgbClr val="CFCFC2"/>
                </a:solidFill>
                <a:latin typeface="Courier"/>
              </a:rPr>
              <a:t>      </a:t>
            </a:r>
            <a:r>
              <a:rPr sz="2000">
                <a:solidFill>
                  <a:srgbClr val="7A7C7D"/>
                </a:solidFill>
                <a:latin typeface="Courier"/>
              </a:rPr>
              <a:t># 填入极坐标函数：保留月份作为角度方向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</a:t>
            </a:r>
            <a:r>
              <a:rPr sz="2000">
                <a:solidFill>
                  <a:srgbClr val="8E44AD"/>
                </a:solidFill>
                <a:latin typeface="Courier"/>
              </a:rPr>
              <a:t>labs</a:t>
            </a:r>
            <a:r>
              <a:rPr sz="2000">
                <a:solidFill>
                  <a:srgbClr val="CFCFC2"/>
                </a:solidFill>
                <a:latin typeface="Courier"/>
              </a:rPr>
              <a:t>(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</a:t>
            </a:r>
            <a:r>
              <a:rPr sz="2000">
                <a:solidFill>
                  <a:srgbClr val="2980B9"/>
                </a:solidFill>
                <a:latin typeface="Courier"/>
              </a:rPr>
              <a:t>title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"复刻经典：南丁格尔玫瑰图（改革前后各月三类死因）"</a:t>
            </a:r>
            <a:r>
              <a:rPr sz="2000">
                <a:solidFill>
                  <a:srgbClr val="CFCFC2"/>
                </a:solidFill>
                <a:latin typeface="Courier"/>
              </a:rPr>
              <a:t>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</a:t>
            </a:r>
            <a:r>
              <a:rPr sz="2000">
                <a:solidFill>
                  <a:srgbClr val="2980B9"/>
                </a:solidFill>
                <a:latin typeface="Courier"/>
              </a:rPr>
              <a:t>subtitle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sz="2000">
                <a:solidFill>
                  <a:srgbClr val="F44F4F"/>
                </a:solidFill>
                <a:latin typeface="Courier"/>
              </a:rPr>
              <a:t>"扇形面积表示月死亡率，颜色表示死亡原因"</a:t>
            </a:r>
            <a:r>
              <a:rPr sz="2000">
                <a:solidFill>
                  <a:srgbClr val="CFCFC2"/>
                </a:solidFill>
                <a:latin typeface="Courier"/>
              </a:rPr>
              <a:t>,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  </a:t>
            </a:r>
            <a:r>
              <a:rPr sz="2000">
                <a:solidFill>
                  <a:srgbClr val="2980B9"/>
                </a:solidFill>
                <a:latin typeface="Courier"/>
              </a:rPr>
              <a:t>y =</a:t>
            </a:r>
            <a:r>
              <a:rPr sz="2000">
                <a:solidFill>
                  <a:srgbClr val="CFCFC2"/>
                </a:solidFill>
                <a:latin typeface="Courier"/>
              </a:rPr>
              <a:t> </a:t>
            </a:r>
            <a:r>
              <a:rPr b="1" sz="2000">
                <a:solidFill>
                  <a:srgbClr val="27AEAE"/>
                </a:solidFill>
                <a:latin typeface="Courier"/>
              </a:rPr>
              <a:t>NULL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  )</a:t>
            </a:r>
            <a:br/>
            <a:r>
              <a:rPr sz="2000">
                <a:solidFill>
                  <a:srgbClr val="CFCFC2"/>
                </a:solidFill>
                <a:latin typeface="Courier"/>
              </a:rPr>
              <a:t>p4_rose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4 结果：复刻经典玫瑰图</a:t>
            </a:r>
          </a:p>
        </p:txBody>
      </p:sp>
      <p:pic>
        <p:nvPicPr>
          <p:cNvPr descr="ppt7_assets/fig_ro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" y="1460500"/>
            <a:ext cx="10718800" cy="462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58800" y="6083300"/>
            <a:ext cx="11049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复刻经典玫瑰图：面积编码，一眼看出冬季高死亡。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4：分析图与传播图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分析报告：优先用柱形图</a:t>
            </a:r>
          </a:p>
          <a:p>
            <a:pPr lvl="0"/>
            <a:r>
              <a:rPr/>
              <a:t>精确比较数值与差值：</a:t>
            </a:r>
            <a:r>
              <a:rPr b="1"/>
              <a:t>强</a:t>
            </a:r>
            <a:r>
              <a:rPr/>
              <a:t>（柱高与数值线性对应）</a:t>
            </a:r>
          </a:p>
          <a:p>
            <a:pPr lvl="0"/>
            <a:r>
              <a:rPr/>
              <a:t>观察月份顺序与阶段差异：</a:t>
            </a:r>
            <a:r>
              <a:rPr b="1"/>
              <a:t>强</a:t>
            </a:r>
            <a:r>
              <a:rPr/>
              <a:t>（横轴按月份排列）</a:t>
            </a:r>
          </a:p>
          <a:p>
            <a:pPr lvl="0"/>
            <a:r>
              <a:rPr/>
              <a:t>判断哪类死因贡献最大：中（堆叠段不在同一基线）</a:t>
            </a:r>
          </a:p>
          <a:p>
            <a:pPr lvl="0"/>
            <a:r>
              <a:rPr/>
              <a:t>误读风险：</a:t>
            </a:r>
            <a:r>
              <a:rPr b="1"/>
              <a:t>低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公众展示：可考虑玫瑰图</a:t>
            </a:r>
          </a:p>
          <a:p>
            <a:pPr lvl="0"/>
            <a:r>
              <a:rPr/>
              <a:t>精确比较数值与差值：</a:t>
            </a:r>
            <a:r>
              <a:rPr b="1"/>
              <a:t>弱</a:t>
            </a:r>
            <a:r>
              <a:rPr/>
              <a:t>（隔了平方根换算）</a:t>
            </a:r>
          </a:p>
          <a:p>
            <a:pPr lvl="0"/>
            <a:r>
              <a:rPr/>
              <a:t>观察月份顺序与阶段差异：中</a:t>
            </a:r>
          </a:p>
          <a:p>
            <a:pPr lvl="0"/>
            <a:r>
              <a:rPr/>
              <a:t>判断哪类死因贡献最大：</a:t>
            </a:r>
            <a:r>
              <a:rPr b="1"/>
              <a:t>强</a:t>
            </a:r>
          </a:p>
          <a:p>
            <a:pPr lvl="0"/>
            <a:r>
              <a:rPr/>
              <a:t>误读风险：</a:t>
            </a:r>
            <a:r>
              <a:rPr b="1"/>
              <a:t>高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读图必须说明：</a:t>
            </a:r>
            <a:r>
              <a:rPr sz="2800" b="1">
                <a:solidFill>
                  <a:srgbClr val="FFD166"/>
                </a:solidFill>
              </a:rPr>
              <a:t>扇形面积</a:t>
            </a:r>
            <a:r>
              <a:rPr sz="2800">
                <a:solidFill>
                  <a:srgbClr val="FFD166"/>
                </a:solidFill>
              </a:rPr>
              <a:t>表示死亡率，单位为</a:t>
            </a:r>
            <a:r>
              <a:rPr sz="2800" b="1">
                <a:solidFill>
                  <a:srgbClr val="FFD166"/>
                </a:solidFill>
              </a:rPr>
              <a:t>每千人年</a:t>
            </a:r>
            <a:r>
              <a:rPr sz="2800">
                <a:solidFill>
                  <a:srgbClr val="FFD166"/>
                </a:solidFill>
              </a:rPr>
              <a:t>。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 4：图形选择辩论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组：分面柱形图</a:t>
            </a:r>
          </a:p>
          <a:p>
            <a:pPr lvl="0" indent="0" marL="0">
              <a:buNone/>
            </a:pPr>
            <a:r>
              <a:rPr/>
              <a:t>观点：政府分析报告应优先使用柱形图。</a:t>
            </a:r>
          </a:p>
          <a:p>
            <a:pPr lvl="0" indent="0" marL="0">
              <a:buNone/>
            </a:pPr>
            <a:r>
              <a:rPr/>
              <a:t>请从</a:t>
            </a:r>
            <a:r>
              <a:rPr b="1"/>
              <a:t>精确比较、坐标尺度、误读风险</a:t>
            </a:r>
            <a:r>
              <a:rPr/>
              <a:t>三个方面提出证据。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 组：玫瑰图</a:t>
            </a:r>
          </a:p>
          <a:p>
            <a:pPr lvl="0" indent="0" marL="0">
              <a:buNone/>
            </a:pPr>
            <a:r>
              <a:rPr/>
              <a:t>观点：面向公众传播时可以优先使用玫瑰图。</a:t>
            </a:r>
          </a:p>
          <a:p>
            <a:pPr lvl="0" indent="0" marL="0">
              <a:buNone/>
            </a:pPr>
            <a:r>
              <a:rPr/>
              <a:t>请从</a:t>
            </a:r>
            <a:r>
              <a:rPr b="1"/>
              <a:t>整体感知、注意力、历史语境</a:t>
            </a:r>
            <a:r>
              <a:rPr/>
              <a:t>三个方面提出证据。</a:t>
            </a:r>
          </a:p>
          <a:p>
            <a:pPr lvl="0" indent="0" marL="0">
              <a:buNone/>
            </a:pPr>
            <a:r>
              <a:rPr sz="2800" b="1">
                <a:solidFill>
                  <a:srgbClr val="FFD166"/>
                </a:solidFill>
              </a:rPr>
              <a:t>共同底线：</a:t>
            </a:r>
            <a:r>
              <a:rPr sz="2800">
                <a:solidFill>
                  <a:srgbClr val="FFD166"/>
                </a:solidFill>
              </a:rPr>
              <a:t>标题、单位、图例和结论边界必须完整。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2761488"/>
            <a:ext cx="10058400" cy="13258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项目总结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四个问题形成一条证据链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任务 1</a:t>
            </a:r>
            <a:r>
              <a:rPr/>
              <a:t>：哪类死因的负担最重？→ 确定主要矛盾</a:t>
            </a:r>
          </a:p>
          <a:p>
            <a:pPr lvl="0"/>
            <a:r>
              <a:rPr b="1"/>
              <a:t>任务 2</a:t>
            </a:r>
            <a:r>
              <a:rPr/>
              <a:t>：高死亡集中在哪些月份？→ 识别时间模式</a:t>
            </a:r>
          </a:p>
          <a:p>
            <a:pPr lvl="0"/>
            <a:r>
              <a:rPr b="1"/>
              <a:t>巩固提升</a:t>
            </a:r>
            <a:r>
              <a:rPr/>
              <a:t>：三类死因的变化是否一致？→ 分开看各自的节奏</a:t>
            </a:r>
          </a:p>
          <a:p>
            <a:pPr lvl="0"/>
            <a:r>
              <a:rPr b="1"/>
              <a:t>任务 3</a:t>
            </a:r>
            <a:r>
              <a:rPr/>
              <a:t>：改革前后怎样变化？→ 比较阶段差异</a:t>
            </a:r>
          </a:p>
          <a:p>
            <a:pPr lvl="0"/>
            <a:r>
              <a:rPr b="1"/>
              <a:t>任务 4</a:t>
            </a:r>
            <a:r>
              <a:rPr/>
              <a:t>：玫瑰图适合什么目的？→ 评价图形选择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项目结论来自多幅图的相互支持，而不是一幅”好看的图”。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决策建议与结论边界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先想一想：把证据组织成一段结论</a:t>
            </a:r>
          </a:p>
          <a:p>
            <a:pPr lvl="0"/>
            <a:r>
              <a:rPr b="1"/>
              <a:t>结论</a:t>
            </a:r>
            <a:r>
              <a:rPr/>
              <a:t>：改革前 ________ 是死亡主因；改革后 ________</a:t>
            </a:r>
          </a:p>
          <a:p>
            <a:pPr lvl="0"/>
            <a:r>
              <a:rPr b="1"/>
              <a:t>建议</a:t>
            </a:r>
            <a:r>
              <a:rPr/>
              <a:t>：有限资源应优先用于 ________，同时保留战伤救治</a:t>
            </a:r>
          </a:p>
          <a:p>
            <a:pPr lvl="0"/>
            <a:r>
              <a:rPr b="1"/>
              <a:t>证据</a:t>
            </a:r>
            <a:r>
              <a:rPr/>
              <a:t>：任务 1、2、3 分别从 ________、________、________ 提供支持</a:t>
            </a:r>
          </a:p>
          <a:p>
            <a:pPr lvl="0"/>
            <a:r>
              <a:rPr b="1"/>
              <a:t>局限</a:t>
            </a:r>
            <a:r>
              <a:rPr/>
              <a:t>：数据未记录 ________，不能把全部变化简单归因于卫生改革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科学表达 = </a:t>
            </a:r>
            <a:r>
              <a:rPr sz="2800" b="1">
                <a:solidFill>
                  <a:srgbClr val="FFD166"/>
                </a:solidFill>
              </a:rPr>
              <a:t>说清证据支持什么</a:t>
            </a:r>
            <a:r>
              <a:rPr sz="2800">
                <a:solidFill>
                  <a:srgbClr val="FFD166"/>
                </a:solidFill>
              </a:rPr>
              <a:t> + </a:t>
            </a:r>
            <a:r>
              <a:rPr sz="2800" b="1">
                <a:solidFill>
                  <a:srgbClr val="FFD166"/>
                </a:solidFill>
              </a:rPr>
              <a:t>说清证据不能证明什么</a:t>
            </a:r>
            <a:r>
              <a:rPr sz="2800">
                <a:solidFill>
                  <a:srgbClr val="FFD166"/>
                </a:solidFill>
              </a:rPr>
              <a:t>。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可视化问题求解流程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从公共卫生决策中提出真实问题</a:t>
            </a:r>
          </a:p>
          <a:p>
            <a:pPr lvl="0" indent="-342900" marL="342900">
              <a:buAutoNum type="arabicPeriod"/>
            </a:pPr>
            <a:r>
              <a:rPr/>
              <a:t>认识数据并选择可比较的</a:t>
            </a:r>
            <a:r>
              <a:rPr b="1"/>
              <a:t>指标</a:t>
            </a:r>
          </a:p>
          <a:p>
            <a:pPr lvl="0" indent="-342900" marL="342900">
              <a:buAutoNum type="arabicPeriod"/>
            </a:pPr>
            <a:r>
              <a:rPr/>
              <a:t>建立</a:t>
            </a:r>
            <a:r>
              <a:rPr b="1"/>
              <a:t>变量 → 视觉通道</a:t>
            </a:r>
            <a:r>
              <a:rPr/>
              <a:t>的映射</a:t>
            </a:r>
          </a:p>
          <a:p>
            <a:pPr lvl="0" indent="-342900" marL="342900">
              <a:buAutoNum type="arabicPeriod"/>
            </a:pPr>
            <a:r>
              <a:rPr/>
              <a:t>用 ggplot2 图层</a:t>
            </a:r>
            <a:r>
              <a:rPr b="1"/>
              <a:t>构建图形</a:t>
            </a:r>
          </a:p>
          <a:p>
            <a:pPr lvl="0" indent="-342900" marL="342900">
              <a:buAutoNum type="arabicPeriod"/>
            </a:pPr>
            <a:r>
              <a:rPr/>
              <a:t>从图中提取</a:t>
            </a:r>
            <a:r>
              <a:rPr b="1"/>
              <a:t>证据</a:t>
            </a:r>
            <a:r>
              <a:rPr/>
              <a:t>并检验自己的预测</a:t>
            </a:r>
          </a:p>
          <a:p>
            <a:pPr lvl="0" indent="-342900" marL="342900">
              <a:buAutoNum type="arabicPeriod"/>
            </a:pPr>
            <a:r>
              <a:rPr/>
              <a:t>比较不同</a:t>
            </a:r>
            <a:r>
              <a:rPr b="1"/>
              <a:t>图形</a:t>
            </a:r>
            <a:r>
              <a:rPr/>
              <a:t>的表达价值</a:t>
            </a:r>
          </a:p>
          <a:p>
            <a:pPr lvl="0" indent="-342900" marL="342900">
              <a:buAutoNum type="arabicPeriod"/>
            </a:pPr>
            <a:r>
              <a:rPr/>
              <a:t>形成</a:t>
            </a:r>
            <a:r>
              <a:rPr b="1"/>
              <a:t>建议</a:t>
            </a:r>
            <a:r>
              <a:rPr/>
              <a:t>，同时说明局限</a:t>
            </a:r>
          </a:p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ggplot2 提供绘图规则，</a:t>
            </a:r>
            <a:r>
              <a:rPr sz="2800" b="1">
                <a:solidFill>
                  <a:srgbClr val="FFD166"/>
                </a:solidFill>
              </a:rPr>
              <a:t>分析目的决定使用哪些规则</a:t>
            </a:r>
            <a:r>
              <a:rPr sz="2800">
                <a:solidFill>
                  <a:srgbClr val="FFD166"/>
                </a:solidFill>
              </a:rPr>
              <a:t>。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协同学习边界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 可以帮你</a:t>
            </a:r>
          </a:p>
          <a:p>
            <a:pPr lvl="0"/>
            <a:r>
              <a:rPr/>
              <a:t>解释报错和函数参数</a:t>
            </a:r>
          </a:p>
          <a:p>
            <a:pPr lvl="0"/>
            <a:r>
              <a:rPr/>
              <a:t>比较两段代码的差异</a:t>
            </a:r>
          </a:p>
          <a:p>
            <a:pPr lvl="0"/>
            <a:r>
              <a:rPr/>
              <a:t>提出标签、配色和布局建议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必须由你完成</a:t>
            </a:r>
          </a:p>
          <a:p>
            <a:pPr lvl="0"/>
            <a:r>
              <a:rPr/>
              <a:t>明确分析目的、选择指标</a:t>
            </a:r>
          </a:p>
          <a:p>
            <a:pPr lvl="0"/>
            <a:r>
              <a:rPr/>
              <a:t>设计变量与视觉通道的映射</a:t>
            </a:r>
          </a:p>
          <a:p>
            <a:pPr lvl="0"/>
            <a:r>
              <a:rPr/>
              <a:t>解释关键代码</a:t>
            </a:r>
          </a:p>
          <a:p>
            <a:pPr lvl="0"/>
            <a:r>
              <a:rPr/>
              <a:t>核验图形与结论是否一致</a:t>
            </a:r>
          </a:p>
          <a:p>
            <a:pPr lvl="0" indent="0" marL="0">
              <a:buNone/>
            </a:pPr>
            <a:r>
              <a:rPr sz="2800" b="1">
                <a:solidFill>
                  <a:srgbClr val="FFD166"/>
                </a:solidFill>
              </a:rPr>
              <a:t>AI 使用原则：</a:t>
            </a:r>
            <a:r>
              <a:rPr sz="2800">
                <a:solidFill>
                  <a:srgbClr val="FFD166"/>
                </a:solidFill>
              </a:rPr>
              <a:t>使用 AI 本身</a:t>
            </a:r>
            <a:r>
              <a:rPr sz="2800" b="1">
                <a:solidFill>
                  <a:srgbClr val="FFD166"/>
                </a:solidFill>
              </a:rPr>
              <a:t>不加分</a:t>
            </a:r>
            <a:r>
              <a:rPr sz="2800">
                <a:solidFill>
                  <a:srgbClr val="FFD166"/>
                </a:solidFill>
              </a:rPr>
              <a:t>，</a:t>
            </a:r>
            <a:r>
              <a:rPr sz="2800" b="1">
                <a:solidFill>
                  <a:srgbClr val="FFD166"/>
                </a:solidFill>
              </a:rPr>
              <a:t>能否核验</a:t>
            </a:r>
            <a:r>
              <a:rPr sz="2800">
                <a:solidFill>
                  <a:srgbClr val="FFD166"/>
                </a:solidFill>
              </a:rPr>
              <a:t>才加分。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项目评价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问题与分析目的</a:t>
            </a:r>
            <a:r>
              <a:rPr/>
              <a:t>（15%）：每个任务的分析设计</a:t>
            </a:r>
          </a:p>
          <a:p>
            <a:pPr lvl="0"/>
            <a:r>
              <a:rPr b="1"/>
              <a:t>指标与数据映射</a:t>
            </a:r>
            <a:r>
              <a:rPr/>
              <a:t>（20%）：变量—视觉通道映射表</a:t>
            </a:r>
          </a:p>
          <a:p>
            <a:pPr lvl="0"/>
            <a:r>
              <a:rPr b="1"/>
              <a:t>代码与图形表达</a:t>
            </a:r>
            <a:r>
              <a:rPr/>
              <a:t>（25%）：可运行代码、标题、单位和图例</a:t>
            </a:r>
          </a:p>
          <a:p>
            <a:pPr lvl="0"/>
            <a:r>
              <a:rPr b="1"/>
              <a:t>证据与结论</a:t>
            </a:r>
            <a:r>
              <a:rPr/>
              <a:t>（25%）：图表解读、建议与局限</a:t>
            </a:r>
          </a:p>
          <a:p>
            <a:pPr lvl="0"/>
            <a:r>
              <a:rPr b="1"/>
              <a:t>协作、反思与责任</a:t>
            </a:r>
            <a:r>
              <a:rPr/>
              <a:t>（15%）：互动记录、AI 核验日志</a:t>
            </a:r>
          </a:p>
          <a:p>
            <a:pPr lvl="0" indent="0" marL="0">
              <a:buNone/>
            </a:pPr>
            <a:r>
              <a:rPr b="1"/>
              <a:t>提交物：</a:t>
            </a:r>
            <a:r>
              <a:rPr>
                <a:latin typeface="Courier"/>
              </a:rPr>
              <a:t>.qmd</a:t>
            </a:r>
            <a:r>
              <a:rPr/>
              <a:t> 源文件、渲染后的 HTML、项目指导书（空白版 + 内容版）和 AI 使用记录。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迁移任务：宁波舟山港</a:t>
            </a:r>
          </a:p>
        </p:txBody>
      </p:sp>
      <p:pic>
        <p:nvPicPr>
          <p:cNvPr descr="ppt7_assets/banner_po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500" y="1460500"/>
            <a:ext cx="10756900" cy="462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58800" y="6083300"/>
            <a:ext cx="110490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宁波舟山港：把「目的—指标—映射」流程迁移到新数据。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迁移任务：五步走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800">
                <a:solidFill>
                  <a:srgbClr val="FFD166"/>
                </a:solidFill>
              </a:rPr>
              <a:t>宁波舟山港不同货物类型的吞吐量有何差异？近年来货运结构发生了怎样的变化？</a:t>
            </a:r>
          </a:p>
          <a:p>
            <a:pPr lvl="0" indent="0" marL="0">
              <a:buNone/>
            </a:pPr>
            <a:r>
              <a:rPr b="1"/>
              <a:t>迁移要求（顺序不能颠倒）</a:t>
            </a:r>
          </a:p>
          <a:p>
            <a:pPr lvl="0" indent="-342900" marL="342900">
              <a:buAutoNum type="arabicPeriod"/>
            </a:pPr>
            <a:r>
              <a:rPr/>
              <a:t>写清</a:t>
            </a:r>
            <a:r>
              <a:rPr b="1"/>
              <a:t>分析目的</a:t>
            </a:r>
            <a:r>
              <a:rPr/>
              <a:t>与</a:t>
            </a:r>
            <a:r>
              <a:rPr b="1"/>
              <a:t>目标受众</a:t>
            </a:r>
          </a:p>
          <a:p>
            <a:pPr lvl="0" indent="-342900" marL="342900">
              <a:buAutoNum type="arabicPeriod"/>
            </a:pPr>
            <a:r>
              <a:rPr/>
              <a:t>在</a:t>
            </a:r>
            <a:r>
              <a:rPr b="1"/>
              <a:t>总量 / 比例 / 增长率</a:t>
            </a:r>
            <a:r>
              <a:rPr/>
              <a:t>中选一个指标，并说明理由</a:t>
            </a:r>
          </a:p>
          <a:p>
            <a:pPr lvl="0" indent="-342900" marL="342900">
              <a:buAutoNum type="arabicPeriod"/>
            </a:pPr>
            <a:r>
              <a:rPr/>
              <a:t>完成</a:t>
            </a:r>
            <a:r>
              <a:rPr b="1"/>
              <a:t>变量—视觉通道映射表</a:t>
            </a:r>
          </a:p>
          <a:p>
            <a:pPr lvl="0" indent="-342900" marL="342900">
              <a:buAutoNum type="arabicPeriod"/>
            </a:pPr>
            <a:r>
              <a:rPr/>
              <a:t>用柱形图或分面图</a:t>
            </a:r>
            <a:r>
              <a:rPr b="1"/>
              <a:t>构建证据</a:t>
            </a:r>
          </a:p>
          <a:p>
            <a:pPr lvl="0" indent="-342900" marL="342900">
              <a:buAutoNum type="arabicPeriod"/>
            </a:pPr>
            <a:r>
              <a:rPr/>
              <a:t>写出</a:t>
            </a:r>
            <a:r>
              <a:rPr b="1"/>
              <a:t>结论、建议与局限</a:t>
            </a:r>
          </a:p>
          <a:p>
            <a:pPr lvl="0" indent="0" marL="0">
              <a:buNone/>
            </a:pPr>
            <a:r>
              <a:rPr sz="2800" b="1">
                <a:solidFill>
                  <a:srgbClr val="FFD166"/>
                </a:solidFill>
              </a:rPr>
              <a:t>分析设计先于代码和图形。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课程结束前的三个问题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什么是 ggplot2 的</a:t>
            </a:r>
            <a:r>
              <a:rPr b="1"/>
              <a:t>图形语法</a:t>
            </a:r>
            <a:r>
              <a:rPr/>
              <a:t>？</a:t>
            </a:r>
          </a:p>
          <a:p>
            <a:pPr lvl="0" indent="-342900" marL="342900">
              <a:buAutoNum type="arabicPeriod"/>
            </a:pPr>
            <a:r>
              <a:rPr/>
              <a:t>为什么图形选择必须从</a:t>
            </a:r>
            <a:r>
              <a:rPr b="1"/>
              <a:t>分析目的</a:t>
            </a:r>
            <a:r>
              <a:rPr/>
              <a:t>出发？</a:t>
            </a:r>
          </a:p>
          <a:p>
            <a:pPr lvl="0" indent="-342900" marL="342900">
              <a:buAutoNum type="arabicPeriod"/>
            </a:pPr>
            <a:r>
              <a:rPr/>
              <a:t>南丁格尔案例说明可视化怎样</a:t>
            </a:r>
            <a:r>
              <a:rPr b="1"/>
              <a:t>影响公共决策</a:t>
            </a:r>
            <a:r>
              <a:rPr/>
              <a:t>？</a:t>
            </a:r>
          </a:p>
          <a:p>
            <a:pPr lvl="0" indent="0" marL="0">
              <a:buNone/>
            </a:pPr>
            <a:r>
              <a:rPr b="1"/>
              <a:t>出口卡：</a:t>
            </a:r>
            <a:r>
              <a:rPr/>
              <a:t>写下今天最重要的</a:t>
            </a:r>
            <a:r>
              <a:rPr b="1"/>
              <a:t>一项收获</a:t>
            </a:r>
            <a:r>
              <a:rPr/>
              <a:t>、仍然不确定的</a:t>
            </a:r>
            <a:r>
              <a:rPr b="1"/>
              <a:t>一个问题</a:t>
            </a:r>
            <a:r>
              <a:rPr/>
              <a:t>、下次准备改进的</a:t>
            </a:r>
            <a:r>
              <a:rPr b="1"/>
              <a:t>一项做法</a:t>
            </a:r>
            <a:r>
              <a:rPr/>
              <a:t>。</a:t>
            </a:r>
          </a:p>
          <a:p>
            <a:pPr lvl="0" indent="0" marL="0">
              <a:buNone/>
            </a:pPr>
            <a:r>
              <a:rPr b="1"/>
              <a:t>回到那条链：</a:t>
            </a:r>
            <a:r>
              <a:rPr/>
              <a:t>真实问题 → 明确分析目的 → 选择指标 → 建立映射 → 构建图形 → 解读证据 → 形成建议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谢谢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让证据被看见。</a:t>
            </a:r>
          </a:p>
          <a:p>
            <a:pPr lvl="0" indent="0" marL="0">
              <a:buNone/>
            </a:pPr>
            <a:r>
              <a:rPr/>
              <a:t>本讲项目：克里米亚战场士兵死亡原因探究 数据来源：</a:t>
            </a:r>
            <a:r>
              <a:rPr>
                <a:latin typeface="Courier"/>
              </a:rPr>
              <a:t>HistData::Nightingale</a:t>
            </a:r>
            <a:r>
              <a:rPr/>
              <a:t>（南丁格尔，1858）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CourseDark">
      <a:dk1>
        <a:srgbClr val="243039"/>
      </a:dk1>
      <a:lt1>
        <a:srgbClr val="101820"/>
      </a:lt1>
      <a:dk2>
        <a:srgbClr val="1F5F85"/>
      </a:dk2>
      <a:lt2>
        <a:srgbClr val="16222C"/>
      </a:lt2>
      <a:accent1>
        <a:srgbClr val="78C8F5"/>
      </a:accent1>
      <a:accent2>
        <a:srgbClr val="FFD166"/>
      </a:accent2>
      <a:accent3>
        <a:srgbClr val="67D6B4"/>
      </a:accent3>
      <a:accent4>
        <a:srgbClr val="FF9F87"/>
      </a:accent4>
      <a:accent5>
        <a:srgbClr val="B8C3CE"/>
      </a:accent5>
      <a:accent6>
        <a:srgbClr val="1F5F85"/>
      </a:accent6>
      <a:hlink>
        <a:srgbClr val="78C8F5"/>
      </a:hlink>
      <a:folHlink>
        <a:srgbClr val="B8C3CE"/>
      </a:folHlink>
    </a:clrScheme>
    <a:fontScheme name="Office">
      <a:maj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 ggplot2 绘图基础</dc:title>
  <dc:creator/>
  <cp:keywords/>
  <dcterms:created xsi:type="dcterms:W3CDTF">2026-09-21T05:51:12Z</dcterms:created>
  <dcterms:modified xsi:type="dcterms:W3CDTF">2026-09-21T05:51:12Z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数据如何改变战争？——基于南丁格尔玫瑰图的可视化项目</vt:lpwstr>
  </property>
  <property fmtid="{D5CDD505-2E9C-101B-9397-08002B2CF9AE}" pid="9" name="toc-title">
    <vt:lpwstr>目录</vt:lpwstr>
  </property>
</Properties>
</file>