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3.png"/><Relationship Id="rId5" Type="http://schemas.openxmlformats.org/officeDocument/2006/relationships/image" Target="../media/image-2-3.png"/><Relationship Id="rId6" Type="http://schemas.openxmlformats.org/officeDocument/2006/relationships/image" Target="../media/image-2-3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image" Target="../media/image-4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db920b88-cc5e-5bde-bd22-fdb259964c46/scratchpad/img_lam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66560" y="0"/>
            <a:ext cx="542239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9144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30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《R语言与数据可视化》 第 2 讲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60020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用数据讲故事</a:t>
            </a:r>
            <a:endParaRPr lang="en-US" sz="5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6517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ggplot2 绘图基础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2918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南丁格尔玫瑰图项目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749808" y="4206240"/>
            <a:ext cx="2926080" cy="0"/>
          </a:xfrm>
          <a:prstGeom prst="line">
            <a:avLst/>
          </a:prstGeom>
          <a:noFill/>
          <a:ln w="25400">
            <a:solidFill>
              <a:srgbClr val="E4B45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3891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30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数据能否为卫生改革的资源投入</a:t>
            </a:r>
            <a:endParaRPr lang="en-US" sz="3000" dirty="0"/>
          </a:p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30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提供可信证据？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66928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问题牵引 · 数据探究 · 图形建构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证据解读 · 决策反思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战场之外的死亡</a:t>
            </a:r>
            <a:endParaRPr lang="en-US" sz="3600" dirty="0"/>
          </a:p>
        </p:txBody>
      </p:sp>
      <p:pic>
        <p:nvPicPr>
          <p:cNvPr id="5" name="Image 0" descr="/tmp/claude-0/-home-claude/db920b88-cc5e-5bde-bd22-fdb259964c46/scratchpad/img_scutari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1691640"/>
            <a:ext cx="5394960" cy="2011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840480"/>
            <a:ext cx="5394960" cy="148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1854 年，克里米亚战争爆发。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南丁格尔在斯库塔里看到的却是：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拥挤、污秽、疾病蔓延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691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先凭直觉投票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400800" y="2276856"/>
            <a:ext cx="475488" cy="475488"/>
          </a:xfrm>
          <a:prstGeom prst="ellipse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</p:sp>
      <p:pic>
        <p:nvPicPr>
          <p:cNvPr id="9" name="Image 1" descr="/tmp/claude-0/-home-claude/db920b88-cc5e-5bde-bd22-fdb259964c46/scratchpad/icon_FaVoteY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38658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086600" y="2240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战伤</a:t>
            </a:r>
            <a:endParaRPr lang="en-US" sz="2800" dirty="0"/>
          </a:p>
        </p:txBody>
      </p:sp>
      <p:sp>
        <p:nvSpPr>
          <p:cNvPr id="11" name="Shape 7"/>
          <p:cNvSpPr/>
          <p:nvPr/>
        </p:nvSpPr>
        <p:spPr>
          <a:xfrm>
            <a:off x="6400800" y="2880360"/>
            <a:ext cx="475488" cy="475488"/>
          </a:xfrm>
          <a:prstGeom prst="ellipse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</p:sp>
      <p:pic>
        <p:nvPicPr>
          <p:cNvPr id="12" name="Image 2" descr="/tmp/claude-0/-home-claude/db920b88-cc5e-5bde-bd22-fdb259964c46/scratchpad/icon_FaVoteYe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2990088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86600" y="28437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可预防疾病</a:t>
            </a:r>
            <a:endParaRPr lang="en-US" sz="2800" dirty="0"/>
          </a:p>
        </p:txBody>
      </p:sp>
      <p:sp>
        <p:nvSpPr>
          <p:cNvPr id="14" name="Shape 9"/>
          <p:cNvSpPr/>
          <p:nvPr/>
        </p:nvSpPr>
        <p:spPr>
          <a:xfrm>
            <a:off x="6400800" y="3483864"/>
            <a:ext cx="475488" cy="475488"/>
          </a:xfrm>
          <a:prstGeom prst="ellipse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</p:sp>
      <p:pic>
        <p:nvPicPr>
          <p:cNvPr id="15" name="Image 3" descr="/tmp/claude-0/-home-claude/db920b88-cc5e-5bde-bd22-fdb259964c46/scratchpad/icon_FaVoteYe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3593592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086600" y="34472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其他原因</a:t>
            </a:r>
            <a:endParaRPr lang="en-US" sz="2800" dirty="0"/>
          </a:p>
        </p:txBody>
      </p:sp>
      <p:sp>
        <p:nvSpPr>
          <p:cNvPr id="17" name="Shape 11"/>
          <p:cNvSpPr/>
          <p:nvPr/>
        </p:nvSpPr>
        <p:spPr>
          <a:xfrm>
            <a:off x="6400800" y="4087368"/>
            <a:ext cx="475488" cy="475488"/>
          </a:xfrm>
          <a:prstGeom prst="ellipse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</p:sp>
      <p:pic>
        <p:nvPicPr>
          <p:cNvPr id="18" name="Image 4" descr="/tmp/claude-0/-home-claude/db920b88-cc5e-5bde-bd22-fdb259964c46/scratchpad/icon_FaVoteYe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4197096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086600" y="40507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需要数据，无法判断</a:t>
            </a:r>
            <a:endParaRPr lang="en-US" sz="2800" dirty="0"/>
          </a:p>
        </p:txBody>
      </p:sp>
      <p:sp>
        <p:nvSpPr>
          <p:cNvPr id="20" name="Text 13"/>
          <p:cNvSpPr txBox="1"/>
          <p:nvPr/>
        </p:nvSpPr>
        <p:spPr>
          <a:xfrm>
            <a:off x="6400800" y="4745736"/>
            <a:ext cx="530352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她记录了 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个月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的伤亡数据。</a:t>
            </a:r>
            <a:endParaRPr lang="en-US" sz="2800" dirty="0"/>
          </a:p>
        </p:txBody>
      </p:sp>
      <p:sp>
        <p:nvSpPr>
          <p:cNvPr id="21" name="Shape 14"/>
          <p:cNvSpPr/>
          <p:nvPr/>
        </p:nvSpPr>
        <p:spPr>
          <a:xfrm>
            <a:off x="457200" y="5440680"/>
            <a:ext cx="11274552" cy="1143000"/>
          </a:xfrm>
          <a:prstGeom prst="roundRect">
            <a:avLst>
              <a:gd name="adj" fmla="val 8000"/>
            </a:avLst>
          </a:prstGeom>
          <a:solidFill>
            <a:srgbClr val="E4B45A">
              <a:alpha val="14000"/>
            </a:srgbClr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pic>
        <p:nvPicPr>
          <p:cNvPr id="22" name="Image 5" descr="/tmp/claude-0/-home-claude/db920b88-cc5e-5bde-bd22-fdb259964c46/scratchpad/icon_FaQuestion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5614416"/>
            <a:ext cx="347472" cy="34747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143000" y="5550408"/>
            <a:ext cx="10405872" cy="1020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【先想一想】主要死于</a:t>
            </a:r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战伤</a:t>
            </a:r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，还是</a:t>
            </a:r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可预防的疾病</a:t>
            </a:r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？判断：______　理由：__________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一张图，改变了一次决策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03504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/tmp/claude-0/-home-claude/db920b88-cc5e-5bde-bd22-fdb259964c46/scratchpad/charts/rose_plai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2064" y="1746504"/>
            <a:ext cx="5925312" cy="34107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720840" y="1691640"/>
            <a:ext cx="5029200" cy="2755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1855.3</a:t>
            </a:r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开展卫生工程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1858</a:t>
            </a:r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发表「玫瑰图」</a:t>
            </a:r>
            <a:endParaRPr lang="en-US" sz="2800" dirty="0"/>
          </a:p>
          <a:p>
            <a:pPr algn="l" marL="304800" indent="-3048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两个扇形图 = 改革前后</a:t>
            </a:r>
            <a:endParaRPr lang="en-US" sz="2800" dirty="0"/>
          </a:p>
          <a:p>
            <a:pPr algn="l" marL="304800" indent="-3048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扇形</a:t>
            </a:r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面积</a:t>
            </a:r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死亡水平</a:t>
            </a:r>
            <a:endParaRPr lang="en-US" sz="2800" dirty="0"/>
          </a:p>
          <a:p>
            <a:pPr algn="l" marL="304800" indent="-3048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</a:t>
            </a:r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死亡原因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57200" y="5394960"/>
            <a:ext cx="11274552" cy="1188720"/>
          </a:xfrm>
          <a:prstGeom prst="roundRect">
            <a:avLst>
              <a:gd name="adj" fmla="val 7692"/>
            </a:avLst>
          </a:prstGeom>
          <a:solidFill>
            <a:srgbClr val="67D6B4">
              <a:alpha val="14000"/>
            </a:srgbClr>
          </a:solidFill>
          <a:ln w="12700">
            <a:solidFill>
              <a:srgbClr val="67D6B4">
                <a:alpha val="0"/>
              </a:srgbClr>
            </a:solidFill>
            <a:prstDash val="solid"/>
          </a:ln>
        </p:spPr>
      </p:sp>
      <p:pic>
        <p:nvPicPr>
          <p:cNvPr id="9" name="Image 1" descr="/tmp/claude-0/-home-claude/db920b88-cc5e-5bde-bd22-fdb259964c46/scratchpad/icon_FaLight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568696"/>
            <a:ext cx="347472" cy="3474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5504688"/>
            <a:ext cx="10405872" cy="1020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67D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可视化不只是把数字画出来，而是</a:t>
            </a:r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让证据被看见</a:t>
            </a:r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67D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——议员一眼看懂：主要死因不是战斗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你的角色：军队卫生改革数据顾问</a:t>
            </a:r>
            <a:endParaRPr lang="en-US" sz="3600" dirty="0"/>
          </a:p>
        </p:txBody>
      </p:sp>
      <p:pic>
        <p:nvPicPr>
          <p:cNvPr id="5" name="Image 0" descr="/tmp/claude-0/-home-claude/db920b88-cc5e-5bde-bd22-fdb259964c46/scratchpad/icon_FaUserT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91640"/>
            <a:ext cx="9875520" cy="1059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政府需要决定：有限的资源，优先用于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战伤救治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还是用于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改善医院与营地的卫生条件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57200" y="3017520"/>
            <a:ext cx="11274552" cy="802640"/>
          </a:xfrm>
          <a:prstGeom prst="roundRect">
            <a:avLst>
              <a:gd name="adj" fmla="val 11392"/>
            </a:avLst>
          </a:prstGeom>
          <a:solidFill>
            <a:srgbClr val="E4B45A">
              <a:alpha val="14000"/>
            </a:srgbClr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pic>
        <p:nvPicPr>
          <p:cNvPr id="8" name="Image 1" descr="/tmp/claude-0/-home-claude/db920b88-cc5e-5bde-bd22-fdb259964c46/scratchpad/icon_FaQuestion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191256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3127248"/>
            <a:ext cx="10405872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驱动性问题：</a:t>
            </a:r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数据能否为卫生改革的资源投入提供可信证据？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</a:t>
            </a:r>
            <a:endParaRPr lang="en-US" sz="2800" dirty="0"/>
          </a:p>
        </p:txBody>
      </p:sp>
      <p:sp>
        <p:nvSpPr>
          <p:cNvPr id="11" name="Shape 7"/>
          <p:cNvSpPr/>
          <p:nvPr/>
        </p:nvSpPr>
        <p:spPr>
          <a:xfrm>
            <a:off x="457200" y="475488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1E2D4E"/>
          </a:solidFill>
          <a:ln w="12700">
            <a:solidFill>
              <a:srgbClr val="1E2D4E">
                <a:alpha val="0"/>
              </a:srgbClr>
            </a:solidFill>
            <a:prstDash val="solid"/>
          </a:ln>
        </p:spPr>
      </p:sp>
      <p:pic>
        <p:nvPicPr>
          <p:cNvPr id="12" name="Image 2" descr="/tmp/claude-0/-home-claude/db920b88-cc5e-5bde-bd22-fdb259964c46/scratchpad/icon_FaChart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956048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4892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幅证据图</a:t>
            </a:r>
            <a:endParaRPr lang="en-US" sz="30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55778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 4 个不同的分析问题</a:t>
            </a:r>
            <a:endParaRPr lang="en-US" sz="2800" dirty="0"/>
          </a:p>
        </p:txBody>
      </p:sp>
      <p:sp>
        <p:nvSpPr>
          <p:cNvPr id="15" name="Shape 10"/>
          <p:cNvSpPr/>
          <p:nvPr/>
        </p:nvSpPr>
        <p:spPr>
          <a:xfrm>
            <a:off x="4288536" y="475488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1E2D4E"/>
          </a:solidFill>
          <a:ln w="12700">
            <a:solidFill>
              <a:srgbClr val="1E2D4E">
                <a:alpha val="0"/>
              </a:srgbClr>
            </a:solidFill>
            <a:prstDash val="solid"/>
          </a:ln>
        </p:spPr>
      </p:sp>
      <p:pic>
        <p:nvPicPr>
          <p:cNvPr id="16" name="Image 3" descr="/tmp/claude-0/-home-claude/db920b88-cc5e-5bde-bd22-fdb259964c46/scratchpad/icon_FaCommentDo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7136" y="4956048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111496" y="4892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段图表解读</a:t>
            </a:r>
            <a:endParaRPr lang="en-US" sz="3000" dirty="0"/>
          </a:p>
        </p:txBody>
      </p:sp>
      <p:sp>
        <p:nvSpPr>
          <p:cNvPr id="18" name="Text 12"/>
          <p:cNvSpPr txBox="1"/>
          <p:nvPr/>
        </p:nvSpPr>
        <p:spPr>
          <a:xfrm>
            <a:off x="4517136" y="55778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结论—证据—建议—局限</a:t>
            </a:r>
            <a:endParaRPr lang="en-US" sz="2800" dirty="0"/>
          </a:p>
        </p:txBody>
      </p:sp>
      <p:sp>
        <p:nvSpPr>
          <p:cNvPr id="19" name="Shape 13"/>
          <p:cNvSpPr/>
          <p:nvPr/>
        </p:nvSpPr>
        <p:spPr>
          <a:xfrm>
            <a:off x="8119872" y="475488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1E2D4E"/>
          </a:solidFill>
          <a:ln w="12700">
            <a:solidFill>
              <a:srgbClr val="1E2D4E">
                <a:alpha val="0"/>
              </a:srgbClr>
            </a:solidFill>
            <a:prstDash val="solid"/>
          </a:ln>
        </p:spPr>
      </p:sp>
      <p:pic>
        <p:nvPicPr>
          <p:cNvPr id="20" name="Image 4" descr="/tmp/claude-0/-home-claude/db920b88-cc5e-5bde-bd22-fdb259964c46/scratchpad/icon_FaFlagChecke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4956048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942832" y="4892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项行动建议</a:t>
            </a:r>
            <a:endParaRPr lang="en-US" sz="3000" dirty="0"/>
          </a:p>
        </p:txBody>
      </p:sp>
      <p:sp>
        <p:nvSpPr>
          <p:cNvPr id="22" name="Text 15"/>
          <p:cNvSpPr txBox="1"/>
          <p:nvPr/>
        </p:nvSpPr>
        <p:spPr>
          <a:xfrm>
            <a:off x="8348472" y="55778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面向决策，并说明边界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认识数据：人数，还是率？</a:t>
            </a:r>
            <a:endParaRPr lang="en-US" sz="3600" dirty="0"/>
          </a:p>
        </p:txBody>
      </p:sp>
      <p:pic>
        <p:nvPicPr>
          <p:cNvPr id="5" name="Image 0" descr="/tmp/claude-0/-home-claude/db920b88-cc5e-5bde-bd22-fdb259964c46/scratchpad/img_writi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1691640"/>
            <a:ext cx="3931920" cy="2240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663440" y="1691640"/>
            <a:ext cx="7086600" cy="208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HistData::Nightingale</a:t>
            </a:r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共 24 个月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改革前 12 月（1854.4—1855.3）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改革后 12 月（1855.4—1856.3）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军队人数 </a:t>
            </a:r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8571 → 47751</a:t>
            </a:r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，不断变化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1480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035040"/>
                <a:gridCol w="2862072"/>
              </a:tblGrid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适合回答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死亡人数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死了多少人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死亡</a:t>
                      </a:r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负担</a:t>
                      </a:r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多重？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年化死亡率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死亡人数÷军队人数（千人年）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死亡</a:t>
                      </a:r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多高？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6070092"/>
            <a:ext cx="11274552" cy="802640"/>
          </a:xfrm>
          <a:prstGeom prst="roundRect">
            <a:avLst>
              <a:gd name="adj" fmla="val 11392"/>
            </a:avLst>
          </a:prstGeom>
          <a:solidFill>
            <a:srgbClr val="E4B45A">
              <a:alpha val="14000"/>
            </a:srgbClr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pic>
        <p:nvPicPr>
          <p:cNvPr id="9" name="Image 1" descr="/tmp/claude-0/-home-claude/db920b88-cc5e-5bde-bd22-fdb259964c46/scratchpad/icon_FaQuestion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243828"/>
            <a:ext cx="347472" cy="3474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43000" y="6179820"/>
            <a:ext cx="10405872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【先想一想】"负担"用哪个指标？"风险"用哪个？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可视化全流程地图（先补全）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1127455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不是"讲一个函数、模仿一段代码"，而是围绕真实问题不断追问：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402840"/>
            <a:ext cx="1500922" cy="1051560"/>
          </a:xfrm>
          <a:prstGeom prst="roundRect">
            <a:avLst>
              <a:gd name="adj" fmla="val 8696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402840"/>
            <a:ext cx="15009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930690" y="240284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086138" y="2402840"/>
            <a:ext cx="1500922" cy="1051560"/>
          </a:xfrm>
          <a:prstGeom prst="roundRect">
            <a:avLst>
              <a:gd name="adj" fmla="val 8696"/>
            </a:avLst>
          </a:prstGeom>
          <a:solidFill>
            <a:srgbClr val="E4B45A">
              <a:alpha val="25000"/>
            </a:srgbClr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86138" y="2402840"/>
            <a:ext cx="15009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559629" y="240284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715077" y="2402840"/>
            <a:ext cx="1500922" cy="1051560"/>
          </a:xfrm>
          <a:prstGeom prst="roundRect">
            <a:avLst>
              <a:gd name="adj" fmla="val 8696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15077" y="2402840"/>
            <a:ext cx="15009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188567" y="240284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344015" y="2402840"/>
            <a:ext cx="1500922" cy="1051560"/>
          </a:xfrm>
          <a:prstGeom prst="roundRect">
            <a:avLst>
              <a:gd name="adj" fmla="val 8696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44015" y="2402840"/>
            <a:ext cx="15009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映射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817505" y="240284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972953" y="2402840"/>
            <a:ext cx="1500922" cy="1051560"/>
          </a:xfrm>
          <a:prstGeom prst="roundRect">
            <a:avLst>
              <a:gd name="adj" fmla="val 8696"/>
            </a:avLst>
          </a:prstGeom>
          <a:solidFill>
            <a:srgbClr val="E4B45A">
              <a:alpha val="25000"/>
            </a:srgbClr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72953" y="2402840"/>
            <a:ext cx="15009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8446443" y="240284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8601891" y="2402840"/>
            <a:ext cx="1500922" cy="1051560"/>
          </a:xfrm>
          <a:prstGeom prst="roundRect">
            <a:avLst>
              <a:gd name="adj" fmla="val 8696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01891" y="2402840"/>
            <a:ext cx="15009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解读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10075382" y="240284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10230830" y="2402840"/>
            <a:ext cx="1500922" cy="1051560"/>
          </a:xfrm>
          <a:prstGeom prst="roundRect">
            <a:avLst>
              <a:gd name="adj" fmla="val 8696"/>
            </a:avLst>
          </a:prstGeom>
          <a:solidFill>
            <a:srgbClr val="E4B45A">
              <a:alpha val="25000"/>
            </a:srgbClr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230830" y="2402840"/>
            <a:ext cx="15009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457200" y="3683000"/>
            <a:ext cx="11274552" cy="2941828"/>
          </a:xfrm>
          <a:prstGeom prst="roundRect">
            <a:avLst>
              <a:gd name="adj" fmla="val 3108"/>
            </a:avLst>
          </a:prstGeom>
          <a:solidFill>
            <a:srgbClr val="E4B45A">
              <a:alpha val="14000"/>
            </a:srgbClr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pic>
        <p:nvPicPr>
          <p:cNvPr id="27" name="Image 0" descr="/tmp/claude-0/-home-claude/db920b88-cc5e-5bde-bd22-fdb259964c46/scratchpad/icon_FaQuestion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56736"/>
            <a:ext cx="347472" cy="347472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143000" y="3792728"/>
            <a:ext cx="10405872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【先想一想】补全这条链</a:t>
            </a:r>
            <a:endParaRPr lang="en-US" sz="28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430776"/>
            <a:ext cx="10817352" cy="208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备选：认识数据 / 明确分析目的 / 构建图形 / 形成建议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应填入 ________　它要回答：________________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应填入 ________　它要回答：________________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应填入 ________　它要回答：________________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四个任务构成完整问题链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45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828800"/>
                <a:gridCol w="5120640"/>
                <a:gridCol w="2404872"/>
              </a:tblGrid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课时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当前问题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阶段成果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第一课时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 1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哪类死因</a:t>
                      </a:r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负担</a:t>
                      </a:r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最重？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累计人数图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第一课时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 2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高死亡</a:t>
                      </a:r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集中在个别月</a:t>
                      </a:r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？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月度堆叠图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第一课时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巩固提升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三类死因变化一致吗？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三星任务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第二课时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 3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改革前后</a:t>
                      </a:r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有何变化</a:t>
                      </a:r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？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分面对比图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第二课时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 4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玫瑰图：</a:t>
                      </a:r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</a:t>
                      </a:r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还是</a:t>
                      </a:r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传播</a:t>
                      </a:r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？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玫瑰图评价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465064"/>
            <a:ext cx="2722626" cy="566928"/>
          </a:xfrm>
          <a:prstGeom prst="roundRect">
            <a:avLst>
              <a:gd name="adj" fmla="val 16129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5465064"/>
            <a:ext cx="27226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3152394" y="5465064"/>
            <a:ext cx="18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307842" y="5465064"/>
            <a:ext cx="2722626" cy="566928"/>
          </a:xfrm>
          <a:prstGeom prst="roundRect">
            <a:avLst>
              <a:gd name="adj" fmla="val 16129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07842" y="5465064"/>
            <a:ext cx="27226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数据映射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003036" y="5465064"/>
            <a:ext cx="18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58484" y="5465064"/>
            <a:ext cx="2722626" cy="566928"/>
          </a:xfrm>
          <a:prstGeom prst="roundRect">
            <a:avLst>
              <a:gd name="adj" fmla="val 16129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58484" y="5465064"/>
            <a:ext cx="27226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图形建构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8853678" y="5465064"/>
            <a:ext cx="18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9009126" y="5465064"/>
            <a:ext cx="2722626" cy="566928"/>
          </a:xfrm>
          <a:prstGeom prst="roundRect">
            <a:avLst>
              <a:gd name="adj" fmla="val 16129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009126" y="5465064"/>
            <a:ext cx="27226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图表解读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16915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分层要求：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基础必做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 进阶选做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 挑战合作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视觉通道：把数据送进眼睛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455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  <a:gridCol w="2377440"/>
                <a:gridCol w="2130552"/>
              </a:tblGrid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视觉通道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人眼感知特点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适合数据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本项目示例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位置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最精确，读出高低左右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数值 / 类别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月份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长度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很精确，直接比较长短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数值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柱高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角度/面积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较粗略，容易被夸大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数值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扇形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颜色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擅长分类，不擅长比大小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死亡原因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分面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拆成结构相同的小图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改革前/后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419344"/>
            <a:ext cx="11274552" cy="1257808"/>
          </a:xfrm>
          <a:prstGeom prst="roundRect">
            <a:avLst>
              <a:gd name="adj" fmla="val 7270"/>
            </a:avLst>
          </a:prstGeom>
          <a:solidFill>
            <a:srgbClr val="E4B45A">
              <a:alpha val="14000"/>
            </a:srgbClr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pic>
        <p:nvPicPr>
          <p:cNvPr id="7" name="Image 0" descr="/tmp/claude-0/-home-claude/db920b88-cc5e-5bde-bd22-fdb259964c46/scratchpad/icon_FaQuestion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593080"/>
            <a:ext cx="347472" cy="3474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5529072"/>
            <a:ext cx="10405872" cy="1020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【先想一想】要</a:t>
            </a:r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精确比较</a:t>
            </a:r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三类死因，优先用哪两个通道？选择：______　理由：______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ggplot2 图形语法：数据 + 映射 + 图层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035040" cy="3200400"/>
          </a:xfrm>
          <a:prstGeom prst="roundRect">
            <a:avLst>
              <a:gd name="adj" fmla="val 2286"/>
            </a:avLst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5760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ggplot(data = 数据框,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aes(x = 横轴变量, y = 纵轴变量,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fill = 分类变量)) +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geom_几何对象() +    # 柱、点、线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scale_标度() +       # 颜色、刻度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facet_分面() +       # 分组比较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coord_坐标系() +     # 直角 / 极坐标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labs(...) +          # 标题、轴名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theme_主题()         # 非数据元素</a:t>
            </a:r>
            <a:endParaRPr lang="en-US" sz="2000" dirty="0"/>
          </a:p>
        </p:txBody>
      </p:sp>
      <p:pic>
        <p:nvPicPr>
          <p:cNvPr id="7" name="Image 0" descr="/tmp/claude-0/-home-claude/db920b88-cc5e-5bde-bd22-fdb259964c46/scratchpad/icon_FaLayerGro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91640"/>
            <a:ext cx="594360" cy="5943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0" y="2468880"/>
            <a:ext cx="4892040" cy="341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核心骨架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ggplot(data, aes())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geom_*()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本项目扩展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scale_*()  facet_*()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coord_*()  labs()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theme_*()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57200" y="5669280"/>
            <a:ext cx="11274552" cy="777240"/>
          </a:xfrm>
          <a:prstGeom prst="roundRect">
            <a:avLst>
              <a:gd name="adj" fmla="val 11765"/>
            </a:avLst>
          </a:prstGeom>
          <a:solidFill>
            <a:srgbClr val="67D6B4">
              <a:alpha val="14000"/>
            </a:srgbClr>
          </a:solidFill>
          <a:ln w="12700">
            <a:solidFill>
              <a:srgbClr val="67D6B4">
                <a:alpha val="0"/>
              </a:srgbClr>
            </a:solidFill>
            <a:prstDash val="solid"/>
          </a:ln>
        </p:spPr>
      </p:sp>
      <p:pic>
        <p:nvPicPr>
          <p:cNvPr id="10" name="Image 1" descr="/tmp/claude-0/-home-claude/db920b88-cc5e-5bde-bd22-fdb259964c46/scratchpad/icon_FaLight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84301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43000" y="5779008"/>
            <a:ext cx="10405872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67D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像搭积木：一层一层加上去，每一层只回答一个问题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ggplot2 图层的职责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画什么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5486400" cy="768096"/>
          </a:xfrm>
          <a:prstGeom prst="roundRect">
            <a:avLst>
              <a:gd name="adj" fmla="val 11905"/>
            </a:avLst>
          </a:prstGeom>
          <a:solidFill>
            <a:srgbClr val="1E2D4E"/>
          </a:solidFill>
          <a:ln w="12700">
            <a:solidFill>
              <a:srgbClr val="1E2D4E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40280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225856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使用哪份数据？</a:t>
            </a:r>
            <a:endParaRPr lang="en-US" sz="28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ggplot(data=...)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3081528"/>
            <a:ext cx="5486400" cy="768096"/>
          </a:xfrm>
          <a:prstGeom prst="roundRect">
            <a:avLst>
              <a:gd name="adj" fmla="val 11905"/>
            </a:avLst>
          </a:prstGeom>
          <a:solidFill>
            <a:srgbClr val="1E2D4E"/>
          </a:solidFill>
          <a:ln w="12700">
            <a:solidFill>
              <a:srgbClr val="1E2D4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081528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mapping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3099816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变量映射到哪里？</a:t>
            </a:r>
            <a:endParaRPr lang="en-US" sz="28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aes(x, y, fill)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57200" y="3922776"/>
            <a:ext cx="5486400" cy="768096"/>
          </a:xfrm>
          <a:prstGeom prst="roundRect">
            <a:avLst>
              <a:gd name="adj" fmla="val 11905"/>
            </a:avLst>
          </a:prstGeom>
          <a:solidFill>
            <a:srgbClr val="1E2D4E"/>
          </a:solidFill>
          <a:ln w="12700">
            <a:solidFill>
              <a:srgbClr val="1E2D4E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922776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3941064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用什么图形表达？</a:t>
            </a:r>
            <a:endParaRPr lang="en-US" sz="28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geom_col()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57200" y="4764024"/>
            <a:ext cx="5486400" cy="768096"/>
          </a:xfrm>
          <a:prstGeom prst="roundRect">
            <a:avLst>
              <a:gd name="adj" fmla="val 11905"/>
            </a:avLst>
          </a:prstGeom>
          <a:solidFill>
            <a:srgbClr val="1E2D4E"/>
          </a:solidFill>
          <a:ln w="12700">
            <a:solidFill>
              <a:srgbClr val="1E2D4E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764024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478231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是否需要统计变换？</a:t>
            </a:r>
            <a:endParaRPr lang="en-US" sz="28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stat="identity"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245352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怎样显示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245352" y="2240280"/>
            <a:ext cx="5486400" cy="768096"/>
          </a:xfrm>
          <a:prstGeom prst="roundRect">
            <a:avLst>
              <a:gd name="adj" fmla="val 11905"/>
            </a:avLst>
          </a:prstGeom>
          <a:solidFill>
            <a:srgbClr val="1E2D4E"/>
          </a:solidFill>
          <a:ln w="12700">
            <a:solidFill>
              <a:srgbClr val="1E2D4E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28232" y="2240280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165592" y="225856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颜色刻度怎样显示？</a:t>
            </a:r>
            <a:endParaRPr lang="en-US" sz="28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scale_fill_manual()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6245352" y="3081528"/>
            <a:ext cx="5486400" cy="768096"/>
          </a:xfrm>
          <a:prstGeom prst="roundRect">
            <a:avLst>
              <a:gd name="adj" fmla="val 11905"/>
            </a:avLst>
          </a:prstGeom>
          <a:solidFill>
            <a:srgbClr val="1E2D4E"/>
          </a:solidFill>
          <a:ln w="12700">
            <a:solidFill>
              <a:srgbClr val="1E2D4E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28232" y="3081528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facet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8165592" y="3099816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怎样分组比较？</a:t>
            </a:r>
            <a:endParaRPr lang="en-US" sz="28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facet_wrap()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6245352" y="3922776"/>
            <a:ext cx="5486400" cy="768096"/>
          </a:xfrm>
          <a:prstGeom prst="roundRect">
            <a:avLst>
              <a:gd name="adj" fmla="val 11905"/>
            </a:avLst>
          </a:prstGeom>
          <a:solidFill>
            <a:srgbClr val="1E2D4E"/>
          </a:solidFill>
          <a:ln w="12700">
            <a:solidFill>
              <a:srgbClr val="1E2D4E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28232" y="3922776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165592" y="3941064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什么坐标系统？</a:t>
            </a:r>
            <a:endParaRPr lang="en-US" sz="28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coord_polar()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6245352" y="4764024"/>
            <a:ext cx="5486400" cy="768096"/>
          </a:xfrm>
          <a:prstGeom prst="roundRect">
            <a:avLst>
              <a:gd name="adj" fmla="val 11905"/>
            </a:avLst>
          </a:prstGeom>
          <a:solidFill>
            <a:srgbClr val="1E2D4E"/>
          </a:solidFill>
          <a:ln w="12700">
            <a:solidFill>
              <a:srgbClr val="1E2D4E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28232" y="4764024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labs/theme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8165592" y="478231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标题、轴名与外观</a:t>
            </a:r>
            <a:endParaRPr lang="en-US" sz="28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labs()  theme_*()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457200" y="5715000"/>
            <a:ext cx="11274552" cy="802640"/>
          </a:xfrm>
          <a:prstGeom prst="roundRect">
            <a:avLst>
              <a:gd name="adj" fmla="val 11392"/>
            </a:avLst>
          </a:prstGeom>
          <a:solidFill>
            <a:srgbClr val="67D6B4">
              <a:alpha val="14000"/>
            </a:srgbClr>
          </a:solidFill>
          <a:ln w="12700">
            <a:solidFill>
              <a:srgbClr val="67D6B4">
                <a:alpha val="0"/>
              </a:srgbClr>
            </a:solidFill>
            <a:prstDash val="solid"/>
          </a:ln>
        </p:spPr>
      </p:sp>
      <p:pic>
        <p:nvPicPr>
          <p:cNvPr id="32" name="Image 0" descr="/tmp/claude-0/-home-claude/db920b88-cc5e-5bde-bd22-fdb259964c46/scratchpad/icon_Fa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888736"/>
            <a:ext cx="347472" cy="347472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143000" y="5824728"/>
            <a:ext cx="10405872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换一个坐标系统，图形含义就变了</a:t>
            </a:r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67D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——任务 4 要讨论的问题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变量映射 vs 属性设定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映射：写在 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aes()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内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5486400" cy="1549400"/>
          </a:xfrm>
          <a:prstGeom prst="roundRect">
            <a:avLst>
              <a:gd name="adj" fmla="val 4721"/>
            </a:avLst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286000"/>
            <a:ext cx="5212080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ggplot(before,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aes(x = 月份, y = 死亡率,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fill = 死亡原因)) +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geom_col()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794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颜色随数据变化，自动生成图例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属性设定：写在 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aes()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外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245352" y="2194560"/>
            <a:ext cx="5486400" cy="1549400"/>
          </a:xfrm>
          <a:prstGeom prst="roundRect">
            <a:avLst>
              <a:gd name="adj" fmla="val 4721"/>
            </a:avLst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2512" y="2286000"/>
            <a:ext cx="5212080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ggplot(before,
  aes(x = 月份, y = 死亡率)) +
  geom_col(fill = "steelblue")
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245352" y="3794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所有柱子同色，不生成图例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11274552" cy="2852928"/>
          </a:xfrm>
          <a:prstGeom prst="roundRect">
            <a:avLst>
              <a:gd name="adj" fmla="val 3205"/>
            </a:avLst>
          </a:prstGeom>
          <a:solidFill>
            <a:srgbClr val="E4B45A">
              <a:alpha val="14000"/>
            </a:srgbClr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pic>
        <p:nvPicPr>
          <p:cNvPr id="14" name="Image 0" descr="/tmp/claude-0/-home-claude/db920b88-cc5e-5bde-bd22-fdb259964c46/scratchpad/icon_FaQuestion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562856"/>
            <a:ext cx="347472" cy="34747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143000" y="4498848"/>
            <a:ext cx="10405872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【先想一想】判断题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5136896"/>
            <a:ext cx="10817352" cy="199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geom_col(fill="steelblue")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让三类死因变成几种颜色？____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aes(fill = 死亡原因)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中的颜色由 ________ 决定？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玫瑰图漏掉 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= 死亡原因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，会发生什么？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geom_col() 还是 geom_bar()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455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572000"/>
                <a:gridCol w="4142232"/>
              </a:tblGrid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函数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柱高来自哪里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适用问题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78C8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geom_bar()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自动统计每类有多少行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每类</a:t>
                      </a:r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出现多少次</a:t>
                      </a:r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？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78C8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geom_col()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直接使用已有的 y 变量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每类</a:t>
                      </a:r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已有数值是多少</a:t>
                      </a:r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？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692652"/>
            <a:ext cx="6949440" cy="1549400"/>
          </a:xfrm>
          <a:prstGeom prst="roundRect">
            <a:avLst>
              <a:gd name="adj" fmla="val 4721"/>
            </a:avLst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784092"/>
            <a:ext cx="6675120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ggplot(cause_summary,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aes(x = 死亡原因, y = 累计死亡人数,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fill = 死亡原因)) +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geom_col()   # 数据里已有 y 值，直接用 col</a:t>
            </a:r>
            <a:endParaRPr lang="en-US" sz="2000" dirty="0"/>
          </a:p>
        </p:txBody>
      </p:sp>
      <p:pic>
        <p:nvPicPr>
          <p:cNvPr id="8" name="Image 0" descr="/tmp/claude-0/-home-claude/db920b88-cc5e-5bde-bd22-fdb259964c46/scratchpad/icon_FaChart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738372"/>
            <a:ext cx="548640" cy="5486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412480" y="3692652"/>
            <a:ext cx="3337560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本项目已有现成数值，全部使用 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geom_col()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457200" y="5715000"/>
            <a:ext cx="11274552" cy="777240"/>
          </a:xfrm>
          <a:prstGeom prst="roundRect">
            <a:avLst>
              <a:gd name="adj" fmla="val 11765"/>
            </a:avLst>
          </a:prstGeom>
          <a:solidFill>
            <a:srgbClr val="67D6B4">
              <a:alpha val="14000"/>
            </a:srgbClr>
          </a:solidFill>
          <a:ln w="12700">
            <a:solidFill>
              <a:srgbClr val="67D6B4">
                <a:alpha val="0"/>
              </a:srgbClr>
            </a:solidFill>
            <a:prstDash val="solid"/>
          </a:ln>
        </p:spPr>
      </p:sp>
      <p:pic>
        <p:nvPicPr>
          <p:cNvPr id="11" name="Image 1" descr="/tmp/claude-0/-home-claude/db920b88-cc5e-5bde-bd22-fdb259964c46/scratchpad/icon_FaLight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888736"/>
            <a:ext cx="347472" cy="34747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5824728"/>
            <a:ext cx="10405872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67D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一句话记忆：</a:t>
            </a:r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有数值就用 col，数条数才用 bar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统一配色：scale_fill_manual()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全项目只用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一套颜色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，同一类死因在所有图中颜色一致：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BCC7C9"/>
          </a:solidFill>
          <a:ln w="12700">
            <a:solidFill>
              <a:srgbClr val="BCC7C9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3317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可预防疾病  #BCC7C9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288536" y="233172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E6BDB8"/>
          </a:solidFill>
          <a:ln w="12700">
            <a:solidFill>
              <a:srgbClr val="E6BDB8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88536" y="23317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战伤  #E6BDB8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119872" y="233172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19872" y="23317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其他原因  #777777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11274552" cy="1219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566160"/>
            <a:ext cx="11000232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cause_colors &lt;- c("可预防疾病" = "#BCC7C9",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"战伤" = "#E6BDB8", "其他原因" = "#777777")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+ scale_fill_manual(values = cause_colors)   # 套用统一配色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922520"/>
            <a:ext cx="11274552" cy="1840992"/>
          </a:xfrm>
          <a:prstGeom prst="roundRect">
            <a:avLst>
              <a:gd name="adj" fmla="val 4967"/>
            </a:avLst>
          </a:prstGeom>
          <a:solidFill>
            <a:srgbClr val="FF9F87">
              <a:alpha val="14000"/>
            </a:srgbClr>
          </a:solidFill>
          <a:ln w="12700">
            <a:solidFill>
              <a:srgbClr val="FF9F87">
                <a:alpha val="0"/>
              </a:srgbClr>
            </a:solidFill>
            <a:prstDash val="solid"/>
          </a:ln>
        </p:spPr>
      </p:sp>
      <p:pic>
        <p:nvPicPr>
          <p:cNvPr id="15" name="Image 0" descr="/tmp/claude-0/-home-claude/db920b88-cc5e-5bde-bd22-fdb259964c46/scratchpad/icon_FaExclamationTria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096256"/>
            <a:ext cx="347472" cy="34747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143000" y="5032248"/>
            <a:ext cx="10405872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FF9F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表达红线：不要覆盖 cause_colors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5670296"/>
            <a:ext cx="10817352" cy="983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自选颜色时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另起变量名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（如 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my_colors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），否则任务 3、4 的跨图对照会被带偏。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分面：facet_wrap()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766560" cy="1714500"/>
          </a:xfrm>
          <a:prstGeom prst="roundRect">
            <a:avLst>
              <a:gd name="adj" fmla="val 4267"/>
            </a:avLst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64922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ggplot(nightingale_long,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aes(x = 月份, y = 死亡率,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fill = 死亡原因)) +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geom_col() +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facet_wrap(~ 阶段, ncol = 2)  # 按阶段拆分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06640" y="1691640"/>
            <a:ext cx="4325112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/tmp/claude-0/-home-claude/db920b88-cc5e-5bde-bd22-fdb259964c46/scratchpad/charts/p2_face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61504" y="1746504"/>
            <a:ext cx="4215384" cy="1604772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89020"/>
          <a:ext cx="112745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120640"/>
                <a:gridCol w="4142232"/>
              </a:tblGrid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要点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做法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原因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纵轴尺度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78C8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scales = "fixed"</a:t>
                      </a:r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（默认）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尺度不一致则不可比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月份顺序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都按 4 月 → 次年 3 月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便于逐月对照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颜色含义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都用 </a:t>
                      </a:r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78C8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cause_colors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同一颜色 = 同一死因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6135116"/>
            <a:ext cx="1127455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分面 = 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同样的结构 + 同样的尺度 + 不同的分组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极坐标与面积编码：玫瑰图怎么来的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722626" cy="777240"/>
          </a:xfrm>
          <a:prstGeom prst="roundRect">
            <a:avLst>
              <a:gd name="adj" fmla="val 11765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91640"/>
            <a:ext cx="27226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柱形图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3152394" y="16916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307842" y="1691640"/>
            <a:ext cx="2722626" cy="777240"/>
          </a:xfrm>
          <a:prstGeom prst="roundRect">
            <a:avLst>
              <a:gd name="adj" fmla="val 11765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07842" y="1691640"/>
            <a:ext cx="27226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极坐标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003036" y="16916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158484" y="1691640"/>
            <a:ext cx="2722626" cy="777240"/>
          </a:xfrm>
          <a:prstGeom prst="roundRect">
            <a:avLst>
              <a:gd name="adj" fmla="val 11765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58484" y="1691640"/>
            <a:ext cx="27226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平方根尺度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8853678" y="16916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9009126" y="1691640"/>
            <a:ext cx="2722626" cy="777240"/>
          </a:xfrm>
          <a:prstGeom prst="roundRect">
            <a:avLst>
              <a:gd name="adj" fmla="val 11765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09126" y="1691640"/>
            <a:ext cx="27226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玫瑰图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6766560" cy="1219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743200"/>
            <a:ext cx="64922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p4_rose &lt;- p4_base +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scale_y_sqrt() +   # 半径 = √数值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coord_polar()      # 直角 → 极坐标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406640" y="2651760"/>
            <a:ext cx="4325112" cy="1219200"/>
          </a:xfrm>
          <a:prstGeom prst="roundRect">
            <a:avLst>
              <a:gd name="adj" fmla="val 7500"/>
            </a:avLst>
          </a:prstGeom>
          <a:solidFill>
            <a:srgbClr val="1E2D4E"/>
          </a:solidFill>
          <a:ln w="12700">
            <a:solidFill>
              <a:srgbClr val="1E2D4E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06640" y="2651760"/>
            <a:ext cx="4325112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4B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½ · θ · r²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053840"/>
            <a:ext cx="11274552" cy="103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扇形面积 ∝ 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半径²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：要让面积对应死亡率，半径必须按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平方根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缩放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叠加时，第 k 类扇环面积 = ½·θ·(rₖ² − rₖ₋₁²) = ½·θ·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dₖ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457200" y="5197856"/>
            <a:ext cx="11274552" cy="1257808"/>
          </a:xfrm>
          <a:prstGeom prst="roundRect">
            <a:avLst>
              <a:gd name="adj" fmla="val 7270"/>
            </a:avLst>
          </a:prstGeom>
          <a:solidFill>
            <a:srgbClr val="E4B45A">
              <a:alpha val="14000"/>
            </a:srgbClr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pic>
        <p:nvPicPr>
          <p:cNvPr id="22" name="Image 0" descr="/tmp/claude-0/-home-claude/db920b88-cc5e-5bde-bd22-fdb259964c46/scratchpad/icon_FaQuestion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371592"/>
            <a:ext cx="347472" cy="34747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143000" y="5307584"/>
            <a:ext cx="10405872" cy="1020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【先想一想】柱形图靠什么表达数值？玫瑰图呢？半径倍数 = 死亡率倍数吗？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三个容易混淆的概念 · 代码解释关卡</a:t>
            </a:r>
            <a:endParaRPr lang="en-US" sz="3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45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5056632"/>
              </a:tblGrid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概念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本项目例子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变量映射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由</a:t>
                      </a:r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数据变量</a:t>
                      </a:r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决定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78C8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aes(fill = 死亡原因)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  <a:tr h="1035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属性设定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由</a:t>
                      </a:r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你指定</a:t>
                      </a:r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，与数据无关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78C8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geom_col(fill="steelblue")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用什么数字回答问题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人数（负担）/ 率（风险）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/tmp/claude-0/-home-claude/db920b88-cc5e-5bde-bd22-fdb259964c46/scratchpad/icon_Fa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727956"/>
            <a:ext cx="548640" cy="548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472795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两人一组，轮流解释（不看讲义，用自己的话说明每一行）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368036"/>
            <a:ext cx="11155680" cy="1514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algn="l"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指定了什么？</a:t>
            </a:r>
            <a:pPr algn="l"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aes()</a:t>
            </a:r>
            <a:pPr algn="l"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建立了哪些映射？</a:t>
            </a:r>
            <a:endParaRPr lang="en-US" sz="2800" dirty="0"/>
          </a:p>
          <a:p>
            <a:pPr algn="l" marL="304800" indent="-3048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geom_col()</a:t>
            </a:r>
            <a:pPr algn="l"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为什么适合本任务？</a:t>
            </a:r>
            <a:endParaRPr lang="en-US" sz="2800" dirty="0"/>
          </a:p>
          <a:p>
            <a:pPr algn="l" marL="304800" indent="-3048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= 死亡原因</a:t>
            </a:r>
            <a:pPr algn="l"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移到 </a:t>
            </a:r>
            <a:pPr algn="l"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aes()</a:t>
            </a:r>
            <a:pPr algn="l"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外，会怎样？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第一课时：任务 1、任务 2、巩固提升</a:t>
            </a:r>
            <a:endParaRPr lang="en-US" sz="3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455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4206240"/>
                <a:gridCol w="2313432"/>
              </a:tblGrid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环节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当前问题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</a:tr>
              <a:tr h="1035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 1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认识数据·选指标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哪类死因</a:t>
                      </a:r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负担</a:t>
                      </a:r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最重？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累计人数图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 2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换月度视角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高死亡</a:t>
                      </a:r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集中在个别月</a:t>
                      </a:r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？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月度堆叠图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</a:tr>
              <a:tr h="1035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巩固提升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三星分层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变化一致吗？怎样改进？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三星任务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218176"/>
            <a:ext cx="1127455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第一课时重点：完成"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分类比较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"与"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月份变化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"两个层次的证据构建。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57200" y="6066536"/>
            <a:ext cx="2722626" cy="822960"/>
          </a:xfrm>
          <a:prstGeom prst="roundRect">
            <a:avLst>
              <a:gd name="adj" fmla="val 11111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6066536"/>
            <a:ext cx="27226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3152394" y="6066536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3307842" y="6066536"/>
            <a:ext cx="2722626" cy="822960"/>
          </a:xfrm>
          <a:prstGeom prst="roundRect">
            <a:avLst>
              <a:gd name="adj" fmla="val 11111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07842" y="6066536"/>
            <a:ext cx="27226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数据映射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003036" y="6066536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6158484" y="6066536"/>
            <a:ext cx="2722626" cy="822960"/>
          </a:xfrm>
          <a:prstGeom prst="roundRect">
            <a:avLst>
              <a:gd name="adj" fmla="val 11111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58484" y="6066536"/>
            <a:ext cx="27226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图形建构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8853678" y="6066536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9009126" y="6066536"/>
            <a:ext cx="2722626" cy="822960"/>
          </a:xfrm>
          <a:prstGeom prst="roundRect">
            <a:avLst>
              <a:gd name="adj" fmla="val 11111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009126" y="6066536"/>
            <a:ext cx="27226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图表解读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任务1   </a:t>
            </a:r>
            <a:pPr indent="0" marL="0">
              <a:buNone/>
            </a:pPr>
            <a:r>
              <a:rPr lang="en-US" sz="2400" b="1" u="heavy" dirty="0">
                <a:solidFill>
                  <a:srgbClr val="EEECE5"/>
                </a:solidFill>
                <a:uFill>
                  <a:solidFill>
                    <a:srgbClr val="E4B45A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数据映射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图形建构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图表解读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1：哪类死因的死亡负担最重？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11274552" cy="2359660"/>
          </a:xfrm>
          <a:prstGeom prst="roundRect">
            <a:avLst>
              <a:gd name="adj" fmla="val 3875"/>
            </a:avLst>
          </a:prstGeom>
          <a:solidFill>
            <a:srgbClr val="E4B45A">
              <a:alpha val="14000"/>
            </a:srgbClr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pic>
        <p:nvPicPr>
          <p:cNvPr id="7" name="Image 0" descr="/tmp/claude-0/-home-claude/db920b88-cc5e-5bde-bd22-fdb259964c46/scratchpad/icon_FaQuestion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31136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2167128"/>
            <a:ext cx="10405872" cy="1020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【先想一想】改革前三类死因各累计死亡多少人？谁的负担最重？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260344"/>
            <a:ext cx="10817352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比较的是：____________　比较的变量是：____________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我的预测：负担最重的是 ______，理由是 ____________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9994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31352"/>
              </a:tblGrid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决策问题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本任务的选择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比较对象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可预防疾病、战伤、其他原因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比较指标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累计死亡人数</a:t>
                      </a:r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（12 个月合计）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使用数据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78C8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before</a:t>
                      </a:r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（改革前 12 个月）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任务1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b="1" u="heavy" dirty="0">
                <a:solidFill>
                  <a:srgbClr val="EEECE5"/>
                </a:solidFill>
                <a:uFill>
                  <a:solidFill>
                    <a:srgbClr val="E4B45A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数据映射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图形建构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图表解读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1：变量如何进入图形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11274552" cy="1257808"/>
          </a:xfrm>
          <a:prstGeom prst="roundRect">
            <a:avLst>
              <a:gd name="adj" fmla="val 7270"/>
            </a:avLst>
          </a:prstGeom>
          <a:solidFill>
            <a:srgbClr val="E4B45A">
              <a:alpha val="14000"/>
            </a:srgbClr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pic>
        <p:nvPicPr>
          <p:cNvPr id="7" name="Image 0" descr="/tmp/claude-0/-home-claude/db920b88-cc5e-5bde-bd22-fdb259964c46/scratchpad/icon_FaQuestion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31136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2167128"/>
            <a:ext cx="10405872" cy="1020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【先想一想】补全映射表：把每个数据变量放到它该去的视觉通道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98088"/>
          <a:ext cx="11274552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76472"/>
              </a:tblGrid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数据变量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视觉通道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ggplot2 写法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死亡原因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横轴位置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78C8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______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累计死亡人数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柱形高度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78C8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 = ______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死亡原因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填充颜色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78C8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fill = ______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10" name="Image 1" descr="/tmp/claude-0/-home-claude/db920b88-cc5e-5bde-bd22-fdb259964c46/scratchpad/icon_FaLight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135624"/>
            <a:ext cx="548640" cy="5486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6089904"/>
            <a:ext cx="10515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geom_col()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：已有现成数值，柱高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直接使用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任务1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数据映射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b="1" u="heavy" dirty="0">
                <a:solidFill>
                  <a:srgbClr val="EEECE5"/>
                </a:solidFill>
                <a:uFill>
                  <a:solidFill>
                    <a:srgbClr val="E4B45A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图形建构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图表解读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1：图形建构（先自己补全）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11274552" cy="4091940"/>
          </a:xfrm>
          <a:prstGeom prst="roundRect">
            <a:avLst>
              <a:gd name="adj" fmla="val 1788"/>
            </a:avLst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148840"/>
            <a:ext cx="11000232" cy="390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cause_summary &lt;- before %&gt;%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group_by(死亡原因) %&gt;%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summarise(累计死亡人数 = sum(死亡人数), .groups = "drop") %&gt;%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mutate(占比 = 100 * 累计死亡人数 / sum(累计死亡人数))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 &lt;- ggplot(cause_summary,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aes(x = ____, y = ____, fill = ____)) +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geom_col(width = 0.7) +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scale_fill_manual(values = cause_colors) +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labs(title = "________________________",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subtitle = "1854 年 4 月—1855 年 3 月，共 12 个月",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x = NULL, y = "____________", fill = "死亡原因")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32220"/>
            <a:ext cx="11274552" cy="983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提示：标题要说明"什么范围、什么指标"；纵轴标签必须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带单位（人）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任务1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数据映射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图形建构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b="1" u="heavy" dirty="0">
                <a:solidFill>
                  <a:srgbClr val="EEECE5"/>
                </a:solidFill>
                <a:uFill>
                  <a:solidFill>
                    <a:srgbClr val="E4B45A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图表解读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1：用证据回答问题（先写结论）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57607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/tmp/claude-0/-home-claude/db920b88-cc5e-5bde-bd22-fdb259964c46/scratchpad/charts/p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2064" y="2112264"/>
            <a:ext cx="5650992" cy="2542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92240" y="2057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读图三问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492240" y="2688336"/>
            <a:ext cx="475488" cy="475488"/>
          </a:xfrm>
          <a:prstGeom prst="ellipse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</p:sp>
      <p:pic>
        <p:nvPicPr>
          <p:cNvPr id="10" name="Image 1" descr="/tmp/claude-0/-home-claude/db920b88-cc5e-5bde-bd22-fdb259964c46/scratchpad/icon_Fa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279806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78040" y="2606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谁最高？</a:t>
            </a:r>
            <a:endParaRPr lang="en-US" sz="2800" dirty="0"/>
          </a:p>
        </p:txBody>
      </p:sp>
      <p:sp>
        <p:nvSpPr>
          <p:cNvPr id="12" name="Shape 8"/>
          <p:cNvSpPr/>
          <p:nvPr/>
        </p:nvSpPr>
        <p:spPr>
          <a:xfrm>
            <a:off x="6492240" y="3401568"/>
            <a:ext cx="475488" cy="475488"/>
          </a:xfrm>
          <a:prstGeom prst="ellipse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</p:sp>
      <p:pic>
        <p:nvPicPr>
          <p:cNvPr id="13" name="Image 2" descr="/tmp/claude-0/-home-claude/db920b88-cc5e-5bde-bd22-fdb259964c46/scratchpad/icon_FaCalcula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351129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78040" y="331927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高多少？（数值与占比）</a:t>
            </a:r>
            <a:endParaRPr lang="en-US" sz="2800" dirty="0"/>
          </a:p>
        </p:txBody>
      </p:sp>
      <p:sp>
        <p:nvSpPr>
          <p:cNvPr id="15" name="Shape 10"/>
          <p:cNvSpPr/>
          <p:nvPr/>
        </p:nvSpPr>
        <p:spPr>
          <a:xfrm>
            <a:off x="6492240" y="4114800"/>
            <a:ext cx="475488" cy="475488"/>
          </a:xfrm>
          <a:prstGeom prst="ellipse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</p:sp>
      <p:pic>
        <p:nvPicPr>
          <p:cNvPr id="16" name="Image 3" descr="/tmp/claude-0/-home-claude/db920b88-cc5e-5bde-bd22-fdb259964c46/scratchpad/icon_FaExclamationTriang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422452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178040" y="403250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这张图还不能说明什么？</a:t>
            </a:r>
            <a:endParaRPr lang="en-US" sz="2800" dirty="0"/>
          </a:p>
        </p:txBody>
      </p:sp>
      <p:sp>
        <p:nvSpPr>
          <p:cNvPr id="18" name="Shape 12"/>
          <p:cNvSpPr/>
          <p:nvPr/>
        </p:nvSpPr>
        <p:spPr>
          <a:xfrm>
            <a:off x="457200" y="4846320"/>
            <a:ext cx="11274552" cy="1891792"/>
          </a:xfrm>
          <a:prstGeom prst="roundRect">
            <a:avLst>
              <a:gd name="adj" fmla="val 4834"/>
            </a:avLst>
          </a:prstGeom>
          <a:solidFill>
            <a:srgbClr val="E4B45A">
              <a:alpha val="14000"/>
            </a:srgbClr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pic>
        <p:nvPicPr>
          <p:cNvPr id="19" name="Image 4" descr="/tmp/claude-0/-home-claude/db920b88-cc5e-5bde-bd22-fdb259964c46/scratchpad/icon_FaQuestion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5020056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143000" y="4956048"/>
            <a:ext cx="10405872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【先想一想】</a:t>
            </a:r>
            <a:endParaRPr lang="en-US" sz="2800" dirty="0"/>
          </a:p>
        </p:txBody>
      </p:sp>
      <p:sp>
        <p:nvSpPr>
          <p:cNvPr id="21" name="Text 14"/>
          <p:cNvSpPr txBox="1"/>
          <p:nvPr/>
        </p:nvSpPr>
        <p:spPr>
          <a:xfrm>
            <a:off x="685800" y="5594096"/>
            <a:ext cx="10817352" cy="103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结论：负担最重的是 ______　证据：累计 ____ 人，占 ____%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局限：这张图看不出 ________________</a:t>
            </a:r>
            <a:endParaRPr 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任务2   </a:t>
            </a:r>
            <a:pPr indent="0" marL="0">
              <a:buNone/>
            </a:pPr>
            <a:r>
              <a:rPr lang="en-US" sz="2400" b="1" u="heavy" dirty="0">
                <a:solidFill>
                  <a:srgbClr val="EEECE5"/>
                </a:solidFill>
                <a:uFill>
                  <a:solidFill>
                    <a:srgbClr val="E4B45A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数据映射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图形建构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图表解读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2：高风险是否集中在个别月份？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11274552" cy="1904492"/>
          </a:xfrm>
          <a:prstGeom prst="roundRect">
            <a:avLst>
              <a:gd name="adj" fmla="val 4801"/>
            </a:avLst>
          </a:prstGeom>
          <a:solidFill>
            <a:srgbClr val="E4B45A">
              <a:alpha val="14000"/>
            </a:srgbClr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pic>
        <p:nvPicPr>
          <p:cNvPr id="7" name="Image 0" descr="/tmp/claude-0/-home-claude/db920b88-cc5e-5bde-bd22-fdb259964c46/scratchpad/icon_FaQuestion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31136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2167128"/>
            <a:ext cx="10405872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【先想一想】哪些月份死亡水平高？相邻吗？由哪类死因贡献？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805176"/>
            <a:ext cx="10817352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时间单位 ______　指标 ______　"是否集中"的依据 ________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预测：最高月份是 ______，应该在 ____ 季。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44772"/>
          <a:ext cx="11274552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5605272"/>
              </a:tblGrid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从任务 1 到任务 2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需要增加的分析维度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哪些月份的死亡水平较高？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月份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高死亡主要由什么原因造成？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死亡原因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每月的总体死亡水平是多少？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同月三类死因的死亡率之和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任务2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b="1" u="heavy" dirty="0">
                <a:solidFill>
                  <a:srgbClr val="EEECE5"/>
                </a:solidFill>
                <a:uFill>
                  <a:solidFill>
                    <a:srgbClr val="E4B45A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数据映射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图形建构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图表解读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2：月份、死亡率与死因</a:t>
            </a:r>
            <a:endParaRPr lang="en-US" sz="3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1127455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011680"/>
                <a:gridCol w="2103120"/>
                <a:gridCol w="3136392"/>
              </a:tblGrid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需要表达的信息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使用变量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视觉通道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ggplot2 写法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月份先后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月份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横轴位置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78C8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月份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某月某类死因的水平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死亡率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柱形高度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78C8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 = 死亡率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不同死因的贡献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死亡原因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填充颜色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78C8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fill = 死亡原因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685792"/>
            <a:ext cx="475488" cy="475488"/>
          </a:xfrm>
          <a:prstGeom prst="ellipse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</p:sp>
      <p:pic>
        <p:nvPicPr>
          <p:cNvPr id="8" name="Image 0" descr="/tmp/claude-0/-home-claude/db920b88-cc5e-5bde-bd22-fdb259964c46/scratchpad/icon_FaLayerGro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795520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4649216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堆叠柱形图</a:t>
            </a:r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</a:t>
            </a:r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geom_col()</a:t>
            </a:r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的默认位置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457200" y="5280152"/>
            <a:ext cx="475488" cy="475488"/>
          </a:xfrm>
          <a:prstGeom prst="ellipse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</p:sp>
      <p:pic>
        <p:nvPicPr>
          <p:cNvPr id="11" name="Image 1" descr="/tmp/claude-0/-home-claude/db920b88-cc5e-5bde-bd22-fdb259964c46/scratchpad/icon_FaChart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8988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5243576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柱子总高度 = 当月三类死因合计死亡率</a:t>
            </a:r>
            <a:endParaRPr lang="en-US" sz="2800" dirty="0"/>
          </a:p>
        </p:txBody>
      </p:sp>
      <p:sp>
        <p:nvSpPr>
          <p:cNvPr id="13" name="Shape 8"/>
          <p:cNvSpPr/>
          <p:nvPr/>
        </p:nvSpPr>
        <p:spPr>
          <a:xfrm>
            <a:off x="457200" y="5874512"/>
            <a:ext cx="475488" cy="475488"/>
          </a:xfrm>
          <a:prstGeom prst="ellipse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</p:sp>
      <p:pic>
        <p:nvPicPr>
          <p:cNvPr id="14" name="Image 2" descr="/tmp/claude-0/-home-claude/db920b88-cc5e-5bde-bd22-fdb259964c46/scratchpad/icon_Fa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98424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43000" y="5837936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每种颜色 = 一类死因；</a:t>
            </a:r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先看总高度，再看颜色构成</a:t>
            </a:r>
            <a:endParaRPr 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任务2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数据映射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b="1" u="heavy" dirty="0">
                <a:solidFill>
                  <a:srgbClr val="EEECE5"/>
                </a:solidFill>
                <a:uFill>
                  <a:solidFill>
                    <a:srgbClr val="E4B45A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图形建构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图表解读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2：月度构成图（先自己补全）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11274552" cy="4455160"/>
          </a:xfrm>
          <a:prstGeom prst="roundRect">
            <a:avLst>
              <a:gd name="adj" fmla="val 1642"/>
            </a:avLst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148840"/>
            <a:ext cx="11000232" cy="427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 &lt;- ggplot(data = ____,        # 提示：使用改革前的数据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aes(x = ____, y = ____, fill = ____)) +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geom_col() +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scale_fill_manual(values = cause_colors) +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labs(title = "____________________",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subtitle = "改革前：1854 年 4 月—1855 年 3 月",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x = NULL, y = "____________", fill = "死亡原因")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再找出月合计死亡率最高的 3 个月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n_high &lt;- before %&gt;%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group_by(日期, 月份) %&gt;%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summarise(月合计死亡率 = sum(死亡率), .groups = "drop") %&gt;%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slice_max(order_by = ____, n = 3, with_ties = FALSE) %&gt;%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arrange(日期)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n_high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任务2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数据映射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图形建构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b="1" u="heavy" dirty="0">
                <a:solidFill>
                  <a:srgbClr val="EEECE5"/>
                </a:solidFill>
                <a:uFill>
                  <a:solidFill>
                    <a:srgbClr val="E4B45A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图表解读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2：月份模式与死亡构成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59436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/tmp/claude-0/-home-claude/db920b88-cc5e-5bde-bd22-fdb259964c46/scratchpad/charts/p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2064" y="2112264"/>
            <a:ext cx="5833872" cy="2724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675120" y="20574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证据接力（引用前一组的证据）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2606040"/>
            <a:ext cx="5074920" cy="2501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：最高月份 ______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：明显高于 ______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构成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：主要由 ______ 构成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：还不能说明 ______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57200" y="5093208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4B45A"/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50932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基础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2743200" y="5074920"/>
            <a:ext cx="8961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找出最高月份和主要死因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562356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67D6B4"/>
          </a:solidFill>
          <a:ln w="12700">
            <a:solidFill>
              <a:srgbClr val="67D6B4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5623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 进阶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2743200" y="5605272"/>
            <a:ext cx="8961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"人数图"与"死亡率图"结论是否相同？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457200" y="6153912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F9F87"/>
          </a:solidFill>
          <a:ln w="12700">
            <a:solidFill>
              <a:srgbClr val="FF9F87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61539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 挑战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2743200" y="6135624"/>
            <a:ext cx="8961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不同月份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的死亡率可以直接比较？</a:t>
            </a:r>
            <a:endParaRPr 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巩固提升：三星分层任务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11274552" cy="983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基础任务必做，进阶与挑战按自己情况选做；所有图形继续使用 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cause_colors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11274552" cy="896112"/>
          </a:xfrm>
          <a:prstGeom prst="roundRect">
            <a:avLst>
              <a:gd name="adj" fmla="val 10204"/>
            </a:avLst>
          </a:prstGeom>
          <a:solidFill>
            <a:srgbClr val="1E2D4E"/>
          </a:solidFill>
          <a:ln w="12700">
            <a:solidFill>
              <a:srgbClr val="1E2D4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852928"/>
            <a:ext cx="2103120" cy="493776"/>
          </a:xfrm>
          <a:prstGeom prst="roundRect">
            <a:avLst>
              <a:gd name="adj" fmla="val 46296"/>
            </a:avLst>
          </a:prstGeom>
          <a:solidFill>
            <a:srgbClr val="E4B45A"/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852928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基础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651760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三类死因的月度变化是否一致？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分开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2651760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facet_wrap()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3675888"/>
            <a:ext cx="11274552" cy="896112"/>
          </a:xfrm>
          <a:prstGeom prst="roundRect">
            <a:avLst>
              <a:gd name="adj" fmla="val 10204"/>
            </a:avLst>
          </a:prstGeom>
          <a:solidFill>
            <a:srgbClr val="1E2D4E"/>
          </a:solidFill>
          <a:ln w="12700">
            <a:solidFill>
              <a:srgbClr val="1E2D4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877056"/>
            <a:ext cx="2103120" cy="493776"/>
          </a:xfrm>
          <a:prstGeom prst="roundRect">
            <a:avLst>
              <a:gd name="adj" fmla="val 46296"/>
            </a:avLst>
          </a:prstGeom>
          <a:solidFill>
            <a:srgbClr val="67D6B4"/>
          </a:solidFill>
          <a:ln w="12700">
            <a:solidFill>
              <a:srgbClr val="67D6B4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877056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 进阶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675888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为上一张图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自选三种填充颜色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3675888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scale_fill_manual()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7200" y="4700016"/>
            <a:ext cx="11274552" cy="896112"/>
          </a:xfrm>
          <a:prstGeom prst="roundRect">
            <a:avLst>
              <a:gd name="adj" fmla="val 10204"/>
            </a:avLst>
          </a:prstGeom>
          <a:solidFill>
            <a:srgbClr val="1E2D4E"/>
          </a:solidFill>
          <a:ln w="12700">
            <a:solidFill>
              <a:srgbClr val="1E2D4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901184"/>
            <a:ext cx="2103120" cy="493776"/>
          </a:xfrm>
          <a:prstGeom prst="roundRect">
            <a:avLst>
              <a:gd name="adj" fmla="val 46296"/>
            </a:avLst>
          </a:prstGeom>
          <a:solidFill>
            <a:srgbClr val="FF9F87"/>
          </a:solidFill>
          <a:ln w="12700">
            <a:solidFill>
              <a:srgbClr val="FF9F87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901184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 挑战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4700016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为任务 1 的图加上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数值标签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4700016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geom_text()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57200" y="5806440"/>
            <a:ext cx="11274552" cy="802640"/>
          </a:xfrm>
          <a:prstGeom prst="roundRect">
            <a:avLst>
              <a:gd name="adj" fmla="val 11392"/>
            </a:avLst>
          </a:prstGeom>
          <a:solidFill>
            <a:srgbClr val="FF9F87">
              <a:alpha val="14000"/>
            </a:srgbClr>
          </a:solidFill>
          <a:ln w="12700">
            <a:solidFill>
              <a:srgbClr val="FF9F87">
                <a:alpha val="0"/>
              </a:srgbClr>
            </a:solidFill>
            <a:prstDash val="solid"/>
          </a:ln>
        </p:spPr>
      </p:sp>
      <p:pic>
        <p:nvPicPr>
          <p:cNvPr id="22" name="Image 0" descr="/tmp/claude-0/-home-claude/db920b88-cc5e-5bde-bd22-fdb259964c46/scratchpad/icon_FaExclamationTria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980176"/>
            <a:ext cx="347472" cy="34747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143000" y="5916168"/>
            <a:ext cx="10405872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FF9F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自选配色另起变量名，不要覆盖 </a:t>
            </a:r>
            <a:pPr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cause_colors</a:t>
            </a: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巩固提升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数据映射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b="1" u="heavy" dirty="0">
                <a:solidFill>
                  <a:srgbClr val="EEECE5"/>
                </a:solidFill>
                <a:uFill>
                  <a:solidFill>
                    <a:srgbClr val="E4B45A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图形建构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图表解读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巩固提升 ★：三类死因分开看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11274552" cy="3269996"/>
          </a:xfrm>
          <a:prstGeom prst="roundRect">
            <a:avLst>
              <a:gd name="adj" fmla="val 2796"/>
            </a:avLst>
          </a:prstGeom>
          <a:solidFill>
            <a:srgbClr val="E4B45A">
              <a:alpha val="14000"/>
            </a:srgbClr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pic>
        <p:nvPicPr>
          <p:cNvPr id="7" name="Image 0" descr="/tmp/claude-0/-home-claude/db920b88-cc5e-5bde-bd22-fdb259964c46/scratchpad/icon_FaQuestion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31136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2167128"/>
            <a:ext cx="10405872" cy="1020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【先想一想】三类死因的死亡率都随月份变化吗？最高值在同一个月吗？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260344"/>
            <a:ext cx="10817352" cy="1957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</a:t>
            </a:r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</a:t>
            </a:r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基础上添加分面，把三类死因</a:t>
            </a:r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分开</a:t>
            </a:r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呈现，并保持</a:t>
            </a:r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相同的纵轴尺度</a:t>
            </a:r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分面变量是 ______　保持相同尺度的参数是 ______　我的发现：________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57200" y="5601716"/>
            <a:ext cx="8229600" cy="558800"/>
          </a:xfrm>
          <a:prstGeom prst="roundRect">
            <a:avLst>
              <a:gd name="adj" fmla="val 13091"/>
            </a:avLst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5693156"/>
            <a:ext cx="795528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facet_wrap(~ 死亡原因, ncol = 3, scales = "fixed")</a:t>
            </a:r>
            <a:endParaRPr lang="en-US" sz="2000" dirty="0"/>
          </a:p>
        </p:txBody>
      </p:sp>
      <p:pic>
        <p:nvPicPr>
          <p:cNvPr id="12" name="Image 1" descr="/tmp/claude-0/-home-claude/db920b88-cc5e-5bde-bd22-fdb259964c46/scratchpad/icon_FaThLar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601716"/>
            <a:ext cx="731520" cy="7315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" y="6343396"/>
            <a:ext cx="1127455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所有小图共用同一套纵轴刻度，这样柱高才可比</a:t>
            </a:r>
            <a:endParaRPr lang="en-US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巩固提升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数据映射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b="1" u="heavy" dirty="0">
                <a:solidFill>
                  <a:srgbClr val="EEECE5"/>
                </a:solidFill>
                <a:uFill>
                  <a:solidFill>
                    <a:srgbClr val="E4B45A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图形建构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图表解读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巩固提升 ★★：自定义配色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11274552" cy="1257808"/>
          </a:xfrm>
          <a:prstGeom prst="roundRect">
            <a:avLst>
              <a:gd name="adj" fmla="val 7270"/>
            </a:avLst>
          </a:prstGeom>
          <a:solidFill>
            <a:srgbClr val="E4B45A">
              <a:alpha val="14000"/>
            </a:srgbClr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pic>
        <p:nvPicPr>
          <p:cNvPr id="7" name="Image 0" descr="/tmp/claude-0/-home-claude/db920b88-cc5e-5bde-bd22-fdb259964c46/scratchpad/icon_FaQuestion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31136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2167128"/>
            <a:ext cx="10405872" cy="1020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【先想一想】为分面图自选三种填充颜色，让不同死因更容易区分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57200" y="3589528"/>
            <a:ext cx="11274552" cy="2209800"/>
          </a:xfrm>
          <a:prstGeom prst="roundRect">
            <a:avLst>
              <a:gd name="adj" fmla="val 3310"/>
            </a:avLst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680968"/>
            <a:ext cx="11000232" cy="2026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自选三种颜色填进来，注意不要覆盖 cause_colors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my_colors &lt;- c("可预防疾病" = "______",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"战伤" = "______", "其他原因" = "______")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p_month_custom &lt;- p_month + scale_fill_manual(values = ______)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p_month_custom</a:t>
            </a:r>
            <a:endParaRPr lang="en-US" sz="2000" dirty="0"/>
          </a:p>
        </p:txBody>
      </p:sp>
      <p:pic>
        <p:nvPicPr>
          <p:cNvPr id="11" name="Image 1" descr="/tmp/claude-0/-home-claude/db920b88-cc5e-5bde-bd22-fdb259964c46/scratchpad/icon_FaPalet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11936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34440" y="6073648"/>
            <a:ext cx="10515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改完配色后，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柱高、峰值月份、分析结论有没有变？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________</a:t>
            </a:r>
            <a:endParaRPr 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巩固提升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数据映射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b="1" u="heavy" dirty="0">
                <a:solidFill>
                  <a:srgbClr val="EEECE5"/>
                </a:solidFill>
                <a:uFill>
                  <a:solidFill>
                    <a:srgbClr val="E4B45A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图形建构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图表解读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巩固提升 ★★★：给图形加数值标签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11274552" cy="1257808"/>
          </a:xfrm>
          <a:prstGeom prst="roundRect">
            <a:avLst>
              <a:gd name="adj" fmla="val 7270"/>
            </a:avLst>
          </a:prstGeom>
          <a:solidFill>
            <a:srgbClr val="E4B45A">
              <a:alpha val="14000"/>
            </a:srgbClr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pic>
        <p:nvPicPr>
          <p:cNvPr id="7" name="Image 0" descr="/tmp/claude-0/-home-claude/db920b88-cc5e-5bde-bd22-fdb259964c46/scratchpad/icon_FaQuestion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31136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2167128"/>
            <a:ext cx="10405872" cy="1020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【先想一想】为任务 1 的 p1 添加累计死亡人数标签，并与 cause_summary 核对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57200" y="3589528"/>
            <a:ext cx="11274552" cy="2424430"/>
          </a:xfrm>
          <a:prstGeom prst="roundRect">
            <a:avLst>
              <a:gd name="adj" fmla="val 3017"/>
            </a:avLst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680968"/>
            <a:ext cx="11000232" cy="224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p1_labeled &lt;- ggplot(cause_summary,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aes(x = 死亡原因, y = 累计死亡人数, fill = 死亡原因)) +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geom_col(width = 0.7) +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scale_fill_manual(values = cause_colors) +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______(aes(label = ______), vjust = -0.5, size = 4) +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______(expand = expansion(mult = c(0, 0.12)))   # 顶部留白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p1_labeled</a:t>
            </a:r>
            <a:endParaRPr lang="en-US" sz="1900" dirty="0"/>
          </a:p>
        </p:txBody>
      </p:sp>
      <p:pic>
        <p:nvPicPr>
          <p:cNvPr id="11" name="Image 1" descr="/tmp/claude-0/-home-claude/db920b88-cc5e-5bde-bd22-fdb259964c46/scratchpad/icon_FaCalcula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33399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34440" y="6288278"/>
            <a:ext cx="10515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两个空分别填什么？为什么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加"顶部留白"？________</a:t>
            </a:r>
            <a:endParaRPr lang="en-US" sz="2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第一课时小结</a:t>
            </a:r>
            <a:endParaRPr lang="en-US" sz="3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455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286000"/>
                <a:gridCol w="2743200"/>
                <a:gridCol w="2221992"/>
              </a:tblGrid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已解决的问题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关键结论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哪类死因负担最重？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累计人数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累计人数图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________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高死亡集中在个别月？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年化死亡率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月度堆叠图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________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三类死因变化一致？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年化死亡率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分面图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________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329176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仍待解决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57200" y="4832096"/>
            <a:ext cx="11274552" cy="1840992"/>
          </a:xfrm>
          <a:prstGeom prst="roundRect">
            <a:avLst>
              <a:gd name="adj" fmla="val 4967"/>
            </a:avLst>
          </a:prstGeom>
          <a:solidFill>
            <a:srgbClr val="E4B45A">
              <a:alpha val="14000"/>
            </a:srgbClr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pic>
        <p:nvPicPr>
          <p:cNvPr id="8" name="Image 0" descr="/tmp/claude-0/-home-claude/db920b88-cc5e-5bde-bd22-fdb259964c46/scratchpad/icon_FaQuestion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005832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4941824"/>
            <a:ext cx="10405872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如果改善医院与营地的卫生条件，死亡模式是否发生变化？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5579872"/>
            <a:ext cx="10817352" cy="983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带着假设进入第二课时：卫生改革后，可预防疾病的死亡水平将 ____________</a:t>
            </a:r>
            <a:endParaRPr lang="en-US" sz="2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第二课时：任务 3、任务 4</a:t>
            </a:r>
            <a:endParaRPr lang="en-US" sz="3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45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651760"/>
                <a:gridCol w="4572000"/>
                <a:gridCol w="2130552"/>
              </a:tblGrid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环节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当前问题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 3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加入阶段维度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改革前后</a:t>
                      </a:r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有何变化</a:t>
                      </a:r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？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分面对比图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 4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换一种坐标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玫瑰图：</a:t>
                      </a:r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</a:t>
                      </a:r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还是</a:t>
                      </a:r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传播</a:t>
                      </a:r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？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玫瑰图评价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项目总结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汇总证据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证据支持怎样的</a:t>
                      </a:r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建议</a:t>
                      </a:r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？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建议与边界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329176"/>
            <a:ext cx="11274552" cy="1059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第二课时重点：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比较阶段差异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，并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评价不同图形的表达价值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回看提示：会用到「分面」「极坐标与面积编码」两节。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57200" y="5663184"/>
            <a:ext cx="2722626" cy="777240"/>
          </a:xfrm>
          <a:prstGeom prst="roundRect">
            <a:avLst>
              <a:gd name="adj" fmla="val 11765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5663184"/>
            <a:ext cx="27226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3152394" y="5663184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3307842" y="5663184"/>
            <a:ext cx="2722626" cy="777240"/>
          </a:xfrm>
          <a:prstGeom prst="roundRect">
            <a:avLst>
              <a:gd name="adj" fmla="val 11765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07842" y="5663184"/>
            <a:ext cx="27226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数据映射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003036" y="5663184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6158484" y="5663184"/>
            <a:ext cx="2722626" cy="777240"/>
          </a:xfrm>
          <a:prstGeom prst="roundRect">
            <a:avLst>
              <a:gd name="adj" fmla="val 11765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58484" y="5663184"/>
            <a:ext cx="27226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图形建构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8853678" y="5663184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9009126" y="5663184"/>
            <a:ext cx="2722626" cy="777240"/>
          </a:xfrm>
          <a:prstGeom prst="roundRect">
            <a:avLst>
              <a:gd name="adj" fmla="val 11765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009126" y="5663184"/>
            <a:ext cx="27226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图表解读</a:t>
            </a:r>
            <a:endParaRPr lang="en-US" sz="2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任务3   </a:t>
            </a:r>
            <a:pPr indent="0" marL="0">
              <a:buNone/>
            </a:pPr>
            <a:r>
              <a:rPr lang="en-US" sz="2400" b="1" u="heavy" dirty="0">
                <a:solidFill>
                  <a:srgbClr val="EEECE5"/>
                </a:solidFill>
                <a:uFill>
                  <a:solidFill>
                    <a:srgbClr val="E4B45A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数据映射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图形建构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图表解读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3：改革前后发生了什么变化？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11274552" cy="2359660"/>
          </a:xfrm>
          <a:prstGeom prst="roundRect">
            <a:avLst>
              <a:gd name="adj" fmla="val 3875"/>
            </a:avLst>
          </a:prstGeom>
          <a:solidFill>
            <a:srgbClr val="E4B45A">
              <a:alpha val="14000"/>
            </a:srgbClr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pic>
        <p:nvPicPr>
          <p:cNvPr id="7" name="Image 0" descr="/tmp/claude-0/-home-claude/db920b88-cc5e-5bde-bd22-fdb259964c46/scratchpad/icon_FaQuestion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31136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2167128"/>
            <a:ext cx="10405872" cy="1020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【先想一想】两阶段的死亡水平与死因构成有何差异？变化多少？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260344"/>
            <a:ext cx="10817352" cy="10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假设：改革后，______ 造成的死亡会 ______，因为 ________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</a:t>
            </a:r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变化最小</a:t>
            </a:r>
            <a:pPr algn="l"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的是 ______，理由 ________</a:t>
            </a:r>
            <a:endParaRPr lang="en-US" sz="2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9994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31352"/>
              </a:tblGrid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决策问题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本任务的选择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比较对象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改革前（12 个月）与改革后（12 个月）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核心指标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年化死亡率（每千人年）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比较方法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分面</a:t>
                      </a:r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，两个阶段共享同一套图形结构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任务3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b="1" u="heavy" dirty="0">
                <a:solidFill>
                  <a:srgbClr val="EEECE5"/>
                </a:solidFill>
                <a:uFill>
                  <a:solidFill>
                    <a:srgbClr val="E4B45A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数据映射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图形建构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图表解读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3：增加阶段映射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57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2 的三个映射保持不变，再增加一个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分面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维度：</a:t>
            </a:r>
            <a:endParaRPr lang="en-US" sz="2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974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89120"/>
                <a:gridCol w="4507992"/>
              </a:tblGrid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变量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视觉表达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ggplot2 写法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月份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横轴位置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78C8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月份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死亡率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柱形高度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78C8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 = 死亡率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死亡原因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填充颜色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78C8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fill = 死亡原因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拆成左右两个小图对比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78C8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facet_wrap(~ 阶段)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834380"/>
            <a:ext cx="11274552" cy="1257808"/>
          </a:xfrm>
          <a:prstGeom prst="roundRect">
            <a:avLst>
              <a:gd name="adj" fmla="val 7270"/>
            </a:avLst>
          </a:prstGeom>
          <a:solidFill>
            <a:srgbClr val="67D6B4">
              <a:alpha val="14000"/>
            </a:srgbClr>
          </a:solidFill>
          <a:ln w="12700">
            <a:solidFill>
              <a:srgbClr val="67D6B4">
                <a:alpha val="0"/>
              </a:srgbClr>
            </a:solidFill>
            <a:prstDash val="solid"/>
          </a:ln>
        </p:spPr>
      </p:sp>
      <p:pic>
        <p:nvPicPr>
          <p:cNvPr id="9" name="Image 0" descr="/tmp/claude-0/-home-claude/db920b88-cc5e-5bde-bd22-fdb259964c46/scratchpad/icon_Fa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008116"/>
            <a:ext cx="347472" cy="3474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5944108"/>
            <a:ext cx="10405872" cy="1020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67D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分面能成立的前提：</a:t>
            </a:r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同尺度、同月份顺序、同颜色含义</a:t>
            </a:r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67D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——少一条，比较就不成立</a:t>
            </a:r>
            <a:endParaRPr lang="en-US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任务3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数据映射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b="1" u="heavy" dirty="0">
                <a:solidFill>
                  <a:srgbClr val="EEECE5"/>
                </a:solidFill>
                <a:uFill>
                  <a:solidFill>
                    <a:srgbClr val="E4B45A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图形建构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图表解读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3：分面对比图（先自己补全）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11274552" cy="4455160"/>
          </a:xfrm>
          <a:prstGeom prst="roundRect">
            <a:avLst>
              <a:gd name="adj" fmla="val 1642"/>
            </a:avLst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148840"/>
            <a:ext cx="11000232" cy="427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 &lt;- ggplot(data = ____,          # 提示：使用全部长表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aes(x = ____, y = ____, fill = ____)) +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geom_col() +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facet_wrap(~ ____, ncol = 2, scales = "fixed") +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scale_fill_manual(values = cause_colors) +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labs(title = "________________________",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subtitle = "两个阶段均按 4 月至次年 3 月排列，纵轴尺度一致",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x = NULL, y = "____________", fill = "死亡原因")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再量化两个阶段的平均死亡率与变化幅度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stage_summary &lt;- nightingale_long %&gt;%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group_by(阶段, 死亡原因) %&gt;%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summarise(平均死亡率 = mean(____), .groups = "drop") %&gt;%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pivot_wider(names_from = 阶段, values_from = 平均死亡率) %&gt;%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mutate(变化幅度 = (改革后 - 改革前) / 改革前 * 100)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任务3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数据映射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图形建构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b="1" u="heavy" dirty="0">
                <a:solidFill>
                  <a:srgbClr val="EEECE5"/>
                </a:solidFill>
                <a:uFill>
                  <a:solidFill>
                    <a:srgbClr val="E4B45A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图表解读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3：变化发生在哪里？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64008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/tmp/claude-0/-home-claude/db920b88-cc5e-5bde-bd22-fdb259964c46/scratchpad/charts/p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2064" y="2112264"/>
            <a:ext cx="6291072" cy="235915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13232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观察顺序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7132320" y="2651760"/>
            <a:ext cx="475488" cy="475488"/>
          </a:xfrm>
          <a:prstGeom prst="ellipse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</p:sp>
      <p:pic>
        <p:nvPicPr>
          <p:cNvPr id="10" name="Image 1" descr="/tmp/claude-0/-home-claude/db920b88-cc5e-5bde-bd22-fdb259964c46/scratchpad/icon_Fa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276148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818120" y="260604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比较两面板整体柱高</a:t>
            </a:r>
            <a:endParaRPr lang="en-US" sz="2800" dirty="0"/>
          </a:p>
        </p:txBody>
      </p:sp>
      <p:sp>
        <p:nvSpPr>
          <p:cNvPr id="12" name="Shape 8"/>
          <p:cNvSpPr/>
          <p:nvPr/>
        </p:nvSpPr>
        <p:spPr>
          <a:xfrm>
            <a:off x="7132320" y="3291840"/>
            <a:ext cx="475488" cy="475488"/>
          </a:xfrm>
          <a:prstGeom prst="ellipse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</p:sp>
      <p:pic>
        <p:nvPicPr>
          <p:cNvPr id="13" name="Image 2" descr="/tmp/claude-0/-home-claude/db920b88-cc5e-5bde-bd22-fdb259964c46/scratchpad/icon_FaPalet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48" y="340156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818120" y="324612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找到变化最大的颜色</a:t>
            </a:r>
            <a:endParaRPr lang="en-US" sz="2800" dirty="0"/>
          </a:p>
        </p:txBody>
      </p:sp>
      <p:sp>
        <p:nvSpPr>
          <p:cNvPr id="15" name="Shape 10"/>
          <p:cNvSpPr/>
          <p:nvPr/>
        </p:nvSpPr>
        <p:spPr>
          <a:xfrm>
            <a:off x="7132320" y="3931920"/>
            <a:ext cx="475488" cy="475488"/>
          </a:xfrm>
          <a:prstGeom prst="ellipse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</p:sp>
      <p:pic>
        <p:nvPicPr>
          <p:cNvPr id="16" name="Image 3" descr="/tmp/claude-0/-home-claude/db920b88-cc5e-5bde-bd22-fdb259964c46/scratchpad/icon_FaSyncAl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48" y="404164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818120" y="388620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其他死因</a:t>
            </a:r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</a:t>
            </a:r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下降吗？</a:t>
            </a:r>
            <a:endParaRPr lang="en-US" sz="2800" dirty="0"/>
          </a:p>
        </p:txBody>
      </p:sp>
      <p:sp>
        <p:nvSpPr>
          <p:cNvPr id="18" name="Shape 12"/>
          <p:cNvSpPr/>
          <p:nvPr/>
        </p:nvSpPr>
        <p:spPr>
          <a:xfrm>
            <a:off x="457200" y="4709160"/>
            <a:ext cx="11274552" cy="2346960"/>
          </a:xfrm>
          <a:prstGeom prst="roundRect">
            <a:avLst>
              <a:gd name="adj" fmla="val 3896"/>
            </a:avLst>
          </a:prstGeom>
          <a:solidFill>
            <a:srgbClr val="E4B45A">
              <a:alpha val="14000"/>
            </a:srgbClr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pic>
        <p:nvPicPr>
          <p:cNvPr id="19" name="Image 4" descr="/tmp/claude-0/-home-claude/db920b88-cc5e-5bde-bd22-fdb259964c46/scratchpad/icon_FaQuestion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882896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143000" y="4818888"/>
            <a:ext cx="10405872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【先想一想】改革主要影响的是 ______，而不是 ______</a:t>
            </a:r>
            <a:endParaRPr lang="en-US" sz="2800" dirty="0"/>
          </a:p>
        </p:txBody>
      </p:sp>
      <p:sp>
        <p:nvSpPr>
          <p:cNvPr id="21" name="Text 14"/>
          <p:cNvSpPr txBox="1"/>
          <p:nvPr/>
        </p:nvSpPr>
        <p:spPr>
          <a:xfrm>
            <a:off x="685800" y="5456936"/>
            <a:ext cx="10817352" cy="148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证据：可预防疾病平均死亡率 ____ → ____；战伤 ____ → ____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局限：差异还可能受 ____________ 影响</a:t>
            </a:r>
            <a:endParaRPr lang="en-US" sz="2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任务3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数据映射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图形建构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b="1" u="heavy" dirty="0">
                <a:solidFill>
                  <a:srgbClr val="EEECE5"/>
                </a:solidFill>
                <a:uFill>
                  <a:solidFill>
                    <a:srgbClr val="E4B45A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图表解读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3：寻找反证，守住表达红线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5486400" cy="2514600"/>
          </a:xfrm>
          <a:prstGeom prst="roundRect">
            <a:avLst>
              <a:gd name="adj" fmla="val 3636"/>
            </a:avLst>
          </a:prstGeom>
          <a:solidFill>
            <a:srgbClr val="1E2D4E"/>
          </a:solidFill>
          <a:ln w="12700">
            <a:solidFill>
              <a:srgbClr val="1E2D4E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1488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67D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支持"卫生改革有效"的证据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43200"/>
            <a:ext cx="5120640" cy="1514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哪类下降最明显？降幅多少？</a:t>
            </a:r>
            <a:endParaRPr lang="en-US" sz="2800" dirty="0"/>
          </a:p>
          <a:p>
            <a:pPr algn="l" marL="304800" indent="-3048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总体水平怎样变化？</a:t>
            </a:r>
            <a:endParaRPr lang="en-US" sz="2800" dirty="0"/>
          </a:p>
          <a:p>
            <a:pPr algn="l" marL="304800" indent="-3048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前后时间是否相邻、可比？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245352" y="2057400"/>
            <a:ext cx="5486400" cy="2514600"/>
          </a:xfrm>
          <a:prstGeom prst="roundRect">
            <a:avLst>
              <a:gd name="adj" fmla="val 3636"/>
            </a:avLst>
          </a:prstGeom>
          <a:solidFill>
            <a:srgbClr val="1E2D4E"/>
          </a:solidFill>
          <a:ln w="12700">
            <a:solidFill>
              <a:srgbClr val="1E2D4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73952" y="21488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FF9F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"仍需谨慎"的证据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2743200"/>
            <a:ext cx="5120640" cy="1514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还缺少哪些影响因素？</a:t>
            </a:r>
            <a:endParaRPr lang="en-US" sz="2800" dirty="0"/>
          </a:p>
          <a:p>
            <a:pPr algn="l" marL="304800" indent="-3048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季节、作战强度是否影响？</a:t>
            </a:r>
            <a:endParaRPr lang="en-US" sz="2800" dirty="0"/>
          </a:p>
          <a:p>
            <a:pPr algn="l" marL="304800" indent="-3048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能否区分各项措施的作用？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57200" y="4754880"/>
            <a:ext cx="11274552" cy="1840992"/>
          </a:xfrm>
          <a:prstGeom prst="roundRect">
            <a:avLst>
              <a:gd name="adj" fmla="val 4967"/>
            </a:avLst>
          </a:prstGeom>
          <a:solidFill>
            <a:srgbClr val="FF9F87">
              <a:alpha val="14000"/>
            </a:srgbClr>
          </a:solidFill>
          <a:ln w="12700">
            <a:solidFill>
              <a:srgbClr val="FF9F87">
                <a:alpha val="0"/>
              </a:srgbClr>
            </a:solidFill>
            <a:prstDash val="solid"/>
          </a:ln>
        </p:spPr>
      </p:sp>
      <p:pic>
        <p:nvPicPr>
          <p:cNvPr id="13" name="Image 0" descr="/tmp/claude-0/-home-claude/db920b88-cc5e-5bde-bd22-fdb259964c46/scratchpad/icon_FaExclamationTria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928616"/>
            <a:ext cx="347472" cy="34747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43000" y="4864608"/>
            <a:ext cx="10405872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FF9F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表达红线：观察到的前后差异 ≠ 已证明的因果关系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5502656"/>
            <a:ext cx="10817352" cy="983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可以说"改革后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观察到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下降"；不要说"改革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导致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了下降"。观点必须指向图中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具体位置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任务4   </a:t>
            </a:r>
            <a:pPr indent="0" marL="0">
              <a:buNone/>
            </a:pPr>
            <a:r>
              <a:rPr lang="en-US" sz="2400" b="1" u="heavy" dirty="0">
                <a:solidFill>
                  <a:srgbClr val="EEECE5"/>
                </a:solidFill>
                <a:uFill>
                  <a:solidFill>
                    <a:srgbClr val="E4B45A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数据映射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图形建构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图表解读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4：玫瑰图适合分析还是传播？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11274552" cy="2852928"/>
          </a:xfrm>
          <a:prstGeom prst="roundRect">
            <a:avLst>
              <a:gd name="adj" fmla="val 3205"/>
            </a:avLst>
          </a:prstGeom>
          <a:solidFill>
            <a:srgbClr val="E4B45A">
              <a:alpha val="14000"/>
            </a:srgbClr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pic>
        <p:nvPicPr>
          <p:cNvPr id="7" name="Image 0" descr="/tmp/claude-0/-home-claude/db920b88-cc5e-5bde-bd22-fdb259964c46/scratchpad/icon_FaQuestion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31136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2167128"/>
            <a:ext cx="10405872" cy="1020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【先想一想】面向"精确分析"与"公众展示"，柱形图与玫瑰图各有什么优势和限制？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260344"/>
            <a:ext cx="10817352" cy="1540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分析人员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，图形要帮我比较 ____________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普通公众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，图形要帮读者感受 ____________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我的预判：分析报告用 ______，公众展示用 ______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57200" y="5184648"/>
            <a:ext cx="475488" cy="475488"/>
          </a:xfrm>
          <a:prstGeom prst="ellipse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</p:sp>
      <p:pic>
        <p:nvPicPr>
          <p:cNvPr id="11" name="Image 1" descr="/tmp/claude-0/-home-claude/db920b88-cc5e-5bde-bd22-fdb259964c46/scratchpad/icon_FaBookOp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29437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43000" y="513892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1858 年，两个并排的扇形图说服了英国议会</a:t>
            </a:r>
            <a:endParaRPr lang="en-US" sz="2800" dirty="0"/>
          </a:p>
        </p:txBody>
      </p:sp>
      <p:sp>
        <p:nvSpPr>
          <p:cNvPr id="13" name="Shape 9"/>
          <p:cNvSpPr/>
          <p:nvPr/>
        </p:nvSpPr>
        <p:spPr>
          <a:xfrm>
            <a:off x="457200" y="5824728"/>
            <a:ext cx="475488" cy="475488"/>
          </a:xfrm>
          <a:prstGeom prst="ellipse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</p:sp>
      <p:pic>
        <p:nvPicPr>
          <p:cNvPr id="14" name="Image 2" descr="/tmp/claude-0/-home-claude/db920b88-cc5e-5bde-bd22-fdb259964c46/scratchpad/icon_Fa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93445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43000" y="577900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与任务 3 </a:t>
            </a:r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完全相同</a:t>
            </a:r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的数据、指标、数值范围</a:t>
            </a:r>
            <a:endParaRPr lang="en-US" sz="2800" dirty="0"/>
          </a:p>
        </p:txBody>
      </p:sp>
      <p:sp>
        <p:nvSpPr>
          <p:cNvPr id="16" name="Shape 11"/>
          <p:cNvSpPr/>
          <p:nvPr/>
        </p:nvSpPr>
        <p:spPr>
          <a:xfrm>
            <a:off x="457200" y="6464808"/>
            <a:ext cx="475488" cy="475488"/>
          </a:xfrm>
          <a:prstGeom prst="ellipse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</p:sp>
      <p:pic>
        <p:nvPicPr>
          <p:cNvPr id="17" name="Image 3" descr="/tmp/claude-0/-home-claude/db920b88-cc5e-5bde-bd22-fdb259964c46/scratchpad/icon_FaBalanceSca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574536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641908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不是找"最好看的图"，而是判断"哪幅更适合当前目的"</a:t>
            </a:r>
            <a:endParaRPr lang="en-US" sz="2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任务4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b="1" u="heavy" dirty="0">
                <a:solidFill>
                  <a:srgbClr val="EEECE5"/>
                </a:solidFill>
                <a:uFill>
                  <a:solidFill>
                    <a:srgbClr val="E4B45A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数据映射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图形建构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图表解读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4：坐标系改变，映射保持</a:t>
            </a:r>
            <a:endParaRPr lang="en-US" sz="36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5605272"/>
              </a:tblGrid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数据或设置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柱形图中的表达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玫瑰图中的表达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月份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横轴位置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圆周角度</a:t>
                      </a:r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（一圈 = 12 个月）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死亡率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柱形高度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扇形面积</a:t>
                      </a:r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（半径按平方根缩放）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死亡原因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填充颜色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填充颜色（叠加成扇形）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左右两个小图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两个极坐标圆并排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240020"/>
            <a:ext cx="11274552" cy="1257808"/>
          </a:xfrm>
          <a:prstGeom prst="roundRect">
            <a:avLst>
              <a:gd name="adj" fmla="val 7270"/>
            </a:avLst>
          </a:prstGeom>
          <a:solidFill>
            <a:srgbClr val="FF9F87">
              <a:alpha val="14000"/>
            </a:srgbClr>
          </a:solidFill>
          <a:ln w="12700">
            <a:solidFill>
              <a:srgbClr val="FF9F87">
                <a:alpha val="0"/>
              </a:srgbClr>
            </a:solidFill>
            <a:prstDash val="solid"/>
          </a:ln>
        </p:spPr>
      </p:sp>
      <p:pic>
        <p:nvPicPr>
          <p:cNvPr id="8" name="Image 0" descr="/tmp/claude-0/-home-claude/db920b88-cc5e-5bde-bd22-fdb259964c46/scratchpad/icon_FaExclamationTria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413756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5349748"/>
            <a:ext cx="10405872" cy="1020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FF9F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不要漏掉 fill：漏掉 </a:t>
            </a:r>
            <a:pPr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aes(fill = 死亡原因)</a:t>
            </a:r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FF9F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，玫瑰图会退化成"一圈同色的柱子"</a:t>
            </a:r>
            <a:endParaRPr lang="en-US" sz="2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任务4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数据映射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b="1" u="heavy" dirty="0">
                <a:solidFill>
                  <a:srgbClr val="EEECE5"/>
                </a:solidFill>
                <a:uFill>
                  <a:solidFill>
                    <a:srgbClr val="E4B45A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图形建构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图表解读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4：玫瑰图（先自己补全）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11274552" cy="3398520"/>
          </a:xfrm>
          <a:prstGeom prst="roundRect">
            <a:avLst>
              <a:gd name="adj" fmla="val 2152"/>
            </a:avLst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148840"/>
            <a:ext cx="11000232" cy="3215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p4_base &lt;- ggplot(nightingale_long,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aes(x = 月份, y = 死亡率, fill = 死亡原因)) +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geom_col(width = 1, colour = "white") +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scale_fill_manual(values = cause_colors) +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facet_wrap(~ 阶段, ncol = 2, scales = "fixed") +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labs(x = NULL, y = "年化死亡率（每千人年）")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p4_rose &lt;- p4_base +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____() +   # 纵轴尺度函数：使扇形面积对应死亡率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____() +   # 极坐标函数：保留月份作为角度方向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labs(title = "复刻经典：南丁格尔玫瑰图", y = NULL)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p4_rose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638800"/>
            <a:ext cx="11274552" cy="983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先运行 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p4_base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看清柱形表达，再补全两个函数：形状变了，数据没变。</a:t>
            </a:r>
            <a:endParaRPr lang="en-US" sz="2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任务4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数据映射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图形建构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b="1" u="heavy" dirty="0">
                <a:solidFill>
                  <a:srgbClr val="EEECE5"/>
                </a:solidFill>
                <a:uFill>
                  <a:solidFill>
                    <a:srgbClr val="E4B45A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图表解读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同一份数据，两种表达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55321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/tmp/claude-0/-home-claude/db920b88-cc5e-5bde-bd22-fdb259964c46/scratchpad/charts/p4_bas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2064" y="2112264"/>
            <a:ext cx="5422392" cy="25420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99632" y="2057400"/>
            <a:ext cx="55321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/tmp/claude-0/-home-claude/db920b88-cc5e-5bde-bd22-fdb259964c46/scratchpad/charts/p4_ros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54496" y="2112264"/>
            <a:ext cx="5422392" cy="2542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4892040"/>
            <a:ext cx="11274552" cy="1840992"/>
          </a:xfrm>
          <a:prstGeom prst="roundRect">
            <a:avLst>
              <a:gd name="adj" fmla="val 4967"/>
            </a:avLst>
          </a:prstGeom>
          <a:solidFill>
            <a:srgbClr val="E4B45A">
              <a:alpha val="14000"/>
            </a:srgbClr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pic>
        <p:nvPicPr>
          <p:cNvPr id="11" name="Image 2" descr="/tmp/claude-0/-home-claude/db920b88-cc5e-5bde-bd22-fdb259964c46/scratchpad/icon_FaQuestion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065776"/>
            <a:ext cx="347472" cy="34747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5001768"/>
            <a:ext cx="10405872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【先想一想】目测同一阶段两个月的扇形大小，再查数据核对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5639816"/>
            <a:ext cx="10817352" cy="983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目测倍数 ______　实际差值 ______　差异说明了什么？________</a:t>
            </a:r>
            <a:endParaRPr lang="en-US" sz="2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任务4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数据映射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图形建构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b="1" u="heavy" dirty="0">
                <a:solidFill>
                  <a:srgbClr val="EEECE5"/>
                </a:solidFill>
                <a:uFill>
                  <a:solidFill>
                    <a:srgbClr val="E4B45A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图表解读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分析图与传播图：五个维度做判断</a:t>
            </a:r>
            <a:endParaRPr lang="en-US" sz="36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11274552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3200400"/>
                <a:gridCol w="3227832"/>
              </a:tblGrid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判断标准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柱形图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玫瑰图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精确比较数值与差值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______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______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观察月份顺序与阶段差异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______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______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判断哪类死因贡献最大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______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______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吸引非专业受众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______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______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误读风险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______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______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830824"/>
            <a:ext cx="11274552" cy="1257808"/>
          </a:xfrm>
          <a:prstGeom prst="roundRect">
            <a:avLst>
              <a:gd name="adj" fmla="val 7270"/>
            </a:avLst>
          </a:prstGeom>
          <a:solidFill>
            <a:srgbClr val="E4B45A">
              <a:alpha val="14000"/>
            </a:srgbClr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pic>
        <p:nvPicPr>
          <p:cNvPr id="8" name="Image 0" descr="/tmp/claude-0/-home-claude/db920b88-cc5e-5bde-bd22-fdb259964c46/scratchpad/icon_FaQuestion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004560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5940552"/>
            <a:ext cx="10405872" cy="1020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【先想一想】选作分析报告：______　用于公众展示：______　必须说明什么？______</a:t>
            </a:r>
            <a:endParaRPr lang="en-US" sz="2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任务4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数据映射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图形建构</a:t>
            </a:r>
            <a:pPr indent="0" marL="0">
              <a:buNone/>
            </a:pPr>
            <a:r>
              <a:rPr lang="en-US" sz="24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pPr indent="0" marL="0">
              <a:buNone/>
            </a:pPr>
            <a:r>
              <a:rPr lang="en-US" sz="2400" b="1" u="heavy" dirty="0">
                <a:solidFill>
                  <a:srgbClr val="EEECE5"/>
                </a:solidFill>
                <a:uFill>
                  <a:solidFill>
                    <a:srgbClr val="E4B45A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图表解读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图形选择辩论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5486400" cy="2651760"/>
          </a:xfrm>
          <a:prstGeom prst="roundRect">
            <a:avLst>
              <a:gd name="adj" fmla="val 3448"/>
            </a:avLst>
          </a:prstGeom>
          <a:solidFill>
            <a:srgbClr val="1E2D4E"/>
          </a:solidFill>
          <a:ln w="12700">
            <a:solidFill>
              <a:srgbClr val="1E2D4E">
                <a:alpha val="0"/>
              </a:srgbClr>
            </a:solidFill>
            <a:prstDash val="solid"/>
          </a:ln>
        </p:spPr>
      </p:sp>
      <p:pic>
        <p:nvPicPr>
          <p:cNvPr id="7" name="Image 0" descr="/tmp/claude-0/-home-claude/db920b88-cc5e-5bde-bd22-fdb259964c46/scratchpad/icon_FaChart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45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2148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78C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组：分面柱形图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834640"/>
            <a:ext cx="5074920" cy="197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观点：政府分析报告应优先用柱形图。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证据角度：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精确比较、坐标尺度、误读风险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245352" y="2057400"/>
            <a:ext cx="5486400" cy="2651760"/>
          </a:xfrm>
          <a:prstGeom prst="roundRect">
            <a:avLst>
              <a:gd name="adj" fmla="val 3448"/>
            </a:avLst>
          </a:prstGeom>
          <a:solidFill>
            <a:srgbClr val="1E2D4E"/>
          </a:solidFill>
          <a:ln w="12700">
            <a:solidFill>
              <a:srgbClr val="1E2D4E">
                <a:alpha val="0"/>
              </a:srgbClr>
            </a:solidFill>
            <a:prstDash val="solid"/>
          </a:ln>
        </p:spPr>
      </p:sp>
      <p:pic>
        <p:nvPicPr>
          <p:cNvPr id="11" name="Image 1" descr="/tmp/claude-0/-home-claude/db920b88-cc5e-5bde-bd22-fdb259964c46/scratchpad/icon_FaChartP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1945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68312" y="2148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FF9F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组：玫瑰图</a:t>
            </a:r>
            <a:endParaRPr lang="en-US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6473952" y="2834640"/>
            <a:ext cx="5074920" cy="197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观点：面向公众传播可优先用玫瑰图。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证据角度：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整体感知、注意力、历史语境</a:t>
            </a:r>
            <a:endParaRPr lang="en-US" sz="2800" dirty="0"/>
          </a:p>
        </p:txBody>
      </p:sp>
      <p:sp>
        <p:nvSpPr>
          <p:cNvPr id="14" name="Shape 10"/>
          <p:cNvSpPr/>
          <p:nvPr/>
        </p:nvSpPr>
        <p:spPr>
          <a:xfrm>
            <a:off x="457200" y="4892040"/>
            <a:ext cx="11274552" cy="1385824"/>
          </a:xfrm>
          <a:prstGeom prst="roundRect">
            <a:avLst>
              <a:gd name="adj" fmla="val 6598"/>
            </a:avLst>
          </a:prstGeom>
          <a:solidFill>
            <a:srgbClr val="FF9F87">
              <a:alpha val="14000"/>
            </a:srgbClr>
          </a:solidFill>
          <a:ln w="12700">
            <a:solidFill>
              <a:srgbClr val="FF9F87">
                <a:alpha val="0"/>
              </a:srgbClr>
            </a:solidFill>
            <a:prstDash val="solid"/>
          </a:ln>
        </p:spPr>
      </p:sp>
      <p:pic>
        <p:nvPicPr>
          <p:cNvPr id="15" name="Image 2" descr="/tmp/claude-0/-home-claude/db920b88-cc5e-5bde-bd22-fdb259964c46/scratchpad/icon_FaExclamationTriang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065776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43000" y="5001768"/>
            <a:ext cx="10405872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FF9F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共同底线：标题、单位、图例和结论边界必须完整</a:t>
            </a:r>
            <a:endParaRPr lang="en-US" sz="28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5639816"/>
            <a:ext cx="1081735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换图形可以，换掉严谨性不行。</a:t>
            </a:r>
            <a:endParaRPr lang="en-US" sz="2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四个问题形成一条证据链</a:t>
            </a:r>
            <a:endParaRPr lang="en-US" sz="36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455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  <a:gridCol w="2743200"/>
                <a:gridCol w="2496312"/>
              </a:tblGrid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解决的问题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形成的判断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 1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哪类死因负担最重？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累计人数图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确定主要矛盾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 2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高死亡集中在哪些月？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月度堆叠图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识别时间模式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巩固提升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三类死因变化一致？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分面图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分开看节奏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 3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改革前后怎样变化？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分面对比图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比较阶段差异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 4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玫瑰图适合什么目的？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柱形图+玫瑰图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评价图形选择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510784"/>
            <a:ext cx="11274552" cy="835152"/>
          </a:xfrm>
          <a:prstGeom prst="roundRect">
            <a:avLst>
              <a:gd name="adj" fmla="val 10949"/>
            </a:avLst>
          </a:prstGeom>
          <a:solidFill>
            <a:srgbClr val="67D6B4">
              <a:alpha val="14000"/>
            </a:srgbClr>
          </a:solidFill>
          <a:ln w="12700">
            <a:solidFill>
              <a:srgbClr val="67D6B4">
                <a:alpha val="0"/>
              </a:srgbClr>
            </a:solidFill>
            <a:prstDash val="solid"/>
          </a:ln>
        </p:spPr>
      </p:sp>
      <p:pic>
        <p:nvPicPr>
          <p:cNvPr id="7" name="Image 0" descr="/tmp/claude-0/-home-claude/db920b88-cc5e-5bde-bd22-fdb259964c46/scratchpad/icon_Fa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684520"/>
            <a:ext cx="347472" cy="3474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5620512"/>
            <a:ext cx="10405872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67D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项目结论来自</a:t>
            </a:r>
            <a:pPr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多幅图的相互支持</a:t>
            </a:r>
            <a:pPr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67D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，而不是一幅"好看的图"</a:t>
            </a:r>
            <a:endParaRPr lang="en-US" sz="3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决策建议与结论边界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4552" cy="3056128"/>
          </a:xfrm>
          <a:prstGeom prst="roundRect">
            <a:avLst>
              <a:gd name="adj" fmla="val 2992"/>
            </a:avLst>
          </a:prstGeom>
          <a:solidFill>
            <a:srgbClr val="E4B45A">
              <a:alpha val="14000"/>
            </a:srgbClr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pic>
        <p:nvPicPr>
          <p:cNvPr id="6" name="Image 0" descr="/tmp/claude-0/-home-claude/db920b88-cc5e-5bde-bd22-fdb259964c46/scratchpad/icon_FaQuestion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6537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801368"/>
            <a:ext cx="10405872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【先想一想】把证据组织成一段结论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439416"/>
            <a:ext cx="10817352" cy="2198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：改革前，______ 是士兵死亡的主要原因；改革后，______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</a:t>
            </a:r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：有限资源应优先用于 ______，同时保留必要的战伤救治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：任务 1、2、3 分别从 ____、____ 和 ____ 提供支持</a:t>
            </a:r>
            <a:endParaRPr lang="en-US" sz="2800" dirty="0"/>
          </a:p>
          <a:p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：数据没有记录 ______，不能把全部变化简单归因于改革</a:t>
            </a:r>
            <a:endParaRPr lang="en-US" sz="2800" dirty="0"/>
          </a:p>
        </p:txBody>
      </p:sp>
      <p:pic>
        <p:nvPicPr>
          <p:cNvPr id="9" name="Image 1" descr="/tmp/claude-0/-home-claude/db920b88-cc5e-5bde-bd22-fdb259964c46/scratchpad/icon_FaBalanceSca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67808"/>
            <a:ext cx="594360" cy="5943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5022088"/>
            <a:ext cx="10424160" cy="983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科学表达包含两部分：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说清证据支持什么，也说清证据不能证明什么。</a:t>
            </a:r>
            <a:endParaRPr lang="en-US" sz="2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可视化问题求解流程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57200" cy="457200"/>
          </a:xfrm>
          <a:prstGeom prst="ellipse">
            <a:avLst/>
          </a:prstGeom>
          <a:solidFill>
            <a:srgbClr val="E4B45A"/>
          </a:solidFill>
          <a:ln w="12700">
            <a:solidFill>
              <a:srgbClr val="E4B4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6916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从公共卫生决策提出</a:t>
            </a:r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真实问题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E4B45A"/>
          </a:solidFill>
          <a:ln w="12700">
            <a:solidFill>
              <a:srgbClr val="E4B4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4231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认识数据，选可比的</a:t>
            </a:r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457200" cy="457200"/>
          </a:xfrm>
          <a:prstGeom prst="ellipse">
            <a:avLst/>
          </a:prstGeom>
          <a:solidFill>
            <a:srgbClr val="E4B45A"/>
          </a:solidFill>
          <a:ln w="12700">
            <a:solidFill>
              <a:srgbClr val="E4B4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1546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</a:t>
            </a:r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变量→视觉通道</a:t>
            </a:r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映射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E4B45A"/>
          </a:solidFill>
          <a:ln w="12700">
            <a:solidFill>
              <a:srgbClr val="E4B4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8862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ggplot2 图层</a:t>
            </a:r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构建图形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153912" y="1737360"/>
            <a:ext cx="457200" cy="457200"/>
          </a:xfrm>
          <a:prstGeom prst="ellipse">
            <a:avLst/>
          </a:prstGeom>
          <a:solidFill>
            <a:srgbClr val="E4B45A"/>
          </a:solidFill>
          <a:ln w="12700">
            <a:solidFill>
              <a:srgbClr val="E4B4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5391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793992" y="16916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从图中提取</a:t>
            </a:r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，检验预测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153912" y="2468880"/>
            <a:ext cx="457200" cy="457200"/>
          </a:xfrm>
          <a:prstGeom prst="ellipse">
            <a:avLst/>
          </a:prstGeom>
          <a:solidFill>
            <a:srgbClr val="E4B45A"/>
          </a:solidFill>
          <a:ln w="12700">
            <a:solidFill>
              <a:srgbClr val="E4B4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5391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793992" y="24231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比较不同</a:t>
            </a:r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</a:t>
            </a:r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的表达价值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6153912" y="3200400"/>
            <a:ext cx="457200" cy="457200"/>
          </a:xfrm>
          <a:prstGeom prst="ellipse">
            <a:avLst/>
          </a:prstGeom>
          <a:solidFill>
            <a:srgbClr val="E4B45A"/>
          </a:solidFill>
          <a:ln w="12700">
            <a:solidFill>
              <a:srgbClr val="E4B4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5391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6793992" y="31546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</a:t>
            </a:r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</a:t>
            </a:r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，说明局限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6153912" y="3977640"/>
            <a:ext cx="5577840" cy="1257808"/>
          </a:xfrm>
          <a:prstGeom prst="roundRect">
            <a:avLst>
              <a:gd name="adj" fmla="val 7270"/>
            </a:avLst>
          </a:prstGeom>
          <a:solidFill>
            <a:srgbClr val="67D6B4">
              <a:alpha val="14000"/>
            </a:srgbClr>
          </a:solidFill>
          <a:ln w="12700">
            <a:solidFill>
              <a:srgbClr val="67D6B4">
                <a:alpha val="0"/>
              </a:srgbClr>
            </a:solidFill>
            <a:prstDash val="solid"/>
          </a:ln>
        </p:spPr>
      </p:sp>
      <p:pic>
        <p:nvPicPr>
          <p:cNvPr id="27" name="Image 0" descr="/tmp/claude-0/-home-claude/db920b88-cc5e-5bde-bd22-fdb259964c46/scratchpad/icon_Fa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4151376"/>
            <a:ext cx="347472" cy="347472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6839712" y="4087368"/>
            <a:ext cx="4709160" cy="1020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67D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ggplot2 提供绘图规则，</a:t>
            </a:r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分析目的决定使用哪些规则</a:t>
            </a:r>
            <a:endParaRPr lang="en-US" sz="2800" dirty="0"/>
          </a:p>
        </p:txBody>
      </p:sp>
      <p:pic>
        <p:nvPicPr>
          <p:cNvPr id="29" name="Image 1" descr="/tmp/claude-0/-home-claude/db920b88-cc5e-5bde-bd22-fdb259964c46/scratchpad/icon_Fa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00600"/>
            <a:ext cx="822960" cy="82296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1600200" y="4846320"/>
            <a:ext cx="4389120" cy="983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每解决一个问题，就形成一项新的项目成果</a:t>
            </a:r>
            <a:endParaRPr lang="en-US" sz="2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人机协同：AI 能帮什么，什么必须由你完成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86400" cy="2606040"/>
          </a:xfrm>
          <a:prstGeom prst="roundRect">
            <a:avLst>
              <a:gd name="adj" fmla="val 3509"/>
            </a:avLst>
          </a:prstGeom>
          <a:solidFill>
            <a:srgbClr val="1E2D4E"/>
          </a:solidFill>
          <a:ln w="12700">
            <a:solidFill>
              <a:srgbClr val="1E2D4E">
                <a:alpha val="0"/>
              </a:srgbClr>
            </a:solidFill>
            <a:prstDash val="solid"/>
          </a:ln>
        </p:spPr>
      </p:sp>
      <p:pic>
        <p:nvPicPr>
          <p:cNvPr id="6" name="Image 0" descr="/tmp/claude-0/-home-claude/db920b88-cc5e-5bde-bd22-fdb259964c46/scratchpad/icon_Fa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7830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67D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可以帮你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423160"/>
            <a:ext cx="5029200" cy="1514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解释报错和函数参数</a:t>
            </a:r>
            <a:endParaRPr lang="en-US" sz="2800" dirty="0"/>
          </a:p>
          <a:p>
            <a:pPr algn="l" marL="304800" indent="-3048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比较两段代码的差异</a:t>
            </a:r>
            <a:endParaRPr lang="en-US" sz="2800" dirty="0"/>
          </a:p>
          <a:p>
            <a:pPr algn="l" marL="304800" indent="-3048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提出标签、配色和布局建议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245352" y="1691640"/>
            <a:ext cx="5486400" cy="2606040"/>
          </a:xfrm>
          <a:prstGeom prst="roundRect">
            <a:avLst>
              <a:gd name="adj" fmla="val 3509"/>
            </a:avLst>
          </a:prstGeom>
          <a:solidFill>
            <a:srgbClr val="1E2D4E"/>
          </a:solidFill>
          <a:ln w="12700">
            <a:solidFill>
              <a:srgbClr val="1E2D4E">
                <a:alpha val="0"/>
              </a:srgbClr>
            </a:solidFill>
            <a:prstDash val="solid"/>
          </a:ln>
        </p:spPr>
      </p:sp>
      <p:pic>
        <p:nvPicPr>
          <p:cNvPr id="10" name="Image 1" descr="/tmp/claude-0/-home-claude/db920b88-cc5e-5bde-bd22-fdb259964c46/scratchpad/icon_FaUserT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8288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68312" y="17830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必须由你完成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6473952" y="2423160"/>
            <a:ext cx="5029200" cy="1514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明确分析目的、选择指标</a:t>
            </a:r>
            <a:endParaRPr lang="en-US" sz="2800" dirty="0"/>
          </a:p>
          <a:p>
            <a:pPr algn="l" marL="304800" indent="-3048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设计变量与视觉通道的映射</a:t>
            </a:r>
            <a:endParaRPr lang="en-US" sz="2800" dirty="0"/>
          </a:p>
          <a:p>
            <a:pPr algn="l" marL="304800" indent="-3048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解释代码，核验图形与结论</a:t>
            </a:r>
            <a:endParaRPr lang="en-US" sz="2800" dirty="0"/>
          </a:p>
        </p:txBody>
      </p:sp>
      <p:sp>
        <p:nvSpPr>
          <p:cNvPr id="13" name="Shape 9"/>
          <p:cNvSpPr/>
          <p:nvPr/>
        </p:nvSpPr>
        <p:spPr>
          <a:xfrm>
            <a:off x="457200" y="4480560"/>
            <a:ext cx="11274552" cy="1840992"/>
          </a:xfrm>
          <a:prstGeom prst="roundRect">
            <a:avLst>
              <a:gd name="adj" fmla="val 4967"/>
            </a:avLst>
          </a:prstGeom>
          <a:solidFill>
            <a:srgbClr val="FF9F87">
              <a:alpha val="14000"/>
            </a:srgbClr>
          </a:solidFill>
          <a:ln w="12700">
            <a:solidFill>
              <a:srgbClr val="FF9F87">
                <a:alpha val="0"/>
              </a:srgbClr>
            </a:solidFill>
            <a:prstDash val="solid"/>
          </a:ln>
        </p:spPr>
      </p:sp>
      <p:pic>
        <p:nvPicPr>
          <p:cNvPr id="14" name="Image 2" descr="/tmp/claude-0/-home-claude/db920b88-cc5e-5bde-bd22-fdb259964c46/scratchpad/icon_FaExclamationTriang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65429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43000" y="4590288"/>
            <a:ext cx="10405872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FF9F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使用原则：使用 AI 本身</a:t>
            </a:r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不加分</a:t>
            </a:r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FF9F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能否核验</a:t>
            </a:r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FF9F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才加分</a:t>
            </a:r>
            <a:endParaRPr lang="en-US" sz="28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228336"/>
            <a:ext cx="10817352" cy="983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提交时附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人机协作日志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：AI 给了什么、你核验了什么、改了什么。</a:t>
            </a:r>
            <a:endParaRPr lang="en-US" sz="2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项目评价</a:t>
            </a:r>
            <a:endParaRPr lang="en-US" sz="36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455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645920"/>
                <a:gridCol w="5971032"/>
              </a:tblGrid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评价维度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权重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b="1" dirty="0">
                          <a:solidFill>
                            <a:srgbClr val="E4B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评价证据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9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问题与分析目的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15%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每个任务的分析设计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指标与数据映射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20%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变量—视觉通道映射表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代码与图形表达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25%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可运行代码、标题、单位和图例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证据与结论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25%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图表解读、建议与局限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6">
                        <a:alpha val="65000"/>
                      </a:srgbClr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协作、反思与责任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15%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EEE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互动记录、AI 核验日志</a:t>
                      </a:r>
                      <a:endParaRPr lang="en-US" sz="2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>
                        <a:alpha val="65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/tmp/claude-0/-home-claude/db920b88-cc5e-5bde-bd22-fdb259964c46/scratchpad/icon_FaClipboard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556504"/>
            <a:ext cx="594360" cy="5943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80160" y="5510784"/>
            <a:ext cx="1042416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提交物：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78C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.qmd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源文件、HTML、项目指导书、AI 使用记录</a:t>
            </a:r>
            <a:endParaRPr lang="en-US" sz="2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迁移任务：宁波舟山港</a:t>
            </a:r>
            <a:endParaRPr lang="en-US" sz="3600" dirty="0"/>
          </a:p>
        </p:txBody>
      </p:sp>
      <p:pic>
        <p:nvPicPr>
          <p:cNvPr id="5" name="Image 0" descr="/tmp/claude-0/-home-claude/db920b88-cc5e-5bde-bd22-fdb259964c46/scratchpad/icon_FaS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91440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737360" y="1691640"/>
            <a:ext cx="9994392" cy="1840992"/>
          </a:xfrm>
          <a:prstGeom prst="roundRect">
            <a:avLst>
              <a:gd name="adj" fmla="val 4967"/>
            </a:avLst>
          </a:prstGeom>
          <a:solidFill>
            <a:srgbClr val="E4B45A">
              <a:alpha val="14000"/>
            </a:srgbClr>
          </a:solidFill>
          <a:ln w="12700">
            <a:solidFill>
              <a:srgbClr val="E4B45A">
                <a:alpha val="0"/>
              </a:srgbClr>
            </a:solidFill>
            <a:prstDash val="solid"/>
          </a:ln>
        </p:spPr>
      </p:sp>
      <p:pic>
        <p:nvPicPr>
          <p:cNvPr id="7" name="Image 1" descr="/tmp/claude-0/-home-claude/db920b88-cc5e-5bde-bd22-fdb259964c46/scratchpad/icon_FaQuestion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528" y="1865376"/>
            <a:ext cx="347472" cy="3474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423160" y="1801368"/>
            <a:ext cx="9125712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新的真实问题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1965960" y="2439416"/>
            <a:ext cx="9537192" cy="983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宁波舟山港各类货物吞吐量有何差异？货运结构怎样变化？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362407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迁移要求（顺序不能颠倒）：分析设计先于代码和图形</a:t>
            </a:r>
            <a:endParaRPr lang="en-US" sz="2800" dirty="0"/>
          </a:p>
        </p:txBody>
      </p:sp>
      <p:sp>
        <p:nvSpPr>
          <p:cNvPr id="11" name="Shape 7"/>
          <p:cNvSpPr/>
          <p:nvPr/>
        </p:nvSpPr>
        <p:spPr>
          <a:xfrm>
            <a:off x="457200" y="4126992"/>
            <a:ext cx="457200" cy="457200"/>
          </a:xfrm>
          <a:prstGeom prst="ellipse">
            <a:avLst/>
          </a:prstGeom>
          <a:solidFill>
            <a:srgbClr val="E4B45A"/>
          </a:solidFill>
          <a:ln w="12700">
            <a:solidFill>
              <a:srgbClr val="E4B45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4126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4081272"/>
            <a:ext cx="10588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</a:t>
            </a:r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目标受众</a:t>
            </a:r>
            <a:endParaRPr lang="en-US" sz="2800" dirty="0"/>
          </a:p>
        </p:txBody>
      </p:sp>
      <p:sp>
        <p:nvSpPr>
          <p:cNvPr id="14" name="Shape 10"/>
          <p:cNvSpPr/>
          <p:nvPr/>
        </p:nvSpPr>
        <p:spPr>
          <a:xfrm>
            <a:off x="457200" y="4675632"/>
            <a:ext cx="457200" cy="457200"/>
          </a:xfrm>
          <a:prstGeom prst="ellipse">
            <a:avLst/>
          </a:prstGeom>
          <a:solidFill>
            <a:srgbClr val="E4B45A"/>
          </a:solidFill>
          <a:ln w="12700">
            <a:solidFill>
              <a:srgbClr val="E4B45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57200" y="4675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1097280" y="4629912"/>
            <a:ext cx="10588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</a:t>
            </a:r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总量、比例或增长率</a:t>
            </a:r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作为指标，并说明理由</a:t>
            </a:r>
            <a:endParaRPr lang="en-US" sz="2800" dirty="0"/>
          </a:p>
        </p:txBody>
      </p:sp>
      <p:sp>
        <p:nvSpPr>
          <p:cNvPr id="17" name="Shape 13"/>
          <p:cNvSpPr/>
          <p:nvPr/>
        </p:nvSpPr>
        <p:spPr>
          <a:xfrm>
            <a:off x="457200" y="5224272"/>
            <a:ext cx="457200" cy="457200"/>
          </a:xfrm>
          <a:prstGeom prst="ellipse">
            <a:avLst/>
          </a:prstGeom>
          <a:solidFill>
            <a:srgbClr val="E4B45A"/>
          </a:solidFill>
          <a:ln w="12700">
            <a:solidFill>
              <a:srgbClr val="E4B45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57200" y="5224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5"/>
          <p:cNvSpPr txBox="1"/>
          <p:nvPr/>
        </p:nvSpPr>
        <p:spPr>
          <a:xfrm>
            <a:off x="1097280" y="5178552"/>
            <a:ext cx="10588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变量—视觉通道映射表</a:t>
            </a:r>
            <a:endParaRPr lang="en-US" sz="2800" dirty="0"/>
          </a:p>
        </p:txBody>
      </p:sp>
      <p:sp>
        <p:nvSpPr>
          <p:cNvPr id="20" name="Shape 16"/>
          <p:cNvSpPr/>
          <p:nvPr/>
        </p:nvSpPr>
        <p:spPr>
          <a:xfrm>
            <a:off x="457200" y="5772912"/>
            <a:ext cx="457200" cy="457200"/>
          </a:xfrm>
          <a:prstGeom prst="ellipse">
            <a:avLst/>
          </a:prstGeom>
          <a:solidFill>
            <a:srgbClr val="E4B45A"/>
          </a:solidFill>
          <a:ln w="12700">
            <a:solidFill>
              <a:srgbClr val="E4B45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57200" y="5772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18"/>
          <p:cNvSpPr txBox="1"/>
          <p:nvPr/>
        </p:nvSpPr>
        <p:spPr>
          <a:xfrm>
            <a:off x="1097280" y="5727192"/>
            <a:ext cx="10588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用柱形图或分面图</a:t>
            </a:r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构建证据</a:t>
            </a:r>
            <a:endParaRPr lang="en-US" sz="2800" dirty="0"/>
          </a:p>
        </p:txBody>
      </p:sp>
      <p:sp>
        <p:nvSpPr>
          <p:cNvPr id="23" name="Shape 19"/>
          <p:cNvSpPr/>
          <p:nvPr/>
        </p:nvSpPr>
        <p:spPr>
          <a:xfrm>
            <a:off x="457200" y="6321552"/>
            <a:ext cx="457200" cy="457200"/>
          </a:xfrm>
          <a:prstGeom prst="ellipse">
            <a:avLst/>
          </a:prstGeom>
          <a:solidFill>
            <a:srgbClr val="E4B45A"/>
          </a:solidFill>
          <a:ln w="12700">
            <a:solidFill>
              <a:srgbClr val="E4B45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57200" y="6321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1"/>
          <p:cNvSpPr txBox="1"/>
          <p:nvPr/>
        </p:nvSpPr>
        <p:spPr>
          <a:xfrm>
            <a:off x="1097280" y="6275832"/>
            <a:ext cx="10588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</a:t>
            </a:r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结论、建议和局限</a:t>
            </a:r>
            <a:endParaRPr lang="en-US" sz="2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0" y="16459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项目背景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新知探究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项目任务 </a:t>
            </a:r>
            <a:pPr algn="r" indent="0" marL="0">
              <a:buNone/>
            </a:pPr>
            <a:r>
              <a:rPr lang="en-US" sz="2800" dirty="0">
                <a:solidFill>
                  <a:srgbClr val="9AA5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pPr algn="r" indent="0" marL="0">
              <a:buNone/>
            </a:pPr>
            <a:r>
              <a:rPr lang="en-US" sz="2800" b="1" dirty="0">
                <a:solidFill>
                  <a:srgbClr val="101820"/>
                </a:solidFill>
                <a:highlight>
                  <a:srgbClr val="E4B45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项目总结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74552" cy="0"/>
          </a:xfrm>
          <a:prstGeom prst="line">
            <a:avLst/>
          </a:prstGeom>
          <a:noFill/>
          <a:ln w="9525">
            <a:solidFill>
              <a:srgbClr val="78C8F5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课程结束前的三个问题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75488" cy="475488"/>
          </a:xfrm>
          <a:prstGeom prst="ellipse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</p:sp>
      <p:pic>
        <p:nvPicPr>
          <p:cNvPr id="6" name="Image 0" descr="/tmp/claude-0/-home-claude/db920b88-cc5e-5bde-bd22-fdb259964c46/scratchpad/icon_FaLayerGro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47088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69164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ggplot2 的</a:t>
            </a:r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图形语法</a:t>
            </a:r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475488" cy="475488"/>
          </a:xfrm>
          <a:prstGeom prst="ellipse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</p:sp>
      <p:pic>
        <p:nvPicPr>
          <p:cNvPr id="9" name="Image 1" descr="/tmp/claude-0/-home-claude/db920b88-cc5e-5bde-bd22-fdb259964c46/scratchpad/icon_Fa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48716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233172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为什么图形选择必须从</a:t>
            </a:r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分析目的</a:t>
            </a:r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出发？</a:t>
            </a:r>
            <a:endParaRPr lang="en-US" sz="2800" dirty="0"/>
          </a:p>
        </p:txBody>
      </p:sp>
      <p:sp>
        <p:nvSpPr>
          <p:cNvPr id="11" name="Shape 7"/>
          <p:cNvSpPr/>
          <p:nvPr/>
        </p:nvSpPr>
        <p:spPr>
          <a:xfrm>
            <a:off x="457200" y="3017520"/>
            <a:ext cx="475488" cy="475488"/>
          </a:xfrm>
          <a:prstGeom prst="ellipse">
            <a:avLst/>
          </a:prstGeom>
          <a:solidFill>
            <a:srgbClr val="243559"/>
          </a:solidFill>
          <a:ln w="12700">
            <a:solidFill>
              <a:srgbClr val="243559"/>
            </a:solidFill>
            <a:prstDash val="solid"/>
          </a:ln>
        </p:spPr>
      </p:sp>
      <p:pic>
        <p:nvPicPr>
          <p:cNvPr id="12" name="Image 2" descr="/tmp/claude-0/-home-claude/db920b88-cc5e-5bde-bd22-fdb259964c46/scratchpad/icon_FaChartPi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127248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297180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南丁格尔案例说明可视化怎样</a:t>
            </a:r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影响公共决策</a:t>
            </a:r>
            <a:pPr algn="l" indent="0" marL="0">
              <a:lnSpc>
                <a:spcPct val="106000"/>
              </a:lnSpc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800" dirty="0"/>
          </a:p>
        </p:txBody>
      </p:sp>
      <p:sp>
        <p:nvSpPr>
          <p:cNvPr id="14" name="Shape 9"/>
          <p:cNvSpPr/>
          <p:nvPr/>
        </p:nvSpPr>
        <p:spPr>
          <a:xfrm>
            <a:off x="457200" y="379476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1E2D4E"/>
          </a:solidFill>
          <a:ln w="12700">
            <a:solidFill>
              <a:srgbClr val="1E2D4E">
                <a:alpha val="0"/>
              </a:srgbClr>
            </a:solidFill>
            <a:prstDash val="solid"/>
          </a:ln>
        </p:spPr>
      </p:sp>
      <p:pic>
        <p:nvPicPr>
          <p:cNvPr id="15" name="Image 3" descr="/tmp/claude-0/-home-claude/db920b88-cc5e-5bde-bd22-fdb259964c46/scratchpad/icon_FaDoorOp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3192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80160" y="3886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出口卡</a:t>
            </a:r>
            <a:endParaRPr lang="en-US" sz="2800" dirty="0"/>
          </a:p>
        </p:txBody>
      </p:sp>
      <p:sp>
        <p:nvSpPr>
          <p:cNvPr id="17" name="Text 11"/>
          <p:cNvSpPr txBox="1"/>
          <p:nvPr/>
        </p:nvSpPr>
        <p:spPr>
          <a:xfrm>
            <a:off x="685800" y="44805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最重要的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一项收获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仍不确定的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一个问题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准备改进的</a:t>
            </a:r>
            <a:pPr algn="l"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一项做法</a:t>
            </a:r>
            <a:endParaRPr lang="en-US" sz="2800" dirty="0"/>
          </a:p>
        </p:txBody>
      </p:sp>
      <p:sp>
        <p:nvSpPr>
          <p:cNvPr id="18" name="Shape 12"/>
          <p:cNvSpPr/>
          <p:nvPr/>
        </p:nvSpPr>
        <p:spPr>
          <a:xfrm>
            <a:off x="457200" y="5486400"/>
            <a:ext cx="1500922" cy="1051560"/>
          </a:xfrm>
          <a:prstGeom prst="roundRect">
            <a:avLst>
              <a:gd name="adj" fmla="val 8696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457200" y="5486400"/>
            <a:ext cx="15009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2800" dirty="0"/>
          </a:p>
        </p:txBody>
      </p:sp>
      <p:sp>
        <p:nvSpPr>
          <p:cNvPr id="20" name="Text 14"/>
          <p:cNvSpPr txBox="1"/>
          <p:nvPr/>
        </p:nvSpPr>
        <p:spPr>
          <a:xfrm>
            <a:off x="1930690" y="548640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21" name="Shape 15"/>
          <p:cNvSpPr/>
          <p:nvPr/>
        </p:nvSpPr>
        <p:spPr>
          <a:xfrm>
            <a:off x="2086138" y="5486400"/>
            <a:ext cx="1500922" cy="1051560"/>
          </a:xfrm>
          <a:prstGeom prst="roundRect">
            <a:avLst>
              <a:gd name="adj" fmla="val 8696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2086138" y="5486400"/>
            <a:ext cx="15009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</a:t>
            </a:r>
            <a:endParaRPr lang="en-US" sz="2800" dirty="0"/>
          </a:p>
        </p:txBody>
      </p:sp>
      <p:sp>
        <p:nvSpPr>
          <p:cNvPr id="23" name="Text 17"/>
          <p:cNvSpPr txBox="1"/>
          <p:nvPr/>
        </p:nvSpPr>
        <p:spPr>
          <a:xfrm>
            <a:off x="3559629" y="548640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24" name="Shape 18"/>
          <p:cNvSpPr/>
          <p:nvPr/>
        </p:nvSpPr>
        <p:spPr>
          <a:xfrm>
            <a:off x="3715077" y="5486400"/>
            <a:ext cx="1500922" cy="1051560"/>
          </a:xfrm>
          <a:prstGeom prst="roundRect">
            <a:avLst>
              <a:gd name="adj" fmla="val 8696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3715077" y="5486400"/>
            <a:ext cx="15009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2800" dirty="0"/>
          </a:p>
        </p:txBody>
      </p:sp>
      <p:sp>
        <p:nvSpPr>
          <p:cNvPr id="26" name="Text 20"/>
          <p:cNvSpPr txBox="1"/>
          <p:nvPr/>
        </p:nvSpPr>
        <p:spPr>
          <a:xfrm>
            <a:off x="5188567" y="548640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5344015" y="5486400"/>
            <a:ext cx="1500922" cy="1051560"/>
          </a:xfrm>
          <a:prstGeom prst="roundRect">
            <a:avLst>
              <a:gd name="adj" fmla="val 8696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344015" y="5486400"/>
            <a:ext cx="15009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映射</a:t>
            </a:r>
            <a:endParaRPr lang="en-US" sz="2800" dirty="0"/>
          </a:p>
        </p:txBody>
      </p:sp>
      <p:sp>
        <p:nvSpPr>
          <p:cNvPr id="29" name="Text 23"/>
          <p:cNvSpPr txBox="1"/>
          <p:nvPr/>
        </p:nvSpPr>
        <p:spPr>
          <a:xfrm>
            <a:off x="6817505" y="548640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30" name="Shape 24"/>
          <p:cNvSpPr/>
          <p:nvPr/>
        </p:nvSpPr>
        <p:spPr>
          <a:xfrm>
            <a:off x="6972953" y="5486400"/>
            <a:ext cx="1500922" cy="1051560"/>
          </a:xfrm>
          <a:prstGeom prst="roundRect">
            <a:avLst>
              <a:gd name="adj" fmla="val 8696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6972953" y="5486400"/>
            <a:ext cx="15009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</a:t>
            </a:r>
            <a:endParaRPr lang="en-US" sz="2800" dirty="0"/>
          </a:p>
        </p:txBody>
      </p:sp>
      <p:sp>
        <p:nvSpPr>
          <p:cNvPr id="32" name="Text 26"/>
          <p:cNvSpPr txBox="1"/>
          <p:nvPr/>
        </p:nvSpPr>
        <p:spPr>
          <a:xfrm>
            <a:off x="8446443" y="548640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33" name="Shape 27"/>
          <p:cNvSpPr/>
          <p:nvPr/>
        </p:nvSpPr>
        <p:spPr>
          <a:xfrm>
            <a:off x="8601891" y="5486400"/>
            <a:ext cx="1500922" cy="1051560"/>
          </a:xfrm>
          <a:prstGeom prst="roundRect">
            <a:avLst>
              <a:gd name="adj" fmla="val 8696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8601891" y="5486400"/>
            <a:ext cx="15009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解读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2800" dirty="0"/>
          </a:p>
        </p:txBody>
      </p:sp>
      <p:sp>
        <p:nvSpPr>
          <p:cNvPr id="35" name="Text 29"/>
          <p:cNvSpPr txBox="1"/>
          <p:nvPr/>
        </p:nvSpPr>
        <p:spPr>
          <a:xfrm>
            <a:off x="10075382" y="548640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4B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800" dirty="0"/>
          </a:p>
        </p:txBody>
      </p:sp>
      <p:sp>
        <p:nvSpPr>
          <p:cNvPr id="36" name="Shape 30"/>
          <p:cNvSpPr/>
          <p:nvPr/>
        </p:nvSpPr>
        <p:spPr>
          <a:xfrm>
            <a:off x="10230830" y="5486400"/>
            <a:ext cx="1500922" cy="1051560"/>
          </a:xfrm>
          <a:prstGeom prst="roundRect">
            <a:avLst>
              <a:gd name="adj" fmla="val 8696"/>
            </a:avLst>
          </a:prstGeom>
          <a:solidFill>
            <a:srgbClr val="243559"/>
          </a:solidFill>
          <a:ln w="12700">
            <a:solidFill>
              <a:srgbClr val="243559">
                <a:alpha val="0"/>
              </a:srgbClr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10230830" y="5486400"/>
            <a:ext cx="15009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EE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2026-09-21T07:11:45Z</dcterms:created>
  <dcterms:modified xsi:type="dcterms:W3CDTF">2026-09-21T07:11:45Z</dcterms:modified>
</cp:coreProperties>
</file>