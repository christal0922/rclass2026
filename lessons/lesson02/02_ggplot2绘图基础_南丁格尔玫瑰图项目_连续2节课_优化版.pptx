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6858000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78C8F5"/>
                </a:solidFill>
                <a:latin typeface="Microsoft YaHei"/>
              </a:rPr>
              <a:t>02 ggplot2绘图基础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6F9"/>
                </a:solidFill>
                <a:latin typeface="Microsoft YaHei"/>
              </a:rPr>
              <a:t>数据如何改变战争？
基于南丁格尔玫瑰图的可视化项目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连续 2 节课课程PPT
项目主线：问题提出 → 指标选择 → 图形建构 → 证据解读 → 决策反思</a:t>
            </a:r>
          </a:p>
        </p:txBody>
      </p:sp>
      <p:pic>
        <p:nvPicPr>
          <p:cNvPr id="7" name="Picture 6" descr="task4_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97280"/>
            <a:ext cx="4709160" cy="2328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521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8C3CE"/>
                </a:solidFill>
                <a:latin typeface="Microsoft YaHei"/>
              </a:rPr>
              <a:t>适用场景：大三《R语言与数据可视化》｜16:9 深色主题｜最小正文字号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课程结构总览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两课时围绕同一真实问题推进：先分析，再比较，最后评价图形。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257800" cy="20116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52578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99032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① 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3F6F9"/>
                </a:solidFill>
                <a:latin typeface="Microsoft YaHei"/>
              </a:rPr>
              <a:t>真实问题
数据与指标
项目目标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257800" cy="20116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71600"/>
            <a:ext cx="52578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399032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② 新知探究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3F6F9"/>
                </a:solidFill>
                <a:latin typeface="Microsoft YaHei"/>
              </a:rPr>
              <a:t>视觉通道
ggplot2 语法
映射与设定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257800" cy="2011680"/>
          </a:xfrm>
          <a:prstGeom prst="roundRect">
            <a:avLst/>
          </a:prstGeom>
          <a:solidFill>
            <a:srgbClr val="16212B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257800" cy="34747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67912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③ 第一课时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3F6F9"/>
                </a:solidFill>
                <a:latin typeface="Microsoft YaHei"/>
              </a:rPr>
              <a:t>任务1、任务2
巩固提升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257800" cy="2011680"/>
          </a:xfrm>
          <a:prstGeom prst="roundRect">
            <a:avLst/>
          </a:prstGeom>
          <a:solidFill>
            <a:srgbClr val="16212B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840480"/>
            <a:ext cx="5257800" cy="34747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867912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④ 第二课时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8912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3F6F9"/>
                </a:solidFill>
                <a:latin typeface="Microsoft YaHei"/>
              </a:rPr>
              <a:t>任务3、任务4
项目总结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两课时安排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第一课时聚焦“负担与月度风险”，第二课时聚焦“阶段变化与经典复刻”。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834640"/>
                <a:gridCol w="3566160"/>
                <a:gridCol w="3291840"/>
              </a:tblGrid>
              <a:tr h="975360">
                <a:tc>
                  <a:txBody>
                    <a:bodyPr wrap="square"/>
                    <a:lstStyle/>
                    <a:p>
                      <a:pPr algn="ctr">
                        <a:defRPr sz="23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课时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核心任务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新知支撑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课堂产出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第一课时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任务1、任务2、巩固提升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视觉通道、ggplot2基本语法、统一配色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比较图、月度构成图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第二课时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任务3、任务4、项目总结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分面、极坐标与面积编码、图形选择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3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分面对比图、玫瑰图评价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526280"/>
            <a:ext cx="5303520" cy="1417320"/>
          </a:xfrm>
          <a:prstGeom prst="roundRect">
            <a:avLst/>
          </a:prstGeom>
          <a:solidFill>
            <a:srgbClr val="1C2833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526280"/>
            <a:ext cx="5303520" cy="384048"/>
          </a:xfrm>
          <a:prstGeom prst="rect">
            <a:avLst/>
          </a:prstGeom>
          <a:solidFill>
            <a:srgbClr val="67D6B4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572000"/>
            <a:ext cx="5084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课堂实践路线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965192"/>
            <a:ext cx="4974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分析目的  →  数据映射  →  图形建构  →  图表解读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26280"/>
            <a:ext cx="5303520" cy="141732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526280"/>
            <a:ext cx="530352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572000"/>
            <a:ext cx="50840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分层任务安排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965192"/>
            <a:ext cx="49743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★ 基础必做   ★★ 进阶选做   ★★★ 挑战合作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学生先思考、先作答；答案页后续可用动画逐步呈现。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143000"/>
            <a:ext cx="1417320" cy="1417320"/>
          </a:xfrm>
          <a:prstGeom prst="ellipse">
            <a:avLst/>
          </a:prstGeom>
          <a:solidFill>
            <a:srgbClr val="1F5F8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D166"/>
                </a:solidFill>
                <a:latin typeface="Microsoft YaHei"/>
              </a:rP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3F6F9"/>
                </a:solidFill>
                <a:latin typeface="Microsoft YaHei"/>
              </a:rP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B8C3CE"/>
                </a:solidFill>
                <a:latin typeface="Microsoft YaHei"/>
              </a:rPr>
              <a:t>从“战场上到底因什么而死”切入，建立整个项目的真实任务情境。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战场之外的死亡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导入：一张图，为什么能改变一次卫生决策？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577840" cy="301752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57784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0759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情境故事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>
                <a:solidFill>
                  <a:srgbClr val="F3F6F9"/>
                </a:solidFill>
                <a:latin typeface="Microsoft YaHei"/>
              </a:defRPr>
            </a:pPr>
            <a:r>
              <a:t>1854年克里米亚战争爆发，公众普遍认为：士兵主要死于战伤。</a:t>
            </a:r>
          </a:p>
          <a:p>
            <a:pPr>
              <a:spcAft>
                <a:spcPts val="400"/>
              </a:spcAft>
              <a:defRPr sz="2600">
                <a:solidFill>
                  <a:srgbClr val="F3F6F9"/>
                </a:solidFill>
                <a:latin typeface="Microsoft YaHei"/>
              </a:defRPr>
            </a:pPr>
            <a:r>
              <a:t>南丁格尔在战地医院看到的却是：拥挤、污秽、疾病蔓延。</a:t>
            </a:r>
          </a:p>
          <a:p>
            <a:pPr>
              <a:spcAft>
                <a:spcPts val="400"/>
              </a:spcAft>
              <a:defRPr sz="2600">
                <a:solidFill>
                  <a:srgbClr val="F3F6F9"/>
                </a:solidFill>
                <a:latin typeface="Microsoft YaHei"/>
              </a:defRPr>
            </a:pPr>
            <a:r>
              <a:t>她整理了 1854年4月—1856年3月 共24个月的英军伤亡数据。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5257800" cy="155448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52578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371600"/>
            <a:ext cx="5038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【先想一想】项目第一个判断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764792"/>
            <a:ext cx="49286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士兵主要死于：A 战伤   B 可预防疾病   C 其他原因   D 需要数据才能判断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我的判断：__________    我的理由：____________________________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154680"/>
            <a:ext cx="5257800" cy="1371600"/>
          </a:xfrm>
          <a:prstGeom prst="roundRect">
            <a:avLst/>
          </a:prstGeom>
          <a:solidFill>
            <a:srgbClr val="1C2833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154680"/>
            <a:ext cx="5257800" cy="384048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200400"/>
            <a:ext cx="5038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驱动性问题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593592"/>
            <a:ext cx="49286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数据能否为卫生改革的资源投入提供可信证据？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教师引导语：先保留直觉判断，后续通过 4 个任务逐步用证据检验。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数据与研究对象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理解“研究范围、阶段划分、指标含义”，为后续选图做准备。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5486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本项目约定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研究范围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英军月度伤亡数据，共24个月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改革前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1854年4月—1855年3月（12个月）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改革后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1855年4月—1856年3月（12个月）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可预防疾病、战伤、其他原因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军队人数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当月英军平均人数，是计算死亡率的分母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234440"/>
          <a:ext cx="53949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</a:tblGrid>
              <a:tr h="701040">
                <a:tc>
                  <a:txBody>
                    <a:bodyPr wrap="square"/>
                    <a:lstStyle/>
                    <a:p>
                      <a:pPr algn="ctr">
                        <a:defRPr sz="22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2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适合回答的问题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>
                        <a:defRPr sz="22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死亡人数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2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哪一类死因造成的死亡负担最重？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>
                        <a:defRPr sz="22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年化死亡率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2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哪个月/哪个阶段的死亡风险更高？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55080" y="3611880"/>
            <a:ext cx="5166360" cy="160020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611880"/>
            <a:ext cx="516636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3657600"/>
            <a:ext cx="4946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【先想一想】人数还是率？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4050792"/>
            <a:ext cx="48371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① 比较三类死因“谁造成的死亡负担最重”，该用哪个指标？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② 比较“哪个月的死亡风险更高”，又该用哪个指标？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项目目标与全流程地图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本项目不是“照着代码画图”，而是训练从问题出发的可视化思维。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310896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39496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完成本项目后，我能够……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1206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从真实问题中提取分析目的，并确定合适的指标。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建立“变量 → 视觉通道”的映射，独立完成证据图。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使用 ggplot()、aes()、geom_col()、facet_wrap()、coord_polar() 等构建图形。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按“结论—证据—建议—局限”解读图表，并保持审慎表达。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349240" cy="164592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34924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371600"/>
            <a:ext cx="5129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【先补全】可视化全流程地图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64792"/>
            <a:ext cx="50200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真实问题 → ① ______ → ② 选择指标 → ③ 建立映射 → ④ ______ → ⑤ 解读证据 → ⑥ ______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55080" y="3246120"/>
          <a:ext cx="4983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371600"/>
                <a:gridCol w="2926080"/>
              </a:tblGrid>
              <a:tr h="537210"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应填环节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要回答的问题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我到底要回答什么问题？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④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用哪个图层、什么映射把数据画出来？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⑥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数据支持我把话说到什么程度？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143000"/>
            <a:ext cx="1417320" cy="1417320"/>
          </a:xfrm>
          <a:prstGeom prst="ellipse">
            <a:avLst/>
          </a:prstGeom>
          <a:solidFill>
            <a:srgbClr val="1F5F8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D166"/>
                </a:solidFill>
                <a:latin typeface="Microsoft YaHe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3F6F9"/>
                </a:solidFill>
                <a:latin typeface="Microsoft YaHei"/>
              </a:rPr>
              <a:t>新知探究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B8C3CE"/>
                </a:solidFill>
                <a:latin typeface="Microsoft YaHei"/>
              </a:rPr>
              <a:t>先补足“选图、编码、建图”的关键知识，再进入任务实践。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新知1：视觉通道——把数据送进眼睛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位置与长度适合精确比较；颜色擅长区分类别。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7406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017520"/>
              </a:tblGrid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视觉通道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人眼感知特点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本项目示例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最精确，可读出高低、顺序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月份、阶段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长度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很精确，可直接比较长短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柱高、死亡率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角度/面积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较粗略，容易放大差异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玫瑰图扇形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颜色（色相）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适合区分类别，不适合比大小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分面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把整体拆成结构相同的小图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改革前 / 改革后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092440" y="1371600"/>
            <a:ext cx="3429000" cy="164592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371600"/>
            <a:ext cx="34290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17320"/>
            <a:ext cx="32095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【先想一想】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1810512"/>
            <a:ext cx="30998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如果目的是“精确比较三类死因的死亡水平”，应该优先用哪两个视觉通道？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291840"/>
            <a:ext cx="3429000" cy="173736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291840"/>
            <a:ext cx="34290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31927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一句话原则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03320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F3F6F9"/>
                </a:solidFill>
                <a:latin typeface="Microsoft YaHei"/>
              </a:defRPr>
            </a:pPr>
            <a:r>
              <a:t>要精确比较：优先用位置和长度。</a:t>
            </a:r>
          </a:p>
          <a:p>
            <a:pPr>
              <a:spcAft>
                <a:spcPts val="400"/>
              </a:spcAft>
              <a:defRPr sz="2300">
                <a:solidFill>
                  <a:srgbClr val="F3F6F9"/>
                </a:solidFill>
                <a:latin typeface="Microsoft YaHei"/>
              </a:defRPr>
            </a:pPr>
            <a:r>
              <a:t>颜色只负责告诉读者“是哪一类”。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新知2：ggplot2 图形语法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把“数据 + 映射 + 图层”串起来，形成完整的建图思路。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6492240" cy="365760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649224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0759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完整框架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6126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ggplot(data = 数据框,
       aes(x = 横轴变量, y = 纵轴变量, fill = 分类变量)) +
  geom_col() +
  scale_fill_manual(values = cause_colors) +
  facet_wrap(~ 分组变量) +
  coord_polar() +
  labs(title = "标题", x = NULL, y = "指标") +
  theme_minimal()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269480" y="1325880"/>
          <a:ext cx="4297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</a:tblGrid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图层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回答的问题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data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使用哪份数据？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mapping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变量映射到哪里？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geom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用什么图形表达？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颜色和刻度怎样显示？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facet / coord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怎样比较？用什么坐标系？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labs / theme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标题、标签、整体外观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4360" y="5166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B8C3CE"/>
                </a:solidFill>
                <a:latin typeface="Microsoft YaHei"/>
              </a:rPr>
              <a:t>核心骨架：ggplot(data, aes(...)) + geom_*()    ｜    本项目在此基础上加入 scale、facet、coord、labs、theme。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新知3：容易混淆的三个点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映射 vs 设定，geom_col() vs geom_bar()，统一配色。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23444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概念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关键区别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本项目例子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变量映射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颜色/位置由数据变量决定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aes(fill = 死亡原因)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属性设定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颜色/大小由你固定指定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geom_col(fill = "steelblue")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决定你在回答什么问题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死亡人数（负担）/ 死亡率（风险）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65760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2194560"/>
              </a:tblGrid>
              <a:tr h="533400"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函数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柱高来自哪里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适合问题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geom_bar()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自动统计每类有多少行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每类出现多少次？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geom_col()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直接使用已有的 y 变量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每类已有数值是多少？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2200" y="1325880"/>
            <a:ext cx="5257800" cy="146304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2578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371600"/>
            <a:ext cx="5038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【先想一想】判断题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64792"/>
            <a:ext cx="49286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① geom_col(fill = "steelblue") 会让三类死因变成几种颜色？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② 如果任务4漏掉 fill = 死亡原因，会发生什么？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12080" cy="205740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521208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821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统一配色约定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661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可预防疾病：灰蓝  #BCC7C9</a:t>
            </a:r>
          </a:p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战伤：灰粉  #E6BDB8</a:t>
            </a:r>
          </a:p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其他原因：深灰  #777777</a:t>
            </a:r>
          </a:p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同一类死因在所有图形中颜色保持一致，便于跨图对照。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143000"/>
            <a:ext cx="1417320" cy="1417320"/>
          </a:xfrm>
          <a:prstGeom prst="ellipse">
            <a:avLst/>
          </a:prstGeom>
          <a:solidFill>
            <a:srgbClr val="1F5F8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D166"/>
                </a:solidFill>
                <a:latin typeface="Microsoft YaHei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3F6F9"/>
                </a:solidFill>
                <a:latin typeface="Microsoft YaHei"/>
              </a:rPr>
              <a:t>第一课时：任务1、任务2、巩固提升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B8C3CE"/>
                </a:solidFill>
                <a:latin typeface="Microsoft YaHei"/>
              </a:rPr>
              <a:t>聚焦“哪类死因负担最重”与“高风险集中在哪些月份”。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任务1：哪一类死亡原因造成的死亡负担最重？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卫生改革前，先比较三类死因的累计死亡人数。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25880"/>
            <a:ext cx="5486400" cy="228600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25880"/>
            <a:ext cx="54864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3533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分析目的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500">
                <a:solidFill>
                  <a:srgbClr val="F3F6F9"/>
                </a:solidFill>
                <a:latin typeface="Microsoft YaHei"/>
              </a:defRPr>
            </a:pPr>
            <a:r>
              <a:t>比较改革前 12 个月中三类死因的累计死亡人数。</a:t>
            </a:r>
          </a:p>
          <a:p>
            <a:pPr>
              <a:spcAft>
                <a:spcPts val="400"/>
              </a:spcAft>
              <a:defRPr sz="2500">
                <a:solidFill>
                  <a:srgbClr val="F3F6F9"/>
                </a:solidFill>
                <a:latin typeface="Microsoft YaHei"/>
              </a:defRPr>
            </a:pPr>
            <a:r>
              <a:t>找出造成死亡负担最重的原因。</a:t>
            </a:r>
          </a:p>
          <a:p>
            <a:pPr>
              <a:spcAft>
                <a:spcPts val="400"/>
              </a:spcAft>
              <a:defRPr sz="2500">
                <a:solidFill>
                  <a:srgbClr val="F3F6F9"/>
                </a:solidFill>
                <a:latin typeface="Microsoft YaHei"/>
              </a:defRPr>
            </a:pPr>
            <a:r>
              <a:t>这里关注的是“死了多少人”，所以用死亡人数。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325880"/>
            <a:ext cx="5257800" cy="196596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325880"/>
            <a:ext cx="52578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371600"/>
            <a:ext cx="5038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【学生互动】先读题再填空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764792"/>
            <a:ext cx="4928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我要比较的是：______________________________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我要使用的指标是：____________________________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我预测累计死亡人数最高的是：__________________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3977639"/>
          <a:ext cx="521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</a:tblGrid>
              <a:tr h="388620"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成果要求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图形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柱形图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一句话结论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1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累计死亡人数 / 占比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355080" y="39319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提示：本任务只回答“哪一类最多”，并不能说明死亡集中在哪些月份。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任务1：数据映射与代码骨架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把“死亡原因 → 位置/颜色，累计死亡人数 → 高度”映射到柱形图。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1325880"/>
          <a:ext cx="53035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286000"/>
              </a:tblGrid>
              <a:tr h="537210"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数据变量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视觉通道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代码映射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横轴位置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x = 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累计死亡人数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柱形高度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y = 累计死亡人数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填充颜色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fill = 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26480" y="1325880"/>
            <a:ext cx="5212080" cy="3977639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521208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3533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代码骨架（留空版）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cause_summary &lt;- before %&gt;%
  group_by(死亡原因) %&gt;%
  summarise(累计死亡人数 = ____________,
            .groups = "drop")
ggplot(data = cause_summary,
       aes(x = ________, y = ________, fill = ________)) +
  geom_col(width = 0.7) +
  scale_fill_manual(values = cause_colors) +
  labs(title = "改革前不同死亡原因的累计死亡人数")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图形建构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任务1：观察图形，先说结论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先让学生观察，再逐步补出答案。</a:t>
            </a:r>
          </a:p>
        </p:txBody>
      </p:sp>
      <p:pic>
        <p:nvPicPr>
          <p:cNvPr id="15" name="Picture 14" descr="task1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766560" cy="33344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98079" y="1417320"/>
            <a:ext cx="3931920" cy="169164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417320"/>
            <a:ext cx="393192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463040"/>
            <a:ext cx="3712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【学生互动】看图作答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1856232"/>
            <a:ext cx="36027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① 哪一类死亡原因的柱子最高？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② 你能用“死亡负担”这个词说一句完整结论吗？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589520" y="3474720"/>
          <a:ext cx="3749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240280"/>
              </a:tblGrid>
              <a:tr h="400050"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我的图表解读（空白版）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证据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累计死亡人数最高：__________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该图还不能告诉我们：____________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任务2：高风险是否集中在个别月份？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从“总量”切换到“月度视角”，分析死亡风险是否集中。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25880"/>
            <a:ext cx="5394960" cy="237744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25880"/>
            <a:ext cx="539496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35331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分析目的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51206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观察改革前 12 个月里，哪些月份的死亡水平较高。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判断高值月份是否连续、主要由哪类死因贡献。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这里关注“风险有多高”，所以用年化死亡率。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" y="3886200"/>
          <a:ext cx="5212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defRPr sz="19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需要表达的信息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视觉通道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月份先后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横轴位置（x）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某月某类死因的死亡水平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柱形高度（y）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不同死因的贡献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9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填充颜色（fill）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172200" y="1325880"/>
            <a:ext cx="5257800" cy="164592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325880"/>
            <a:ext cx="52578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371600"/>
            <a:ext cx="5038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【学生互动】先判断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764792"/>
            <a:ext cx="49286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为什么这里不能只看“累计死亡人数”？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同一个月里三类死因的死亡率为什么可以堆叠相加？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2044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B8C3CE"/>
                </a:solidFill>
                <a:latin typeface="Microsoft YaHei"/>
              </a:rPr>
              <a:t>提示：同一个月里三类死因共享同一个军队人数作分母，所以柱子的总高度表示“当月三类死因合计的年化死亡率”。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图形建构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任务2：先看堆叠柱形图，再找出最高的3个月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观察是否出现明显的月度高峰。</a:t>
            </a:r>
          </a:p>
        </p:txBody>
      </p:sp>
      <p:pic>
        <p:nvPicPr>
          <p:cNvPr id="15" name="Picture 14" descr="task2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903720" cy="3018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98079" y="1371600"/>
            <a:ext cx="3931920" cy="182880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371600"/>
            <a:ext cx="393192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417320"/>
            <a:ext cx="37124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【学生互动】观察并记录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1810512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① 哪几个月的柱子特别高？它们相邻吗？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② 最高月份中，主要是哪一类死因把柱子“撑高”了？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566160"/>
            <a:ext cx="3794760" cy="1600200"/>
          </a:xfrm>
          <a:prstGeom prst="roundRect">
            <a:avLst/>
          </a:prstGeom>
          <a:solidFill>
            <a:srgbClr val="16212B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3566160"/>
            <a:ext cx="3794760" cy="34747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359359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空白结果单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977639"/>
            <a:ext cx="3291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F3F6F9"/>
                </a:solidFill>
                <a:latin typeface="Microsoft YaHei"/>
              </a:rPr>
              <a:t>最高的3个月：
① ________   ② ________   ③ ________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巩固提升：分层任务设计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基础必做，进阶与挑战任务按学习情况选做。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11880" cy="36118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★ 基础任务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把任务2的图按“死亡原因”分面，比较三类死因的月度变化。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思考：三者的峰值是否出现在同一个月？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11880" cy="36118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1188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35331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★★ 进阶任务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373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>
                <a:solidFill>
                  <a:srgbClr val="F3F6F9"/>
                </a:solidFill>
                <a:latin typeface="Microsoft YaHei"/>
              </a:defRPr>
            </a:pPr>
            <a:r>
              <a:t>为分面图自定义配色。</a:t>
            </a:r>
          </a:p>
          <a:p>
            <a:pPr>
              <a:spcAft>
                <a:spcPts val="400"/>
              </a:spcAft>
              <a:defRPr sz="2300">
                <a:solidFill>
                  <a:srgbClr val="F3F6F9"/>
                </a:solidFill>
                <a:latin typeface="Microsoft YaHei"/>
              </a:defRPr>
            </a:pPr>
            <a:r>
              <a:t>注意：新建 my_colors，不要覆盖 cause_colors。</a:t>
            </a:r>
          </a:p>
          <a:p>
            <a:pPr>
              <a:spcAft>
                <a:spcPts val="400"/>
              </a:spcAft>
              <a:defRPr sz="2300">
                <a:solidFill>
                  <a:srgbClr val="F3F6F9"/>
                </a:solidFill>
                <a:latin typeface="Microsoft YaHei"/>
              </a:defRPr>
            </a:pPr>
            <a:r>
              <a:t>说一说：为什么项目要统一配色？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11880" cy="36118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361188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35331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★★★ 挑战任务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37360"/>
            <a:ext cx="3337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给任务1的柱形图加上数值标签。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尝试让标签既准确又不影响图面整洁。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80"/>
            <a:ext cx="10972800" cy="1005840"/>
          </a:xfrm>
          <a:prstGeom prst="roundRect">
            <a:avLst/>
          </a:prstGeom>
          <a:solidFill>
            <a:srgbClr val="1C2833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12080"/>
            <a:ext cx="10972800" cy="384048"/>
          </a:xfrm>
          <a:prstGeom prst="rect">
            <a:avLst/>
          </a:prstGeom>
          <a:solidFill>
            <a:srgbClr val="67D6B4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257800"/>
            <a:ext cx="10753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第一课时小结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650992"/>
            <a:ext cx="10643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我们已经用“柱形表达”回答了两个问题：哪类死因负担最重？高风险集中在哪些月份？ 第二课时将继续比较改革前后变化，并复刻经典玫瑰图。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143000"/>
            <a:ext cx="1417320" cy="1417320"/>
          </a:xfrm>
          <a:prstGeom prst="ellipse">
            <a:avLst/>
          </a:prstGeom>
          <a:solidFill>
            <a:srgbClr val="1F5F8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D166"/>
                </a:solidFill>
                <a:latin typeface="Microsoft YaHei"/>
              </a:rPr>
              <a:t>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3F6F9"/>
                </a:solidFill>
                <a:latin typeface="Microsoft YaHei"/>
              </a:rPr>
              <a:t>第二课时：任务3、任务4、项目总结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B8C3CE"/>
                </a:solidFill>
                <a:latin typeface="Microsoft YaHei"/>
              </a:rPr>
              <a:t>聚焦“改革前后变化”与“柱形图 vs 玫瑰图”的图形选择。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任务3：卫生改革前后发生了什么变化？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沿用任务2的指标与映射，加入“阶段”这一分组维度。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325880"/>
            <a:ext cx="5486400" cy="233172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325880"/>
            <a:ext cx="54864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35331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分析目的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373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比较两个阶段的月度死亡水平与死因构成差异。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重点关注：哪一类死因变化最明显？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思考：变化能否全部归因于卫生改革？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886200"/>
          <a:ext cx="53949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11480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图形中的作用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月份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横轴位置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柱形高度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填充颜色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20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facet_wrap(~ 阶段)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263640" y="1325880"/>
            <a:ext cx="5212080" cy="169164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25880"/>
            <a:ext cx="521208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1371600"/>
            <a:ext cx="49926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【学生互动】先做假设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1764792"/>
            <a:ext cx="4882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我预计改革后变化最大的是：________________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我的理由是：________________________________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B8C3CE"/>
                </a:solidFill>
                <a:latin typeface="Microsoft YaHei"/>
              </a:rPr>
              <a:t>提示：两个面板应保持相同的纵轴尺度、相同的月份顺序、相同的颜色含义，这样比较才公平。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图形建构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任务3：先看分面对比图，再说“变化”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观察：哪些变化是一眼就能看出来的？</a:t>
            </a:r>
          </a:p>
        </p:txBody>
      </p:sp>
      <p:pic>
        <p:nvPicPr>
          <p:cNvPr id="15" name="Picture 14" descr="task3_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7132320" cy="307309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89520" y="1417320"/>
            <a:ext cx="3657600" cy="201168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1417320"/>
            <a:ext cx="36576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1463040"/>
            <a:ext cx="3438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【学生互动】看图表达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856232"/>
            <a:ext cx="33284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① 哪一类死因在改革后明显下降？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② 战伤的变化大还是小？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③ 这说明卫生改革“主要影响了什么”？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635240" y="3703320"/>
          <a:ext cx="3611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40280"/>
              </a:tblGrid>
              <a:tr h="354330">
                <a:tc>
                  <a:txBody>
                    <a:bodyPr wrap="square"/>
                    <a:lstStyle/>
                    <a:p>
                      <a:pPr algn="ctr">
                        <a:defRPr sz="17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空白结论单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一句话结论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证据1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表达边界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7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任务4：复刻经典——玫瑰图适合分析，还是传播？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在完全相同的数据基础上，只改变“形状”，比较图形表达的差异。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1280160"/>
          <a:ext cx="6492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40280"/>
                <a:gridCol w="2788920"/>
              </a:tblGrid>
              <a:tr h="448056"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数据或设置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柱形图中的表达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玫瑰图中的表达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月份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横轴位置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圆周角度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死亡率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柱形高度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扇形面积（半径按平方根缩放）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fill = 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fill = 死亡原因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左右/上下分面比较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两个极坐标圆并排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178040" y="1325880"/>
            <a:ext cx="4297680" cy="182880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1325880"/>
            <a:ext cx="429768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1371600"/>
            <a:ext cx="4078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【学生互动】关键追问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2" y="1764792"/>
            <a:ext cx="39684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为什么玫瑰图必须保留 fill = 死亡原因？</a:t>
            </a:r>
          </a:p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为什么需要 scale_y_sqrt() 而不是直接 coord_polar()？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474720"/>
            <a:ext cx="4251960" cy="178308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3474720"/>
            <a:ext cx="425196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5021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一句话理解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886200"/>
            <a:ext cx="3977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柱形图用“高度”表达数值；玫瑰图用“面积”表达数值。</a:t>
            </a:r>
          </a:p>
          <a:p>
            <a:pPr>
              <a:spcAft>
                <a:spcPts val="400"/>
              </a:spcAft>
              <a:defRPr sz="2200">
                <a:solidFill>
                  <a:srgbClr val="F3F6F9"/>
                </a:solidFill>
                <a:latin typeface="Microsoft YaHei"/>
              </a:defRPr>
            </a:pPr>
            <a:r>
              <a:t>颜色负责区分死亡原因，不能把“半径倍数”直接当成“死亡率倍数”。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图形建构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图表解读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任务4：柱形图 vs 玫瑰图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同一份数据，不同形状；比较哪一种更适合当前目的。</a:t>
            </a:r>
          </a:p>
        </p:txBody>
      </p:sp>
      <p:pic>
        <p:nvPicPr>
          <p:cNvPr id="15" name="Picture 14" descr="task4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440680" cy="2254246"/>
          </a:xfrm>
          <a:prstGeom prst="rect">
            <a:avLst/>
          </a:prstGeom>
        </p:spPr>
      </p:pic>
      <p:pic>
        <p:nvPicPr>
          <p:cNvPr id="16" name="Picture 15" descr="task4_r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440680" cy="26906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20240" y="1143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7D6B4"/>
                </a:solidFill>
                <a:latin typeface="Microsoft YaHei"/>
              </a:rPr>
              <a:t>柱形图：适合精确分析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143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66"/>
                </a:solidFill>
                <a:latin typeface="Microsoft YaHei"/>
              </a:rPr>
              <a:t>玫瑰图：适合传播展示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86400"/>
            <a:ext cx="11064240" cy="86868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1106424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532120"/>
            <a:ext cx="10844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【学生互动】比较并作出选择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925312"/>
            <a:ext cx="10735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如果我要写分析报告，我更愿意选：__________；如果要给公众做传播展示，我更愿意选：__________。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75488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icrosoft YaHei"/>
              </a:rPr>
              <a:t>任务4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分析目的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数据映射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B8C3CE"/>
                </a:solidFill>
                <a:latin typeface="Microsoft YaHei"/>
              </a:rPr>
              <a:t>图形建构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7548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6F9"/>
                </a:solidFill>
                <a:latin typeface="Microsoft YaHei"/>
              </a:rPr>
              <a:t>图表解读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704088"/>
            <a:ext cx="868680" cy="27432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任务4：图表解读（空白版）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26187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请结合两张图完成比较，不直接给出现成答案。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12801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343400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比较维度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柱形图：评价与理由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玫瑰图：评价与理由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精确比较数值与差值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观察月份顺序与阶段差异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判断哪类死因贡献最大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面向非专业读者传播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________________________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31520" y="4800600"/>
            <a:ext cx="10424160" cy="1143000"/>
          </a:xfrm>
          <a:prstGeom prst="roundRect">
            <a:avLst/>
          </a:prstGeom>
          <a:solidFill>
            <a:srgbClr val="1C2833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800600"/>
            <a:ext cx="10424160" cy="384048"/>
          </a:xfrm>
          <a:prstGeom prst="rect">
            <a:avLst/>
          </a:prstGeom>
          <a:solidFill>
            <a:srgbClr val="67D6B4"/>
          </a:solidFill>
          <a:ln>
            <a:solidFill>
              <a:srgbClr val="67D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46320"/>
            <a:ext cx="102047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教师提示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239512"/>
            <a:ext cx="10094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可以引导学生从“精确比较”与“传播效果”两个目的出发作答。答案可在课堂演示时通过动画逐步添加。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1143000"/>
            <a:ext cx="1417320" cy="1417320"/>
          </a:xfrm>
          <a:prstGeom prst="ellipse">
            <a:avLst/>
          </a:prstGeom>
          <a:solidFill>
            <a:srgbClr val="1F5F8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D166"/>
                </a:solidFill>
                <a:latin typeface="Microsoft YaHe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3F6F9"/>
                </a:solidFill>
                <a:latin typeface="Microsoft YaHei"/>
              </a:rPr>
              <a:t>项目总结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B8C3CE"/>
                </a:solidFill>
                <a:latin typeface="Microsoft YaHei"/>
              </a:rPr>
              <a:t>回到驱动性问题：数据究竟支持我们提出怎样的卫生建议？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汇总证据，回答项目问题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用“任务—发现—证据”的结构，帮助学生形成完整结论。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34440"/>
          <a:ext cx="112471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14800"/>
                <a:gridCol w="5669280"/>
              </a:tblGrid>
              <a:tr h="667512"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主要发现（可课堂口头补充答案）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78C8F5"/>
                          </a:solidFill>
                          <a:latin typeface="Microsoft YaHei"/>
                        </a:defRPr>
                      </a:pPr>
                      <a:r>
                        <a:t>支持的数值或观察</a:t>
                      </a:r>
                    </a:p>
                  </a:txBody>
                  <a:tcPr anchor="ctr">
                    <a:solidFill>
                      <a:srgbClr val="101820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任务1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改革前死亡负担以可预防疾病为主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可预防疾病 11157人，占 83.93%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任务2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高值月份相邻，集中在冬季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1854-12、1855-01、1855-02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任务3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可预防疾病大幅下降，战伤基本持平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358.17 → 84.85；25.12 → 23.32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任务4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分析用柱形图，传播可考虑玫瑰图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0">
                          <a:solidFill>
                            <a:srgbClr val="F3F6F9"/>
                          </a:solidFill>
                          <a:latin typeface="Microsoft YaHei"/>
                        </a:defRPr>
                      </a:pPr>
                      <a:r>
                        <a:t>柱高线性对应；玫瑰图视觉冲击强</a:t>
                      </a:r>
                    </a:p>
                  </a:txBody>
                  <a:tcPr anchor="ctr">
                    <a:solidFill>
                      <a:srgbClr val="16212B"/>
                    </a:solidFill>
                    <a:lnL w="12700">
                      <a:solidFill>
                        <a:srgbClr val="34495E"/>
                      </a:solidFill>
                      <a:prstDash val="solid"/>
                    </a:lnL>
                    <a:lnR w="12700">
                      <a:solidFill>
                        <a:srgbClr val="34495E"/>
                      </a:solidFill>
                      <a:prstDash val="solid"/>
                    </a:lnR>
                    <a:lnT w="12700">
                      <a:solidFill>
                        <a:srgbClr val="34495E"/>
                      </a:solidFill>
                      <a:prstDash val="solid"/>
                    </a:lnT>
                    <a:lnB w="12700">
                      <a:solidFill>
                        <a:srgbClr val="34495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92040"/>
            <a:ext cx="10972800" cy="1097280"/>
          </a:xfrm>
          <a:prstGeom prst="roundRect">
            <a:avLst/>
          </a:prstGeom>
          <a:solidFill>
            <a:srgbClr val="1C2833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892040"/>
            <a:ext cx="10972800" cy="38404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937760"/>
            <a:ext cx="10753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课堂总结金句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30952"/>
            <a:ext cx="10643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可视化不是“把图画漂亮”，而是让证据被看见；图形选择必须服从分析目的。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01820"/>
          </a:solidFill>
          <a:ln>
            <a:solidFill>
              <a:srgbClr val="1F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0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25512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新知探究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15984" y="73152"/>
            <a:ext cx="1417320" cy="219456"/>
          </a:xfrm>
          <a:prstGeom prst="round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B8C3CE"/>
                </a:solidFill>
                <a:latin typeface="Microsoft YaHei"/>
              </a:rPr>
              <a:t>项目任务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6456" y="73152"/>
            <a:ext cx="1280160" cy="219456"/>
          </a:xfrm>
          <a:prstGeom prst="roundRect">
            <a:avLst/>
          </a:prstGeom>
          <a:solidFill>
            <a:srgbClr val="78C8F5"/>
          </a:solidFill>
          <a:ln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01820"/>
                </a:solidFill>
                <a:latin typeface="Microsoft YaHei"/>
              </a:rPr>
              <a:t>项目总结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8C8F5"/>
                </a:solidFill>
                <a:latin typeface="Microsoft YaHei"/>
              </a:rPr>
              <a:t>复盘与课后延伸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064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8C3CE"/>
                </a:solidFill>
                <a:latin typeface="Microsoft YaHei"/>
              </a:rPr>
              <a:t>把课堂学习迁移到更广的情境中。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283464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39496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今天我们是如何从“直觉判断”走向“证据判断”的？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为什么同一份数据会需要“柱形图”和“玫瑰图”两种表达？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面对 AI 给出的代码和结论，我们应该怎样核验？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257800" cy="2834640"/>
          </a:xfrm>
          <a:prstGeom prst="roundRect">
            <a:avLst/>
          </a:prstGeom>
          <a:solidFill>
            <a:srgbClr val="16212B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5257800" cy="347472"/>
          </a:xfrm>
          <a:prstGeom prst="rect">
            <a:avLst/>
          </a:prstGeom>
          <a:solidFill>
            <a:srgbClr val="78C8F5"/>
          </a:solidFill>
          <a:ln>
            <a:solidFill>
              <a:srgbClr val="78C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353312"/>
            <a:ext cx="5074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课后任务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4983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完善课堂中的空白答案页。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尝试将本项目结论写成“结论—证据—建议—局限”短报告。</a:t>
            </a:r>
          </a:p>
          <a:p>
            <a:pPr>
              <a:spcAft>
                <a:spcPts val="400"/>
              </a:spcAft>
              <a:defRPr sz="2400">
                <a:solidFill>
                  <a:srgbClr val="F3F6F9"/>
                </a:solidFill>
                <a:latin typeface="Microsoft YaHei"/>
              </a:defRPr>
            </a:pPr>
            <a:r>
              <a:t>选做：用宁波本地公共数据设计一个类似的问题链。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10972800" cy="1234440"/>
          </a:xfrm>
          <a:prstGeom prst="roundRect">
            <a:avLst/>
          </a:prstGeom>
          <a:solidFill>
            <a:srgbClr val="1C2833"/>
          </a:solidFill>
          <a:ln>
            <a:solidFill>
              <a:srgbClr val="FF9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10972800" cy="384048"/>
          </a:xfrm>
          <a:prstGeom prst="rect">
            <a:avLst/>
          </a:prstGeom>
          <a:solidFill>
            <a:srgbClr val="FF9F87"/>
          </a:solidFill>
          <a:ln>
            <a:solidFill>
              <a:srgbClr val="FF9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63440"/>
            <a:ext cx="10753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AI 协同提醒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056632"/>
            <a:ext cx="10643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3F6F9"/>
                </a:solidFill>
                <a:latin typeface="Microsoft YaHei"/>
              </a:defRPr>
            </a:pPr>
            <a:r>
              <a:t>可以使用 AI 辅助检查代码，但必须自己解释每一行代码、每一张图的含义，并核验数据与结论是否一致。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