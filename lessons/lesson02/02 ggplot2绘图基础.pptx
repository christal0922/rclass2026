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</p:sldIdLst>
  <p:sldSz cx="12865100" cy="72263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9" Type="http://schemas.openxmlformats.org/officeDocument/2006/relationships/tableStyles" Target="tableStyles.xml"/><Relationship Id="rId88" Type="http://schemas.openxmlformats.org/officeDocument/2006/relationships/viewProps" Target="viewProps.xml"/><Relationship Id="rId87" Type="http://schemas.openxmlformats.org/officeDocument/2006/relationships/presProps" Target="presProps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.png"/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hyperlink" Target="http://localhost:5081/?view=print" TargetMode="Externa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hyperlink" Target="http://localhost:5081/?view=print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9.png"/><Relationship Id="rId6" Type="http://schemas.openxmlformats.org/officeDocument/2006/relationships/image" Target="../media/image1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9.png"/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hyperlink" Target="http://localhost:5081/?view=print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1.png"/><Relationship Id="rId2" Type="http://schemas.openxmlformats.org/officeDocument/2006/relationships/hyperlink" Target="http://localhost:5081/?view=print" TargetMode="External"/><Relationship Id="rId1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hyperlink" Target="http://localhost:5081/?view=print" TargetMode="Externa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32.png"/><Relationship Id="rId1" Type="http://schemas.openxmlformats.org/officeDocument/2006/relationships/hyperlink" Target="http://localhost:5081/?view=print" TargetMode="Externa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33.png"/><Relationship Id="rId2" Type="http://schemas.openxmlformats.org/officeDocument/2006/relationships/image" Target="../media/image14.png"/><Relationship Id="rId1" Type="http://schemas.openxmlformats.org/officeDocument/2006/relationships/hyperlink" Target="http://localhost:5081/?view=print" TargetMode="Externa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1.png"/><Relationship Id="rId2" Type="http://schemas.openxmlformats.org/officeDocument/2006/relationships/image" Target="../media/image34.png"/><Relationship Id="rId1" Type="http://schemas.openxmlformats.org/officeDocument/2006/relationships/hyperlink" Target="http://localhost:5081/?view=print" TargetMode="Externa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image" Target="../media/image3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1.png"/><Relationship Id="rId2" Type="http://schemas.openxmlformats.org/officeDocument/2006/relationships/slide" Target="slide1.xml"/><Relationship Id="rId1" Type="http://schemas.openxmlformats.org/officeDocument/2006/relationships/hyperlink" Target="http://localhost:5081/?view=print" TargetMode="Externa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image" Target="../media/image43.jpe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image" Target="../media/image44.png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.png"/><Relationship Id="rId3" Type="http://schemas.openxmlformats.org/officeDocument/2006/relationships/image" Target="../media/image46.png"/><Relationship Id="rId2" Type="http://schemas.openxmlformats.org/officeDocument/2006/relationships/image" Target="../media/image30.png"/><Relationship Id="rId1" Type="http://schemas.openxmlformats.org/officeDocument/2006/relationships/image" Target="../media/image4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image" Target="../media/image30.png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1.png"/><Relationship Id="rId2" Type="http://schemas.openxmlformats.org/officeDocument/2006/relationships/slide" Target="slide2.xml"/><Relationship Id="rId1" Type="http://schemas.openxmlformats.org/officeDocument/2006/relationships/hyperlink" Target="http://localhost:5081/?view=print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52.jpeg"/></Relationships>
</file>

<file path=ppt/slides/_rels/slide4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image" Target="../media/image57.png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image" Target="../media/image41.png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image" Target="../media/image58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9.png"/><Relationship Id="rId6" Type="http://schemas.openxmlformats.org/officeDocument/2006/relationships/image" Target="../media/image1.png"/><Relationship Id="rId5" Type="http://schemas.openxmlformats.org/officeDocument/2006/relationships/image" Target="../media/image63.png"/><Relationship Id="rId4" Type="http://schemas.openxmlformats.org/officeDocument/2006/relationships/image" Target="../media/image62.jpeg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hyperlink" Target="http://localhost:5081/?view=print" TargetMode="External"/></Relationships>
</file>

<file path=ppt/slides/_rels/slide5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.png"/><Relationship Id="rId3" Type="http://schemas.openxmlformats.org/officeDocument/2006/relationships/image" Target="../media/image65.png"/><Relationship Id="rId2" Type="http://schemas.openxmlformats.org/officeDocument/2006/relationships/hyperlink" Target="http://localhost:5081/?view=print" TargetMode="External"/><Relationship Id="rId1" Type="http://schemas.openxmlformats.org/officeDocument/2006/relationships/image" Target="../media/image64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hyperlink" Target="http://localhost:5081/?view=print" TargetMode="External"/></Relationships>
</file>

<file path=ppt/slides/_rels/slide5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.png"/><Relationship Id="rId3" Type="http://schemas.openxmlformats.org/officeDocument/2006/relationships/image" Target="../media/image67.png"/><Relationship Id="rId2" Type="http://schemas.openxmlformats.org/officeDocument/2006/relationships/hyperlink" Target="http://localhost:5081/?view=print" TargetMode="External"/><Relationship Id="rId1" Type="http://schemas.openxmlformats.org/officeDocument/2006/relationships/image" Target="../media/image66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68.jpe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6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1.png"/><Relationship Id="rId2" Type="http://schemas.openxmlformats.org/officeDocument/2006/relationships/image" Target="../media/image70.png"/><Relationship Id="rId1" Type="http://schemas.openxmlformats.org/officeDocument/2006/relationships/image" Target="../media/image69.png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image" Target="../media/image71.png"/></Relationships>
</file>

<file path=ppt/slides/_rels/slide6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1.png"/><Relationship Id="rId2" Type="http://schemas.openxmlformats.org/officeDocument/2006/relationships/slide" Target="slide3.xml"/><Relationship Id="rId1" Type="http://schemas.openxmlformats.org/officeDocument/2006/relationships/hyperlink" Target="http://localhost:5081/?view=print" TargetMode="External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image" Target="../media/image72.jpeg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image" Target="../media/image73.png"/></Relationships>
</file>

<file path=ppt/slides/_rels/slide6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.png"/><Relationship Id="rId3" Type="http://schemas.openxmlformats.org/officeDocument/2006/relationships/image" Target="../media/image11.png"/><Relationship Id="rId2" Type="http://schemas.openxmlformats.org/officeDocument/2006/relationships/image" Target="../media/image75.png"/><Relationship Id="rId1" Type="http://schemas.openxmlformats.org/officeDocument/2006/relationships/image" Target="../media/image7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76.png"/></Relationships>
</file>

<file path=ppt/slides/_rels/slide6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image" Target="../media/image79.png"/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image" Target="../media/image73.png"/></Relationships>
</file>

<file path=ppt/slides/_rels/slide6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.png"/><Relationship Id="rId3" Type="http://schemas.openxmlformats.org/officeDocument/2006/relationships/image" Target="../media/image46.png"/><Relationship Id="rId2" Type="http://schemas.openxmlformats.org/officeDocument/2006/relationships/image" Target="../media/image30.png"/><Relationship Id="rId1" Type="http://schemas.openxmlformats.org/officeDocument/2006/relationships/image" Target="../media/image80.png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2.png"/><Relationship Id="rId1" Type="http://schemas.openxmlformats.org/officeDocument/2006/relationships/image" Target="../media/image81.png"/></Relationships>
</file>

<file path=ppt/slides/_rels/slide7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hyperlink" Target="http://localhost:5081/?view=print" TargetMode="Externa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3.jpe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4.png"/></Relationships>
</file>

<file path=ppt/slides/_rels/slide7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image" Target="../media/image76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7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image" Target="../media/image85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4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9.png"/><Relationship Id="rId6" Type="http://schemas.openxmlformats.org/officeDocument/2006/relationships/image" Target="../media/image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image" Target="../media/image86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8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1.jpe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8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.png"/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image" Target="../media/image9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textbox 4"/>
          <p:cNvSpPr/>
          <p:nvPr/>
        </p:nvSpPr>
        <p:spPr>
          <a:xfrm>
            <a:off x="2304961" y="2717850"/>
            <a:ext cx="10423525" cy="4368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74750" algn="l" rtl="0" eaLnBrk="0">
              <a:lnSpc>
                <a:spcPts val="6245"/>
              </a:lnSpc>
            </a:pPr>
            <a:r>
              <a:rPr sz="4800" b="1" kern="0" spc="410" dirty="0">
                <a:solidFill>
                  <a:srgbClr val="78C8F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 </a:t>
            </a:r>
            <a:r>
              <a:rPr sz="4800" b="1" kern="0" spc="0" dirty="0">
                <a:solidFill>
                  <a:srgbClr val="78C8F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ggplot</a:t>
            </a:r>
            <a:r>
              <a:rPr sz="4800" b="1" kern="0" spc="410" dirty="0">
                <a:solidFill>
                  <a:srgbClr val="78C8F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r>
              <a:rPr sz="4800" kern="0" spc="41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绘图基础</a:t>
            </a:r>
            <a:endParaRPr sz="4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1685"/>
              </a:spcBef>
            </a:pPr>
            <a:r>
              <a:rPr sz="27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数据如何改变战争？基于南丁格尔玫瑰图的可</a:t>
            </a:r>
            <a:r>
              <a:rPr sz="27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视化项目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5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4000"/>
              </a:lnSpc>
              <a:spcBef>
                <a:spcPts val="0"/>
              </a:spcBef>
            </a:pPr>
            <a:r>
              <a:rPr sz="10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6"/>
          <p:cNvSpPr/>
          <p:nvPr/>
        </p:nvSpPr>
        <p:spPr>
          <a:xfrm>
            <a:off x="0" y="0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" name="rect 8"/>
          <p:cNvSpPr/>
          <p:nvPr/>
        </p:nvSpPr>
        <p:spPr>
          <a:xfrm>
            <a:off x="361950" y="800100"/>
            <a:ext cx="5953125" cy="657225"/>
          </a:xfrm>
          <a:prstGeom prst="rect">
            <a:avLst/>
          </a:prstGeom>
          <a:solidFill>
            <a:srgbClr val="78C8F5">
              <a:alpha val="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" name="textbox 10"/>
          <p:cNvSpPr/>
          <p:nvPr/>
        </p:nvSpPr>
        <p:spPr>
          <a:xfrm>
            <a:off x="6572250" y="800100"/>
            <a:ext cx="5953125" cy="657225"/>
          </a:xfrm>
          <a:prstGeom prst="rect">
            <a:avLst/>
          </a:prstGeom>
          <a:solidFill>
            <a:srgbClr val="78C8F5">
              <a:alpha val="9019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1305" algn="l" rtl="0" eaLnBrk="0">
              <a:lnSpc>
                <a:spcPct val="88000"/>
              </a:lnSpc>
              <a:spcBef>
                <a:spcPts val="5"/>
              </a:spcBef>
            </a:pPr>
            <a:r>
              <a:rPr sz="2500" b="1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 12"/>
          <p:cNvSpPr/>
          <p:nvPr/>
        </p:nvSpPr>
        <p:spPr>
          <a:xfrm>
            <a:off x="361950" y="1590675"/>
            <a:ext cx="5953125" cy="657225"/>
          </a:xfrm>
          <a:prstGeom prst="rect">
            <a:avLst/>
          </a:prstGeom>
          <a:solidFill>
            <a:srgbClr val="78C8F5">
              <a:alpha val="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" name="textbox 14"/>
          <p:cNvSpPr/>
          <p:nvPr/>
        </p:nvSpPr>
        <p:spPr>
          <a:xfrm>
            <a:off x="6572250" y="1590675"/>
            <a:ext cx="5953125" cy="657225"/>
          </a:xfrm>
          <a:prstGeom prst="rect">
            <a:avLst/>
          </a:prstGeom>
          <a:solidFill>
            <a:srgbClr val="78C8F5">
              <a:alpha val="9019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5115" algn="l" rtl="0" eaLnBrk="0">
              <a:lnSpc>
                <a:spcPts val="3430"/>
              </a:lnSpc>
              <a:spcBef>
                <a:spcPts val="0"/>
              </a:spcBef>
            </a:pPr>
            <a:r>
              <a:rPr sz="2500" b="1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项目任务（续）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 16"/>
          <p:cNvSpPr/>
          <p:nvPr/>
        </p:nvSpPr>
        <p:spPr>
          <a:xfrm>
            <a:off x="361950" y="2381250"/>
            <a:ext cx="5953125" cy="657224"/>
          </a:xfrm>
          <a:prstGeom prst="rect">
            <a:avLst/>
          </a:prstGeom>
          <a:solidFill>
            <a:srgbClr val="78C8F5">
              <a:alpha val="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" name="textbox 18"/>
          <p:cNvSpPr/>
          <p:nvPr/>
        </p:nvSpPr>
        <p:spPr>
          <a:xfrm>
            <a:off x="630096" y="2544804"/>
            <a:ext cx="1341755" cy="3581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500" b="1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630096" y="1755880"/>
            <a:ext cx="1341755" cy="3575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500" b="1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630096" y="966295"/>
            <a:ext cx="1341755" cy="356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500" b="1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370810" y="188750"/>
            <a:ext cx="690244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700" kern="0" spc="-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619125"/>
            <a:ext cx="12192000" cy="1905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800100"/>
            <a:ext cx="57150" cy="657224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543675" y="800100"/>
            <a:ext cx="57150" cy="657224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3375" y="1590675"/>
            <a:ext cx="57150" cy="657224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33375" y="2381250"/>
            <a:ext cx="57150" cy="657224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543675" y="1590675"/>
            <a:ext cx="57150" cy="657224"/>
          </a:xfrm>
          <a:prstGeom prst="rect">
            <a:avLst/>
          </a:prstGeom>
        </p:spPr>
      </p:pic>
      <p:sp>
        <p:nvSpPr>
          <p:cNvPr id="38" name="textbox 38"/>
          <p:cNvSpPr/>
          <p:nvPr/>
        </p:nvSpPr>
        <p:spPr>
          <a:xfrm>
            <a:off x="12632776" y="6947980"/>
            <a:ext cx="95885" cy="138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 40"/>
          <p:cNvSpPr/>
          <p:nvPr/>
        </p:nvSpPr>
        <p:spPr>
          <a:xfrm>
            <a:off x="0" y="0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" name="textbox 42"/>
          <p:cNvSpPr/>
          <p:nvPr/>
        </p:nvSpPr>
        <p:spPr>
          <a:xfrm>
            <a:off x="12634510" y="6906775"/>
            <a:ext cx="93980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 44"/>
          <p:cNvSpPr/>
          <p:nvPr/>
        </p:nvSpPr>
        <p:spPr>
          <a:xfrm>
            <a:off x="0" y="0"/>
            <a:ext cx="12858750" cy="7219949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8" name="rect 48"/>
          <p:cNvSpPr/>
          <p:nvPr/>
        </p:nvSpPr>
        <p:spPr>
          <a:xfrm>
            <a:off x="333375" y="3095625"/>
            <a:ext cx="12192000" cy="390524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0" name="rect 50"/>
          <p:cNvSpPr/>
          <p:nvPr/>
        </p:nvSpPr>
        <p:spPr>
          <a:xfrm>
            <a:off x="7524750" y="3114674"/>
            <a:ext cx="1228725" cy="333375"/>
          </a:xfrm>
          <a:prstGeom prst="rect">
            <a:avLst/>
          </a:prstGeom>
          <a:solidFill>
            <a:srgbClr val="78C8F5">
              <a:alpha val="9921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2" name="textbox 52"/>
          <p:cNvSpPr/>
          <p:nvPr/>
        </p:nvSpPr>
        <p:spPr>
          <a:xfrm>
            <a:off x="320675" y="3150170"/>
            <a:ext cx="12138025" cy="292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  <a:tabLst>
                <a:tab pos="7204075" algn="l"/>
              </a:tabLst>
            </a:pPr>
            <a:r>
              <a:rPr sz="2100" b="1" u="sng" kern="0" spc="0" dirty="0">
                <a:solidFill>
                  <a:srgbClr val="07131D">
                    <a:alpha val="100000"/>
                  </a:srgbClr>
                </a:solidFill>
                <a:uFill>
                  <a:solidFill>
                    <a:srgbClr val="78C8F5"/>
                  </a:solidFill>
                </a:u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100" b="1" u="sng" kern="0" spc="20" dirty="0">
                <a:solidFill>
                  <a:srgbClr val="07131D">
                    <a:alpha val="100000"/>
                  </a:srgbClr>
                </a:solidFill>
                <a:uFill>
                  <a:solidFill>
                    <a:srgbClr val="78C8F5"/>
                  </a:solidFill>
                </a:u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</a:t>
            </a:r>
            <a:r>
              <a:rPr sz="2100" b="1" u="sng" kern="0" spc="10" dirty="0">
                <a:solidFill>
                  <a:srgbClr val="B8C3CE">
                    <a:alpha val="100000"/>
                  </a:srgbClr>
                </a:solidFill>
                <a:uFill>
                  <a:solidFill>
                    <a:srgbClr val="78C8F5"/>
                  </a:solidFill>
                </a:u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u="sng" kern="0" spc="10" dirty="0">
                <a:solidFill>
                  <a:srgbClr val="B8C3CE">
                    <a:alpha val="100000"/>
                  </a:srgbClr>
                </a:solidFill>
                <a:uFill>
                  <a:solidFill>
                    <a:srgbClr val="78C8F5"/>
                  </a:solidFill>
                </a:u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</a:t>
            </a:r>
            <a:r>
              <a:rPr sz="2100" u="sng" kern="0" spc="140" dirty="0">
                <a:solidFill>
                  <a:srgbClr val="B8C3CE">
                    <a:alpha val="100000"/>
                  </a:srgbClr>
                </a:solidFill>
                <a:uFill>
                  <a:solidFill>
                    <a:srgbClr val="78C8F5"/>
                  </a:solidFill>
                </a:u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u="sng" kern="0" spc="10" dirty="0">
                <a:solidFill>
                  <a:srgbClr val="B8C3CE">
                    <a:alpha val="100000"/>
                  </a:srgbClr>
                </a:solidFill>
                <a:uFill>
                  <a:solidFill>
                    <a:srgbClr val="78C8F5"/>
                  </a:solidFill>
                </a:u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u="sng" kern="0" spc="130" dirty="0">
                <a:solidFill>
                  <a:srgbClr val="B8C3CE">
                    <a:alpha val="100000"/>
                  </a:srgbClr>
                </a:solidFill>
                <a:uFill>
                  <a:solidFill>
                    <a:srgbClr val="78C8F5"/>
                  </a:solidFill>
                </a:u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u="sng" kern="0" spc="10" dirty="0">
                <a:solidFill>
                  <a:srgbClr val="B8C3CE">
                    <a:alpha val="100000"/>
                  </a:srgbClr>
                </a:solidFill>
                <a:uFill>
                  <a:solidFill>
                    <a:srgbClr val="78C8F5"/>
                  </a:solidFill>
                </a:u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12630642" y="6948378"/>
            <a:ext cx="98425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467803" y="3613204"/>
            <a:ext cx="3336290" cy="867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  <a:spcBef>
                <a:spcPts val="0"/>
              </a:spcBef>
            </a:pPr>
            <a:r>
              <a:rPr sz="6400" kern="0" spc="11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</a:t>
            </a:r>
            <a:endParaRPr sz="6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 56"/>
          <p:cNvSpPr/>
          <p:nvPr/>
        </p:nvSpPr>
        <p:spPr>
          <a:xfrm>
            <a:off x="0" y="0"/>
            <a:ext cx="12858750" cy="7219949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textbox 58"/>
          <p:cNvSpPr/>
          <p:nvPr/>
        </p:nvSpPr>
        <p:spPr>
          <a:xfrm>
            <a:off x="322325" y="731127"/>
            <a:ext cx="6771640" cy="35883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240" indent="29210" algn="l" rtl="0" eaLnBrk="0">
              <a:lnSpc>
                <a:spcPct val="103000"/>
              </a:lnSpc>
            </a:pPr>
            <a:r>
              <a:rPr sz="25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1854 年</a:t>
            </a:r>
            <a:r>
              <a:rPr sz="2500" kern="0" spc="-3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kern="0" spc="-6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克里米亚战争爆发</a:t>
            </a:r>
            <a:r>
              <a:rPr sz="25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sz="2500" kern="0" spc="-6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在当时的公众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认知里</a:t>
            </a:r>
            <a:r>
              <a:rPr sz="2500" kern="0" spc="-3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kern="0" spc="-6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士兵的生命结束于战场——被子弹击</a:t>
            </a:r>
            <a:r>
              <a:rPr sz="25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sz="2500" kern="0" spc="-3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kern="0" spc="-4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因伤口恶化。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0640" indent="-9525" algn="l" rtl="0" eaLnBrk="0">
              <a:lnSpc>
                <a:spcPct val="93000"/>
              </a:lnSpc>
              <a:spcBef>
                <a:spcPts val="620"/>
              </a:spcBef>
            </a:pPr>
            <a:r>
              <a:rPr sz="25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随军护士</a:t>
            </a:r>
            <a:r>
              <a:rPr sz="2500" b="1" kern="0" spc="9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弗洛伦丝·南丁格尔</a:t>
            </a:r>
            <a:r>
              <a:rPr sz="25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抵达斯库塔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里战地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医院后</a:t>
            </a:r>
            <a:r>
              <a:rPr sz="2500" kern="0" spc="-3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kern="0" spc="-6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看到的却是</a:t>
            </a:r>
            <a:r>
              <a:rPr sz="25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另一个战场：</a:t>
            </a:r>
            <a:r>
              <a:rPr sz="2500" kern="0" spc="-6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没有冲锋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320" indent="-3810" algn="l" rtl="0" eaLnBrk="0">
              <a:lnSpc>
                <a:spcPct val="92000"/>
              </a:lnSpc>
              <a:spcBef>
                <a:spcPts val="400"/>
              </a:spcBef>
            </a:pPr>
            <a:r>
              <a:rPr sz="25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</a:t>
            </a:r>
            <a:r>
              <a:rPr sz="2500" kern="0" spc="-3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kern="0" spc="-6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只有拥挤、</a:t>
            </a:r>
            <a:r>
              <a:rPr sz="2500" kern="0" spc="-6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污秽</a:t>
            </a:r>
            <a:r>
              <a:rPr sz="25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2500" kern="0" spc="-6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疾病蔓延的病区</a:t>
            </a:r>
            <a:r>
              <a:rPr sz="2500" kern="0" spc="-3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kern="0" spc="-6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和接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二连三倒下、</a:t>
            </a:r>
            <a:r>
              <a:rPr sz="2500" kern="0" spc="-5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来不及被抬上病床的士兵。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875" indent="-3175" algn="l" rtl="0" eaLnBrk="0">
              <a:lnSpc>
                <a:spcPct val="106000"/>
              </a:lnSpc>
              <a:spcBef>
                <a:spcPts val="350"/>
              </a:spcBef>
            </a:pPr>
            <a:r>
              <a:rPr sz="25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她整理了</a:t>
            </a:r>
            <a:r>
              <a:rPr sz="2500" kern="0" spc="3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1854 年 4 月至</a:t>
            </a:r>
            <a:r>
              <a:rPr sz="2500" kern="0" spc="3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25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856 年</a:t>
            </a:r>
            <a:r>
              <a:rPr sz="2500" kern="0" spc="2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月共</a:t>
            </a:r>
            <a:r>
              <a:rPr sz="2500" kern="0" spc="1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b="1" kern="0" spc="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r>
              <a:rPr sz="2500" b="1" kern="0" spc="8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个月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的英军伤亡数据。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rect 60"/>
          <p:cNvSpPr/>
          <p:nvPr/>
        </p:nvSpPr>
        <p:spPr>
          <a:xfrm>
            <a:off x="352425" y="4495799"/>
            <a:ext cx="12172950" cy="1552575"/>
          </a:xfrm>
          <a:prstGeom prst="rect">
            <a:avLst/>
          </a:prstGeom>
          <a:solidFill>
            <a:srgbClr val="FFD166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" name="textbox 62"/>
          <p:cNvSpPr/>
          <p:nvPr/>
        </p:nvSpPr>
        <p:spPr>
          <a:xfrm>
            <a:off x="7178675" y="757300"/>
            <a:ext cx="4625340" cy="36023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3500" algn="l" rtl="0" eaLnBrk="0">
              <a:lnSpc>
                <a:spcPct val="88000"/>
              </a:lnSpc>
            </a:pPr>
            <a:r>
              <a:rPr sz="2400" kern="0" spc="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先凭直觉投票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0" algn="l" rtl="0" eaLnBrk="0">
              <a:lnSpc>
                <a:spcPct val="87000"/>
              </a:lnSpc>
              <a:spcBef>
                <a:spcPts val="750"/>
              </a:spcBef>
              <a:tabLst>
                <a:tab pos="315595" algn="l"/>
              </a:tabLst>
            </a:pP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5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sz="2500" kern="0" spc="1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5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战伤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0" algn="l" rtl="0" eaLnBrk="0">
              <a:lnSpc>
                <a:spcPct val="86000"/>
              </a:lnSpc>
              <a:spcBef>
                <a:spcPts val="1345"/>
              </a:spcBef>
              <a:tabLst>
                <a:tab pos="344170" algn="l"/>
              </a:tabLst>
            </a:pP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5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sz="2500" kern="0" spc="1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5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可预防疾病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0" algn="l" rtl="0" eaLnBrk="0">
              <a:lnSpc>
                <a:spcPts val="4040"/>
              </a:lnSpc>
              <a:tabLst>
                <a:tab pos="328295" algn="l"/>
              </a:tabLst>
            </a:pP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5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sz="2500" kern="0" spc="1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5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其他原因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0" algn="l" rtl="0" eaLnBrk="0">
              <a:lnSpc>
                <a:spcPct val="88000"/>
              </a:lnSpc>
              <a:spcBef>
                <a:spcPts val="1395"/>
              </a:spcBef>
              <a:tabLst>
                <a:tab pos="344170" algn="l"/>
              </a:tabLst>
            </a:pP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5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sz="2500" kern="0" spc="1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5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需要数据</a:t>
            </a:r>
            <a:r>
              <a:rPr sz="2500" kern="0" spc="-3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kern="0" spc="-6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暂时无法</a:t>
            </a:r>
            <a:r>
              <a:rPr sz="2500" kern="0" spc="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  <a:spcBef>
                <a:spcPts val="5"/>
              </a:spcBef>
            </a:pPr>
            <a:r>
              <a:rPr sz="2500" b="1" kern="0" spc="-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先保留判断</a:t>
            </a:r>
            <a:r>
              <a:rPr sz="2500" b="1" kern="0" spc="-4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b="1" kern="0" spc="-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b="1" kern="0" spc="-5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b="1" kern="0" spc="-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随后用数据检验</a:t>
            </a:r>
            <a:r>
              <a:rPr sz="2500" b="1" kern="0" spc="-8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4" name="picture 6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191375" y="3009899"/>
            <a:ext cx="114300" cy="114300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191375" y="2505074"/>
            <a:ext cx="114300" cy="114300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191375" y="1990724"/>
            <a:ext cx="114300" cy="114300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191375" y="1485899"/>
            <a:ext cx="114300" cy="114300"/>
          </a:xfrm>
          <a:prstGeom prst="rect">
            <a:avLst/>
          </a:prstGeom>
        </p:spPr>
      </p:pic>
      <p:sp>
        <p:nvSpPr>
          <p:cNvPr id="72" name="textbox 72"/>
          <p:cNvSpPr/>
          <p:nvPr/>
        </p:nvSpPr>
        <p:spPr>
          <a:xfrm>
            <a:off x="500534" y="5035473"/>
            <a:ext cx="8057515" cy="861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240" algn="l" rtl="0" eaLnBrk="0">
              <a:lnSpc>
                <a:spcPts val="2710"/>
              </a:lnSpc>
            </a:pP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士兵主要死于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战伤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，还是死于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本可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预防的疾病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？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tabLst>
                <a:tab pos="8044180" algn="l"/>
              </a:tabLst>
            </a:pP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我的判断是：</a:t>
            </a:r>
            <a:r>
              <a:rPr sz="2100" u="sng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</a:t>
            </a:r>
            <a:r>
              <a:rPr sz="21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我的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理由是：</a:t>
            </a:r>
            <a:r>
              <a:rPr sz="2100" u="sng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4" name="picture 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4495800"/>
            <a:ext cx="47625" cy="1552574"/>
          </a:xfrm>
          <a:prstGeom prst="rect">
            <a:avLst/>
          </a:prstGeom>
        </p:spPr>
      </p:pic>
      <p:sp>
        <p:nvSpPr>
          <p:cNvPr id="76" name="textbox 76"/>
          <p:cNvSpPr/>
          <p:nvPr/>
        </p:nvSpPr>
        <p:spPr>
          <a:xfrm>
            <a:off x="371475" y="4495799"/>
            <a:ext cx="12153900" cy="457200"/>
          </a:xfrm>
          <a:prstGeom prst="rect">
            <a:avLst/>
          </a:prstGeom>
          <a:solidFill>
            <a:srgbClr val="FFD166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7020" algn="l" rtl="0" eaLnBrk="0">
              <a:lnSpc>
                <a:spcPct val="87000"/>
              </a:lnSpc>
              <a:spcBef>
                <a:spcPts val="0"/>
              </a:spcBef>
            </a:pPr>
            <a:r>
              <a:rPr sz="2100" b="1" kern="0" spc="-8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【先想一想】本项目的第一个</a:t>
            </a:r>
            <a:r>
              <a:rPr sz="2100" b="1" kern="0" spc="-9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rect 78"/>
          <p:cNvSpPr/>
          <p:nvPr/>
        </p:nvSpPr>
        <p:spPr>
          <a:xfrm>
            <a:off x="333375" y="190500"/>
            <a:ext cx="12192000" cy="438150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0" name="rect 80"/>
          <p:cNvSpPr/>
          <p:nvPr/>
        </p:nvSpPr>
        <p:spPr>
          <a:xfrm>
            <a:off x="7524750" y="209549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2" name="textbox 82"/>
          <p:cNvSpPr/>
          <p:nvPr/>
        </p:nvSpPr>
        <p:spPr>
          <a:xfrm>
            <a:off x="7593769" y="245045"/>
            <a:ext cx="4864734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4" name="picture 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619124"/>
            <a:ext cx="12192000" cy="19050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3375" y="571499"/>
            <a:ext cx="12192000" cy="9525"/>
          </a:xfrm>
          <a:prstGeom prst="rect">
            <a:avLst/>
          </a:prstGeom>
        </p:spPr>
      </p:pic>
      <p:sp>
        <p:nvSpPr>
          <p:cNvPr id="88" name="textbox 88"/>
          <p:cNvSpPr/>
          <p:nvPr/>
        </p:nvSpPr>
        <p:spPr>
          <a:xfrm>
            <a:off x="12634510" y="6906773"/>
            <a:ext cx="93980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 90"/>
          <p:cNvSpPr/>
          <p:nvPr/>
        </p:nvSpPr>
        <p:spPr>
          <a:xfrm>
            <a:off x="0" y="2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2" name="textbox 92"/>
          <p:cNvSpPr/>
          <p:nvPr/>
        </p:nvSpPr>
        <p:spPr>
          <a:xfrm>
            <a:off x="325296" y="664455"/>
            <a:ext cx="12176759" cy="3286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29210" algn="l" rtl="0" eaLnBrk="0">
              <a:lnSpc>
                <a:spcPct val="105000"/>
              </a:lnSpc>
            </a:pP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1855 年</a:t>
            </a:r>
            <a:r>
              <a:rPr sz="2500" kern="0" spc="2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月</a:t>
            </a:r>
            <a:r>
              <a:rPr sz="2500" kern="0" spc="-3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kern="0" spc="-6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英国政府派出卫生委员会实施基础卫生工程：</a:t>
            </a:r>
            <a:r>
              <a:rPr sz="2500" kern="0" spc="-6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清理粪坑与污水池、</a:t>
            </a:r>
            <a:r>
              <a:rPr sz="2500" kern="0" spc="-5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冲</a:t>
            </a:r>
            <a:r>
              <a:rPr sz="25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洗堵塞的下水道、</a:t>
            </a:r>
            <a:r>
              <a:rPr sz="2500" kern="0" spc="-6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清除污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染水源的动物尸体、</a:t>
            </a:r>
            <a:r>
              <a:rPr sz="2500" kern="0" spc="-5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改善通风与病房拥挤。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9845" indent="12065" algn="l" rtl="0" eaLnBrk="0">
              <a:lnSpc>
                <a:spcPct val="106000"/>
              </a:lnSpc>
              <a:spcBef>
                <a:spcPts val="90"/>
              </a:spcBef>
            </a:pP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1858 年</a:t>
            </a:r>
            <a:r>
              <a:rPr sz="2500" kern="0" spc="-2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kern="0" spc="-6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南丁格尔在《影响英军健康、</a:t>
            </a:r>
            <a:r>
              <a:rPr sz="2500" kern="0" spc="-6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效率与医院管理的笔记》</a:t>
            </a:r>
            <a:r>
              <a:rPr sz="2500" kern="0" spc="-4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中发表了这样一张</a:t>
            </a:r>
            <a:r>
              <a:rPr sz="2500" kern="0" spc="-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图：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0020" algn="l" rtl="0" eaLnBrk="0">
              <a:lnSpc>
                <a:spcPts val="3355"/>
              </a:lnSpc>
              <a:spcBef>
                <a:spcPts val="1800"/>
              </a:spcBef>
              <a:tabLst>
                <a:tab pos="346075" algn="l"/>
              </a:tabLst>
            </a:pPr>
            <a:r>
              <a:rPr sz="25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500" b="1" kern="0" spc="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两个并排的扇形图</a:t>
            </a:r>
            <a:r>
              <a:rPr sz="2500" b="1" kern="0" spc="3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 卫生改革前后各</a:t>
            </a:r>
            <a:r>
              <a:rPr sz="2500" kern="0" spc="3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个月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0020" algn="l" rtl="0" eaLnBrk="0">
              <a:lnSpc>
                <a:spcPts val="3750"/>
              </a:lnSpc>
              <a:tabLst>
                <a:tab pos="342900" algn="l"/>
              </a:tabLst>
            </a:pP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每个月的</a:t>
            </a:r>
            <a:r>
              <a:rPr sz="2500" b="1" kern="0" spc="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扇形面积</a:t>
            </a:r>
            <a:r>
              <a:rPr sz="2500" b="1" kern="0" spc="3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 该月的死亡水平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6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0020" algn="l" rtl="0" eaLnBrk="0">
              <a:lnSpc>
                <a:spcPct val="87000"/>
              </a:lnSpc>
              <a:spcBef>
                <a:spcPts val="5"/>
              </a:spcBef>
              <a:tabLst>
                <a:tab pos="340995" algn="l"/>
              </a:tabLst>
            </a:pPr>
            <a:r>
              <a:rPr sz="25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500" b="1" kern="0" spc="5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颜色</a:t>
            </a:r>
            <a:r>
              <a:rPr sz="2500" b="1" kern="0" spc="3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 三类死亡原因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4" name="picture 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71475" y="3714752"/>
            <a:ext cx="114300" cy="114300"/>
          </a:xfrm>
          <a:prstGeom prst="rect">
            <a:avLst/>
          </a:prstGeom>
        </p:spPr>
      </p:pic>
      <p:pic>
        <p:nvPicPr>
          <p:cNvPr id="96" name="picture 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71475" y="3209927"/>
            <a:ext cx="114300" cy="114300"/>
          </a:xfrm>
          <a:prstGeom prst="rect">
            <a:avLst/>
          </a:prstGeom>
        </p:spPr>
      </p:pic>
      <p:pic>
        <p:nvPicPr>
          <p:cNvPr id="98" name="picture 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71475" y="2695577"/>
            <a:ext cx="114300" cy="114300"/>
          </a:xfrm>
          <a:prstGeom prst="rect">
            <a:avLst/>
          </a:prstGeom>
        </p:spPr>
      </p:pic>
      <p:sp>
        <p:nvSpPr>
          <p:cNvPr id="100" name="rect 100"/>
          <p:cNvSpPr/>
          <p:nvPr/>
        </p:nvSpPr>
        <p:spPr>
          <a:xfrm>
            <a:off x="352425" y="4248152"/>
            <a:ext cx="12172950" cy="1857375"/>
          </a:xfrm>
          <a:prstGeom prst="rect">
            <a:avLst/>
          </a:prstGeom>
          <a:solidFill>
            <a:srgbClr val="78C8F5">
              <a:alpha val="745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2" name="textbox 102"/>
          <p:cNvSpPr/>
          <p:nvPr/>
        </p:nvSpPr>
        <p:spPr>
          <a:xfrm>
            <a:off x="500801" y="4836365"/>
            <a:ext cx="11750040" cy="1115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0795" algn="l" rtl="0" eaLnBrk="0">
              <a:lnSpc>
                <a:spcPct val="91000"/>
              </a:lnSpc>
            </a:pP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它让没有统计学基础的议员和公众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一眼看懂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：士兵死亡的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主要来源不是战斗。这张图成为推动军队卫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生改革与战地医院改造的重要证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据之一。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240" algn="l" rtl="0" eaLnBrk="0">
              <a:lnSpc>
                <a:spcPct val="87000"/>
              </a:lnSpc>
              <a:spcBef>
                <a:spcPts val="5"/>
              </a:spcBef>
            </a:pPr>
            <a:r>
              <a:rPr sz="2100" b="1" kern="0" spc="-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可视化不只是把数字画出来</a:t>
            </a:r>
            <a:r>
              <a:rPr sz="2100" b="1" kern="0" spc="-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，而是让证据被看见。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4" name="picture 1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4248152"/>
            <a:ext cx="47625" cy="1857372"/>
          </a:xfrm>
          <a:prstGeom prst="rect">
            <a:avLst/>
          </a:prstGeom>
        </p:spPr>
      </p:pic>
      <p:sp>
        <p:nvSpPr>
          <p:cNvPr id="106" name="textbox 106"/>
          <p:cNvSpPr/>
          <p:nvPr/>
        </p:nvSpPr>
        <p:spPr>
          <a:xfrm>
            <a:off x="371475" y="4248152"/>
            <a:ext cx="12153900" cy="447675"/>
          </a:xfrm>
          <a:prstGeom prst="rect">
            <a:avLst/>
          </a:prstGeom>
          <a:solidFill>
            <a:srgbClr val="78C8F5">
              <a:alpha val="16078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8430" algn="l" rtl="0" eaLnBrk="0">
              <a:lnSpc>
                <a:spcPct val="87000"/>
              </a:lnSpc>
            </a:pPr>
            <a:r>
              <a:rPr sz="2100" b="1" kern="0" spc="-5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这张图后来被称为「南丁格尔玫瑰图」（极区</a:t>
            </a:r>
            <a:r>
              <a:rPr sz="2100" b="1" kern="0" spc="-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图）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rect 108"/>
          <p:cNvSpPr/>
          <p:nvPr/>
        </p:nvSpPr>
        <p:spPr>
          <a:xfrm>
            <a:off x="333375" y="190502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0" name="rect 110"/>
          <p:cNvSpPr/>
          <p:nvPr/>
        </p:nvSpPr>
        <p:spPr>
          <a:xfrm>
            <a:off x="7524750" y="209552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2" name="textbox 112"/>
          <p:cNvSpPr/>
          <p:nvPr/>
        </p:nvSpPr>
        <p:spPr>
          <a:xfrm>
            <a:off x="7593769" y="245048"/>
            <a:ext cx="4864734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4" name="picture 1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3375" y="619127"/>
            <a:ext cx="12192000" cy="19050"/>
          </a:xfrm>
          <a:prstGeom prst="rect">
            <a:avLst/>
          </a:prstGeom>
        </p:spPr>
      </p:pic>
      <p:pic>
        <p:nvPicPr>
          <p:cNvPr id="116" name="picture 1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33375" y="571502"/>
            <a:ext cx="12192000" cy="9525"/>
          </a:xfrm>
          <a:prstGeom prst="rect">
            <a:avLst/>
          </a:prstGeom>
        </p:spPr>
      </p:pic>
      <p:sp>
        <p:nvSpPr>
          <p:cNvPr id="118" name="textbox 118"/>
          <p:cNvSpPr/>
          <p:nvPr/>
        </p:nvSpPr>
        <p:spPr>
          <a:xfrm>
            <a:off x="12633976" y="6906776"/>
            <a:ext cx="94614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 120"/>
          <p:cNvSpPr/>
          <p:nvPr/>
        </p:nvSpPr>
        <p:spPr>
          <a:xfrm>
            <a:off x="0" y="2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22" name="picture 1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1638300"/>
            <a:ext cx="11344275" cy="4762500"/>
          </a:xfrm>
          <a:prstGeom prst="rect">
            <a:avLst/>
          </a:prstGeom>
        </p:spPr>
      </p:pic>
      <p:sp>
        <p:nvSpPr>
          <p:cNvPr id="124" name="textbox 124"/>
          <p:cNvSpPr/>
          <p:nvPr/>
        </p:nvSpPr>
        <p:spPr>
          <a:xfrm>
            <a:off x="323316" y="725531"/>
            <a:ext cx="11908155" cy="734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2540" algn="l" rtl="0" eaLnBrk="0">
              <a:lnSpc>
                <a:spcPct val="93000"/>
              </a:lnSpc>
            </a:pP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本项目要交给政府的</a:t>
            </a:r>
            <a:r>
              <a:rPr sz="2500" kern="0" spc="-3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kern="0" spc="-6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就是这样一份”</a:t>
            </a:r>
            <a:r>
              <a:rPr sz="2500" b="1" kern="0" spc="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让证据被看见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”的报告。</a:t>
            </a:r>
            <a:r>
              <a:rPr sz="2500" kern="0" spc="-6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最后一节课</a:t>
            </a:r>
            <a:r>
              <a:rPr sz="2500" kern="0" spc="-3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kern="0" spc="-6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会亲手把它复刻出来：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6" name="rect 126"/>
          <p:cNvSpPr/>
          <p:nvPr/>
        </p:nvSpPr>
        <p:spPr>
          <a:xfrm>
            <a:off x="333375" y="190502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8" name="textbox 128"/>
          <p:cNvSpPr/>
          <p:nvPr/>
        </p:nvSpPr>
        <p:spPr>
          <a:xfrm>
            <a:off x="1612892" y="6627932"/>
            <a:ext cx="9602469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</a:pPr>
            <a:r>
              <a:rPr sz="1900" kern="0" spc="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同一份数据</a:t>
            </a:r>
            <a:r>
              <a:rPr sz="1900" kern="0" spc="-27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900" kern="0" spc="-4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两种表达：</a:t>
            </a:r>
            <a:r>
              <a:rPr sz="1900" kern="0" spc="-47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本项目的全部任务</a:t>
            </a:r>
            <a:r>
              <a:rPr sz="1900" kern="0" spc="-26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，都是为了回答</a:t>
            </a:r>
            <a:r>
              <a:rPr sz="1900" kern="0" spc="3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”哪一个更能支持决策”。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0" name="rect 130"/>
          <p:cNvSpPr/>
          <p:nvPr/>
        </p:nvSpPr>
        <p:spPr>
          <a:xfrm>
            <a:off x="7524750" y="209552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2" name="textbox 132"/>
          <p:cNvSpPr/>
          <p:nvPr/>
        </p:nvSpPr>
        <p:spPr>
          <a:xfrm>
            <a:off x="7593769" y="245048"/>
            <a:ext cx="4864734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4" name="picture 1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619127"/>
            <a:ext cx="12192000" cy="19050"/>
          </a:xfrm>
          <a:prstGeom prst="rect">
            <a:avLst/>
          </a:prstGeom>
        </p:spPr>
      </p:pic>
      <p:pic>
        <p:nvPicPr>
          <p:cNvPr id="136" name="picture 1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571502"/>
            <a:ext cx="12192000" cy="9525"/>
          </a:xfrm>
          <a:prstGeom prst="rect">
            <a:avLst/>
          </a:prstGeom>
        </p:spPr>
      </p:pic>
      <p:sp>
        <p:nvSpPr>
          <p:cNvPr id="138" name="textbox 138"/>
          <p:cNvSpPr/>
          <p:nvPr/>
        </p:nvSpPr>
        <p:spPr>
          <a:xfrm>
            <a:off x="12635177" y="6949582"/>
            <a:ext cx="93344" cy="136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0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 140"/>
          <p:cNvSpPr/>
          <p:nvPr/>
        </p:nvSpPr>
        <p:spPr>
          <a:xfrm>
            <a:off x="0" y="0"/>
            <a:ext cx="12858750" cy="7219949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42" name="table 142"/>
          <p:cNvGraphicFramePr>
            <a:graphicFrameLocks noGrp="1"/>
          </p:cNvGraphicFramePr>
          <p:nvPr/>
        </p:nvGraphicFramePr>
        <p:xfrm>
          <a:off x="333375" y="3590927"/>
          <a:ext cx="12191365" cy="1493520"/>
        </p:xfrm>
        <a:graphic>
          <a:graphicData uri="http://schemas.openxmlformats.org/drawingml/2006/table">
            <a:tbl>
              <a:tblPr/>
              <a:tblGrid>
                <a:gridCol w="2564764"/>
                <a:gridCol w="9626600"/>
              </a:tblGrid>
              <a:tr h="342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375" algn="l" rtl="0" eaLnBrk="0">
                        <a:lnSpc>
                          <a:spcPct val="87000"/>
                        </a:lnSpc>
                      </a:pPr>
                      <a:r>
                        <a:rPr sz="2200" b="1" kern="0" spc="7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成果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78510" algn="l" rtl="0" eaLnBrk="0">
                        <a:lnSpc>
                          <a:spcPct val="87000"/>
                        </a:lnSpc>
                      </a:pPr>
                      <a:r>
                        <a:rPr sz="2200" b="1" kern="0" spc="7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要求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4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8105" algn="l" rtl="0" eaLnBrk="0">
                        <a:lnSpc>
                          <a:spcPts val="2965"/>
                        </a:lnSpc>
                      </a:pP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r>
                        <a:rPr sz="2200" kern="0" spc="1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幅证据图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75970" algn="l" rtl="0" eaLnBrk="0">
                        <a:lnSpc>
                          <a:spcPts val="2965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分别服务于 4 个不</a:t>
                      </a: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同的分析问题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6045" algn="l" rtl="0" eaLnBrk="0">
                        <a:lnSpc>
                          <a:spcPts val="2965"/>
                        </a:lnSpc>
                      </a:pPr>
                      <a:r>
                        <a:rPr sz="22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段图表解读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77875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kern="0" spc="10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按”结论—证据—建议—局限</a:t>
                      </a: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”组织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106045" algn="l" rtl="0" eaLnBrk="0">
                        <a:lnSpc>
                          <a:spcPts val="2900"/>
                        </a:lnSpc>
                      </a:pPr>
                      <a:r>
                        <a:rPr sz="22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项行动建议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82320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面向公共卫生决策</a:t>
                      </a:r>
                      <a:r>
                        <a:rPr sz="2200" kern="0" spc="-3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2200" kern="0" spc="-5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并说明结</a:t>
                      </a: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论的边界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44" name="textbox 144"/>
          <p:cNvSpPr/>
          <p:nvPr/>
        </p:nvSpPr>
        <p:spPr>
          <a:xfrm>
            <a:off x="324966" y="725858"/>
            <a:ext cx="11906250" cy="1209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5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你是一名</a:t>
            </a:r>
            <a:r>
              <a:rPr sz="2500" b="1" kern="0" spc="9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军队卫生改革数据顾问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5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indent="-4445" algn="l" rtl="0" eaLnBrk="0">
              <a:lnSpc>
                <a:spcPct val="97000"/>
              </a:lnSpc>
              <a:spcBef>
                <a:spcPts val="5"/>
              </a:spcBef>
            </a:pP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政府需要决定</a:t>
            </a:r>
            <a:r>
              <a:rPr sz="2500" kern="0" spc="-2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：有限的资源</a:t>
            </a:r>
            <a:r>
              <a:rPr sz="2500" kern="0" spc="-3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，应该优先用于战伤救治</a:t>
            </a:r>
            <a:r>
              <a:rPr sz="2500" kern="0" spc="-3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kern="0" spc="-6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还是用于改善医院与营地的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卫生条件？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6" name="rect 146"/>
          <p:cNvSpPr/>
          <p:nvPr/>
        </p:nvSpPr>
        <p:spPr>
          <a:xfrm>
            <a:off x="352425" y="1971674"/>
            <a:ext cx="12172950" cy="1057275"/>
          </a:xfrm>
          <a:prstGeom prst="rect">
            <a:avLst/>
          </a:prstGeom>
          <a:solidFill>
            <a:srgbClr val="FFD166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48" name="picture 1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1971675"/>
            <a:ext cx="47625" cy="1057274"/>
          </a:xfrm>
          <a:prstGeom prst="rect">
            <a:avLst/>
          </a:prstGeom>
        </p:spPr>
      </p:pic>
      <p:sp>
        <p:nvSpPr>
          <p:cNvPr id="150" name="rect 150"/>
          <p:cNvSpPr/>
          <p:nvPr/>
        </p:nvSpPr>
        <p:spPr>
          <a:xfrm>
            <a:off x="371475" y="1971674"/>
            <a:ext cx="12153900" cy="447675"/>
          </a:xfrm>
          <a:prstGeom prst="rect">
            <a:avLst/>
          </a:prstGeom>
          <a:solidFill>
            <a:srgbClr val="FFD166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2" name="rect 152"/>
          <p:cNvSpPr/>
          <p:nvPr/>
        </p:nvSpPr>
        <p:spPr>
          <a:xfrm>
            <a:off x="333375" y="190500"/>
            <a:ext cx="12192000" cy="390524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4" name="textbox 154"/>
          <p:cNvSpPr/>
          <p:nvPr/>
        </p:nvSpPr>
        <p:spPr>
          <a:xfrm>
            <a:off x="495920" y="2065654"/>
            <a:ext cx="5488940" cy="800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驱动性问题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2000"/>
              </a:lnSpc>
            </a:pP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87000"/>
              </a:lnSpc>
            </a:pPr>
            <a:r>
              <a:rPr sz="2100" b="1" kern="0" spc="-5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数据能否为卫生改革的资源投入提供可信证</a:t>
            </a:r>
            <a:r>
              <a:rPr sz="2100" b="1" kern="0" spc="-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据？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6" name="rect 156"/>
          <p:cNvSpPr/>
          <p:nvPr/>
        </p:nvSpPr>
        <p:spPr>
          <a:xfrm>
            <a:off x="7524750" y="209549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8" name="textbox 158"/>
          <p:cNvSpPr/>
          <p:nvPr/>
        </p:nvSpPr>
        <p:spPr>
          <a:xfrm>
            <a:off x="7593769" y="245045"/>
            <a:ext cx="4864734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0" name="textbox 160"/>
          <p:cNvSpPr/>
          <p:nvPr/>
        </p:nvSpPr>
        <p:spPr>
          <a:xfrm>
            <a:off x="322985" y="3119274"/>
            <a:ext cx="1609725" cy="3511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9000"/>
              </a:lnSpc>
            </a:pPr>
            <a:r>
              <a:rPr sz="2400" kern="0" spc="-1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项目成果：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2" name="picture 1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619124"/>
            <a:ext cx="12192000" cy="19050"/>
          </a:xfrm>
          <a:prstGeom prst="rect">
            <a:avLst/>
          </a:prstGeom>
        </p:spPr>
      </p:pic>
      <p:pic>
        <p:nvPicPr>
          <p:cNvPr id="164" name="picture 1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571499"/>
            <a:ext cx="12192000" cy="9525"/>
          </a:xfrm>
          <a:prstGeom prst="rect">
            <a:avLst/>
          </a:prstGeom>
        </p:spPr>
      </p:pic>
      <p:sp>
        <p:nvSpPr>
          <p:cNvPr id="166" name="textbox 166"/>
          <p:cNvSpPr/>
          <p:nvPr/>
        </p:nvSpPr>
        <p:spPr>
          <a:xfrm>
            <a:off x="12634376" y="6906773"/>
            <a:ext cx="94614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 168"/>
          <p:cNvSpPr/>
          <p:nvPr/>
        </p:nvSpPr>
        <p:spPr>
          <a:xfrm>
            <a:off x="0" y="0"/>
            <a:ext cx="12858750" cy="7219949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0" name="rect 170"/>
          <p:cNvSpPr/>
          <p:nvPr/>
        </p:nvSpPr>
        <p:spPr>
          <a:xfrm>
            <a:off x="1981199" y="742949"/>
            <a:ext cx="3457575" cy="3619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72" name="table 172"/>
          <p:cNvGraphicFramePr>
            <a:graphicFrameLocks noGrp="1"/>
          </p:cNvGraphicFramePr>
          <p:nvPr/>
        </p:nvGraphicFramePr>
        <p:xfrm>
          <a:off x="333375" y="619124"/>
          <a:ext cx="12191999" cy="3256915"/>
        </p:xfrm>
        <a:graphic>
          <a:graphicData uri="http://schemas.openxmlformats.org/drawingml/2006/table">
            <a:tbl>
              <a:tblPr/>
              <a:tblGrid>
                <a:gridCol w="1643380"/>
                <a:gridCol w="10548619"/>
              </a:tblGrid>
              <a:tr h="130492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655" indent="-31115" algn="l" rtl="0" eaLnBrk="0">
                        <a:lnSpc>
                          <a:spcPct val="111000"/>
                        </a:lnSpc>
                        <a:spcBef>
                          <a:spcPts val="5"/>
                        </a:spcBef>
                      </a:pPr>
                      <a:r>
                        <a:rPr sz="2500" b="1" kern="0" spc="11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数据来源： </a:t>
                      </a:r>
                      <a:r>
                        <a:rPr sz="22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HistData</a:t>
                      </a:r>
                      <a:r>
                        <a:rPr sz="2200" kern="0" spc="1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::</a:t>
                      </a:r>
                      <a:r>
                        <a:rPr sz="22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Nightingale</a:t>
                      </a:r>
                      <a:r>
                        <a:rPr sz="2200" kern="0" spc="-70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500" kern="0" spc="1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sz="2500" kern="0" spc="10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南丁格尔记录并整理的英军月度伤亡数据</a:t>
                      </a:r>
                      <a:r>
                        <a:rPr sz="2500" kern="0" spc="-1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r>
                        <a:rPr sz="2500" kern="0" spc="-2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500" kern="0" spc="-1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25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500" kern="0" spc="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1854 年 4 月—1856 年</a:t>
                      </a:r>
                      <a:r>
                        <a:rPr sz="2500" kern="0" spc="2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500" kern="0" spc="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r>
                        <a:rPr sz="2500" kern="0" spc="1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500" kern="0" spc="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r>
                        <a:rPr sz="2500" kern="0" spc="-3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500" kern="0" spc="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2500" kern="0" spc="-6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500" kern="0" spc="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共</a:t>
                      </a:r>
                      <a:r>
                        <a:rPr sz="2500" kern="0" spc="1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500" kern="0" spc="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24 个月。</a:t>
                      </a:r>
                      <a:endParaRPr sz="25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97790" algn="l" rtl="0" eaLnBrk="0">
                        <a:lnSpc>
                          <a:spcPct val="88000"/>
                        </a:lnSpc>
                        <a:spcBef>
                          <a:spcPts val="420"/>
                        </a:spcBef>
                      </a:pPr>
                      <a:r>
                        <a:rPr sz="2200" b="1" kern="0" spc="4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内容                本项目约定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37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研究范围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5765" algn="l" rtl="0" eaLnBrk="0">
                        <a:lnSpc>
                          <a:spcPts val="2970"/>
                        </a:lnSpc>
                      </a:pP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本数据记录的英军</a:t>
                      </a:r>
                      <a:r>
                        <a:rPr sz="2200" kern="0" spc="-2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2200" kern="0" spc="-5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共 24 个月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6360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改革前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31165" algn="l" rtl="0" eaLnBrk="0">
                        <a:lnSpc>
                          <a:spcPts val="2950"/>
                        </a:lnSpc>
                      </a:pP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1854 年 4 月—1</a:t>
                      </a:r>
                      <a:r>
                        <a:rPr sz="22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855 年</a:t>
                      </a:r>
                      <a:r>
                        <a:rPr sz="2200" kern="0" spc="1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r>
                        <a:rPr sz="2200" kern="0" spc="1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月（12 个月）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636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改革后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31165" algn="l" rtl="0" eaLnBrk="0">
                        <a:lnSpc>
                          <a:spcPts val="2950"/>
                        </a:lnSpc>
                      </a:pP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1855 年 4 月—1</a:t>
                      </a:r>
                      <a:r>
                        <a:rPr sz="22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856 年</a:t>
                      </a:r>
                      <a:r>
                        <a:rPr sz="2200" kern="0" spc="1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r>
                        <a:rPr sz="2200" kern="0" spc="1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月（12 个月）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死亡原因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0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可预防疾病、</a:t>
                      </a:r>
                      <a:r>
                        <a:rPr sz="2200" kern="0" spc="-4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战伤、</a:t>
                      </a:r>
                      <a:r>
                        <a:rPr sz="2200" kern="0" spc="-5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其</a:t>
                      </a: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他原因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6360" algn="l" rtl="0" eaLnBrk="0">
                        <a:lnSpc>
                          <a:spcPct val="88000"/>
                        </a:lnSpc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月份顺序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8305" algn="l" rtl="0" eaLnBrk="0">
                        <a:lnSpc>
                          <a:spcPts val="2950"/>
                        </a:lnSpc>
                      </a:pP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两个阶段均按 4 月 → 次年</a:t>
                      </a:r>
                      <a:r>
                        <a:rPr sz="2200" kern="0" spc="2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 月排列</a:t>
                      </a:r>
                      <a:r>
                        <a:rPr sz="2200" kern="0" spc="-30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，便于逐月对比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4" name="rect 174"/>
          <p:cNvSpPr/>
          <p:nvPr/>
        </p:nvSpPr>
        <p:spPr>
          <a:xfrm>
            <a:off x="352425" y="4333874"/>
            <a:ext cx="12172950" cy="1047750"/>
          </a:xfrm>
          <a:prstGeom prst="rect">
            <a:avLst/>
          </a:prstGeom>
          <a:solidFill>
            <a:srgbClr val="78C8F5">
              <a:alpha val="745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76" name="picture 17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4333875"/>
            <a:ext cx="47625" cy="1047749"/>
          </a:xfrm>
          <a:prstGeom prst="rect">
            <a:avLst/>
          </a:prstGeom>
        </p:spPr>
      </p:pic>
      <p:sp>
        <p:nvSpPr>
          <p:cNvPr id="178" name="textbox 178"/>
          <p:cNvSpPr/>
          <p:nvPr/>
        </p:nvSpPr>
        <p:spPr>
          <a:xfrm>
            <a:off x="371475" y="4333874"/>
            <a:ext cx="12153900" cy="447675"/>
          </a:xfrm>
          <a:prstGeom prst="rect">
            <a:avLst/>
          </a:prstGeom>
          <a:solidFill>
            <a:srgbClr val="78C8F5">
              <a:alpha val="16078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8430" algn="l" rtl="0" eaLnBrk="0">
              <a:lnSpc>
                <a:spcPct val="88000"/>
              </a:lnSpc>
              <a:spcBef>
                <a:spcPts val="5"/>
              </a:spcBef>
            </a:pPr>
            <a:r>
              <a:rPr sz="2100" b="1" kern="0" spc="-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为什么必须用「率」而不</a:t>
            </a:r>
            <a:r>
              <a:rPr sz="2100" b="1" kern="0" spc="-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是「人数」？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0" name="rect 180"/>
          <p:cNvSpPr/>
          <p:nvPr/>
        </p:nvSpPr>
        <p:spPr>
          <a:xfrm>
            <a:off x="333375" y="190500"/>
            <a:ext cx="12192000" cy="390524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2" name="textbox 182"/>
          <p:cNvSpPr/>
          <p:nvPr/>
        </p:nvSpPr>
        <p:spPr>
          <a:xfrm>
            <a:off x="505068" y="4873548"/>
            <a:ext cx="11371580" cy="370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10"/>
              </a:lnSpc>
            </a:pP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军队人数在 24 个月里不断变化。只看死亡人数，会把”士兵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多所以死得多”误当成”风险高”。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4" name="textbox 184"/>
          <p:cNvSpPr/>
          <p:nvPr/>
        </p:nvSpPr>
        <p:spPr>
          <a:xfrm>
            <a:off x="405046" y="3910434"/>
            <a:ext cx="8411209" cy="319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2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军队人数         当月英</a:t>
            </a:r>
            <a:r>
              <a:rPr sz="22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军平均人数的估计值</a:t>
            </a:r>
            <a:r>
              <a:rPr sz="2200" kern="0" spc="-3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，是计算死亡率的分母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6" name="rect 186"/>
          <p:cNvSpPr/>
          <p:nvPr/>
        </p:nvSpPr>
        <p:spPr>
          <a:xfrm>
            <a:off x="7524750" y="209549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8" name="textbox 188"/>
          <p:cNvSpPr/>
          <p:nvPr/>
        </p:nvSpPr>
        <p:spPr>
          <a:xfrm>
            <a:off x="7593769" y="245045"/>
            <a:ext cx="4864734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0" name="picture 1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571499"/>
            <a:ext cx="12192000" cy="9525"/>
          </a:xfrm>
          <a:prstGeom prst="rect">
            <a:avLst/>
          </a:prstGeom>
        </p:spPr>
      </p:pic>
      <p:sp>
        <p:nvSpPr>
          <p:cNvPr id="192" name="textbox 192"/>
          <p:cNvSpPr/>
          <p:nvPr/>
        </p:nvSpPr>
        <p:spPr>
          <a:xfrm>
            <a:off x="12634510" y="6906773"/>
            <a:ext cx="93980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 194"/>
          <p:cNvSpPr/>
          <p:nvPr/>
        </p:nvSpPr>
        <p:spPr>
          <a:xfrm>
            <a:off x="0" y="0"/>
            <a:ext cx="12858750" cy="7219943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96" name="table 196"/>
          <p:cNvGraphicFramePr>
            <a:graphicFrameLocks noGrp="1"/>
          </p:cNvGraphicFramePr>
          <p:nvPr/>
        </p:nvGraphicFramePr>
        <p:xfrm>
          <a:off x="333375" y="619118"/>
          <a:ext cx="12191365" cy="4773295"/>
        </p:xfrm>
        <a:graphic>
          <a:graphicData uri="http://schemas.openxmlformats.org/drawingml/2006/table">
            <a:tbl>
              <a:tblPr/>
              <a:tblGrid>
                <a:gridCol w="1686560"/>
                <a:gridCol w="10504805"/>
              </a:tblGrid>
              <a:tr h="476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375" algn="l" rtl="0" eaLnBrk="0">
                        <a:lnSpc>
                          <a:spcPct val="87000"/>
                        </a:lnSpc>
                      </a:pPr>
                      <a:r>
                        <a:rPr sz="2200" b="1" kern="0" spc="7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变量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6845" algn="l" rtl="0" eaLnBrk="0">
                        <a:lnSpc>
                          <a:spcPts val="3035"/>
                        </a:lnSpc>
                        <a:spcBef>
                          <a:spcPts val="0"/>
                        </a:spcBef>
                      </a:pPr>
                      <a:r>
                        <a:rPr sz="2200" b="1" kern="0" spc="6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含义</a:t>
                      </a:r>
                      <a:r>
                        <a:rPr sz="2200" b="1" kern="0" spc="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                                                    </a:t>
                      </a:r>
                      <a:r>
                        <a:rPr sz="2200" b="1" kern="0" spc="6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类型 / 单位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001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2200" kern="0" spc="-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7480" algn="l" rtl="0" eaLnBrk="0">
                        <a:lnSpc>
                          <a:spcPts val="2970"/>
                        </a:lnSpc>
                      </a:pPr>
                      <a:r>
                        <a:rPr sz="2200" kern="0" spc="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观测月份</a:t>
                      </a:r>
                      <a:r>
                        <a:rPr sz="2200" kern="0" spc="-3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2200" kern="0" spc="-3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1854-04 至</a:t>
                      </a:r>
                      <a:r>
                        <a:rPr sz="2200" kern="0" spc="2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1856-03          </a:t>
                      </a:r>
                      <a:r>
                        <a:rPr sz="2200" kern="0" spc="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时间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636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月份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5575" algn="l" rtl="0" eaLnBrk="0">
                        <a:lnSpc>
                          <a:spcPts val="2950"/>
                        </a:lnSpc>
                      </a:pPr>
                      <a:r>
                        <a:rPr sz="22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 月 → 次年</a:t>
                      </a:r>
                      <a:r>
                        <a:rPr sz="2200" kern="0" spc="1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 月</a:t>
                      </a:r>
                      <a:r>
                        <a:rPr sz="2200" kern="0" spc="-3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2200" kern="0" spc="-40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已按战争时间顺序排列  </a:t>
                      </a:r>
                      <a:r>
                        <a:rPr sz="2200" kern="0" spc="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分类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82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军队人数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68910" algn="l" rtl="0" eaLnBrk="0">
                        <a:lnSpc>
                          <a:spcPts val="2950"/>
                        </a:lnSpc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当月英军平均人数</a:t>
                      </a:r>
                      <a:r>
                        <a:rPr sz="2200" kern="0" spc="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</a:t>
                      </a:r>
                      <a:r>
                        <a:rPr sz="22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数值 / 人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398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2200" kern="0" spc="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63830" algn="l" rtl="0" eaLnBrk="0">
                        <a:lnSpc>
                          <a:spcPts val="2950"/>
                        </a:lnSpc>
                      </a:pPr>
                      <a:r>
                        <a:rPr sz="22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改革前 / 改革后                                 </a:t>
                      </a:r>
                      <a:r>
                        <a:rPr sz="2200" kern="0" spc="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分类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死亡原因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8750" algn="l" rtl="0" eaLnBrk="0">
                        <a:lnSpc>
                          <a:spcPts val="295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可预防疾病 / 战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伤 / 其他原因</a:t>
                      </a:r>
                      <a:r>
                        <a:rPr sz="2200" kern="0" spc="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      </a:t>
                      </a:r>
                      <a:r>
                        <a:rPr sz="22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分类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死亡人数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68910" algn="l" rtl="0" eaLnBrk="0">
                        <a:lnSpc>
                          <a:spcPts val="2950"/>
                        </a:lnSpc>
                      </a:pP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当月因该类原因死亡的人数                      </a:t>
                      </a:r>
                      <a:r>
                        <a:rPr sz="22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数值 / 人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9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死亡率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58750" algn="l" rtl="0" eaLnBrk="0">
                        <a:lnSpc>
                          <a:spcPts val="295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年化死亡率</a:t>
                      </a:r>
                      <a:r>
                        <a:rPr sz="22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                                          </a:t>
                      </a: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数值 / 每千人年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4178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874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b="1" kern="0" spc="9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死因类别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3373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大致含义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28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可预防疾病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3436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霍乱、</a:t>
                      </a:r>
                      <a:r>
                        <a:rPr sz="2200" kern="0" spc="-5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痢疾、</a:t>
                      </a:r>
                      <a:r>
                        <a:rPr sz="2200" kern="0" spc="-5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斑疹伤寒等与卫生条件</a:t>
                      </a: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密切相关的传染病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017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战伤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3309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在战斗中受伤并因此死亡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010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其他原因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3563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意外、</a:t>
                      </a:r>
                      <a:r>
                        <a:rPr sz="2200" kern="0" spc="-4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其他疾病等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98" name="rect 198"/>
          <p:cNvSpPr/>
          <p:nvPr/>
        </p:nvSpPr>
        <p:spPr>
          <a:xfrm>
            <a:off x="333375" y="190500"/>
            <a:ext cx="12192000" cy="390518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0" name="rect 200"/>
          <p:cNvSpPr/>
          <p:nvPr/>
        </p:nvSpPr>
        <p:spPr>
          <a:xfrm>
            <a:off x="7524750" y="209543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2" name="textbox 202"/>
          <p:cNvSpPr/>
          <p:nvPr/>
        </p:nvSpPr>
        <p:spPr>
          <a:xfrm>
            <a:off x="7593769" y="245039"/>
            <a:ext cx="4864734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4" name="picture 2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571493"/>
            <a:ext cx="12192000" cy="9525"/>
          </a:xfrm>
          <a:prstGeom prst="rect">
            <a:avLst/>
          </a:prstGeom>
        </p:spPr>
      </p:pic>
      <p:sp>
        <p:nvSpPr>
          <p:cNvPr id="206" name="textbox 206"/>
          <p:cNvSpPr/>
          <p:nvPr/>
        </p:nvSpPr>
        <p:spPr>
          <a:xfrm>
            <a:off x="12569329" y="6906767"/>
            <a:ext cx="15938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-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 208"/>
          <p:cNvSpPr/>
          <p:nvPr/>
        </p:nvSpPr>
        <p:spPr>
          <a:xfrm>
            <a:off x="0" y="0"/>
            <a:ext cx="12858750" cy="7219949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0" name="rect 210"/>
          <p:cNvSpPr/>
          <p:nvPr/>
        </p:nvSpPr>
        <p:spPr>
          <a:xfrm>
            <a:off x="352425" y="3028949"/>
            <a:ext cx="12172950" cy="2085975"/>
          </a:xfrm>
          <a:prstGeom prst="rect">
            <a:avLst/>
          </a:prstGeom>
          <a:solidFill>
            <a:srgbClr val="FFD166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212" name="table 212"/>
          <p:cNvGraphicFramePr>
            <a:graphicFrameLocks noGrp="1"/>
          </p:cNvGraphicFramePr>
          <p:nvPr/>
        </p:nvGraphicFramePr>
        <p:xfrm>
          <a:off x="333375" y="619124"/>
          <a:ext cx="12191365" cy="1638300"/>
        </p:xfrm>
        <a:graphic>
          <a:graphicData uri="http://schemas.openxmlformats.org/drawingml/2006/table">
            <a:tbl>
              <a:tblPr/>
              <a:tblGrid>
                <a:gridCol w="2692400"/>
                <a:gridCol w="5377815"/>
                <a:gridCol w="4121150"/>
              </a:tblGrid>
              <a:tr h="512444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1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5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我们手里有两个可以画的指标</a:t>
                      </a:r>
                      <a:r>
                        <a:rPr sz="25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</a:t>
                      </a:r>
                      <a:endParaRPr sz="25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4019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37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b="1" kern="0" spc="7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45034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含义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4033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200" b="1" kern="0" spc="9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适合回答的问题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700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死亡人数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449705" indent="2540"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某段时间因某类原因死亡的人</a:t>
                      </a: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8430" indent="10795" algn="l" rtl="0" eaLnBrk="0">
                        <a:lnSpc>
                          <a:spcPct val="9600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哪一类死因造成的死亡</a:t>
                      </a:r>
                      <a:r>
                        <a:rPr sz="2200" b="1" kern="0" spc="9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负</a:t>
                      </a:r>
                      <a:r>
                        <a:rPr sz="2200" b="1" kern="0" spc="8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担</a:t>
                      </a: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</a:t>
                      </a:r>
                      <a:r>
                        <a:rPr sz="2200" kern="0" spc="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4" name="textbox 214"/>
          <p:cNvSpPr/>
          <p:nvPr/>
        </p:nvSpPr>
        <p:spPr>
          <a:xfrm>
            <a:off x="444341" y="3597197"/>
            <a:ext cx="9014459" cy="1375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765" algn="l" rtl="0" eaLnBrk="0">
              <a:lnSpc>
                <a:spcPts val="2710"/>
              </a:lnSpc>
            </a:pP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要比较三类死因”谁造成的死亡负担最重”，应该用哪个指标？为什么？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2710"/>
              </a:lnSpc>
              <a:spcBef>
                <a:spcPts val="65"/>
              </a:spcBef>
            </a:pP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要比较”哪个月的死亡风险更高”，又该用哪个指标？为什么？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8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8580" algn="l" rtl="0" eaLnBrk="0">
              <a:lnSpc>
                <a:spcPct val="87000"/>
              </a:lnSpc>
              <a:spcBef>
                <a:spcPts val="0"/>
              </a:spcBef>
              <a:tabLst>
                <a:tab pos="9001125" algn="l"/>
              </a:tabLst>
            </a:pP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我的判断：</a:t>
            </a:r>
            <a:r>
              <a:rPr sz="2100" u="sng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</a:t>
            </a:r>
            <a:r>
              <a:rPr sz="21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我的理由：</a:t>
            </a:r>
            <a:r>
              <a:rPr sz="2100" u="sng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6" name="textbox 216"/>
          <p:cNvSpPr/>
          <p:nvPr/>
        </p:nvSpPr>
        <p:spPr>
          <a:xfrm>
            <a:off x="402126" y="2237449"/>
            <a:ext cx="10328909" cy="694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4245"/>
              </a:lnSpc>
            </a:pPr>
            <a:r>
              <a:rPr sz="3500" kern="0" spc="-20" baseline="-10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年化死亡率</a:t>
            </a:r>
            <a:r>
              <a:rPr sz="22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2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</a:t>
            </a:r>
            <a:r>
              <a:rPr sz="3500" kern="0" spc="-30" baseline="350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000</a:t>
            </a:r>
            <a:r>
              <a:rPr sz="2200" kern="0" spc="3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500" kern="0" spc="-30" baseline="350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sz="22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3500" kern="0" spc="-30" baseline="-10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死亡</a:t>
            </a:r>
            <a:r>
              <a:rPr sz="3500" b="1" kern="0" spc="-30" baseline="-100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</a:t>
            </a:r>
            <a:r>
              <a:rPr sz="3500" kern="0" spc="-30" baseline="-10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有多高？</a:t>
            </a:r>
            <a:endParaRPr sz="3500" baseline="-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8" name="textbox 218"/>
          <p:cNvSpPr/>
          <p:nvPr/>
        </p:nvSpPr>
        <p:spPr>
          <a:xfrm>
            <a:off x="6896790" y="2618246"/>
            <a:ext cx="314959" cy="315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2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0" name="textbox 220"/>
          <p:cNvSpPr/>
          <p:nvPr/>
        </p:nvSpPr>
        <p:spPr>
          <a:xfrm>
            <a:off x="6886782" y="2237449"/>
            <a:ext cx="166370" cy="402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970"/>
              </a:lnSpc>
            </a:pPr>
            <a:r>
              <a:rPr sz="2000" kern="0" spc="-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2" name="picture 2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596789" y="2391202"/>
            <a:ext cx="348619" cy="520682"/>
          </a:xfrm>
          <a:prstGeom prst="rect">
            <a:avLst/>
          </a:prstGeom>
        </p:spPr>
      </p:pic>
      <p:sp>
        <p:nvSpPr>
          <p:cNvPr id="224" name="textbox 224"/>
          <p:cNvSpPr/>
          <p:nvPr/>
        </p:nvSpPr>
        <p:spPr>
          <a:xfrm>
            <a:off x="6026522" y="2620582"/>
            <a:ext cx="601344" cy="3073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4000"/>
              </a:lnSpc>
            </a:pPr>
            <a:r>
              <a:rPr sz="22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军队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6" name="textbox 226"/>
          <p:cNvSpPr/>
          <p:nvPr/>
        </p:nvSpPr>
        <p:spPr>
          <a:xfrm>
            <a:off x="6016513" y="2237449"/>
            <a:ext cx="635000" cy="402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12000"/>
              </a:lnSpc>
            </a:pPr>
            <a:r>
              <a:rPr sz="2200" kern="0" spc="-1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sz="2200" kern="0" spc="2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kern="0" spc="-1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8" name="picture 2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625040" y="2303884"/>
            <a:ext cx="296386" cy="556602"/>
          </a:xfrm>
          <a:prstGeom prst="rect">
            <a:avLst/>
          </a:prstGeom>
        </p:spPr>
      </p:pic>
      <p:sp>
        <p:nvSpPr>
          <p:cNvPr id="230" name="textbox 230"/>
          <p:cNvSpPr/>
          <p:nvPr/>
        </p:nvSpPr>
        <p:spPr>
          <a:xfrm>
            <a:off x="4465442" y="2616786"/>
            <a:ext cx="1188719" cy="3149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2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死亡人数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2" name="textbox 232"/>
          <p:cNvSpPr/>
          <p:nvPr/>
        </p:nvSpPr>
        <p:spPr>
          <a:xfrm>
            <a:off x="4455435" y="2291184"/>
            <a:ext cx="1188085" cy="3136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2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年化死亡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34" name="picture 2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3028950"/>
            <a:ext cx="47625" cy="2085974"/>
          </a:xfrm>
          <a:prstGeom prst="rect">
            <a:avLst/>
          </a:prstGeom>
        </p:spPr>
      </p:pic>
      <p:sp>
        <p:nvSpPr>
          <p:cNvPr id="236" name="textbox 236"/>
          <p:cNvSpPr/>
          <p:nvPr/>
        </p:nvSpPr>
        <p:spPr>
          <a:xfrm>
            <a:off x="371475" y="3028949"/>
            <a:ext cx="12153900" cy="447675"/>
          </a:xfrm>
          <a:prstGeom prst="rect">
            <a:avLst/>
          </a:prstGeom>
          <a:solidFill>
            <a:srgbClr val="FFD166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7020" algn="l" rtl="0" eaLnBrk="0">
              <a:lnSpc>
                <a:spcPct val="91000"/>
              </a:lnSpc>
              <a:spcBef>
                <a:spcPts val="0"/>
              </a:spcBef>
            </a:pPr>
            <a:r>
              <a:rPr sz="1900" b="1" kern="0" spc="-1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【先想一想】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8" name="rect 238"/>
          <p:cNvSpPr/>
          <p:nvPr/>
        </p:nvSpPr>
        <p:spPr>
          <a:xfrm>
            <a:off x="333375" y="190500"/>
            <a:ext cx="12192000" cy="390524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0" name="rect 240"/>
          <p:cNvSpPr/>
          <p:nvPr/>
        </p:nvSpPr>
        <p:spPr>
          <a:xfrm>
            <a:off x="7524750" y="209549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2" name="textbox 242"/>
          <p:cNvSpPr/>
          <p:nvPr/>
        </p:nvSpPr>
        <p:spPr>
          <a:xfrm>
            <a:off x="7593769" y="245045"/>
            <a:ext cx="4864734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4" name="picture 2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3375" y="571499"/>
            <a:ext cx="12192000" cy="9525"/>
          </a:xfrm>
          <a:prstGeom prst="rect">
            <a:avLst/>
          </a:prstGeom>
        </p:spPr>
      </p:pic>
      <p:sp>
        <p:nvSpPr>
          <p:cNvPr id="246" name="textbox 246"/>
          <p:cNvSpPr/>
          <p:nvPr/>
        </p:nvSpPr>
        <p:spPr>
          <a:xfrm>
            <a:off x="12579152" y="6947979"/>
            <a:ext cx="149860" cy="138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-5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11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rect 248"/>
          <p:cNvSpPr/>
          <p:nvPr/>
        </p:nvSpPr>
        <p:spPr>
          <a:xfrm>
            <a:off x="0" y="0"/>
            <a:ext cx="12858750" cy="7219949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0" name="rect 250"/>
          <p:cNvSpPr/>
          <p:nvPr/>
        </p:nvSpPr>
        <p:spPr>
          <a:xfrm>
            <a:off x="352425" y="704849"/>
            <a:ext cx="12172950" cy="3162300"/>
          </a:xfrm>
          <a:prstGeom prst="rect">
            <a:avLst/>
          </a:prstGeom>
          <a:solidFill>
            <a:srgbClr val="67D6B4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2" name="textbox 252"/>
          <p:cNvSpPr/>
          <p:nvPr/>
        </p:nvSpPr>
        <p:spPr>
          <a:xfrm>
            <a:off x="498934" y="1238655"/>
            <a:ext cx="11695430" cy="2458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5560" algn="l" rtl="0" eaLnBrk="0">
              <a:lnSpc>
                <a:spcPts val="2770"/>
              </a:lnSpc>
            </a:pPr>
            <a:r>
              <a:rPr sz="2100" b="1" kern="0" spc="-10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比较”负担”用死亡人数</a:t>
            </a:r>
            <a:r>
              <a:rPr sz="2100" b="1" kern="0" spc="-1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875" indent="162560" algn="l" rtl="0" eaLnBrk="0">
              <a:lnSpc>
                <a:spcPct val="98000"/>
              </a:lnSpc>
              <a:spcBef>
                <a:spcPts val="1175"/>
              </a:spcBef>
            </a:pP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“负担”问的是”死了多少人”，死亡人数含义直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观，直接相加就能得到</a:t>
            </a:r>
            <a:r>
              <a:rPr sz="2100" kern="0" spc="2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个月的累计规模。它不</a:t>
            </a:r>
            <a:r>
              <a:rPr sz="2100" kern="0" spc="-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需要理解分母。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765" algn="l" rtl="0" eaLnBrk="0">
              <a:lnSpc>
                <a:spcPts val="2770"/>
              </a:lnSpc>
              <a:spcBef>
                <a:spcPts val="1395"/>
              </a:spcBef>
            </a:pPr>
            <a:r>
              <a:rPr sz="2100" b="1" kern="0" spc="-9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比较”风险”用年化死亡率。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0000"/>
              </a:lnSpc>
            </a:pP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305" indent="-14605" algn="l" rtl="0" eaLnBrk="0">
              <a:lnSpc>
                <a:spcPct val="90000"/>
              </a:lnSpc>
            </a:pP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不同月份的军队人数不同。年化死亡率把分母（军队人数）考虑进来，表示”每千人年”的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死亡风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险，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跨月份、跨阶段才可比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。缺点是概念需要解</a:t>
            </a:r>
            <a:r>
              <a:rPr sz="21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释，单位（每千人年）必须讲清楚。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54" name="table 254"/>
          <p:cNvGraphicFramePr>
            <a:graphicFrameLocks noGrp="1"/>
          </p:cNvGraphicFramePr>
          <p:nvPr/>
        </p:nvGraphicFramePr>
        <p:xfrm>
          <a:off x="333375" y="4428543"/>
          <a:ext cx="12191365" cy="1113154"/>
        </p:xfrm>
        <a:graphic>
          <a:graphicData uri="http://schemas.openxmlformats.org/drawingml/2006/table">
            <a:tbl>
              <a:tblPr/>
              <a:tblGrid>
                <a:gridCol w="1969770"/>
                <a:gridCol w="3026410"/>
                <a:gridCol w="7195184"/>
              </a:tblGrid>
              <a:tr h="3435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375" algn="l" rtl="0" eaLnBrk="0">
                        <a:lnSpc>
                          <a:spcPct val="87000"/>
                        </a:lnSpc>
                      </a:pPr>
                      <a:r>
                        <a:rPr sz="2200" b="1" kern="0" spc="7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71500" algn="l" rtl="0" eaLnBrk="0">
                        <a:lnSpc>
                          <a:spcPct val="87000"/>
                        </a:lnSpc>
                      </a:pPr>
                      <a:r>
                        <a:rPr sz="2200" b="1" kern="0" spc="9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使用的指标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23900" algn="l" rtl="0" eaLnBrk="0">
                        <a:lnSpc>
                          <a:spcPct val="87000"/>
                        </a:lnSpc>
                      </a:pPr>
                      <a:r>
                        <a:rPr sz="2200" b="1" kern="0" spc="6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回答的问题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375" algn="l" rtl="0" eaLnBrk="0">
                        <a:lnSpc>
                          <a:spcPts val="2970"/>
                        </a:lnSpc>
                      </a:pP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</a:t>
                      </a:r>
                      <a:r>
                        <a:rPr sz="2200" kern="0" spc="2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71500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b="1" kern="0" spc="9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累计死亡人数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11200" algn="l" rtl="0" eaLnBrk="0">
                        <a:lnSpc>
                          <a:spcPct val="8700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死亡负担主要由哪类原因造成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79375" algn="l" rtl="0" eaLnBrk="0">
                        <a:lnSpc>
                          <a:spcPts val="2900"/>
                        </a:lnSpc>
                      </a:pP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</a:t>
                      </a:r>
                      <a:r>
                        <a:rPr sz="2200" kern="0" spc="1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2—4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7277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200" b="1" kern="0" spc="8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年化死亡率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11200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死亡风险有多高、</a:t>
                      </a:r>
                      <a:r>
                        <a:rPr sz="2200" kern="0" spc="-4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如何变化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256" name="picture 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704850"/>
            <a:ext cx="47625" cy="3162299"/>
          </a:xfrm>
          <a:prstGeom prst="rect">
            <a:avLst/>
          </a:prstGeom>
        </p:spPr>
      </p:pic>
      <p:sp>
        <p:nvSpPr>
          <p:cNvPr id="258" name="textbox 258"/>
          <p:cNvSpPr/>
          <p:nvPr/>
        </p:nvSpPr>
        <p:spPr>
          <a:xfrm>
            <a:off x="371475" y="704849"/>
            <a:ext cx="12153900" cy="447675"/>
          </a:xfrm>
          <a:prstGeom prst="rect">
            <a:avLst/>
          </a:prstGeom>
          <a:solidFill>
            <a:srgbClr val="67D6B4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7020" algn="l" rtl="0" eaLnBrk="0">
              <a:lnSpc>
                <a:spcPct val="91000"/>
              </a:lnSpc>
            </a:pPr>
            <a:r>
              <a:rPr sz="1900" b="1" kern="0" spc="-1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【参考答案】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0" name="rect 260"/>
          <p:cNvSpPr/>
          <p:nvPr/>
        </p:nvSpPr>
        <p:spPr>
          <a:xfrm>
            <a:off x="333375" y="190500"/>
            <a:ext cx="12192000" cy="390524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2" name="rect 262"/>
          <p:cNvSpPr/>
          <p:nvPr/>
        </p:nvSpPr>
        <p:spPr>
          <a:xfrm>
            <a:off x="7524750" y="209549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4" name="textbox 264"/>
          <p:cNvSpPr/>
          <p:nvPr/>
        </p:nvSpPr>
        <p:spPr>
          <a:xfrm>
            <a:off x="7593769" y="245045"/>
            <a:ext cx="4864734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6" name="textbox 266"/>
          <p:cNvSpPr/>
          <p:nvPr/>
        </p:nvSpPr>
        <p:spPr>
          <a:xfrm>
            <a:off x="325957" y="3955163"/>
            <a:ext cx="2597150" cy="358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</a:pPr>
            <a:r>
              <a:rPr sz="2500" kern="0" spc="-1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本项目据此分工：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8" name="picture 2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619124"/>
            <a:ext cx="12192000" cy="19050"/>
          </a:xfrm>
          <a:prstGeom prst="rect">
            <a:avLst/>
          </a:prstGeom>
        </p:spPr>
      </p:pic>
      <p:pic>
        <p:nvPicPr>
          <p:cNvPr id="270" name="picture 2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571499"/>
            <a:ext cx="12192000" cy="9525"/>
          </a:xfrm>
          <a:prstGeom prst="rect">
            <a:avLst/>
          </a:prstGeom>
        </p:spPr>
      </p:pic>
      <p:sp>
        <p:nvSpPr>
          <p:cNvPr id="272" name="textbox 272"/>
          <p:cNvSpPr/>
          <p:nvPr/>
        </p:nvSpPr>
        <p:spPr>
          <a:xfrm>
            <a:off x="12569329" y="6947979"/>
            <a:ext cx="159385" cy="138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-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rect 274"/>
          <p:cNvSpPr/>
          <p:nvPr/>
        </p:nvSpPr>
        <p:spPr>
          <a:xfrm>
            <a:off x="0" y="0"/>
            <a:ext cx="12858750" cy="7219949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276" name="table 276"/>
          <p:cNvGraphicFramePr>
            <a:graphicFrameLocks noGrp="1"/>
          </p:cNvGraphicFramePr>
          <p:nvPr/>
        </p:nvGraphicFramePr>
        <p:xfrm>
          <a:off x="333375" y="1523999"/>
          <a:ext cx="12192000" cy="3409950"/>
        </p:xfrm>
        <a:graphic>
          <a:graphicData uri="http://schemas.openxmlformats.org/drawingml/2006/table">
            <a:tbl>
              <a:tblPr>
                <a:solidFill>
                  <a:srgbClr val="24292E"/>
                </a:solidFill>
              </a:tblPr>
              <a:tblGrid>
                <a:gridCol w="12192000"/>
              </a:tblGrid>
              <a:tr h="3397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" algn="l" rtl="0" eaLnBrk="0">
                        <a:lnSpc>
                          <a:spcPts val="1840"/>
                        </a:lnSpc>
                        <a:spcBef>
                          <a:spcPts val="5"/>
                        </a:spcBef>
                        <a:tabLst>
                          <a:tab pos="26289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4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library</a:t>
                      </a:r>
                      <a:r>
                        <a:rPr sz="1400" kern="0" spc="4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tidyverse</a:t>
                      </a:r>
                      <a:r>
                        <a:rPr sz="1400" kern="0" spc="4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55"/>
                        </a:lnSpc>
                        <a:tabLst>
                          <a:tab pos="26352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2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library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HistData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>
                          <a:tab pos="264795" algn="l"/>
                        </a:tabLst>
                      </a:pP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300" kern="0" spc="-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3</a:t>
                      </a:r>
                      <a:r>
                        <a:rPr sz="13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 </a:t>
                      </a:r>
                      <a:endParaRPr sz="13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75"/>
                        </a:lnSpc>
                        <a:spcBef>
                          <a:spcPts val="270"/>
                        </a:spcBef>
                        <a:tabLst>
                          <a:tab pos="25527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4</a:t>
                      </a:r>
                      <a:r>
                        <a:rPr sz="1400" kern="0" spc="5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nightingale</a:t>
                      </a:r>
                      <a:r>
                        <a:rPr sz="1400" kern="0" spc="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5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&lt;-</a:t>
                      </a:r>
                      <a:r>
                        <a:rPr sz="1400" kern="0" spc="5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HistData</a:t>
                      </a:r>
                      <a:r>
                        <a:rPr sz="1400" kern="0" spc="5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::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Nightingale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  <a:tabLst>
                          <a:tab pos="266700" algn="l"/>
                        </a:tabLst>
                      </a:pP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300" kern="0" spc="-6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5</a:t>
                      </a:r>
                      <a:r>
                        <a:rPr sz="13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 </a:t>
                      </a:r>
                      <a:endParaRPr sz="13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40"/>
                        </a:lnSpc>
                        <a:spcBef>
                          <a:spcPts val="345"/>
                        </a:spcBef>
                        <a:tabLst>
                          <a:tab pos="26162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6</a:t>
                      </a:r>
                      <a:r>
                        <a:rPr sz="1400" kern="0" spc="5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nightingale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long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3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&lt;-</a:t>
                      </a:r>
                      <a:r>
                        <a:rPr sz="1400" kern="0" spc="3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nightingale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3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%&gt;%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10"/>
                        </a:lnSpc>
                        <a:tabLst>
                          <a:tab pos="26162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7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mutate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阶段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2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factor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rep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2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2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2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改革前</a:t>
                      </a:r>
                      <a:r>
                        <a:rPr sz="1400" kern="0" spc="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19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改革后</a:t>
                      </a:r>
                      <a:r>
                        <a:rPr sz="1400" kern="0" spc="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),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each</a:t>
                      </a:r>
                      <a:r>
                        <a:rPr sz="1400" kern="0" spc="10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12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),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26162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8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         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levels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改革前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19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改革后</a:t>
                      </a:r>
                      <a:r>
                        <a:rPr sz="1400" kern="0" spc="-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)))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%&gt;%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755"/>
                        </a:lnSpc>
                        <a:tabLst>
                          <a:tab pos="26035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9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rename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Disease</a:t>
                      </a:r>
                      <a:r>
                        <a:rPr sz="1400" kern="0" spc="3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.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count</a:t>
                      </a:r>
                      <a:r>
                        <a:rPr sz="1400" kern="0" spc="3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3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3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Disease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Wounds</a:t>
                      </a:r>
                      <a:r>
                        <a:rPr sz="1400" kern="0" spc="3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.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count</a:t>
                      </a:r>
                      <a:r>
                        <a:rPr sz="1400" kern="0" spc="3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3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4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Wounds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Other</a:t>
                      </a:r>
                      <a:r>
                        <a:rPr sz="1400" kern="0" spc="3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.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count</a:t>
                      </a:r>
                      <a:r>
                        <a:rPr sz="1400" kern="0" spc="1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5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Other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%&gt;%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770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10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pivot_lo</a:t>
                      </a:r>
                      <a:r>
                        <a:rPr sz="1400" kern="0" spc="-1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nger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11</a:t>
                      </a:r>
                      <a:r>
                        <a:rPr sz="1400" kern="0" spc="5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cols</a:t>
                      </a:r>
                      <a:r>
                        <a:rPr sz="1400" kern="0" spc="3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3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3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3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Disease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.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count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Wounds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.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count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Other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.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count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12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      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Disease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.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rate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Wounds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.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rate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Other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.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rate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),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13</a:t>
                      </a:r>
                      <a:r>
                        <a:rPr sz="1400" kern="0" spc="5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names_to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3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死亡原因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19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".value"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),</a:t>
                      </a:r>
                      <a:r>
                        <a:rPr sz="1400" kern="0" spc="1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names_sep</a:t>
                      </a:r>
                      <a:r>
                        <a:rPr sz="1400" kern="0" spc="1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9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\\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."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45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-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14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1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-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</a:tr>
            </a:tbl>
          </a:graphicData>
        </a:graphic>
      </p:graphicFrame>
      <p:sp>
        <p:nvSpPr>
          <p:cNvPr id="278" name="textbox 278"/>
          <p:cNvSpPr/>
          <p:nvPr/>
        </p:nvSpPr>
        <p:spPr>
          <a:xfrm>
            <a:off x="322985" y="725197"/>
            <a:ext cx="11908790" cy="739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原始数据是</a:t>
            </a:r>
            <a:r>
              <a:rPr sz="2500" b="1" kern="0" spc="8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宽表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500" kern="0" spc="-6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一行一个月</a:t>
            </a:r>
            <a:r>
              <a:rPr sz="2500" kern="0" spc="-3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kern="0" spc="-6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三类死因的人数与死亡率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各占一列。</a:t>
            </a:r>
            <a:r>
              <a:rPr sz="2500" kern="0" spc="-6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绘图需要的是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050" algn="l" rtl="0" eaLnBrk="0">
              <a:lnSpc>
                <a:spcPct val="87000"/>
              </a:lnSpc>
              <a:spcBef>
                <a:spcPts val="375"/>
              </a:spcBef>
            </a:pPr>
            <a:r>
              <a:rPr sz="2500" b="1" kern="0" spc="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长表</a:t>
            </a:r>
            <a:r>
              <a:rPr sz="25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500" kern="0" spc="-6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一行</a:t>
            </a:r>
            <a:r>
              <a:rPr sz="2500" kern="0" spc="3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 某月</a:t>
            </a:r>
            <a:r>
              <a:rPr sz="2500" kern="0" spc="4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sz="2500" kern="0" spc="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某类死因。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0" name="textbox 280"/>
          <p:cNvSpPr/>
          <p:nvPr/>
        </p:nvSpPr>
        <p:spPr>
          <a:xfrm>
            <a:off x="2247856" y="127591"/>
            <a:ext cx="192404" cy="488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640"/>
              </a:lnSpc>
            </a:pPr>
            <a:r>
              <a:rPr sz="2700" b="1" kern="0" spc="55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endParaRPr sz="2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82" name="picture 2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190500"/>
            <a:ext cx="12192000" cy="390524"/>
          </a:xfrm>
          <a:prstGeom prst="rect">
            <a:avLst/>
          </a:prstGeom>
        </p:spPr>
      </p:pic>
      <p:sp>
        <p:nvSpPr>
          <p:cNvPr id="284" name="rect 284"/>
          <p:cNvSpPr/>
          <p:nvPr/>
        </p:nvSpPr>
        <p:spPr>
          <a:xfrm>
            <a:off x="7524750" y="209549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6" name="textbox 286"/>
          <p:cNvSpPr/>
          <p:nvPr/>
        </p:nvSpPr>
        <p:spPr>
          <a:xfrm>
            <a:off x="7593769" y="245045"/>
            <a:ext cx="4864734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88" name="picture 2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619124"/>
            <a:ext cx="12192000" cy="19050"/>
          </a:xfrm>
          <a:prstGeom prst="rect">
            <a:avLst/>
          </a:prstGeom>
        </p:spPr>
      </p:pic>
      <p:pic>
        <p:nvPicPr>
          <p:cNvPr id="290" name="picture 29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3375" y="571499"/>
            <a:ext cx="12192000" cy="9525"/>
          </a:xfrm>
          <a:prstGeom prst="rect">
            <a:avLst/>
          </a:prstGeom>
        </p:spPr>
      </p:pic>
      <p:sp>
        <p:nvSpPr>
          <p:cNvPr id="292" name="textbox 292"/>
          <p:cNvSpPr/>
          <p:nvPr/>
        </p:nvSpPr>
        <p:spPr>
          <a:xfrm>
            <a:off x="12569329" y="6906773"/>
            <a:ext cx="15938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-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13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rect 294"/>
          <p:cNvSpPr/>
          <p:nvPr/>
        </p:nvSpPr>
        <p:spPr>
          <a:xfrm>
            <a:off x="0" y="0"/>
            <a:ext cx="12858750" cy="7219949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296" name="table 296"/>
          <p:cNvGraphicFramePr>
            <a:graphicFrameLocks noGrp="1"/>
          </p:cNvGraphicFramePr>
          <p:nvPr/>
        </p:nvGraphicFramePr>
        <p:xfrm>
          <a:off x="333375" y="704849"/>
          <a:ext cx="12192000" cy="2952750"/>
        </p:xfrm>
        <a:graphic>
          <a:graphicData uri="http://schemas.openxmlformats.org/drawingml/2006/table">
            <a:tbl>
              <a:tblPr>
                <a:solidFill>
                  <a:srgbClr val="24292E"/>
                </a:solidFill>
              </a:tblPr>
              <a:tblGrid>
                <a:gridCol w="12192000"/>
              </a:tblGrid>
              <a:tr h="2940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" algn="l" rtl="0" eaLnBrk="0">
                        <a:lnSpc>
                          <a:spcPts val="1840"/>
                        </a:lnSpc>
                        <a:spcBef>
                          <a:spcPts val="5"/>
                        </a:spcBef>
                        <a:tabLst>
                          <a:tab pos="26289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</a:t>
                      </a:r>
                      <a:r>
                        <a:rPr sz="1400" kern="0" spc="54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nightingale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long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3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&lt;-</a:t>
                      </a:r>
                      <a:r>
                        <a:rPr sz="1400" kern="0" spc="3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nightingale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long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3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%&gt;%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50"/>
                        </a:lnSpc>
                        <a:tabLst>
                          <a:tab pos="26352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2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rename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日期</a:t>
                      </a:r>
                      <a:r>
                        <a:rPr sz="1400" kern="0" spc="1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Date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年份</a:t>
                      </a:r>
                      <a:r>
                        <a:rPr sz="1400" kern="0" spc="1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Year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9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军队人数</a:t>
                      </a:r>
                      <a:r>
                        <a:rPr sz="1400" kern="0" spc="1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Army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710"/>
                        </a:lnSpc>
                        <a:spcBef>
                          <a:spcPts val="45"/>
                        </a:spcBef>
                        <a:tabLst>
                          <a:tab pos="2647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3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  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死亡人数</a:t>
                      </a:r>
                      <a:r>
                        <a:rPr sz="1400" kern="0" spc="1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2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count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死亡率</a:t>
                      </a:r>
                      <a:r>
                        <a:rPr sz="1400" kern="0" spc="1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5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rate)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%&gt;%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755"/>
                        </a:lnSpc>
                        <a:tabLst>
                          <a:tab pos="25527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4</a:t>
                      </a:r>
                      <a:r>
                        <a:rPr sz="1400" kern="0" spc="56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-1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mutate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770"/>
                        </a:lnSpc>
                        <a:tabLst>
                          <a:tab pos="26670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5</a:t>
                      </a:r>
                      <a:r>
                        <a:rPr sz="1400" kern="0" spc="5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月份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2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factor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as</a:t>
                      </a:r>
                      <a:r>
                        <a:rPr sz="1400" kern="0" spc="2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.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integer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format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日期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19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"%m"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)),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26162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6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         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levels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4:12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1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1</a:t>
                      </a:r>
                      <a:r>
                        <a:rPr sz="1400" kern="0" spc="-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:3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),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45"/>
                        </a:lnSpc>
                        <a:tabLst>
                          <a:tab pos="26162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7</a:t>
                      </a:r>
                      <a:r>
                        <a:rPr sz="1400" kern="0" spc="5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         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labels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paste0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4:12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1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1:3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),</a:t>
                      </a:r>
                      <a:r>
                        <a:rPr sz="1400" kern="0" spc="2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月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)),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705"/>
                        </a:lnSpc>
                        <a:spcBef>
                          <a:spcPts val="45"/>
                        </a:spcBef>
                        <a:tabLst>
                          <a:tab pos="26162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8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死亡原因</a:t>
                      </a:r>
                      <a:r>
                        <a:rPr sz="1400" kern="0" spc="1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factor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26035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9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recode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死亡原因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2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Disease</a:t>
                      </a:r>
                      <a:r>
                        <a:rPr sz="1400" kern="0" spc="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10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20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可预防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疾病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25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10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       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"Wounds"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27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战伤</a:t>
                      </a:r>
                      <a:r>
                        <a:rPr sz="1400" kern="0" spc="-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2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"Other"</a:t>
                      </a:r>
                      <a:r>
                        <a:rPr sz="1400" kern="0" spc="-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9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-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其他原因</a:t>
                      </a:r>
                      <a:r>
                        <a:rPr sz="1400" kern="0" spc="-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),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ct val="97000"/>
                        </a:lnSpc>
                        <a:spcBef>
                          <a:spcPts val="70"/>
                        </a:spcBef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11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levels</a:t>
                      </a:r>
                      <a:r>
                        <a:rPr sz="1400" kern="0" spc="1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可预防疾病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19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战伤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19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其他原因</a:t>
                      </a:r>
                      <a:r>
                        <a:rPr sz="1400" kern="0" spc="-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))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45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-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12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1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-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</a:tr>
            </a:tbl>
          </a:graphicData>
        </a:graphic>
      </p:graphicFrame>
      <p:sp>
        <p:nvSpPr>
          <p:cNvPr id="298" name="rect 298"/>
          <p:cNvSpPr/>
          <p:nvPr/>
        </p:nvSpPr>
        <p:spPr>
          <a:xfrm>
            <a:off x="409575" y="4314824"/>
            <a:ext cx="2352675" cy="3333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0" name="rect 300"/>
          <p:cNvSpPr/>
          <p:nvPr/>
        </p:nvSpPr>
        <p:spPr>
          <a:xfrm>
            <a:off x="409575" y="5029199"/>
            <a:ext cx="942975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333375" y="4095749"/>
          <a:ext cx="12191999" cy="1438275"/>
        </p:xfrm>
        <a:graphic>
          <a:graphicData uri="http://schemas.openxmlformats.org/drawingml/2006/table">
            <a:tbl>
              <a:tblPr/>
              <a:tblGrid>
                <a:gridCol w="4300854"/>
                <a:gridCol w="5195569"/>
                <a:gridCol w="2695575"/>
              </a:tblGrid>
              <a:tr h="7283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6200" algn="l" rtl="0" eaLnBrk="0">
                        <a:lnSpc>
                          <a:spcPts val="2640"/>
                        </a:lnSpc>
                        <a:spcBef>
                          <a:spcPts val="0"/>
                        </a:spcBef>
                        <a:tabLst>
                          <a:tab pos="146685" algn="l"/>
                        </a:tabLst>
                      </a:pP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	</a:t>
                      </a: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nightinga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le_long</a:t>
                      </a:r>
                      <a:endParaRPr sz="20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71980" indent="1905" algn="l" rtl="0" eaLnBrk="0">
                        <a:lnSpc>
                          <a:spcPct val="106000"/>
                        </a:lnSpc>
                      </a:pP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全部长表（72 行</a:t>
                      </a:r>
                      <a:r>
                        <a:rPr sz="2200" kern="0" spc="3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24</a:t>
                      </a:r>
                      <a:r>
                        <a:rPr sz="2200" kern="0" spc="1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务</a:t>
                      </a:r>
                      <a:r>
                        <a:rPr sz="2200" kern="0" spc="1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3、任务 4 使</a:t>
                      </a: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3980" algn="l" rtl="0" eaLnBrk="0">
                        <a:lnSpc>
                          <a:spcPts val="2970"/>
                        </a:lnSpc>
                      </a:pPr>
                      <a:r>
                        <a:rPr sz="22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</a:t>
                      </a:r>
                      <a:r>
                        <a:rPr sz="2200" kern="0" spc="20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 类死因</a:t>
                      </a:r>
                      <a:r>
                        <a:rPr sz="2200" kern="0" spc="-10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r>
                        <a:rPr sz="2200" kern="0" spc="-2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-10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22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99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6200" algn="l" rtl="0" eaLnBrk="0">
                        <a:lnSpc>
                          <a:spcPts val="2640"/>
                        </a:lnSpc>
                        <a:tabLst>
                          <a:tab pos="146685" algn="l"/>
                        </a:tabLst>
                      </a:pP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	</a:t>
                      </a:r>
                      <a:r>
                        <a:rPr sz="2000" kern="0" spc="-3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before</a:t>
                      </a:r>
                      <a:endParaRPr sz="20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75155" indent="5715" algn="l" rtl="0" eaLnBrk="0">
                        <a:lnSpc>
                          <a:spcPct val="97000"/>
                        </a:lnSpc>
                      </a:pPr>
                      <a:r>
                        <a:rPr sz="2200" kern="0" spc="-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改革前</a:t>
                      </a:r>
                      <a:r>
                        <a:rPr sz="2200" kern="0" spc="2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-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 个月</a:t>
                      </a:r>
                      <a:r>
                        <a:rPr sz="2200" kern="0" spc="-30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-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，任</a:t>
                      </a:r>
                      <a:r>
                        <a:rPr sz="2200" kern="0" spc="-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务</a:t>
                      </a:r>
                      <a:r>
                        <a:rPr sz="2200" kern="0" spc="2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-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1、</a:t>
                      </a: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使用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" algn="l" rtl="0" eaLnBrk="0">
                        <a:lnSpc>
                          <a:spcPts val="2950"/>
                        </a:lnSpc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 2</a:t>
                      </a:r>
                      <a:r>
                        <a:rPr sz="2200" kern="0" spc="1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与巩固提升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4" name="rect 304"/>
          <p:cNvSpPr/>
          <p:nvPr/>
        </p:nvSpPr>
        <p:spPr>
          <a:xfrm>
            <a:off x="409575" y="5581649"/>
            <a:ext cx="800100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6" name="textbox 306"/>
          <p:cNvSpPr/>
          <p:nvPr/>
        </p:nvSpPr>
        <p:spPr>
          <a:xfrm>
            <a:off x="322960" y="5523574"/>
            <a:ext cx="11144884" cy="767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3670" algn="l" rtl="0" eaLnBrk="0">
              <a:lnSpc>
                <a:spcPts val="2970"/>
              </a:lnSpc>
            </a:pPr>
            <a:r>
              <a:rPr sz="20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after</a:t>
            </a:r>
            <a:r>
              <a:rPr sz="2000" kern="0" spc="1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                          </a:t>
            </a:r>
            <a:r>
              <a:rPr sz="2200" kern="0" spc="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改革后</a:t>
            </a:r>
            <a:r>
              <a:rPr sz="2200" kern="0" spc="2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kern="0" spc="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个月</a:t>
            </a:r>
            <a:r>
              <a:rPr sz="2200" kern="0" spc="-3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kern="0" spc="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，备用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2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  <a:spcBef>
                <a:spcPts val="5"/>
              </a:spcBef>
            </a:pPr>
            <a:r>
              <a:rPr sz="1900" kern="0" spc="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数据处理代码已全部给出：</a:t>
            </a:r>
            <a:r>
              <a:rPr sz="1900" kern="0" spc="-39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本项目要练的是”从分析目的出发选图、</a:t>
            </a:r>
            <a:r>
              <a:rPr sz="1900" kern="0" spc="-4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画图、</a:t>
            </a:r>
            <a:r>
              <a:rPr sz="1900" kern="0" spc="-43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读图”</a:t>
            </a:r>
            <a:r>
              <a:rPr sz="1900" kern="0" spc="-26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，不是数据清洗。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8" name="textbox 308"/>
          <p:cNvSpPr/>
          <p:nvPr/>
        </p:nvSpPr>
        <p:spPr>
          <a:xfrm>
            <a:off x="2321814" y="127591"/>
            <a:ext cx="192404" cy="488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640"/>
              </a:lnSpc>
            </a:pPr>
            <a:r>
              <a:rPr sz="2700" b="1" kern="0" spc="55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endParaRPr sz="2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10" name="picture 3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190500"/>
            <a:ext cx="12192000" cy="390524"/>
          </a:xfrm>
          <a:prstGeom prst="rect">
            <a:avLst/>
          </a:prstGeom>
        </p:spPr>
      </p:pic>
      <p:sp>
        <p:nvSpPr>
          <p:cNvPr id="312" name="textbox 312"/>
          <p:cNvSpPr/>
          <p:nvPr/>
        </p:nvSpPr>
        <p:spPr>
          <a:xfrm>
            <a:off x="398913" y="3748801"/>
            <a:ext cx="8163559" cy="319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200" b="1" kern="0" spc="4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数据框                                                            在项目</a:t>
            </a:r>
            <a:r>
              <a:rPr sz="2200" b="1" kern="0" spc="3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中的作用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4" name="rect 314"/>
          <p:cNvSpPr/>
          <p:nvPr/>
        </p:nvSpPr>
        <p:spPr>
          <a:xfrm>
            <a:off x="7524750" y="209549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16" name="textbox 316"/>
          <p:cNvSpPr/>
          <p:nvPr/>
        </p:nvSpPr>
        <p:spPr>
          <a:xfrm>
            <a:off x="7593769" y="245045"/>
            <a:ext cx="4864734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8" name="picture 3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571499"/>
            <a:ext cx="12192000" cy="66675"/>
          </a:xfrm>
          <a:prstGeom prst="rect">
            <a:avLst/>
          </a:prstGeom>
        </p:spPr>
      </p:pic>
      <p:sp>
        <p:nvSpPr>
          <p:cNvPr id="320" name="textbox 320"/>
          <p:cNvSpPr/>
          <p:nvPr/>
        </p:nvSpPr>
        <p:spPr>
          <a:xfrm>
            <a:off x="12569329" y="6947979"/>
            <a:ext cx="159385" cy="138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-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14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rect 322"/>
          <p:cNvSpPr/>
          <p:nvPr/>
        </p:nvSpPr>
        <p:spPr>
          <a:xfrm>
            <a:off x="0" y="0"/>
            <a:ext cx="12858750" cy="7219949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4" name="rect 324"/>
          <p:cNvSpPr/>
          <p:nvPr/>
        </p:nvSpPr>
        <p:spPr>
          <a:xfrm>
            <a:off x="9829800" y="2409824"/>
            <a:ext cx="2181225" cy="3714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6" name="rect 326"/>
          <p:cNvSpPr/>
          <p:nvPr/>
        </p:nvSpPr>
        <p:spPr>
          <a:xfrm>
            <a:off x="4048124" y="2409824"/>
            <a:ext cx="1704975" cy="3714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8" name="rect 328"/>
          <p:cNvSpPr/>
          <p:nvPr/>
        </p:nvSpPr>
        <p:spPr>
          <a:xfrm>
            <a:off x="666749" y="2800349"/>
            <a:ext cx="2333625" cy="3619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0" name="rect 330"/>
          <p:cNvSpPr/>
          <p:nvPr/>
        </p:nvSpPr>
        <p:spPr>
          <a:xfrm>
            <a:off x="2809874" y="2409824"/>
            <a:ext cx="904875" cy="3714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2" name="rect 332"/>
          <p:cNvSpPr/>
          <p:nvPr/>
        </p:nvSpPr>
        <p:spPr>
          <a:xfrm>
            <a:off x="7477125" y="2409824"/>
            <a:ext cx="2028825" cy="3714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4" name="rect 334"/>
          <p:cNvSpPr/>
          <p:nvPr/>
        </p:nvSpPr>
        <p:spPr>
          <a:xfrm>
            <a:off x="1095374" y="2409824"/>
            <a:ext cx="1381125" cy="3714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6" name="rect 336"/>
          <p:cNvSpPr/>
          <p:nvPr/>
        </p:nvSpPr>
        <p:spPr>
          <a:xfrm>
            <a:off x="6086475" y="2409824"/>
            <a:ext cx="1066800" cy="3714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8" name="textbox 338"/>
          <p:cNvSpPr/>
          <p:nvPr/>
        </p:nvSpPr>
        <p:spPr>
          <a:xfrm>
            <a:off x="327277" y="723877"/>
            <a:ext cx="11960225" cy="39833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5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完成本项目后</a:t>
            </a:r>
            <a:r>
              <a:rPr sz="2500" kern="0" spc="-3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kern="0" spc="-6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我能够：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4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115" algn="l" rtl="0" eaLnBrk="0">
              <a:lnSpc>
                <a:spcPct val="86000"/>
              </a:lnSpc>
              <a:spcBef>
                <a:spcPts val="760"/>
              </a:spcBef>
              <a:tabLst>
                <a:tab pos="339090" algn="l"/>
              </a:tabLst>
            </a:pP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从真实问题中提取</a:t>
            </a:r>
            <a:r>
              <a:rPr sz="2500" b="1" kern="0" spc="8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分析目的</a:t>
            </a:r>
            <a:r>
              <a:rPr sz="2500" b="1" kern="0" spc="-3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kern="0" spc="-6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并确定需要比较的变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量与指标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8115" algn="l" rtl="0" eaLnBrk="0">
              <a:lnSpc>
                <a:spcPts val="4280"/>
              </a:lnSpc>
              <a:tabLst>
                <a:tab pos="340995" algn="l"/>
              </a:tabLst>
            </a:pP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建立「</a:t>
            </a:r>
            <a:r>
              <a:rPr sz="2500" b="1" kern="0" spc="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 → 视觉通道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」</a:t>
            </a:r>
            <a:r>
              <a:rPr sz="2500" kern="0" spc="-4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的映射关系</a:t>
            </a:r>
            <a:r>
              <a:rPr sz="2500" kern="0" spc="-3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kern="0" spc="-6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独立完成证据图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8115" algn="l" rtl="0" eaLnBrk="0">
              <a:lnSpc>
                <a:spcPts val="3025"/>
              </a:lnSpc>
              <a:spcBef>
                <a:spcPts val="1030"/>
              </a:spcBef>
              <a:tabLst>
                <a:tab pos="342900" algn="l"/>
              </a:tabLst>
            </a:pP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5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sz="2500" kern="0" spc="5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kern="0" spc="-1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ggplot()</a:t>
            </a:r>
            <a:r>
              <a:rPr sz="2200" kern="0" spc="-60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5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 </a:t>
            </a:r>
            <a:r>
              <a:rPr sz="2200" kern="0" spc="-1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aes()</a:t>
            </a:r>
            <a:r>
              <a:rPr sz="2200" kern="0" spc="-59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5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 </a:t>
            </a:r>
            <a:r>
              <a:rPr sz="2200" kern="0" spc="-1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geom_col()</a:t>
            </a:r>
            <a:r>
              <a:rPr sz="2200" kern="0" spc="-59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5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 </a:t>
            </a:r>
            <a:r>
              <a:rPr sz="2200" kern="0" spc="-1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labs()</a:t>
            </a:r>
            <a:r>
              <a:rPr sz="2200" kern="0" spc="-60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5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2500" kern="0" spc="-2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kern="0" spc="-1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facet_wrap()</a:t>
            </a:r>
            <a:r>
              <a:rPr sz="2200" kern="0" spc="-60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5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25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kern="0" spc="-2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coord_polar()</a:t>
            </a:r>
            <a:r>
              <a:rPr sz="25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19100" algn="l" rtl="0" eaLnBrk="0">
              <a:lnSpc>
                <a:spcPts val="3135"/>
              </a:lnSpc>
              <a:spcBef>
                <a:spcPts val="50"/>
              </a:spcBef>
            </a:pP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scale</a:t>
            </a:r>
            <a:r>
              <a:rPr sz="2200" kern="0" spc="8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_y_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sqrt</a:t>
            </a:r>
            <a:r>
              <a:rPr sz="2200" kern="0" spc="8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()</a:t>
            </a:r>
            <a:r>
              <a:rPr sz="2200" kern="0" spc="8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组合出所需图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8115" algn="l" rtl="0" eaLnBrk="0">
              <a:lnSpc>
                <a:spcPts val="3355"/>
              </a:lnSpc>
              <a:spcBef>
                <a:spcPts val="505"/>
              </a:spcBef>
              <a:tabLst>
                <a:tab pos="366395" algn="l"/>
              </a:tabLst>
            </a:pP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区分「</a:t>
            </a:r>
            <a:r>
              <a:rPr sz="2500" b="1" kern="0" spc="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变量映射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」</a:t>
            </a:r>
            <a:r>
              <a:rPr sz="2500" kern="0" spc="-6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</a:t>
            </a:r>
            <a:r>
              <a:rPr sz="2500" b="1" kern="0" spc="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属性设定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」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8115" algn="l" rtl="0" eaLnBrk="0">
              <a:lnSpc>
                <a:spcPts val="3355"/>
              </a:lnSpc>
              <a:spcBef>
                <a:spcPts val="695"/>
              </a:spcBef>
              <a:tabLst>
                <a:tab pos="339725" algn="l"/>
              </a:tabLst>
            </a:pP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按「</a:t>
            </a:r>
            <a:r>
              <a:rPr sz="2500" b="1" kern="0" spc="8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结论—证据—建议—局限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」</a:t>
            </a:r>
            <a:r>
              <a:rPr sz="2500" kern="0" spc="-6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解读图表</a:t>
            </a:r>
            <a:r>
              <a:rPr sz="2500" kern="0" spc="-3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kern="0" spc="-6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并说明结论的边界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8115" algn="l" rtl="0" eaLnBrk="0">
              <a:lnSpc>
                <a:spcPts val="3975"/>
              </a:lnSpc>
              <a:tabLst>
                <a:tab pos="339725" algn="l"/>
              </a:tabLst>
            </a:pP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5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 </a:t>
            </a: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25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辅助环境中保持对数据、</a:t>
            </a:r>
            <a:r>
              <a:rPr sz="2500" kern="0" spc="-6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代码和结论的</a:t>
            </a:r>
            <a:r>
              <a:rPr sz="2500" b="1" kern="0" spc="9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主体判断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40" name="picture 3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71475" y="4438649"/>
            <a:ext cx="114300" cy="114300"/>
          </a:xfrm>
          <a:prstGeom prst="rect">
            <a:avLst/>
          </a:prstGeom>
        </p:spPr>
      </p:pic>
      <p:pic>
        <p:nvPicPr>
          <p:cNvPr id="342" name="picture 3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71475" y="3933824"/>
            <a:ext cx="114300" cy="114300"/>
          </a:xfrm>
          <a:prstGeom prst="rect">
            <a:avLst/>
          </a:prstGeom>
        </p:spPr>
      </p:pic>
      <p:pic>
        <p:nvPicPr>
          <p:cNvPr id="344" name="picture 3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71475" y="3419474"/>
            <a:ext cx="114300" cy="114300"/>
          </a:xfrm>
          <a:prstGeom prst="rect">
            <a:avLst/>
          </a:prstGeom>
        </p:spPr>
      </p:pic>
      <p:pic>
        <p:nvPicPr>
          <p:cNvPr id="346" name="picture 3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71475" y="2514599"/>
            <a:ext cx="114300" cy="114300"/>
          </a:xfrm>
          <a:prstGeom prst="rect">
            <a:avLst/>
          </a:prstGeom>
        </p:spPr>
      </p:pic>
      <p:pic>
        <p:nvPicPr>
          <p:cNvPr id="348" name="picture 34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71475" y="2009774"/>
            <a:ext cx="114300" cy="114300"/>
          </a:xfrm>
          <a:prstGeom prst="rect">
            <a:avLst/>
          </a:prstGeom>
        </p:spPr>
      </p:pic>
      <p:pic>
        <p:nvPicPr>
          <p:cNvPr id="350" name="picture 3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71475" y="1504949"/>
            <a:ext cx="114300" cy="114300"/>
          </a:xfrm>
          <a:prstGeom prst="rect">
            <a:avLst/>
          </a:prstGeom>
        </p:spPr>
      </p:pic>
      <p:sp>
        <p:nvSpPr>
          <p:cNvPr id="352" name="rect 352"/>
          <p:cNvSpPr/>
          <p:nvPr/>
        </p:nvSpPr>
        <p:spPr>
          <a:xfrm>
            <a:off x="333375" y="190500"/>
            <a:ext cx="12192000" cy="390524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54" name="rect 354"/>
          <p:cNvSpPr/>
          <p:nvPr/>
        </p:nvSpPr>
        <p:spPr>
          <a:xfrm>
            <a:off x="7524750" y="209549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56" name="textbox 356"/>
          <p:cNvSpPr/>
          <p:nvPr/>
        </p:nvSpPr>
        <p:spPr>
          <a:xfrm>
            <a:off x="7593769" y="245045"/>
            <a:ext cx="4864734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58" name="picture 35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33375" y="619124"/>
            <a:ext cx="12192000" cy="19050"/>
          </a:xfrm>
          <a:prstGeom prst="rect">
            <a:avLst/>
          </a:prstGeom>
        </p:spPr>
      </p:pic>
      <p:pic>
        <p:nvPicPr>
          <p:cNvPr id="360" name="picture 36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33375" y="571499"/>
            <a:ext cx="12192000" cy="9525"/>
          </a:xfrm>
          <a:prstGeom prst="rect">
            <a:avLst/>
          </a:prstGeom>
        </p:spPr>
      </p:pic>
      <p:sp>
        <p:nvSpPr>
          <p:cNvPr id="362" name="textbox 362"/>
          <p:cNvSpPr/>
          <p:nvPr/>
        </p:nvSpPr>
        <p:spPr>
          <a:xfrm>
            <a:off x="12569329" y="6906773"/>
            <a:ext cx="15938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-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15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rect 364"/>
          <p:cNvSpPr/>
          <p:nvPr/>
        </p:nvSpPr>
        <p:spPr>
          <a:xfrm>
            <a:off x="0" y="0"/>
            <a:ext cx="12858750" cy="7219949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6" name="rect 366"/>
          <p:cNvSpPr/>
          <p:nvPr/>
        </p:nvSpPr>
        <p:spPr>
          <a:xfrm>
            <a:off x="352425" y="2409824"/>
            <a:ext cx="12172950" cy="2381250"/>
          </a:xfrm>
          <a:prstGeom prst="rect">
            <a:avLst/>
          </a:prstGeom>
          <a:solidFill>
            <a:srgbClr val="FFD166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68" name="picture 3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2409825"/>
            <a:ext cx="47625" cy="2381249"/>
          </a:xfrm>
          <a:prstGeom prst="rect">
            <a:avLst/>
          </a:prstGeom>
        </p:spPr>
      </p:pic>
      <p:sp>
        <p:nvSpPr>
          <p:cNvPr id="370" name="rect 370"/>
          <p:cNvSpPr/>
          <p:nvPr/>
        </p:nvSpPr>
        <p:spPr>
          <a:xfrm>
            <a:off x="371475" y="2409824"/>
            <a:ext cx="12153900" cy="447675"/>
          </a:xfrm>
          <a:prstGeom prst="rect">
            <a:avLst/>
          </a:prstGeom>
          <a:solidFill>
            <a:srgbClr val="FFD166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2" name="textbox 372"/>
          <p:cNvSpPr/>
          <p:nvPr/>
        </p:nvSpPr>
        <p:spPr>
          <a:xfrm>
            <a:off x="439007" y="1604507"/>
            <a:ext cx="11988165" cy="20370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2200" b="1" kern="0" spc="6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真实问题</a:t>
            </a:r>
            <a:r>
              <a:rPr sz="2200" b="1" kern="0" spc="4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200" b="1" kern="0" spc="6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sz="2200" b="1" kern="0" spc="65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b="1" kern="0" spc="6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sz="2200" b="1" kern="0" spc="58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b="1" u="sng" kern="0" spc="3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sz="2200" b="1" kern="0" spc="1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200" b="1" kern="0" spc="6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sz="2200" b="1" kern="0" spc="65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b="1" kern="0" spc="6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sz="2200" b="1" kern="0" spc="63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b="1" kern="0" spc="6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选择指标</a:t>
            </a:r>
            <a:r>
              <a:rPr sz="2200" b="1" kern="0" spc="1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200" b="1" kern="0" spc="6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sz="2200" b="1" kern="0" spc="64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b="1" kern="0" spc="6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r>
              <a:rPr sz="2200" b="1" kern="0" spc="61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b="1" kern="0" spc="6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建立映射</a:t>
            </a:r>
            <a:r>
              <a:rPr sz="2200" b="1" kern="0" spc="1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200" b="1" kern="0" spc="6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sz="2200" b="1" kern="0" spc="63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b="1" kern="0" spc="6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r>
              <a:rPr sz="2200" b="1" kern="0" spc="59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b="1" u="sng" kern="0" spc="3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sz="2200" b="1" kern="0" spc="1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200" b="1" kern="0" spc="6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sz="2200" b="1" kern="0" spc="65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b="1" kern="0" spc="6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</a:t>
            </a:r>
            <a:r>
              <a:rPr sz="2200" b="1" kern="0" spc="60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b="1" kern="0" spc="6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解读证据</a:t>
            </a:r>
            <a:r>
              <a:rPr sz="2200" b="1" kern="0" spc="1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200" b="1" kern="0" spc="6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379720" algn="l" rtl="0" eaLnBrk="0">
              <a:lnSpc>
                <a:spcPct val="84000"/>
              </a:lnSpc>
              <a:spcBef>
                <a:spcPts val="785"/>
              </a:spcBef>
              <a:tabLst>
                <a:tab pos="6607175" algn="l"/>
              </a:tabLst>
            </a:pPr>
            <a:r>
              <a:rPr sz="2200" b="1" kern="0" spc="3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</a:t>
            </a:r>
            <a:r>
              <a:rPr sz="2200" b="1" kern="0" spc="58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b="1" u="sng" kern="0" spc="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19075" algn="l" rtl="0" eaLnBrk="0">
              <a:lnSpc>
                <a:spcPct val="87000"/>
              </a:lnSpc>
              <a:spcBef>
                <a:spcPts val="1640"/>
              </a:spcBef>
            </a:pPr>
            <a:r>
              <a:rPr sz="2100" b="1" kern="0" spc="-1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【先想一想】补全这条</a:t>
            </a:r>
            <a:r>
              <a:rPr sz="2100" b="1" kern="0" spc="-12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1755" algn="l" rtl="0" eaLnBrk="0">
              <a:lnSpc>
                <a:spcPct val="88000"/>
              </a:lnSpc>
              <a:spcBef>
                <a:spcPts val="1695"/>
              </a:spcBef>
            </a:pP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备选：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认识数据／明确分析目的／构建图形／形成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8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0" algn="l" rtl="0" eaLnBrk="0">
              <a:lnSpc>
                <a:spcPct val="88000"/>
              </a:lnSpc>
            </a:pPr>
            <a:r>
              <a:rPr sz="1900" b="1" kern="0" spc="6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          我认为应填入的环节                   </a:t>
            </a:r>
            <a:r>
              <a:rPr sz="1900" b="1" kern="0" spc="5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这个环节要回答什么问题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4" name="textbox 374"/>
          <p:cNvSpPr/>
          <p:nvPr/>
        </p:nvSpPr>
        <p:spPr>
          <a:xfrm>
            <a:off x="325957" y="724867"/>
            <a:ext cx="11905615" cy="729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575" indent="-16510" algn="l" rtl="0" eaLnBrk="0">
              <a:lnSpc>
                <a:spcPct val="93000"/>
              </a:lnSpc>
            </a:pP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本项目不是”老师讲一个函数、</a:t>
            </a:r>
            <a:r>
              <a:rPr sz="2500" kern="0" spc="-6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你模仿一段代码”</a:t>
            </a:r>
            <a:r>
              <a:rPr sz="2500" kern="0" spc="-3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kern="0" spc="-6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而是围绕一个真实问题不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断追</a:t>
            </a:r>
            <a:r>
              <a:rPr sz="2500" kern="0" spc="-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问：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6" name="rect 376"/>
          <p:cNvSpPr/>
          <p:nvPr/>
        </p:nvSpPr>
        <p:spPr>
          <a:xfrm>
            <a:off x="333375" y="190500"/>
            <a:ext cx="12192000" cy="390524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8" name="textbox 378"/>
          <p:cNvSpPr/>
          <p:nvPr/>
        </p:nvSpPr>
        <p:spPr>
          <a:xfrm>
            <a:off x="572914" y="3741974"/>
            <a:ext cx="6995794" cy="275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  <a:tabLst>
                <a:tab pos="6981825" algn="l"/>
              </a:tabLst>
            </a:pPr>
            <a:r>
              <a:rPr sz="1900" kern="0" spc="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           </a:t>
            </a:r>
            <a:r>
              <a:rPr sz="19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900" u="sng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</a:t>
            </a:r>
            <a:r>
              <a:rPr sz="1900" kern="0" spc="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</a:t>
            </a:r>
            <a:r>
              <a:rPr sz="19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</a:t>
            </a:r>
            <a:r>
              <a:rPr sz="1900" u="sng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0" name="textbox 380"/>
          <p:cNvSpPr/>
          <p:nvPr/>
        </p:nvSpPr>
        <p:spPr>
          <a:xfrm>
            <a:off x="572914" y="4075349"/>
            <a:ext cx="6995794" cy="275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  <a:tabLst>
                <a:tab pos="6981825" algn="l"/>
              </a:tabLst>
            </a:pPr>
            <a:r>
              <a:rPr sz="1900" kern="0" spc="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           </a:t>
            </a:r>
            <a:r>
              <a:rPr sz="19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900" u="sng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</a:t>
            </a:r>
            <a:r>
              <a:rPr sz="1900" kern="0" spc="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</a:t>
            </a:r>
            <a:r>
              <a:rPr sz="19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</a:t>
            </a:r>
            <a:r>
              <a:rPr sz="1900" u="sng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2" name="textbox 382"/>
          <p:cNvSpPr/>
          <p:nvPr/>
        </p:nvSpPr>
        <p:spPr>
          <a:xfrm>
            <a:off x="572914" y="4418249"/>
            <a:ext cx="6995794" cy="275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  <a:tabLst>
                <a:tab pos="6981825" algn="l"/>
              </a:tabLst>
            </a:pPr>
            <a:r>
              <a:rPr sz="1900" kern="0" spc="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            </a:t>
            </a:r>
            <a:r>
              <a:rPr sz="19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900" u="sng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</a:t>
            </a:r>
            <a:r>
              <a:rPr sz="1900" kern="0" spc="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</a:t>
            </a:r>
            <a:r>
              <a:rPr sz="19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</a:t>
            </a:r>
            <a:r>
              <a:rPr sz="1900" u="sng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4" name="rect 384"/>
          <p:cNvSpPr/>
          <p:nvPr/>
        </p:nvSpPr>
        <p:spPr>
          <a:xfrm>
            <a:off x="7524750" y="209549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6" name="textbox 386"/>
          <p:cNvSpPr/>
          <p:nvPr/>
        </p:nvSpPr>
        <p:spPr>
          <a:xfrm>
            <a:off x="7593769" y="245045"/>
            <a:ext cx="4864734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88" name="picture 3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619124"/>
            <a:ext cx="12192000" cy="19050"/>
          </a:xfrm>
          <a:prstGeom prst="rect">
            <a:avLst/>
          </a:prstGeom>
        </p:spPr>
      </p:pic>
      <p:pic>
        <p:nvPicPr>
          <p:cNvPr id="390" name="picture 3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14350" y="3657599"/>
            <a:ext cx="11868150" cy="19050"/>
          </a:xfrm>
          <a:prstGeom prst="rect">
            <a:avLst/>
          </a:prstGeom>
        </p:spPr>
      </p:pic>
      <p:pic>
        <p:nvPicPr>
          <p:cNvPr id="392" name="picture 3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3375" y="571499"/>
            <a:ext cx="12192000" cy="9525"/>
          </a:xfrm>
          <a:prstGeom prst="rect">
            <a:avLst/>
          </a:prstGeom>
        </p:spPr>
      </p:pic>
      <p:pic>
        <p:nvPicPr>
          <p:cNvPr id="394" name="picture 3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14350" y="4010024"/>
            <a:ext cx="11868150" cy="9525"/>
          </a:xfrm>
          <a:prstGeom prst="rect">
            <a:avLst/>
          </a:prstGeom>
        </p:spPr>
      </p:pic>
      <p:pic>
        <p:nvPicPr>
          <p:cNvPr id="396" name="picture 3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14350" y="4343399"/>
            <a:ext cx="11868150" cy="9525"/>
          </a:xfrm>
          <a:prstGeom prst="rect">
            <a:avLst/>
          </a:prstGeom>
        </p:spPr>
      </p:pic>
      <p:sp>
        <p:nvSpPr>
          <p:cNvPr id="398" name="textbox 398"/>
          <p:cNvSpPr/>
          <p:nvPr/>
        </p:nvSpPr>
        <p:spPr>
          <a:xfrm>
            <a:off x="12569329" y="6906773"/>
            <a:ext cx="15938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-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16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rect 400"/>
          <p:cNvSpPr/>
          <p:nvPr/>
        </p:nvSpPr>
        <p:spPr>
          <a:xfrm>
            <a:off x="0" y="0"/>
            <a:ext cx="12858750" cy="7219949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402" name="table 402"/>
          <p:cNvGraphicFramePr>
            <a:graphicFrameLocks noGrp="1"/>
          </p:cNvGraphicFramePr>
          <p:nvPr/>
        </p:nvGraphicFramePr>
        <p:xfrm>
          <a:off x="333375" y="619124"/>
          <a:ext cx="12191999" cy="3295015"/>
        </p:xfrm>
        <a:graphic>
          <a:graphicData uri="http://schemas.openxmlformats.org/drawingml/2006/table">
            <a:tbl>
              <a:tblPr/>
              <a:tblGrid>
                <a:gridCol w="784859"/>
                <a:gridCol w="2762885"/>
                <a:gridCol w="3828414"/>
                <a:gridCol w="4815840"/>
              </a:tblGrid>
              <a:tr h="1343025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6045" algn="l" rtl="0" eaLnBrk="0">
                        <a:lnSpc>
                          <a:spcPct val="92000"/>
                        </a:lnSpc>
                        <a:spcBef>
                          <a:spcPts val="5"/>
                        </a:spcBef>
                      </a:pPr>
                      <a:r>
                        <a:rPr sz="2200" b="1" kern="0" spc="6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真实问题</a:t>
                      </a:r>
                      <a:r>
                        <a:rPr sz="2200" b="1" kern="0" spc="4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2200" b="1" kern="0" spc="6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</a:t>
                      </a:r>
                      <a:r>
                        <a:rPr sz="2200" b="1" kern="0" spc="65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b="1" kern="0" spc="6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①  明确分析目的  →</a:t>
                      </a:r>
                      <a:r>
                        <a:rPr sz="2200" b="1" kern="0" spc="63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b="1" kern="0" spc="6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②</a:t>
                      </a:r>
                      <a:r>
                        <a:rPr sz="2200" b="1" kern="0" spc="64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b="1" kern="0" spc="6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选择指标</a:t>
                      </a:r>
                      <a:r>
                        <a:rPr sz="2200" b="1" kern="0" spc="1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2200" b="1" kern="0" spc="6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</a:t>
                      </a:r>
                      <a:r>
                        <a:rPr sz="2200" b="1" kern="0" spc="63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b="1" kern="0" spc="6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③</a:t>
                      </a:r>
                      <a:r>
                        <a:rPr sz="2200" b="1" kern="0" spc="62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b="1" kern="0" spc="6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建立映射</a:t>
                      </a:r>
                      <a:r>
                        <a:rPr sz="2200" b="1" kern="0" spc="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2200" b="1" kern="0" spc="6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</a:t>
                      </a:r>
                      <a:r>
                        <a:rPr sz="2200" b="1" kern="0" spc="65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b="1" kern="0" spc="6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④</a:t>
                      </a:r>
                      <a:r>
                        <a:rPr sz="2200" b="1" kern="0" spc="61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b="1" kern="0" spc="6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构建图形</a:t>
                      </a:r>
                      <a:r>
                        <a:rPr sz="2200" b="1" kern="0" spc="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2200" b="1" kern="0" spc="6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</a:t>
                      </a:r>
                      <a:r>
                        <a:rPr sz="2200" b="1" kern="0" spc="65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b="1" kern="0" spc="6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⑤</a:t>
                      </a:r>
                      <a:r>
                        <a:rPr sz="2200" b="1" kern="0" spc="61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b="1" kern="0" spc="6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解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4550410" algn="l" rtl="0" eaLnBrk="0">
                        <a:lnSpc>
                          <a:spcPct val="92000"/>
                        </a:lnSpc>
                        <a:spcBef>
                          <a:spcPts val="570"/>
                        </a:spcBef>
                      </a:pPr>
                      <a:r>
                        <a:rPr sz="2200" b="1" kern="0" spc="7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读证据</a:t>
                      </a:r>
                      <a:r>
                        <a:rPr sz="2200" b="1" kern="0" spc="3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2200" b="1" kern="0" spc="7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</a:t>
                      </a:r>
                      <a:r>
                        <a:rPr sz="2200" b="1" kern="0" spc="63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b="1" kern="0" spc="7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⑥</a:t>
                      </a:r>
                      <a:r>
                        <a:rPr sz="2200" b="1" kern="0" spc="61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b="1" kern="0" spc="7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形成建议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375" algn="l" rtl="0" eaLnBrk="0">
                        <a:lnSpc>
                          <a:spcPct val="88000"/>
                        </a:lnSpc>
                      </a:pPr>
                      <a:r>
                        <a:rPr sz="2200" b="1" kern="0" spc="5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位置      应填入的环节              要回答的问题                        </a:t>
                      </a:r>
                      <a:r>
                        <a:rPr sz="2200" b="1" kern="0" spc="4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本项目对应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4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6995" algn="l" rtl="0" eaLnBrk="0">
                        <a:lnSpc>
                          <a:spcPct val="81000"/>
                        </a:lnSpc>
                        <a:spcBef>
                          <a:spcPts val="5"/>
                        </a:spcBef>
                      </a:pPr>
                      <a:r>
                        <a:rPr sz="22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①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259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b="1" kern="0" spc="7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明确分析目的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98805" algn="l" rtl="0" eaLnBrk="0">
                        <a:lnSpc>
                          <a:spcPts val="2965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要回答什么问题？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52195" algn="l" rtl="0" eaLnBrk="0">
                        <a:lnSpc>
                          <a:spcPct val="8700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驱动性问题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6995" algn="l" rtl="0" eaLnBrk="0">
                        <a:lnSpc>
                          <a:spcPct val="81000"/>
                        </a:lnSpc>
                        <a:spcBef>
                          <a:spcPts val="5"/>
                        </a:spcBef>
                      </a:pPr>
                      <a:r>
                        <a:rPr sz="22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②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2799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选择指标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01345" algn="l" rtl="0" eaLnBrk="0">
                        <a:lnSpc>
                          <a:spcPts val="2965"/>
                        </a:lnSpc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用什么数据回答？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54100" algn="l" rtl="0" eaLnBrk="0">
                        <a:lnSpc>
                          <a:spcPts val="2965"/>
                        </a:lnSpc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人数 / 年化死亡率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6995" algn="l" rtl="0" eaLnBrk="0">
                        <a:lnSpc>
                          <a:spcPct val="81000"/>
                        </a:lnSpc>
                      </a:pPr>
                      <a:r>
                        <a:rPr sz="22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③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28625" algn="l" rtl="0" eaLnBrk="0">
                        <a:lnSpc>
                          <a:spcPct val="8800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建立映射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99440" algn="l" rtl="0" eaLnBrk="0">
                        <a:lnSpc>
                          <a:spcPts val="2950"/>
                        </a:lnSpc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变量映射到哪？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6870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映射表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6995" algn="l" rtl="0" eaLnBrk="0">
                        <a:lnSpc>
                          <a:spcPct val="81000"/>
                        </a:lnSpc>
                      </a:pPr>
                      <a:r>
                        <a:rPr sz="22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④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2799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b="1" kern="0" spc="9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构建图形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01345" algn="l" rtl="0" eaLnBrk="0">
                        <a:lnSpc>
                          <a:spcPts val="2950"/>
                        </a:lnSpc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用什么图层画？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63625" algn="l" rtl="0" eaLnBrk="0">
                        <a:lnSpc>
                          <a:spcPts val="2950"/>
                        </a:lnSpc>
                      </a:pPr>
                      <a:r>
                        <a:rPr sz="22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ggplot</a:t>
                      </a:r>
                      <a:r>
                        <a:rPr sz="2200" kern="0" spc="1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 代码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6995" algn="l" rtl="0" eaLnBrk="0">
                        <a:lnSpc>
                          <a:spcPct val="81000"/>
                        </a:lnSpc>
                      </a:pPr>
                      <a:r>
                        <a:rPr sz="22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⑤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2799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解读证据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99440" algn="l" rtl="0" eaLnBrk="0">
                        <a:lnSpc>
                          <a:spcPts val="2950"/>
                        </a:lnSpc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证据在哪里？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68705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图表解读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04" name="rect 404"/>
          <p:cNvSpPr/>
          <p:nvPr/>
        </p:nvSpPr>
        <p:spPr>
          <a:xfrm>
            <a:off x="352425" y="4371974"/>
            <a:ext cx="12172950" cy="1352550"/>
          </a:xfrm>
          <a:prstGeom prst="rect">
            <a:avLst/>
          </a:prstGeom>
          <a:solidFill>
            <a:srgbClr val="67D6B4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6" name="textbox 406"/>
          <p:cNvSpPr/>
          <p:nvPr/>
        </p:nvSpPr>
        <p:spPr>
          <a:xfrm>
            <a:off x="502134" y="4951462"/>
            <a:ext cx="11882119" cy="6045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indent="-4445" algn="l" rtl="0" eaLnBrk="0">
              <a:lnSpc>
                <a:spcPct val="90000"/>
              </a:lnSpc>
              <a:spcBef>
                <a:spcPts val="0"/>
              </a:spcBef>
            </a:pP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每解决一个问题，就形成一项新的项目成果。 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如果你在 ⑤ 发现图形答不出问题，就要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回到 ②③④ 修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改，而不是继续往下做</a:t>
            </a:r>
            <a:r>
              <a:rPr sz="2100" kern="0" spc="-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08" name="picture 4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4371975"/>
            <a:ext cx="47625" cy="1352549"/>
          </a:xfrm>
          <a:prstGeom prst="rect">
            <a:avLst/>
          </a:prstGeom>
        </p:spPr>
      </p:pic>
      <p:sp>
        <p:nvSpPr>
          <p:cNvPr id="410" name="textbox 410"/>
          <p:cNvSpPr/>
          <p:nvPr/>
        </p:nvSpPr>
        <p:spPr>
          <a:xfrm>
            <a:off x="371475" y="4371974"/>
            <a:ext cx="12153900" cy="447675"/>
          </a:xfrm>
          <a:prstGeom prst="rect">
            <a:avLst/>
          </a:prstGeom>
          <a:solidFill>
            <a:srgbClr val="67D6B4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8430" algn="l" rtl="0" eaLnBrk="0">
              <a:lnSpc>
                <a:spcPct val="87000"/>
              </a:lnSpc>
              <a:spcBef>
                <a:spcPts val="5"/>
              </a:spcBef>
            </a:pP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这条链的用法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2" name="rect 412"/>
          <p:cNvSpPr/>
          <p:nvPr/>
        </p:nvSpPr>
        <p:spPr>
          <a:xfrm>
            <a:off x="333375" y="190500"/>
            <a:ext cx="12192000" cy="390524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14" name="textbox 414"/>
          <p:cNvSpPr/>
          <p:nvPr/>
        </p:nvSpPr>
        <p:spPr>
          <a:xfrm>
            <a:off x="407674" y="3894799"/>
            <a:ext cx="10408919" cy="402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970"/>
              </a:lnSpc>
            </a:pPr>
            <a:r>
              <a:rPr sz="22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</a:t>
            </a:r>
            <a:r>
              <a:rPr sz="2200" kern="0" spc="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</a:t>
            </a:r>
            <a:r>
              <a:rPr sz="2200" b="1" kern="0" spc="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形成建议           </a:t>
            </a:r>
            <a:r>
              <a:rPr sz="2200" b="1" kern="0" spc="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sz="22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话能说到什么程度？</a:t>
            </a:r>
            <a:r>
              <a:rPr sz="2200" kern="0" spc="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</a:t>
            </a:r>
            <a:r>
              <a:rPr sz="22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决策建议与局限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6" name="rect 416"/>
          <p:cNvSpPr/>
          <p:nvPr/>
        </p:nvSpPr>
        <p:spPr>
          <a:xfrm>
            <a:off x="7524750" y="209549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18" name="textbox 418"/>
          <p:cNvSpPr/>
          <p:nvPr/>
        </p:nvSpPr>
        <p:spPr>
          <a:xfrm>
            <a:off x="7593769" y="245045"/>
            <a:ext cx="4864734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0" name="picture 4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571499"/>
            <a:ext cx="12192000" cy="9525"/>
          </a:xfrm>
          <a:prstGeom prst="rect">
            <a:avLst/>
          </a:prstGeom>
        </p:spPr>
      </p:pic>
      <p:sp>
        <p:nvSpPr>
          <p:cNvPr id="422" name="textbox 422"/>
          <p:cNvSpPr/>
          <p:nvPr/>
        </p:nvSpPr>
        <p:spPr>
          <a:xfrm>
            <a:off x="12569329" y="6947979"/>
            <a:ext cx="159385" cy="138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-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17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rect 424"/>
          <p:cNvSpPr/>
          <p:nvPr/>
        </p:nvSpPr>
        <p:spPr>
          <a:xfrm>
            <a:off x="0" y="0"/>
            <a:ext cx="12858750" cy="7219949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426" name="table 426"/>
          <p:cNvGraphicFramePr>
            <a:graphicFrameLocks noGrp="1"/>
          </p:cNvGraphicFramePr>
          <p:nvPr/>
        </p:nvGraphicFramePr>
        <p:xfrm>
          <a:off x="333375" y="619124"/>
          <a:ext cx="12191365" cy="5046345"/>
        </p:xfrm>
        <a:graphic>
          <a:graphicData uri="http://schemas.openxmlformats.org/drawingml/2006/table">
            <a:tbl>
              <a:tblPr/>
              <a:tblGrid>
                <a:gridCol w="2184400"/>
                <a:gridCol w="3045460"/>
                <a:gridCol w="3780790"/>
                <a:gridCol w="3180714"/>
              </a:tblGrid>
              <a:tr h="476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b="1" kern="0" spc="7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课时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297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b="1" kern="0" spc="7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758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200" b="1" kern="0" spc="6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当前问题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2415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b="1" kern="0" spc="6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阶段成果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88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7470" algn="l" rtl="0" eaLnBrk="0">
                        <a:lnSpc>
                          <a:spcPct val="8800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第一课时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2975" algn="l" rtl="0" eaLnBrk="0">
                        <a:lnSpc>
                          <a:spcPts val="2970"/>
                        </a:lnSpc>
                      </a:pP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</a:t>
                      </a:r>
                      <a:r>
                        <a:rPr sz="2200" kern="0" spc="2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8215" algn="l" rtl="0" eaLnBrk="0">
                        <a:lnSpc>
                          <a:spcPct val="9600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哪一类死亡原因造成</a:t>
                      </a: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的死亡</a:t>
                      </a:r>
                      <a:r>
                        <a:rPr sz="2200" b="1" kern="0" spc="6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负担</a:t>
                      </a: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最重？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6535" algn="l" rtl="0" eaLnBrk="0">
                        <a:lnSpc>
                          <a:spcPct val="8700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累计死亡人数对比图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747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第一课时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2975" algn="l" rtl="0" eaLnBrk="0">
                        <a:lnSpc>
                          <a:spcPts val="2970"/>
                        </a:lnSpc>
                        <a:spcBef>
                          <a:spcPts val="5"/>
                        </a:spcBef>
                      </a:pP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</a:t>
                      </a:r>
                      <a:r>
                        <a:rPr sz="2200" kern="0" spc="1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5515" indent="1270" algn="l" rtl="0" eaLnBrk="0">
                        <a:lnSpc>
                          <a:spcPct val="9500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高死亡水平是否</a:t>
                      </a:r>
                      <a:r>
                        <a:rPr sz="2200" b="1" kern="0" spc="9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集中</a:t>
                      </a:r>
                      <a:r>
                        <a:rPr sz="2200" b="1" kern="0" spc="7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在个别月份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971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月度堆叠柱形图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7470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第一课时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297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巩固提升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3610" indent="6350" algn="l" rtl="0" eaLnBrk="0">
                        <a:lnSpc>
                          <a:spcPct val="97000"/>
                        </a:lnSpc>
                        <a:spcBef>
                          <a:spcPts val="0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三类死因的月度变化</a:t>
                      </a: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是否一致？怎样改进</a:t>
                      </a: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表达？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2725" indent="6985" algn="l" rtl="0" eaLnBrk="0">
                        <a:lnSpc>
                          <a:spcPct val="99000"/>
                        </a:lnSpc>
                      </a:pPr>
                      <a:r>
                        <a:rPr sz="2200" kern="0" spc="2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★/★★/ ★★★ 三星</a:t>
                      </a:r>
                      <a:r>
                        <a:rPr sz="22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7470" algn="l" rtl="0" eaLnBrk="0">
                        <a:lnSpc>
                          <a:spcPct val="8800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第二课时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2975" algn="l" rtl="0" eaLnBrk="0">
                        <a:lnSpc>
                          <a:spcPts val="2970"/>
                        </a:lnSpc>
                      </a:pP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</a:t>
                      </a:r>
                      <a:r>
                        <a:rPr sz="2200" kern="0" spc="1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5515" indent="3810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卫生改革前后</a:t>
                      </a:r>
                      <a:r>
                        <a:rPr sz="2200" b="1" kern="0" spc="9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发生了</a:t>
                      </a:r>
                      <a:r>
                        <a:rPr sz="2200" b="1" kern="0" spc="7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什么变化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2725" algn="l" rtl="0" eaLnBrk="0">
                        <a:lnSpc>
                          <a:spcPct val="8700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按阶段分面对比图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7470" algn="l" rtl="0" eaLnBrk="0">
                        <a:lnSpc>
                          <a:spcPct val="8800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第二课时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2975" algn="l" rtl="0" eaLnBrk="0">
                        <a:lnSpc>
                          <a:spcPts val="2970"/>
                        </a:lnSpc>
                      </a:pP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 4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5515" algn="l" rtl="0" eaLnBrk="0">
                        <a:lnSpc>
                          <a:spcPct val="96000"/>
                        </a:lnSpc>
                        <a:spcBef>
                          <a:spcPts val="0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玫瑰图适合</a:t>
                      </a:r>
                      <a:r>
                        <a:rPr sz="2200" b="1" kern="0" spc="9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分析</a:t>
                      </a: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还是</a:t>
                      </a:r>
                      <a:r>
                        <a:rPr sz="2200" b="1" kern="0" spc="5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传播</a:t>
                      </a: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2725" algn="l" rtl="0" eaLnBrk="0">
                        <a:lnSpc>
                          <a:spcPct val="8700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玫瑰图与评价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89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7470" algn="l" rtl="0" eaLnBrk="0">
                        <a:lnSpc>
                          <a:spcPct val="8700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项目结论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297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总结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6150" algn="l" rtl="0" eaLnBrk="0">
                        <a:lnSpc>
                          <a:spcPct val="94000"/>
                        </a:lnSpc>
                        <a:spcBef>
                          <a:spcPts val="0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证据支持怎样的行动</a:t>
                      </a: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建议？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399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决策建议与局限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28" name="rect 428"/>
          <p:cNvSpPr/>
          <p:nvPr/>
        </p:nvSpPr>
        <p:spPr>
          <a:xfrm>
            <a:off x="333375" y="190500"/>
            <a:ext cx="12192000" cy="390524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0" name="textbox 430"/>
          <p:cNvSpPr/>
          <p:nvPr/>
        </p:nvSpPr>
        <p:spPr>
          <a:xfrm>
            <a:off x="2929157" y="5835068"/>
            <a:ext cx="7017384" cy="3200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200" b="1" kern="0" spc="9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问题牵引   数据探究</a:t>
            </a:r>
            <a:r>
              <a:rPr sz="2200" b="1" kern="0" spc="15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200" b="1" kern="0" spc="9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图形建</a:t>
            </a:r>
            <a:r>
              <a:rPr sz="2200" b="1" kern="0" spc="8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</a:t>
            </a:r>
            <a:r>
              <a:rPr sz="2200" b="1" kern="0" spc="12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200" b="1" kern="0" spc="8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证据解读</a:t>
            </a:r>
            <a:r>
              <a:rPr sz="2200" b="1" kern="0" spc="12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200" b="1" kern="0" spc="8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决策反思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2" name="rect 432"/>
          <p:cNvSpPr/>
          <p:nvPr/>
        </p:nvSpPr>
        <p:spPr>
          <a:xfrm>
            <a:off x="7524750" y="209549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4" name="textbox 434"/>
          <p:cNvSpPr/>
          <p:nvPr/>
        </p:nvSpPr>
        <p:spPr>
          <a:xfrm>
            <a:off x="7593769" y="245045"/>
            <a:ext cx="4864734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36" name="picture 4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571499"/>
            <a:ext cx="12192000" cy="9525"/>
          </a:xfrm>
          <a:prstGeom prst="rect">
            <a:avLst/>
          </a:prstGeom>
        </p:spPr>
      </p:pic>
      <p:sp>
        <p:nvSpPr>
          <p:cNvPr id="438" name="textbox 438"/>
          <p:cNvSpPr/>
          <p:nvPr/>
        </p:nvSpPr>
        <p:spPr>
          <a:xfrm>
            <a:off x="12569329" y="6906773"/>
            <a:ext cx="15938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-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18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rect 440"/>
          <p:cNvSpPr/>
          <p:nvPr/>
        </p:nvSpPr>
        <p:spPr>
          <a:xfrm>
            <a:off x="0" y="0"/>
            <a:ext cx="12858750" cy="7219949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2" name="rect 442"/>
          <p:cNvSpPr/>
          <p:nvPr/>
        </p:nvSpPr>
        <p:spPr>
          <a:xfrm>
            <a:off x="3514724" y="3905249"/>
            <a:ext cx="1638300" cy="285750"/>
          </a:xfrm>
          <a:prstGeom prst="rect">
            <a:avLst/>
          </a:prstGeom>
          <a:solidFill>
            <a:srgbClr val="FFD166">
              <a:alpha val="95294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4" name="rect 444"/>
          <p:cNvSpPr/>
          <p:nvPr/>
        </p:nvSpPr>
        <p:spPr>
          <a:xfrm>
            <a:off x="1981199" y="3905249"/>
            <a:ext cx="1438275" cy="285750"/>
          </a:xfrm>
          <a:prstGeom prst="rect">
            <a:avLst/>
          </a:prstGeom>
          <a:solidFill>
            <a:srgbClr val="FFD166">
              <a:alpha val="95294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6" name="rect 446"/>
          <p:cNvSpPr/>
          <p:nvPr/>
        </p:nvSpPr>
        <p:spPr>
          <a:xfrm>
            <a:off x="5248275" y="3905249"/>
            <a:ext cx="1828800" cy="285750"/>
          </a:xfrm>
          <a:prstGeom prst="rect">
            <a:avLst/>
          </a:prstGeom>
          <a:solidFill>
            <a:srgbClr val="FFD16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8" name="textbox 448"/>
          <p:cNvSpPr/>
          <p:nvPr/>
        </p:nvSpPr>
        <p:spPr>
          <a:xfrm>
            <a:off x="323976" y="2864727"/>
            <a:ext cx="11905615" cy="1756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" algn="l" rtl="0" eaLnBrk="0">
              <a:lnSpc>
                <a:spcPts val="3355"/>
              </a:lnSpc>
            </a:pPr>
            <a:r>
              <a:rPr sz="2500" kern="0" spc="1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每个任务遵循同一条实践路线（也是课堂子</a:t>
            </a:r>
            <a:r>
              <a:rPr sz="25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导航的四个环节</a:t>
            </a: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sz="2500" kern="0" spc="-6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333750" algn="l" rtl="0" eaLnBrk="0">
              <a:lnSpc>
                <a:spcPct val="88000"/>
              </a:lnSpc>
              <a:spcBef>
                <a:spcPts val="1125"/>
              </a:spcBef>
            </a:pPr>
            <a:r>
              <a:rPr sz="2200" b="1" kern="0" spc="9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分析目的   数据映</a:t>
            </a:r>
            <a:r>
              <a:rPr sz="2200" b="1" kern="0" spc="8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射</a:t>
            </a:r>
            <a:r>
              <a:rPr sz="2200" b="1" kern="0" spc="15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200" b="1" kern="0" spc="8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图形建构</a:t>
            </a:r>
            <a:r>
              <a:rPr sz="2200" b="1" kern="0" spc="16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200" b="1" kern="0" spc="8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图表解读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1035"/>
              </a:spcBef>
            </a:pPr>
            <a:r>
              <a:rPr sz="2500" b="1" kern="0" spc="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分层要求： </a:t>
            </a:r>
            <a:r>
              <a:rPr sz="1800" b="1" kern="0" spc="6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★ 基础必做    ★★</a:t>
            </a:r>
            <a:r>
              <a:rPr sz="1800" b="1" kern="0" spc="5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6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进阶选做     ★★★ 挑战合作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4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580"/>
              </a:lnSpc>
              <a:spcBef>
                <a:spcPts val="5"/>
              </a:spcBef>
            </a:pPr>
            <a:r>
              <a:rPr sz="1900" kern="0" spc="6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节奏提示：</a:t>
            </a:r>
            <a:r>
              <a:rPr sz="1900" kern="0" spc="-4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6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新知探究的「分面」「极坐标与面</a:t>
            </a:r>
            <a:r>
              <a:rPr sz="1900" kern="0" spc="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积编码」</a:t>
            </a:r>
            <a:r>
              <a:rPr sz="1900" kern="0" spc="-4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两节属于第二课时内容</a:t>
            </a:r>
            <a:r>
              <a:rPr sz="1900" kern="0" spc="-26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900" kern="0" spc="-46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可放在第二课时开头回看。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50" name="table 450"/>
          <p:cNvGraphicFramePr>
            <a:graphicFrameLocks noGrp="1"/>
          </p:cNvGraphicFramePr>
          <p:nvPr/>
        </p:nvGraphicFramePr>
        <p:xfrm>
          <a:off x="333375" y="619124"/>
          <a:ext cx="12191365" cy="1514475"/>
        </p:xfrm>
        <a:graphic>
          <a:graphicData uri="http://schemas.openxmlformats.org/drawingml/2006/table">
            <a:tbl>
              <a:tblPr/>
              <a:tblGrid>
                <a:gridCol w="2183129"/>
                <a:gridCol w="3879850"/>
                <a:gridCol w="2957195"/>
                <a:gridCol w="3171189"/>
              </a:tblGrid>
              <a:tr h="476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b="1" kern="0" spc="7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课时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424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b="1" kern="0" spc="9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核心任务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9220" algn="l" rtl="0" eaLnBrk="0">
                        <a:lnSpc>
                          <a:spcPct val="87000"/>
                        </a:lnSpc>
                      </a:pPr>
                      <a:r>
                        <a:rPr sz="2200" b="1" kern="0" spc="9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新知支撑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447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课堂产出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82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6835" algn="l" rtl="0" eaLnBrk="0">
                        <a:lnSpc>
                          <a:spcPct val="87000"/>
                        </a:lnSpc>
                      </a:pPr>
                      <a:r>
                        <a:rPr sz="2200" b="1" kern="0" spc="9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第一课时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4245" algn="l" rtl="0" eaLnBrk="0">
                        <a:lnSpc>
                          <a:spcPct val="99000"/>
                        </a:lnSpc>
                      </a:pP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</a:t>
                      </a:r>
                      <a:r>
                        <a:rPr sz="2200" kern="0" spc="2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1、任务 2、巩固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提升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239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视觉通道、</a:t>
                      </a:r>
                      <a:r>
                        <a:rPr sz="2200" kern="0" spc="-3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图形映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12395" indent="-1270" algn="l" rtl="0" eaLnBrk="0">
                        <a:lnSpc>
                          <a:spcPct val="96000"/>
                        </a:lnSpc>
                        <a:spcBef>
                          <a:spcPts val="20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射、</a:t>
                      </a:r>
                      <a:r>
                        <a:rPr sz="2200" kern="0" spc="-4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ggplot</a:t>
                      </a: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 基本语</a:t>
                      </a: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法、统一配色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5265" algn="l" rtl="0" eaLnBrk="0">
                        <a:lnSpc>
                          <a:spcPct val="88000"/>
                        </a:lnSpc>
                      </a:pP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比较图、</a:t>
                      </a:r>
                      <a:r>
                        <a:rPr sz="2200" kern="0" spc="-4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月度构成图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52" name="rect 452"/>
          <p:cNvSpPr/>
          <p:nvPr/>
        </p:nvSpPr>
        <p:spPr>
          <a:xfrm>
            <a:off x="333375" y="190500"/>
            <a:ext cx="12192000" cy="390524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54" name="textbox 454"/>
          <p:cNvSpPr/>
          <p:nvPr/>
        </p:nvSpPr>
        <p:spPr>
          <a:xfrm>
            <a:off x="397745" y="2275549"/>
            <a:ext cx="5048250" cy="402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970"/>
              </a:lnSpc>
            </a:pPr>
            <a:r>
              <a:rPr sz="2200" b="1" kern="0" spc="8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第二课时</a:t>
            </a:r>
            <a:r>
              <a:rPr sz="2200" b="1" kern="0" spc="2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</a:t>
            </a:r>
            <a:r>
              <a:rPr sz="2200" b="1" kern="0" spc="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2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 3、任务</a:t>
            </a:r>
            <a:r>
              <a:rPr sz="22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6" name="textbox 456"/>
          <p:cNvSpPr/>
          <p:nvPr/>
        </p:nvSpPr>
        <p:spPr>
          <a:xfrm>
            <a:off x="9542913" y="2168235"/>
            <a:ext cx="2651760" cy="637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indent="-1905" algn="l" rtl="0" eaLnBrk="0">
              <a:lnSpc>
                <a:spcPct val="91000"/>
              </a:lnSpc>
            </a:pPr>
            <a:r>
              <a:rPr sz="22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分面对比图、</a:t>
            </a:r>
            <a:r>
              <a:rPr sz="2200" kern="0" spc="-5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玫瑰图</a:t>
            </a:r>
            <a:r>
              <a:rPr sz="22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8" name="textbox 458"/>
          <p:cNvSpPr/>
          <p:nvPr/>
        </p:nvSpPr>
        <p:spPr>
          <a:xfrm>
            <a:off x="6494913" y="2168235"/>
            <a:ext cx="2651760" cy="635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-635" algn="l" rtl="0" eaLnBrk="0">
              <a:lnSpc>
                <a:spcPct val="91000"/>
              </a:lnSpc>
            </a:pPr>
            <a:r>
              <a:rPr sz="22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分面、</a:t>
            </a:r>
            <a:r>
              <a:rPr sz="2200" kern="0" spc="-5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极坐标与面积</a:t>
            </a:r>
            <a:r>
              <a:rPr sz="22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编码、</a:t>
            </a:r>
            <a:r>
              <a:rPr sz="2200" kern="0" spc="-3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图形选择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0" name="rect 460"/>
          <p:cNvSpPr/>
          <p:nvPr/>
        </p:nvSpPr>
        <p:spPr>
          <a:xfrm>
            <a:off x="7524750" y="209549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2" name="textbox 462"/>
          <p:cNvSpPr/>
          <p:nvPr/>
        </p:nvSpPr>
        <p:spPr>
          <a:xfrm>
            <a:off x="7593769" y="245045"/>
            <a:ext cx="4864734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64" name="picture 46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571499"/>
            <a:ext cx="12192000" cy="9525"/>
          </a:xfrm>
          <a:prstGeom prst="rect">
            <a:avLst/>
          </a:prstGeom>
        </p:spPr>
      </p:pic>
      <p:sp>
        <p:nvSpPr>
          <p:cNvPr id="466" name="textbox 466"/>
          <p:cNvSpPr/>
          <p:nvPr/>
        </p:nvSpPr>
        <p:spPr>
          <a:xfrm>
            <a:off x="12569329" y="6906773"/>
            <a:ext cx="15938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-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19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 468"/>
          <p:cNvSpPr/>
          <p:nvPr/>
        </p:nvSpPr>
        <p:spPr>
          <a:xfrm>
            <a:off x="0" y="0"/>
            <a:ext cx="12858750" cy="7219949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70" name="picture 4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3095625"/>
            <a:ext cx="12192000" cy="390524"/>
          </a:xfrm>
          <a:prstGeom prst="rect">
            <a:avLst/>
          </a:prstGeom>
        </p:spPr>
      </p:pic>
      <p:sp>
        <p:nvSpPr>
          <p:cNvPr id="472" name="rect 472"/>
          <p:cNvSpPr/>
          <p:nvPr/>
        </p:nvSpPr>
        <p:spPr>
          <a:xfrm>
            <a:off x="8782050" y="3114674"/>
            <a:ext cx="1228725" cy="333375"/>
          </a:xfrm>
          <a:prstGeom prst="rect">
            <a:avLst/>
          </a:prstGeom>
          <a:solidFill>
            <a:srgbClr val="78C8F5">
              <a:alpha val="9803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74" name="textbox 474"/>
          <p:cNvSpPr/>
          <p:nvPr/>
        </p:nvSpPr>
        <p:spPr>
          <a:xfrm>
            <a:off x="342136" y="3150170"/>
            <a:ext cx="12116434" cy="911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0"/>
              </a:spcBef>
              <a:tabLst>
                <a:tab pos="11038205" algn="l"/>
              </a:tabLst>
            </a:pPr>
            <a:r>
              <a:rPr sz="9900" strike="sngStrike" kern="0" spc="50" baseline="-1300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</a:t>
            </a:r>
            <a:r>
              <a:rPr sz="6400" strike="sngStrike" kern="0" spc="5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sz="6400" strike="sngStrike" kern="0" spc="4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sz="6400" kern="0" spc="19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6400" strike="sngStrike" kern="0" spc="-36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6400" kern="0" spc="19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6400" strike="sngStrike" kern="0" spc="-34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6400" kern="0" spc="19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6400" strike="sngStrike" kern="0" spc="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endParaRPr sz="6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6" name="textbox 476"/>
          <p:cNvSpPr/>
          <p:nvPr/>
        </p:nvSpPr>
        <p:spPr>
          <a:xfrm>
            <a:off x="7595203" y="3150170"/>
            <a:ext cx="4866640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</a:t>
            </a:r>
            <a:r>
              <a:rPr sz="2100" strike="sngStrike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</a:t>
            </a:r>
            <a:r>
              <a:rPr sz="2100" b="1" strike="sngStrike" kern="0" spc="15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strike="sngStrike" kern="0" spc="13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8" name="textbox 478"/>
          <p:cNvSpPr/>
          <p:nvPr/>
        </p:nvSpPr>
        <p:spPr>
          <a:xfrm>
            <a:off x="12558662" y="6906773"/>
            <a:ext cx="170179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rect 480"/>
          <p:cNvSpPr/>
          <p:nvPr/>
        </p:nvSpPr>
        <p:spPr>
          <a:xfrm>
            <a:off x="0" y="0"/>
            <a:ext cx="12858750" cy="7219949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482" name="table 482"/>
          <p:cNvGraphicFramePr>
            <a:graphicFrameLocks noGrp="1"/>
          </p:cNvGraphicFramePr>
          <p:nvPr/>
        </p:nvGraphicFramePr>
        <p:xfrm>
          <a:off x="333375" y="1198691"/>
          <a:ext cx="12191365" cy="3523614"/>
        </p:xfrm>
        <a:graphic>
          <a:graphicData uri="http://schemas.openxmlformats.org/drawingml/2006/table">
            <a:tbl>
              <a:tblPr/>
              <a:tblGrid>
                <a:gridCol w="2381250"/>
                <a:gridCol w="3580129"/>
                <a:gridCol w="2894964"/>
                <a:gridCol w="3335020"/>
              </a:tblGrid>
              <a:tr h="3346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1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010" algn="l" rtl="0" eaLnBrk="0">
                        <a:lnSpc>
                          <a:spcPct val="87000"/>
                        </a:lnSpc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视觉通道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2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46125" algn="l" rtl="0" eaLnBrk="0">
                        <a:lnSpc>
                          <a:spcPct val="87000"/>
                        </a:lnSpc>
                      </a:pPr>
                      <a:r>
                        <a:rPr sz="2200" b="1" kern="0" spc="9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人眼感知特点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7170" algn="l" rtl="0" eaLnBrk="0">
                        <a:lnSpc>
                          <a:spcPct val="87000"/>
                        </a:lnSpc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适合的数据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7030" algn="l" rtl="0" eaLnBrk="0">
                        <a:lnSpc>
                          <a:spcPct val="87000"/>
                        </a:lnSpc>
                      </a:pPr>
                      <a:r>
                        <a:rPr sz="2200" b="1" kern="0" spc="9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本项目示例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88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375" algn="l" rtl="0" eaLnBrk="0">
                        <a:lnSpc>
                          <a:spcPct val="88000"/>
                        </a:lnSpc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位置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44220" indent="2540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2200" kern="0" spc="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最精确</a:t>
                      </a:r>
                      <a:r>
                        <a:rPr sz="2200" kern="0" spc="-2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2200" kern="0" spc="-5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可读出高</a:t>
                      </a:r>
                      <a:r>
                        <a:rPr sz="22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低、左右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2725" algn="l" rtl="0" eaLnBrk="0">
                        <a:lnSpc>
                          <a:spcPct val="87000"/>
                        </a:lnSpc>
                      </a:pPr>
                      <a:r>
                        <a:rPr sz="22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数值、</a:t>
                      </a:r>
                      <a:r>
                        <a:rPr sz="2200" kern="0" spc="-4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类别、</a:t>
                      </a:r>
                      <a:r>
                        <a:rPr sz="2200" kern="0" spc="-4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时间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4015" algn="l" rtl="0" eaLnBrk="0">
                        <a:lnSpc>
                          <a:spcPct val="87000"/>
                        </a:lnSpc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月份、</a:t>
                      </a:r>
                      <a:r>
                        <a:rPr sz="2200" kern="0" spc="-4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累计死亡人数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185" algn="l" rtl="0" eaLnBrk="0">
                        <a:lnSpc>
                          <a:spcPct val="88000"/>
                        </a:lnSpc>
                      </a:pP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长度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49300" indent="-2540"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</a:pPr>
                      <a:r>
                        <a:rPr sz="22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很精确</a:t>
                      </a:r>
                      <a:r>
                        <a:rPr sz="2200" kern="0" spc="-2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2200" kern="0" spc="-5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可直接比较</a:t>
                      </a: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长短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272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数值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9570" indent="-3175"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柱形高度、</a:t>
                      </a:r>
                      <a:r>
                        <a:rPr sz="2200" kern="0" spc="-4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年化死亡</a:t>
                      </a:r>
                      <a:r>
                        <a:rPr sz="22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率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80010" algn="l" rtl="0" eaLnBrk="0">
                        <a:lnSpc>
                          <a:spcPts val="2950"/>
                        </a:lnSpc>
                      </a:pP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角度 / 面积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46125" algn="l" rtl="0" eaLnBrk="0">
                        <a:lnSpc>
                          <a:spcPct val="88000"/>
                        </a:lnSpc>
                      </a:pP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较粗略</a:t>
                      </a:r>
                      <a:r>
                        <a:rPr sz="2200" kern="0" spc="-2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，容易被夸大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272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数值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703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玫瑰图中的扇形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8105" algn="l" rtl="0" eaLnBrk="0">
                        <a:lnSpc>
                          <a:spcPts val="2970"/>
                        </a:lnSpc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颜色（色相）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49300" indent="-3175" algn="l" rtl="0" eaLnBrk="0">
                        <a:lnSpc>
                          <a:spcPct val="90000"/>
                        </a:lnSpc>
                        <a:spcBef>
                          <a:spcPts val="5"/>
                        </a:spcBef>
                      </a:pP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擅长区分</a:t>
                      </a:r>
                      <a:r>
                        <a:rPr sz="2200" b="1" kern="0" spc="5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类别</a:t>
                      </a:r>
                      <a:r>
                        <a:rPr sz="2200" b="1" kern="0" spc="-26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，不擅</a:t>
                      </a: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长比较大小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2725" algn="l" rtl="0" eaLnBrk="0">
                        <a:lnSpc>
                          <a:spcPct val="8700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分类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8300" algn="l" rtl="0" eaLnBrk="0">
                        <a:lnSpc>
                          <a:spcPct val="8700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死亡原因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810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分面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58190" indent="-12065" algn="l" rtl="0" eaLnBrk="0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把整体拆成结构相同</a:t>
                      </a: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的小图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2725" algn="l" rtl="0" eaLnBrk="0">
                        <a:lnSpc>
                          <a:spcPct val="8700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分类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4015" algn="l" rtl="0" eaLnBrk="0">
                        <a:lnSpc>
                          <a:spcPts val="2970"/>
                        </a:lnSpc>
                      </a:pP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改革前 / 改革后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84" name="rect 484"/>
          <p:cNvSpPr/>
          <p:nvPr/>
        </p:nvSpPr>
        <p:spPr>
          <a:xfrm>
            <a:off x="352425" y="4838699"/>
            <a:ext cx="12172950" cy="1552575"/>
          </a:xfrm>
          <a:prstGeom prst="rect">
            <a:avLst/>
          </a:prstGeom>
          <a:solidFill>
            <a:srgbClr val="FFD166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86" name="textbox 486"/>
          <p:cNvSpPr/>
          <p:nvPr/>
        </p:nvSpPr>
        <p:spPr>
          <a:xfrm>
            <a:off x="500534" y="5426912"/>
            <a:ext cx="9748519" cy="8248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如果我的目的是”</a:t>
            </a:r>
            <a:r>
              <a:rPr sz="2100" b="1" kern="0" spc="-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精确比较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三类死因的死亡水平”，应该优先使用哪两个视觉通道？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162000"/>
              </a:lnSpc>
              <a:spcBef>
                <a:spcPts val="20"/>
              </a:spcBef>
              <a:tabLst>
                <a:tab pos="7721600" algn="l"/>
              </a:tabLst>
            </a:pP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我的选择：</a:t>
            </a:r>
            <a:r>
              <a:rPr sz="2100" u="sng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</a:t>
            </a:r>
            <a:r>
              <a:rPr sz="21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理由是：</a:t>
            </a:r>
            <a:r>
              <a:rPr sz="2100" u="sng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88" name="picture 4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4838700"/>
            <a:ext cx="47625" cy="1552574"/>
          </a:xfrm>
          <a:prstGeom prst="rect">
            <a:avLst/>
          </a:prstGeom>
        </p:spPr>
      </p:pic>
      <p:sp>
        <p:nvSpPr>
          <p:cNvPr id="490" name="textbox 490"/>
          <p:cNvSpPr/>
          <p:nvPr/>
        </p:nvSpPr>
        <p:spPr>
          <a:xfrm>
            <a:off x="371475" y="4838699"/>
            <a:ext cx="12153900" cy="447675"/>
          </a:xfrm>
          <a:prstGeom prst="rect">
            <a:avLst/>
          </a:prstGeom>
          <a:solidFill>
            <a:srgbClr val="FFD166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7020" algn="l" rtl="0" eaLnBrk="0">
              <a:lnSpc>
                <a:spcPct val="91000"/>
              </a:lnSpc>
              <a:spcBef>
                <a:spcPts val="0"/>
              </a:spcBef>
            </a:pPr>
            <a:r>
              <a:rPr sz="1900" b="1" kern="0" spc="-1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【先想一想】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2" name="rect 492"/>
          <p:cNvSpPr/>
          <p:nvPr/>
        </p:nvSpPr>
        <p:spPr>
          <a:xfrm>
            <a:off x="333375" y="190500"/>
            <a:ext cx="12192000" cy="390524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94" name="textbox 494"/>
          <p:cNvSpPr/>
          <p:nvPr/>
        </p:nvSpPr>
        <p:spPr>
          <a:xfrm>
            <a:off x="323646" y="723877"/>
            <a:ext cx="6229350" cy="360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</a:pP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数据变量必须通过</a:t>
            </a:r>
            <a:r>
              <a:rPr sz="25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视觉通道</a:t>
            </a: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才能进入图形。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6" name="rect 496"/>
          <p:cNvSpPr/>
          <p:nvPr/>
        </p:nvSpPr>
        <p:spPr>
          <a:xfrm>
            <a:off x="8782050" y="209549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98" name="textbox 498"/>
          <p:cNvSpPr/>
          <p:nvPr/>
        </p:nvSpPr>
        <p:spPr>
          <a:xfrm>
            <a:off x="7591902" y="245045"/>
            <a:ext cx="4866640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</a:t>
            </a:r>
            <a:r>
              <a:rPr sz="2100" b="1" kern="0" spc="15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3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00" name="picture 5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619124"/>
            <a:ext cx="12192000" cy="19050"/>
          </a:xfrm>
          <a:prstGeom prst="rect">
            <a:avLst/>
          </a:prstGeom>
        </p:spPr>
      </p:pic>
      <p:pic>
        <p:nvPicPr>
          <p:cNvPr id="502" name="picture 5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571499"/>
            <a:ext cx="12192000" cy="9525"/>
          </a:xfrm>
          <a:prstGeom prst="rect">
            <a:avLst/>
          </a:prstGeom>
        </p:spPr>
      </p:pic>
      <p:sp>
        <p:nvSpPr>
          <p:cNvPr id="504" name="textbox 504"/>
          <p:cNvSpPr/>
          <p:nvPr/>
        </p:nvSpPr>
        <p:spPr>
          <a:xfrm>
            <a:off x="12558662" y="6947979"/>
            <a:ext cx="170179" cy="138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21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rect 506"/>
          <p:cNvSpPr/>
          <p:nvPr/>
        </p:nvSpPr>
        <p:spPr>
          <a:xfrm>
            <a:off x="0" y="0"/>
            <a:ext cx="12858750" cy="7219949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08" name="rect 508"/>
          <p:cNvSpPr/>
          <p:nvPr/>
        </p:nvSpPr>
        <p:spPr>
          <a:xfrm>
            <a:off x="352425" y="704849"/>
            <a:ext cx="12172950" cy="2352675"/>
          </a:xfrm>
          <a:prstGeom prst="rect">
            <a:avLst/>
          </a:prstGeom>
          <a:solidFill>
            <a:srgbClr val="67D6B4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510" name="table 510"/>
          <p:cNvGraphicFramePr>
            <a:graphicFrameLocks noGrp="1"/>
          </p:cNvGraphicFramePr>
          <p:nvPr/>
        </p:nvGraphicFramePr>
        <p:xfrm>
          <a:off x="333375" y="3618041"/>
          <a:ext cx="12191365" cy="1894840"/>
        </p:xfrm>
        <a:graphic>
          <a:graphicData uri="http://schemas.openxmlformats.org/drawingml/2006/table">
            <a:tbl>
              <a:tblPr/>
              <a:tblGrid>
                <a:gridCol w="3570604"/>
                <a:gridCol w="5127625"/>
                <a:gridCol w="3493134"/>
              </a:tblGrid>
              <a:tr h="344170">
                <a:tc>
                  <a:txBody>
                    <a:bodyPr/>
                    <a:lstStyle/>
                    <a:p>
                      <a:pPr marL="79375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b="1" kern="0" spc="9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我要回答的问题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245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1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75030" algn="l" rtl="0" eaLnBrk="0">
                        <a:lnSpc>
                          <a:spcPct val="87000"/>
                        </a:lnSpc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主要通道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56005" algn="l" rtl="0" eaLnBrk="0">
                        <a:lnSpc>
                          <a:spcPct val="87000"/>
                        </a:lnSpc>
                      </a:pPr>
                      <a:r>
                        <a:rPr sz="2200" b="1" kern="0" spc="2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图形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207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哪类死因负担最重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76300" algn="l" rtl="0" eaLnBrk="0">
                        <a:lnSpc>
                          <a:spcPts val="2970"/>
                        </a:lnSpc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长度（柱高）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4203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柱形图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207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哪几个月风险最高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2490" algn="l" rtl="0" eaLnBrk="0">
                        <a:lnSpc>
                          <a:spcPts val="2950"/>
                        </a:lnSpc>
                      </a:pP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位置（月份先后）</a:t>
                      </a:r>
                      <a:r>
                        <a:rPr sz="2200" kern="0" spc="-2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 长度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4267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堆叠柱形图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636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改革前后怎样变化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7122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200" kern="0" spc="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分面</a:t>
                      </a:r>
                      <a:r>
                        <a:rPr sz="2200" kern="0" spc="3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 长度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41400" algn="l" rtl="0" eaLnBrk="0">
                        <a:lnSpc>
                          <a:spcPct val="8800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分面柱形图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28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怎样让公众一眼看懂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25" algn="l" rtl="0" eaLnBrk="0">
                        <a:lnSpc>
                          <a:spcPts val="2900"/>
                        </a:lnSpc>
                      </a:pP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角度 / 面积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4267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玫瑰图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12" name="textbox 512"/>
          <p:cNvSpPr/>
          <p:nvPr/>
        </p:nvSpPr>
        <p:spPr>
          <a:xfrm>
            <a:off x="499734" y="1292262"/>
            <a:ext cx="11754484" cy="16103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algn="l" rtl="0" eaLnBrk="0">
              <a:lnSpc>
                <a:spcPct val="88000"/>
              </a:lnSpc>
            </a:pP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位置和长度是最精确的通道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：柱高与数值成</a:t>
            </a:r>
            <a:r>
              <a:rPr sz="2100" b="1" kern="0" spc="-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线性关系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，读者可以直接读出高低和差值。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270" algn="l" rtl="0" eaLnBrk="0">
              <a:lnSpc>
                <a:spcPct val="91000"/>
              </a:lnSpc>
              <a:spcBef>
                <a:spcPts val="1675"/>
              </a:spcBef>
            </a:pP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角度、面积、颜色都不适合精确比较：扇形面积与半径是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平方关系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，读者很容易把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差异看成数值的倍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数；颜色擅长区分”是哪</a:t>
            </a:r>
            <a:r>
              <a:rPr sz="21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一个”，不擅长回答”大多少”。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0000"/>
              </a:lnSpc>
            </a:pPr>
            <a:endParaRPr sz="1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" algn="l" rtl="0" eaLnBrk="0">
              <a:lnSpc>
                <a:spcPct val="87000"/>
              </a:lnSpc>
              <a:spcBef>
                <a:spcPts val="5"/>
              </a:spcBef>
            </a:pPr>
            <a:r>
              <a:rPr sz="2100" b="1" kern="0" spc="-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一句话原则：要精确比较，用位置和长度；要</a:t>
            </a:r>
            <a:r>
              <a:rPr sz="2100" b="1" kern="0" spc="-5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用颜色，就让颜色只管分类。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14" name="picture 5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704850"/>
            <a:ext cx="47625" cy="2352674"/>
          </a:xfrm>
          <a:prstGeom prst="rect">
            <a:avLst/>
          </a:prstGeom>
        </p:spPr>
      </p:pic>
      <p:sp>
        <p:nvSpPr>
          <p:cNvPr id="516" name="textbox 516"/>
          <p:cNvSpPr/>
          <p:nvPr/>
        </p:nvSpPr>
        <p:spPr>
          <a:xfrm>
            <a:off x="371475" y="704849"/>
            <a:ext cx="12153900" cy="447675"/>
          </a:xfrm>
          <a:prstGeom prst="rect">
            <a:avLst/>
          </a:prstGeom>
          <a:solidFill>
            <a:srgbClr val="67D6B4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7020" algn="l" rtl="0" eaLnBrk="0">
              <a:lnSpc>
                <a:spcPct val="86000"/>
              </a:lnSpc>
              <a:spcBef>
                <a:spcPts val="5"/>
              </a:spcBef>
            </a:pPr>
            <a:r>
              <a:rPr sz="2100" b="1" kern="0" spc="-12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【参考答案】优先使用「</a:t>
            </a:r>
            <a:r>
              <a:rPr sz="2100" b="1" kern="0" spc="-1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位置」和「长度」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8" name="rect 518"/>
          <p:cNvSpPr/>
          <p:nvPr/>
        </p:nvSpPr>
        <p:spPr>
          <a:xfrm>
            <a:off x="333375" y="190500"/>
            <a:ext cx="12192000" cy="390524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20" name="rect 520"/>
          <p:cNvSpPr/>
          <p:nvPr/>
        </p:nvSpPr>
        <p:spPr>
          <a:xfrm>
            <a:off x="8782050" y="209549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22" name="textbox 522"/>
          <p:cNvSpPr/>
          <p:nvPr/>
        </p:nvSpPr>
        <p:spPr>
          <a:xfrm>
            <a:off x="7591902" y="245045"/>
            <a:ext cx="4866640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</a:t>
            </a:r>
            <a:r>
              <a:rPr sz="2100" b="1" kern="0" spc="15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3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4" name="textbox 524"/>
          <p:cNvSpPr/>
          <p:nvPr/>
        </p:nvSpPr>
        <p:spPr>
          <a:xfrm>
            <a:off x="324636" y="3154733"/>
            <a:ext cx="3918584" cy="3594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</a:pPr>
            <a:r>
              <a:rPr sz="2500" kern="0" spc="-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这也是本项目的图形分工：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26" name="picture 5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619124"/>
            <a:ext cx="12192000" cy="19050"/>
          </a:xfrm>
          <a:prstGeom prst="rect">
            <a:avLst/>
          </a:prstGeom>
        </p:spPr>
      </p:pic>
      <p:pic>
        <p:nvPicPr>
          <p:cNvPr id="528" name="picture 5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571499"/>
            <a:ext cx="12192000" cy="9525"/>
          </a:xfrm>
          <a:prstGeom prst="rect">
            <a:avLst/>
          </a:prstGeom>
        </p:spPr>
      </p:pic>
      <p:sp>
        <p:nvSpPr>
          <p:cNvPr id="530" name="textbox 530"/>
          <p:cNvSpPr/>
          <p:nvPr/>
        </p:nvSpPr>
        <p:spPr>
          <a:xfrm>
            <a:off x="12558662" y="6947979"/>
            <a:ext cx="170179" cy="138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22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rect 532"/>
          <p:cNvSpPr/>
          <p:nvPr/>
        </p:nvSpPr>
        <p:spPr>
          <a:xfrm>
            <a:off x="0" y="0"/>
            <a:ext cx="12858750" cy="7219949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34" name="rect 534"/>
          <p:cNvSpPr/>
          <p:nvPr/>
        </p:nvSpPr>
        <p:spPr>
          <a:xfrm>
            <a:off x="338137" y="1157286"/>
            <a:ext cx="12182475" cy="2714625"/>
          </a:xfrm>
          <a:prstGeom prst="rect">
            <a:avLst/>
          </a:prstGeom>
          <a:solidFill>
            <a:srgbClr val="24292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536" name="table 536"/>
          <p:cNvGraphicFramePr>
            <a:graphicFrameLocks noGrp="1"/>
          </p:cNvGraphicFramePr>
          <p:nvPr/>
        </p:nvGraphicFramePr>
        <p:xfrm>
          <a:off x="333375" y="1152524"/>
          <a:ext cx="12192000" cy="2724150"/>
        </p:xfrm>
        <a:graphic>
          <a:graphicData uri="http://schemas.openxmlformats.org/drawingml/2006/table">
            <a:tbl>
              <a:tblPr/>
              <a:tblGrid>
                <a:gridCol w="12192000"/>
              </a:tblGrid>
              <a:tr h="27114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" algn="l" rtl="0" eaLnBrk="0">
                        <a:lnSpc>
                          <a:spcPts val="1840"/>
                        </a:lnSpc>
                        <a:spcBef>
                          <a:spcPts val="5"/>
                        </a:spcBef>
                        <a:tabLst>
                          <a:tab pos="26289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ggplot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data</a:t>
                      </a:r>
                      <a:r>
                        <a:rPr sz="1400" kern="0" spc="3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3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8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数据框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55"/>
                        </a:lnSpc>
                        <a:tabLst>
                          <a:tab pos="26352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2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aes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x</a:t>
                      </a:r>
                      <a:r>
                        <a:rPr sz="1400" kern="0" spc="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横轴变量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750"/>
                        </a:lnSpc>
                        <a:tabLst>
                          <a:tab pos="2647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3</a:t>
                      </a:r>
                      <a:r>
                        <a:rPr sz="1400" kern="0" spc="56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     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y</a:t>
                      </a:r>
                      <a:r>
                        <a:rPr sz="1400" kern="0" spc="17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9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纵轴变量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25527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4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    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fill</a:t>
                      </a:r>
                      <a:r>
                        <a:rPr sz="1400" kern="0" spc="10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9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分类变量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))</a:t>
                      </a:r>
                      <a:r>
                        <a:rPr sz="14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26670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5</a:t>
                      </a:r>
                      <a:r>
                        <a:rPr sz="1400" kern="0" spc="59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geom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几何对象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()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r>
                        <a:rPr sz="1400" kern="0" spc="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 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#</a:t>
                      </a:r>
                      <a:r>
                        <a:rPr sz="1400" kern="0" spc="6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柱、点、线等</a:t>
                      </a:r>
                      <a:endParaRPr sz="1400" dirty="0">
                        <a:latin typeface="新宋体" panose="02010609030101010101" charset="-122"/>
                        <a:ea typeface="新宋体" panose="02010609030101010101" charset="-122"/>
                        <a:cs typeface="新宋体" panose="02010609030101010101" charset="-122"/>
                      </a:endParaRPr>
                    </a:p>
                    <a:p>
                      <a:pPr marL="9525" algn="l" rtl="0" eaLnBrk="0">
                        <a:lnSpc>
                          <a:spcPts val="1755"/>
                        </a:lnSpc>
                        <a:tabLst>
                          <a:tab pos="26162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6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stat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统计变换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()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r>
                        <a:rPr sz="1400" kern="0" spc="2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</a:t>
                      </a:r>
                      <a:r>
                        <a:rPr sz="1400" kern="0" spc="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#</a:t>
                      </a:r>
                      <a:r>
                        <a:rPr sz="1400" kern="0" spc="7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计数、汇总等（可选）</a:t>
                      </a:r>
                      <a:endParaRPr sz="1400" dirty="0">
                        <a:latin typeface="新宋体" panose="02010609030101010101" charset="-122"/>
                        <a:ea typeface="新宋体" panose="02010609030101010101" charset="-122"/>
                        <a:cs typeface="新宋体" panose="02010609030101010101" charset="-122"/>
                      </a:endParaRPr>
                    </a:p>
                    <a:p>
                      <a:pPr marL="9525" algn="l" rtl="0" eaLnBrk="0">
                        <a:lnSpc>
                          <a:spcPts val="1770"/>
                        </a:lnSpc>
                        <a:tabLst>
                          <a:tab pos="26162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7</a:t>
                      </a:r>
                      <a:r>
                        <a:rPr sz="1400" kern="0" spc="5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scale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标度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()</a:t>
                      </a:r>
                      <a:r>
                        <a:rPr sz="14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r>
                        <a:rPr sz="1400" kern="0" spc="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    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#</a:t>
                      </a:r>
                      <a:r>
                        <a:rPr sz="1400" kern="0" spc="7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颜色、坐标刻度等</a:t>
                      </a:r>
                      <a:endParaRPr sz="1400" dirty="0">
                        <a:latin typeface="新宋体" panose="02010609030101010101" charset="-122"/>
                        <a:ea typeface="新宋体" panose="02010609030101010101" charset="-122"/>
                        <a:cs typeface="新宋体" panose="02010609030101010101" charset="-122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26162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8</a:t>
                      </a:r>
                      <a:r>
                        <a:rPr sz="1400" kern="0" spc="54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facet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分面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()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r>
                        <a:rPr sz="1400" kern="0" spc="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    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#</a:t>
                      </a:r>
                      <a:r>
                        <a:rPr sz="1400" kern="0" spc="9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分组比较</a:t>
                      </a:r>
                      <a:endParaRPr sz="1400" dirty="0">
                        <a:latin typeface="新宋体" panose="02010609030101010101" charset="-122"/>
                        <a:ea typeface="新宋体" panose="02010609030101010101" charset="-122"/>
                        <a:cs typeface="新宋体" panose="02010609030101010101" charset="-122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26035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9</a:t>
                      </a:r>
                      <a:r>
                        <a:rPr sz="1400" kern="0" spc="5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coord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坐标系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()</a:t>
                      </a:r>
                      <a:r>
                        <a:rPr sz="1400" kern="0" spc="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r>
                        <a:rPr sz="1400" kern="0" spc="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  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#</a:t>
                      </a:r>
                      <a:r>
                        <a:rPr sz="1400" kern="0" spc="8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直角或极坐标</a:t>
                      </a:r>
                      <a:endParaRPr sz="1400" dirty="0">
                        <a:latin typeface="新宋体" panose="02010609030101010101" charset="-122"/>
                        <a:ea typeface="新宋体" panose="02010609030101010101" charset="-122"/>
                        <a:cs typeface="新宋体" panose="02010609030101010101" charset="-122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10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labs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(...)</a:t>
                      </a:r>
                      <a:r>
                        <a:rPr sz="14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r>
                        <a:rPr sz="1400" kern="0" spc="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       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#</a:t>
                      </a:r>
                      <a:r>
                        <a:rPr sz="1400" kern="0" spc="12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标题、轴名、图例</a:t>
                      </a:r>
                      <a:r>
                        <a:rPr sz="1400" kern="0" spc="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名</a:t>
                      </a:r>
                      <a:endParaRPr sz="1400" dirty="0">
                        <a:latin typeface="新宋体" panose="02010609030101010101" charset="-122"/>
                        <a:ea typeface="新宋体" panose="02010609030101010101" charset="-122"/>
                        <a:cs typeface="新宋体" panose="02010609030101010101" charset="-122"/>
                      </a:endParaRPr>
                    </a:p>
                    <a:p>
                      <a:pPr marL="9525" algn="l" rtl="0" eaLnBrk="0">
                        <a:lnSpc>
                          <a:spcPts val="1845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11</a:t>
                      </a:r>
                      <a:r>
                        <a:rPr sz="1400" kern="0" spc="5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theme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主题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()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       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#</a:t>
                      </a:r>
                      <a:r>
                        <a:rPr sz="1400" kern="0" spc="9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非数据元素</a:t>
                      </a:r>
                      <a:endParaRPr sz="1400" dirty="0">
                        <a:latin typeface="新宋体" panose="02010609030101010101" charset="-122"/>
                        <a:ea typeface="新宋体" panose="02010609030101010101" charset="-122"/>
                        <a:cs typeface="新宋体" panose="02010609030101010101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38" name="rect 538"/>
          <p:cNvSpPr/>
          <p:nvPr/>
        </p:nvSpPr>
        <p:spPr>
          <a:xfrm>
            <a:off x="1981199" y="3971924"/>
            <a:ext cx="5362575" cy="3714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40" name="rect 540"/>
          <p:cNvSpPr/>
          <p:nvPr/>
        </p:nvSpPr>
        <p:spPr>
          <a:xfrm>
            <a:off x="2314574" y="4429124"/>
            <a:ext cx="1543050" cy="3619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42" name="rect 542"/>
          <p:cNvSpPr/>
          <p:nvPr/>
        </p:nvSpPr>
        <p:spPr>
          <a:xfrm>
            <a:off x="4190999" y="4429124"/>
            <a:ext cx="1543050" cy="3619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44" name="rect 544"/>
          <p:cNvSpPr/>
          <p:nvPr/>
        </p:nvSpPr>
        <p:spPr>
          <a:xfrm>
            <a:off x="6067425" y="4429124"/>
            <a:ext cx="1543050" cy="3619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46" name="rect 546"/>
          <p:cNvSpPr/>
          <p:nvPr/>
        </p:nvSpPr>
        <p:spPr>
          <a:xfrm>
            <a:off x="7943850" y="4429124"/>
            <a:ext cx="1066800" cy="3619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48" name="rect 548"/>
          <p:cNvSpPr/>
          <p:nvPr/>
        </p:nvSpPr>
        <p:spPr>
          <a:xfrm>
            <a:off x="9344025" y="4429124"/>
            <a:ext cx="1543050" cy="3619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50" name="textbox 550"/>
          <p:cNvSpPr/>
          <p:nvPr/>
        </p:nvSpPr>
        <p:spPr>
          <a:xfrm>
            <a:off x="324636" y="3945313"/>
            <a:ext cx="10514965" cy="8813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135"/>
              </a:lnSpc>
            </a:pPr>
            <a:r>
              <a:rPr sz="2500" b="1" kern="0" spc="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核心骨架： 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ggplot</a:t>
            </a:r>
            <a:r>
              <a:rPr sz="2200" kern="0" spc="7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(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data</a:t>
            </a:r>
            <a:r>
              <a:rPr sz="2200" kern="0" spc="7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,</a:t>
            </a:r>
            <a:r>
              <a:rPr sz="2200" kern="0" spc="7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aes</a:t>
            </a:r>
            <a:r>
              <a:rPr sz="2200" kern="0" spc="6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(...))</a:t>
            </a:r>
            <a:r>
              <a:rPr sz="2200" kern="0" spc="6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00" kern="0" spc="6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+</a:t>
            </a:r>
            <a:r>
              <a:rPr sz="2200" kern="0" spc="6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geom</a:t>
            </a:r>
            <a:r>
              <a:rPr sz="2200" kern="0" spc="6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_*()</a:t>
            </a:r>
            <a:endParaRPr sz="2200" dirty="0"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12700" algn="l" rtl="0" eaLnBrk="0">
              <a:lnSpc>
                <a:spcPts val="3135"/>
              </a:lnSpc>
              <a:spcBef>
                <a:spcPts val="465"/>
              </a:spcBef>
            </a:pPr>
            <a:r>
              <a:rPr sz="2500" b="1" kern="0" spc="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本项目扩展： 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scale</a:t>
            </a:r>
            <a:r>
              <a:rPr sz="2200" kern="0" spc="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_*()</a:t>
            </a:r>
            <a:r>
              <a:rPr sz="2200" kern="0" spc="-60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5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2500" kern="0" spc="-2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facet</a:t>
            </a:r>
            <a:r>
              <a:rPr sz="2200" kern="0" spc="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_*()</a:t>
            </a:r>
            <a:r>
              <a:rPr sz="2200" kern="0" spc="-59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5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 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coord</a:t>
            </a:r>
            <a:r>
              <a:rPr sz="2200" kern="0" spc="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_*(</a:t>
            </a:r>
            <a:r>
              <a:rPr sz="2200" kern="0" spc="2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)</a:t>
            </a:r>
            <a:r>
              <a:rPr sz="2200" kern="0" spc="-60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500" kern="0" spc="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 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labs</a:t>
            </a:r>
            <a:r>
              <a:rPr sz="2200" kern="0" spc="2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()</a:t>
            </a:r>
            <a:r>
              <a:rPr sz="2200" kern="0" spc="-59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500" kern="0" spc="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2500" kern="0" spc="-1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theme</a:t>
            </a:r>
            <a:r>
              <a:rPr sz="2200" kern="0" spc="2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_*()</a:t>
            </a:r>
            <a:endParaRPr sz="2200" dirty="0"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52" name="rect 552"/>
          <p:cNvSpPr/>
          <p:nvPr/>
        </p:nvSpPr>
        <p:spPr>
          <a:xfrm>
            <a:off x="333375" y="190500"/>
            <a:ext cx="12192000" cy="390524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54" name="picture 5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571499"/>
            <a:ext cx="12192000" cy="9525"/>
          </a:xfrm>
          <a:prstGeom prst="rect">
            <a:avLst/>
          </a:prstGeom>
        </p:spPr>
      </p:pic>
      <p:sp>
        <p:nvSpPr>
          <p:cNvPr id="556" name="rect 556"/>
          <p:cNvSpPr/>
          <p:nvPr/>
        </p:nvSpPr>
        <p:spPr>
          <a:xfrm>
            <a:off x="8782050" y="209549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58" name="textbox 558"/>
          <p:cNvSpPr/>
          <p:nvPr/>
        </p:nvSpPr>
        <p:spPr>
          <a:xfrm>
            <a:off x="320675" y="127591"/>
            <a:ext cx="12138025" cy="488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640"/>
              </a:lnSpc>
              <a:tabLst>
                <a:tab pos="791210" algn="l"/>
              </a:tabLst>
            </a:pPr>
            <a:r>
              <a:rPr sz="2700" b="1" kern="0" spc="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4300" b="1" kern="0" spc="0" baseline="400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</a:t>
            </a:r>
            <a:r>
              <a:rPr sz="2700" b="1" kern="0" spc="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                                              </a:t>
            </a:r>
            <a:r>
              <a:rPr sz="2100" kern="0" spc="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</a:t>
            </a:r>
            <a:r>
              <a:rPr sz="2100" b="1" kern="0" spc="14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0" name="textbox 560"/>
          <p:cNvSpPr/>
          <p:nvPr/>
        </p:nvSpPr>
        <p:spPr>
          <a:xfrm>
            <a:off x="336851" y="664452"/>
            <a:ext cx="7466965" cy="4521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355"/>
              </a:lnSpc>
            </a:pPr>
            <a:r>
              <a:rPr sz="25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ggplot2 用”</a:t>
            </a:r>
            <a:r>
              <a:rPr sz="25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r>
              <a:rPr sz="2500" b="1" kern="0" spc="3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映射</a:t>
            </a:r>
            <a:r>
              <a:rPr sz="2500" b="1" kern="0" spc="35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b="1" kern="0" spc="-2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图层</a:t>
            </a:r>
            <a:r>
              <a:rPr sz="25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”逐步建构图形。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62" name="picture 5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619124"/>
            <a:ext cx="12192000" cy="19050"/>
          </a:xfrm>
          <a:prstGeom prst="rect">
            <a:avLst/>
          </a:prstGeom>
        </p:spPr>
      </p:pic>
      <p:sp>
        <p:nvSpPr>
          <p:cNvPr id="564" name="textbox 564"/>
          <p:cNvSpPr/>
          <p:nvPr/>
        </p:nvSpPr>
        <p:spPr>
          <a:xfrm>
            <a:off x="12558662" y="6906773"/>
            <a:ext cx="170179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23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rect 566"/>
          <p:cNvSpPr/>
          <p:nvPr/>
        </p:nvSpPr>
        <p:spPr>
          <a:xfrm>
            <a:off x="0" y="0"/>
            <a:ext cx="12858750" cy="7219949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8" name="rect 568"/>
          <p:cNvSpPr/>
          <p:nvPr/>
        </p:nvSpPr>
        <p:spPr>
          <a:xfrm>
            <a:off x="333375" y="190500"/>
            <a:ext cx="12192000" cy="390524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70" name="rect 570"/>
          <p:cNvSpPr/>
          <p:nvPr/>
        </p:nvSpPr>
        <p:spPr>
          <a:xfrm>
            <a:off x="8782050" y="209549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72" name="textbox 572"/>
          <p:cNvSpPr/>
          <p:nvPr/>
        </p:nvSpPr>
        <p:spPr>
          <a:xfrm>
            <a:off x="320675" y="127591"/>
            <a:ext cx="12138025" cy="488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640"/>
              </a:lnSpc>
              <a:tabLst>
                <a:tab pos="791210" algn="l"/>
              </a:tabLst>
            </a:pPr>
            <a:r>
              <a:rPr sz="2700" b="1" kern="0" spc="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4300" b="1" kern="0" spc="0" baseline="400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</a:t>
            </a:r>
            <a:r>
              <a:rPr sz="2700" b="1" kern="0" spc="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                                              </a:t>
            </a:r>
            <a:r>
              <a:rPr sz="2100" kern="0" spc="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</a:t>
            </a:r>
            <a:r>
              <a:rPr sz="2100" b="1" kern="0" spc="14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4" name="rect 574"/>
          <p:cNvSpPr/>
          <p:nvPr/>
        </p:nvSpPr>
        <p:spPr>
          <a:xfrm>
            <a:off x="7962900" y="1152524"/>
            <a:ext cx="2638425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76" name="rect 576"/>
          <p:cNvSpPr/>
          <p:nvPr/>
        </p:nvSpPr>
        <p:spPr>
          <a:xfrm>
            <a:off x="7962900" y="1552574"/>
            <a:ext cx="2209800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78" name="rect 578"/>
          <p:cNvSpPr/>
          <p:nvPr/>
        </p:nvSpPr>
        <p:spPr>
          <a:xfrm>
            <a:off x="7962900" y="1943099"/>
            <a:ext cx="1514475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0" name="rect 580"/>
          <p:cNvSpPr/>
          <p:nvPr/>
        </p:nvSpPr>
        <p:spPr>
          <a:xfrm>
            <a:off x="7962900" y="2733674"/>
            <a:ext cx="2771775" cy="3333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2" name="rect 582"/>
          <p:cNvSpPr/>
          <p:nvPr/>
        </p:nvSpPr>
        <p:spPr>
          <a:xfrm>
            <a:off x="7962900" y="2343149"/>
            <a:ext cx="2495550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4" name="rect 584"/>
          <p:cNvSpPr/>
          <p:nvPr/>
        </p:nvSpPr>
        <p:spPr>
          <a:xfrm>
            <a:off x="7962900" y="3133724"/>
            <a:ext cx="1790700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6" name="rect 586"/>
          <p:cNvSpPr/>
          <p:nvPr/>
        </p:nvSpPr>
        <p:spPr>
          <a:xfrm>
            <a:off x="7962900" y="3533774"/>
            <a:ext cx="1933575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8" name="rect 588"/>
          <p:cNvSpPr/>
          <p:nvPr/>
        </p:nvSpPr>
        <p:spPr>
          <a:xfrm>
            <a:off x="7962900" y="3924299"/>
            <a:ext cx="952500" cy="323850"/>
          </a:xfrm>
          <a:prstGeom prst="rect">
            <a:avLst/>
          </a:prstGeom>
          <a:solidFill>
            <a:srgbClr val="78C8F5">
              <a:alpha val="11764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90" name="rect 590"/>
          <p:cNvSpPr/>
          <p:nvPr/>
        </p:nvSpPr>
        <p:spPr>
          <a:xfrm>
            <a:off x="7962900" y="4324349"/>
            <a:ext cx="2209800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592" name="table 592"/>
          <p:cNvGraphicFramePr>
            <a:graphicFrameLocks noGrp="1"/>
          </p:cNvGraphicFramePr>
          <p:nvPr/>
        </p:nvGraphicFramePr>
        <p:xfrm>
          <a:off x="333375" y="571499"/>
          <a:ext cx="12191999" cy="5533390"/>
        </p:xfrm>
        <a:graphic>
          <a:graphicData uri="http://schemas.openxmlformats.org/drawingml/2006/table">
            <a:tbl>
              <a:tblPr/>
              <a:tblGrid>
                <a:gridCol w="1572894"/>
                <a:gridCol w="4792344"/>
                <a:gridCol w="5826759"/>
              </a:tblGrid>
              <a:tr h="5238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2710" algn="l" rtl="0" eaLnBrk="0">
                        <a:lnSpc>
                          <a:spcPct val="83000"/>
                        </a:lnSpc>
                      </a:pPr>
                      <a:r>
                        <a:rPr sz="2200" b="1" kern="0" spc="2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图层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46760" algn="l" rtl="0" eaLnBrk="0">
                        <a:lnSpc>
                          <a:spcPct val="88000"/>
                        </a:lnSpc>
                      </a:pPr>
                      <a:r>
                        <a:rPr sz="2200" b="1" kern="0" spc="6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回答的问题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71905" algn="l" rtl="0" eaLnBrk="0">
                        <a:lnSpc>
                          <a:spcPct val="87000"/>
                        </a:lnSpc>
                      </a:pPr>
                      <a:r>
                        <a:rPr sz="2200" b="1" kern="0" spc="9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本项目函数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0170" algn="l" rtl="0" eaLnBrk="0">
                        <a:lnSpc>
                          <a:spcPts val="2970"/>
                        </a:lnSpc>
                      </a:pPr>
                      <a:r>
                        <a:rPr sz="2200" kern="0" spc="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data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32790" algn="l" rtl="0" eaLnBrk="0">
                        <a:lnSpc>
                          <a:spcPts val="2970"/>
                        </a:lnSpc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使用哪份数据？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64285" algn="l" rtl="0" eaLnBrk="0">
                        <a:lnSpc>
                          <a:spcPts val="2640"/>
                        </a:lnSpc>
                        <a:spcBef>
                          <a:spcPts val="5"/>
                        </a:spcBef>
                        <a:tabLst>
                          <a:tab pos="1330960" algn="l"/>
                        </a:tabLst>
                      </a:pP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	</a:t>
                      </a:r>
                      <a:r>
                        <a:rPr sz="2000" kern="0" spc="-3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ggplot(data</a:t>
                      </a:r>
                      <a:r>
                        <a:rPr sz="2000" kern="0" spc="13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kern="0" spc="-3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2000" kern="0" spc="39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kern="0" spc="-4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...)</a:t>
                      </a: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endParaRPr sz="20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100330" algn="l" rtl="0" eaLnBrk="0">
                        <a:lnSpc>
                          <a:spcPts val="2950"/>
                        </a:lnSpc>
                      </a:pPr>
                      <a:r>
                        <a:rPr sz="2200" kern="0" spc="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mapping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33425" algn="l" rtl="0" eaLnBrk="0">
                        <a:lnSpc>
                          <a:spcPts val="295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变量映射到哪里？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64285" algn="l" rtl="0" eaLnBrk="0">
                        <a:lnSpc>
                          <a:spcPts val="2640"/>
                        </a:lnSpc>
                        <a:spcBef>
                          <a:spcPts val="0"/>
                        </a:spcBef>
                        <a:tabLst>
                          <a:tab pos="1335405" algn="l"/>
                        </a:tabLst>
                      </a:pP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	</a:t>
                      </a: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aes(x,</a:t>
                      </a: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y,</a:t>
                      </a: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fill)</a:t>
                      </a:r>
                      <a:endParaRPr sz="20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0170" algn="l" rtl="0" eaLnBrk="0">
                        <a:lnSpc>
                          <a:spcPct val="74000"/>
                        </a:lnSpc>
                        <a:spcBef>
                          <a:spcPts val="0"/>
                        </a:spcBef>
                      </a:pPr>
                      <a:r>
                        <a:rPr sz="2200" kern="0" spc="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geom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35330" algn="l" rtl="0" eaLnBrk="0">
                        <a:lnSpc>
                          <a:spcPts val="2970"/>
                        </a:lnSpc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用什么图形表达？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64285" algn="l" rtl="0" eaLnBrk="0">
                        <a:lnSpc>
                          <a:spcPts val="2640"/>
                        </a:lnSpc>
                        <a:spcBef>
                          <a:spcPts val="0"/>
                        </a:spcBef>
                        <a:tabLst>
                          <a:tab pos="1330960" algn="l"/>
                        </a:tabLst>
                      </a:pP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	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geom_col()</a:t>
                      </a:r>
                      <a:endParaRPr sz="20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1440" algn="l" rtl="0" eaLnBrk="0">
                        <a:lnSpc>
                          <a:spcPct val="72000"/>
                        </a:lnSpc>
                        <a:spcBef>
                          <a:spcPts val="0"/>
                        </a:spcBef>
                      </a:pPr>
                      <a:r>
                        <a:rPr sz="22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stat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31520" algn="l" rtl="0" eaLnBrk="0">
                        <a:lnSpc>
                          <a:spcPts val="295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数据是否需要统计变换？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64285" algn="l" rtl="0" eaLnBrk="0">
                        <a:lnSpc>
                          <a:spcPts val="2640"/>
                        </a:lnSpc>
                        <a:spcBef>
                          <a:spcPts val="0"/>
                        </a:spcBef>
                        <a:tabLst>
                          <a:tab pos="1341755" algn="l"/>
                        </a:tabLst>
                      </a:pP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	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stat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2000" kern="0" spc="32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"identity"</a:t>
                      </a:r>
                      <a:endParaRPr sz="20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1440" algn="l" rtl="0" eaLnBrk="0">
                        <a:lnSpc>
                          <a:spcPts val="2970"/>
                        </a:lnSpc>
                      </a:pPr>
                      <a:r>
                        <a:rPr sz="2200" kern="0" spc="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scale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31520" algn="l" rtl="0" eaLnBrk="0">
                        <a:lnSpc>
                          <a:spcPts val="297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颜色和刻度怎样显示？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64285" algn="l" rtl="0" eaLnBrk="0">
                        <a:lnSpc>
                          <a:spcPts val="2640"/>
                        </a:lnSpc>
                        <a:spcBef>
                          <a:spcPts val="0"/>
                        </a:spcBef>
                        <a:tabLst>
                          <a:tab pos="1341755" algn="l"/>
                        </a:tabLst>
                      </a:pP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	</a:t>
                      </a: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scale_fill_m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anual()</a:t>
                      </a:r>
                      <a:endParaRPr sz="20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185" algn="l" rtl="0" eaLnBrk="0">
                        <a:lnSpc>
                          <a:spcPts val="2970"/>
                        </a:lnSpc>
                      </a:pPr>
                      <a:r>
                        <a:rPr sz="2200" kern="0" spc="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facet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34060" algn="l" rtl="0" eaLnBrk="0">
                        <a:lnSpc>
                          <a:spcPts val="2970"/>
                        </a:lnSpc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怎样分组比较？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19530" algn="l" rtl="0" eaLnBrk="0">
                        <a:lnSpc>
                          <a:spcPts val="2640"/>
                        </a:lnSpc>
                        <a:spcBef>
                          <a:spcPts val="0"/>
                        </a:spcBef>
                      </a:pP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facet</a:t>
                      </a:r>
                      <a:r>
                        <a:rPr sz="2000" kern="0" spc="2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wrap</a:t>
                      </a:r>
                      <a:r>
                        <a:rPr sz="2000" kern="0" spc="2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()</a:t>
                      </a:r>
                      <a:endParaRPr sz="20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90170" algn="l" rtl="0" eaLnBrk="0">
                        <a:lnSpc>
                          <a:spcPts val="2950"/>
                        </a:lnSpc>
                      </a:pPr>
                      <a:r>
                        <a:rPr sz="2200" kern="0" spc="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coord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32790" algn="l" rtl="0" eaLnBrk="0">
                        <a:lnSpc>
                          <a:spcPts val="295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使用什么坐标系统？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64285" algn="l" rtl="0" eaLnBrk="0">
                        <a:lnSpc>
                          <a:spcPts val="2640"/>
                        </a:lnSpc>
                        <a:spcBef>
                          <a:spcPts val="0"/>
                        </a:spcBef>
                        <a:tabLst>
                          <a:tab pos="1338580" algn="l"/>
                        </a:tabLst>
                      </a:pP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	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coord_polar()</a:t>
                      </a:r>
                      <a:endParaRPr sz="20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0330" algn="l" rtl="0" eaLnBrk="0">
                        <a:lnSpc>
                          <a:spcPts val="2970"/>
                        </a:lnSpc>
                      </a:pPr>
                      <a:r>
                        <a:rPr sz="2200" kern="0" spc="-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labs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3215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标题、</a:t>
                      </a:r>
                      <a:r>
                        <a:rPr sz="2200" kern="0" spc="-5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轴名、</a:t>
                      </a:r>
                      <a:r>
                        <a:rPr sz="2200" kern="0" spc="-3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图例名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64285" algn="l" rtl="0" eaLnBrk="0">
                        <a:lnSpc>
                          <a:spcPts val="2640"/>
                        </a:lnSpc>
                        <a:spcBef>
                          <a:spcPts val="0"/>
                        </a:spcBef>
                        <a:tabLst>
                          <a:tab pos="1340485" algn="l"/>
                        </a:tabLst>
                      </a:pP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	</a:t>
                      </a:r>
                      <a:r>
                        <a:rPr sz="2000" kern="0" spc="-3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labs()</a:t>
                      </a:r>
                      <a:r>
                        <a:rPr sz="2000" kern="0" spc="3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endParaRPr sz="20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644">
                <a:tc>
                  <a:txBody>
                    <a:bodyPr/>
                    <a:lstStyle/>
                    <a:p>
                      <a:pPr marL="81915" algn="l" rtl="0" eaLnBrk="0">
                        <a:lnSpc>
                          <a:spcPts val="2950"/>
                        </a:lnSpc>
                      </a:pPr>
                      <a:r>
                        <a:rPr sz="22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theme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735330" algn="l" rtl="0" eaLnBrk="0">
                        <a:lnSpc>
                          <a:spcPts val="295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非数据元素怎样显示？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64285" algn="l" rtl="0" eaLnBrk="0">
                        <a:lnSpc>
                          <a:spcPts val="2640"/>
                        </a:lnSpc>
                        <a:spcBef>
                          <a:spcPts val="0"/>
                        </a:spcBef>
                        <a:tabLst>
                          <a:tab pos="1327150" algn="l"/>
                        </a:tabLst>
                      </a:pP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	</a:t>
                      </a: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theme_minimal()</a:t>
                      </a:r>
                      <a:endParaRPr sz="20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589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100" b="1" kern="0" spc="-1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顺序有讲究</a:t>
                      </a:r>
                      <a:endParaRPr sz="2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8394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8394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83943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3680" algn="l" rtl="0" eaLnBrk="0">
                        <a:lnSpc>
                          <a:spcPts val="2410"/>
                        </a:lnSpc>
                      </a:pPr>
                      <a:r>
                        <a:rPr sz="18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ggplot</a:t>
                      </a:r>
                      <a:r>
                        <a:rPr sz="1800" kern="0" spc="3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()</a:t>
                      </a:r>
                      <a:r>
                        <a:rPr sz="1800" kern="0" spc="3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800" kern="0" spc="3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endParaRPr sz="18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E2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E21"/>
                    </a:solidFill>
                  </a:tcPr>
                </a:tc>
              </a:tr>
            </a:tbl>
          </a:graphicData>
        </a:graphic>
      </p:graphicFrame>
      <p:sp>
        <p:nvSpPr>
          <p:cNvPr id="594" name="rect 594"/>
          <p:cNvSpPr/>
          <p:nvPr/>
        </p:nvSpPr>
        <p:spPr>
          <a:xfrm>
            <a:off x="8286750" y="5333999"/>
            <a:ext cx="1247775" cy="2952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96" name="rect 596"/>
          <p:cNvSpPr/>
          <p:nvPr/>
        </p:nvSpPr>
        <p:spPr>
          <a:xfrm>
            <a:off x="6772275" y="5333999"/>
            <a:ext cx="1247775" cy="2952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98" name="textbox 598"/>
          <p:cNvSpPr/>
          <p:nvPr/>
        </p:nvSpPr>
        <p:spPr>
          <a:xfrm>
            <a:off x="6802139" y="5313690"/>
            <a:ext cx="5487670" cy="332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6000"/>
              </a:lnSpc>
            </a:pPr>
            <a:r>
              <a:rPr sz="18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facet_*()</a:t>
            </a:r>
            <a:r>
              <a:rPr sz="1800" kern="0" spc="-49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2100" kern="0" spc="-1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coord_*()</a:t>
            </a:r>
            <a:r>
              <a:rPr sz="18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决定”怎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样显示”。</a:t>
            </a:r>
            <a:r>
              <a:rPr sz="2100" kern="0" spc="-4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0" name="textbox 600"/>
          <p:cNvSpPr/>
          <p:nvPr/>
        </p:nvSpPr>
        <p:spPr>
          <a:xfrm>
            <a:off x="499467" y="5587923"/>
            <a:ext cx="10996930" cy="370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10"/>
              </a:lnSpc>
            </a:pPr>
            <a:r>
              <a:rPr sz="2100" b="1" kern="0" spc="-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样的数据和几何对象，换一个坐标系统，图形的含义就变了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——这正是任务 4 要讨论的问题。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2" name="rect 602"/>
          <p:cNvSpPr/>
          <p:nvPr/>
        </p:nvSpPr>
        <p:spPr>
          <a:xfrm>
            <a:off x="5257800" y="5333999"/>
            <a:ext cx="1247775" cy="2952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04" name="textbox 604"/>
          <p:cNvSpPr/>
          <p:nvPr/>
        </p:nvSpPr>
        <p:spPr>
          <a:xfrm>
            <a:off x="1963927" y="5313690"/>
            <a:ext cx="4764404" cy="332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6000"/>
              </a:lnSpc>
            </a:pPr>
            <a:r>
              <a:rPr sz="1800" kern="0" spc="-4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geom_*()</a:t>
            </a:r>
            <a:r>
              <a:rPr sz="1800" kern="0" spc="-4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决定”画什么”； </a:t>
            </a:r>
            <a:r>
              <a:rPr sz="1800" kern="0" spc="-4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scale_*()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6" name="textbox 606"/>
          <p:cNvSpPr/>
          <p:nvPr/>
        </p:nvSpPr>
        <p:spPr>
          <a:xfrm>
            <a:off x="12558662" y="6947979"/>
            <a:ext cx="170179" cy="138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24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rect 608"/>
          <p:cNvSpPr/>
          <p:nvPr/>
        </p:nvSpPr>
        <p:spPr>
          <a:xfrm>
            <a:off x="0" y="0"/>
            <a:ext cx="12858750" cy="7219949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10" name="rect 610"/>
          <p:cNvSpPr/>
          <p:nvPr/>
        </p:nvSpPr>
        <p:spPr>
          <a:xfrm>
            <a:off x="352425" y="3305174"/>
            <a:ext cx="12172950" cy="1847850"/>
          </a:xfrm>
          <a:prstGeom prst="rect">
            <a:avLst/>
          </a:prstGeom>
          <a:solidFill>
            <a:srgbClr val="FFD166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12" name="rect 612"/>
          <p:cNvSpPr/>
          <p:nvPr/>
        </p:nvSpPr>
        <p:spPr>
          <a:xfrm>
            <a:off x="742949" y="4286249"/>
            <a:ext cx="2562225" cy="2952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14" name="rect 614"/>
          <p:cNvSpPr/>
          <p:nvPr/>
        </p:nvSpPr>
        <p:spPr>
          <a:xfrm>
            <a:off x="4067174" y="4648199"/>
            <a:ext cx="1924050" cy="2952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16" name="rect 616"/>
          <p:cNvSpPr/>
          <p:nvPr/>
        </p:nvSpPr>
        <p:spPr>
          <a:xfrm>
            <a:off x="742949" y="3933824"/>
            <a:ext cx="3686175" cy="2857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18" name="picture 6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3305175"/>
            <a:ext cx="47625" cy="1847849"/>
          </a:xfrm>
          <a:prstGeom prst="rect">
            <a:avLst/>
          </a:prstGeom>
        </p:spPr>
      </p:pic>
      <p:sp>
        <p:nvSpPr>
          <p:cNvPr id="620" name="rect 620"/>
          <p:cNvSpPr/>
          <p:nvPr/>
        </p:nvSpPr>
        <p:spPr>
          <a:xfrm>
            <a:off x="371475" y="3305174"/>
            <a:ext cx="12153900" cy="447675"/>
          </a:xfrm>
          <a:prstGeom prst="rect">
            <a:avLst/>
          </a:prstGeom>
          <a:solidFill>
            <a:srgbClr val="FFD166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2" name="textbox 622"/>
          <p:cNvSpPr/>
          <p:nvPr/>
        </p:nvSpPr>
        <p:spPr>
          <a:xfrm>
            <a:off x="358775" y="3400221"/>
            <a:ext cx="12179300" cy="15595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tabLst>
                <a:tab pos="299720" algn="l"/>
              </a:tabLst>
            </a:pP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100" b="1" kern="0" spc="-1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【先想一想】判断题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       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10490" algn="l" rtl="0" eaLnBrk="0">
              <a:lnSpc>
                <a:spcPct val="110000"/>
              </a:lnSpc>
              <a:spcBef>
                <a:spcPts val="1545"/>
              </a:spcBef>
            </a:pP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2100" kern="0" spc="4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1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geom_col(fill</a:t>
            </a:r>
            <a:r>
              <a:rPr sz="1800" kern="0" spc="-1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00" kern="0" spc="-1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=</a:t>
            </a:r>
            <a:r>
              <a:rPr sz="1800" kern="0" spc="25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00" kern="0" spc="-1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"steelblue"</a:t>
            </a:r>
            <a:r>
              <a:rPr sz="1800" kern="0" spc="-2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)</a:t>
            </a:r>
            <a:r>
              <a:rPr sz="1800" kern="0" spc="-2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会让三类死因变成几</a:t>
            </a:r>
            <a:r>
              <a:rPr sz="2100" u="sng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</a:t>
            </a:r>
            <a:r>
              <a:rPr sz="21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种颜色？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7790" algn="l" rtl="0" eaLnBrk="0">
              <a:lnSpc>
                <a:spcPct val="113000"/>
              </a:lnSpc>
              <a:spcBef>
                <a:spcPts val="5"/>
              </a:spcBef>
            </a:pP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sz="2100" kern="0" spc="4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aes(fill</a:t>
            </a:r>
            <a:r>
              <a:rPr sz="1800" kern="0" spc="-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00" kern="0" spc="-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=</a:t>
            </a:r>
            <a:r>
              <a:rPr sz="1800" kern="0" spc="-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00" kern="0" spc="-30" dirty="0">
                <a:solidFill>
                  <a:srgbClr val="9BDCFF">
                    <a:alpha val="100000"/>
                  </a:srgbClr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死亡原因</a:t>
            </a:r>
            <a:r>
              <a:rPr sz="1800" kern="0" spc="-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)</a:t>
            </a:r>
            <a:r>
              <a:rPr sz="1800" kern="0" spc="17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中的颜色由</a:t>
            </a:r>
            <a:r>
              <a:rPr sz="2100" u="sng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</a:t>
            </a:r>
            <a:r>
              <a:rPr sz="2100" kern="0" spc="-5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决定？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0965" algn="l" rtl="0" eaLnBrk="0">
              <a:lnSpc>
                <a:spcPts val="2730"/>
              </a:lnSpc>
            </a:pPr>
            <a:r>
              <a:rPr sz="21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如果任务 4 的玫瑰图漏掉了</a:t>
            </a:r>
            <a:r>
              <a:rPr sz="2100" kern="0" spc="3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2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fil</a:t>
            </a:r>
            <a:r>
              <a:rPr sz="1800" kern="0" spc="-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</a:t>
            </a:r>
            <a:r>
              <a:rPr sz="1800" kern="0" spc="-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00" kern="0" spc="-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=</a:t>
            </a:r>
            <a:r>
              <a:rPr sz="1800" kern="0" spc="-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00" kern="0" spc="-30" dirty="0">
                <a:solidFill>
                  <a:srgbClr val="9BDCFF">
                    <a:alpha val="100000"/>
                  </a:srgbClr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死亡原因</a:t>
            </a:r>
            <a:r>
              <a:rPr sz="1800" kern="0" spc="-530" dirty="0">
                <a:solidFill>
                  <a:srgbClr val="9BDCFF">
                    <a:alpha val="100000"/>
                  </a:srgbClr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 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，会发生什么？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24" name="table 624"/>
          <p:cNvGraphicFramePr>
            <a:graphicFrameLocks noGrp="1"/>
          </p:cNvGraphicFramePr>
          <p:nvPr/>
        </p:nvGraphicFramePr>
        <p:xfrm>
          <a:off x="333375" y="1133474"/>
          <a:ext cx="6029325" cy="1590675"/>
        </p:xfrm>
        <a:graphic>
          <a:graphicData uri="http://schemas.openxmlformats.org/drawingml/2006/table">
            <a:tbl>
              <a:tblPr>
                <a:solidFill>
                  <a:srgbClr val="24292E"/>
                </a:solidFill>
              </a:tblPr>
              <a:tblGrid>
                <a:gridCol w="6029325"/>
              </a:tblGrid>
              <a:tr h="15779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  <a:tabLst>
                          <a:tab pos="26289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</a:t>
                      </a:r>
                      <a:r>
                        <a:rPr sz="1400" kern="0" spc="5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#</a:t>
                      </a:r>
                      <a:r>
                        <a:rPr sz="1400" kern="0" spc="2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颜色由「死亡原因」这个变量控制</a:t>
                      </a:r>
                      <a:endParaRPr sz="1400" dirty="0">
                        <a:latin typeface="新宋体" panose="02010609030101010101" charset="-122"/>
                        <a:ea typeface="新宋体" panose="02010609030101010101" charset="-122"/>
                        <a:cs typeface="新宋体" panose="02010609030101010101" charset="-122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spcBef>
                          <a:spcPts val="155"/>
                        </a:spcBef>
                        <a:tabLst>
                          <a:tab pos="26352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2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ggplot</a:t>
                      </a:r>
                      <a:r>
                        <a:rPr sz="14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before</a:t>
                      </a:r>
                      <a:r>
                        <a:rPr sz="14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20"/>
                        </a:lnSpc>
                        <a:tabLst>
                          <a:tab pos="2647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3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 </a:t>
                      </a:r>
                      <a:r>
                        <a:rPr sz="1400" kern="0" spc="-1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aes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x</a:t>
                      </a:r>
                      <a:r>
                        <a:rPr sz="1400" kern="0" spc="15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0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月份</a:t>
                      </a:r>
                      <a:r>
                        <a:rPr sz="1400" kern="0" spc="-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750"/>
                        </a:lnSpc>
                        <a:tabLst>
                          <a:tab pos="25527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4</a:t>
                      </a:r>
                      <a:r>
                        <a:rPr sz="1400" kern="0" spc="54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     </a:t>
                      </a:r>
                      <a:r>
                        <a:rPr sz="1400" kern="0" spc="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y</a:t>
                      </a:r>
                      <a:r>
                        <a:rPr sz="1400" kern="0" spc="1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7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死亡率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26670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5</a:t>
                      </a:r>
                      <a:r>
                        <a:rPr sz="1400" kern="0" spc="5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    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fill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0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死亡原因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))</a:t>
                      </a:r>
                      <a:r>
                        <a:rPr sz="14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45"/>
                        </a:lnSpc>
                        <a:tabLst>
                          <a:tab pos="26162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6</a:t>
                      </a:r>
                      <a:r>
                        <a:rPr sz="1400" kern="0" spc="5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-1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geom_col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()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6" name="table 626"/>
          <p:cNvGraphicFramePr>
            <a:graphicFrameLocks noGrp="1"/>
          </p:cNvGraphicFramePr>
          <p:nvPr/>
        </p:nvGraphicFramePr>
        <p:xfrm>
          <a:off x="6496050" y="1133474"/>
          <a:ext cx="6029325" cy="1362075"/>
        </p:xfrm>
        <a:graphic>
          <a:graphicData uri="http://schemas.openxmlformats.org/drawingml/2006/table">
            <a:tbl>
              <a:tblPr>
                <a:solidFill>
                  <a:srgbClr val="24292E"/>
                </a:solidFill>
              </a:tblPr>
              <a:tblGrid>
                <a:gridCol w="6029325"/>
              </a:tblGrid>
              <a:tr h="13493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  <a:tabLst>
                          <a:tab pos="26606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</a:t>
                      </a:r>
                      <a:r>
                        <a:rPr sz="1400" kern="0" spc="5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#</a:t>
                      </a:r>
                      <a:r>
                        <a:rPr sz="1400" kern="0" spc="2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所有柱子使用同一种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固定颜色</a:t>
                      </a:r>
                      <a:endParaRPr sz="1400" dirty="0">
                        <a:latin typeface="新宋体" panose="02010609030101010101" charset="-122"/>
                        <a:ea typeface="新宋体" panose="02010609030101010101" charset="-122"/>
                        <a:cs typeface="新宋体" panose="02010609030101010101" charset="-122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spcBef>
                          <a:spcPts val="155"/>
                        </a:spcBef>
                        <a:tabLst>
                          <a:tab pos="26670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2</a:t>
                      </a:r>
                      <a:r>
                        <a:rPr sz="1400" kern="0" spc="5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ggplot</a:t>
                      </a:r>
                      <a:r>
                        <a:rPr sz="1400" kern="0" spc="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before</a:t>
                      </a:r>
                      <a:r>
                        <a:rPr sz="1400" kern="0" spc="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770"/>
                        </a:lnSpc>
                        <a:tabLst>
                          <a:tab pos="26797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3</a:t>
                      </a:r>
                      <a:r>
                        <a:rPr sz="1400" kern="0" spc="56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 </a:t>
                      </a:r>
                      <a:r>
                        <a:rPr sz="1400" kern="0" spc="-1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aes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x</a:t>
                      </a:r>
                      <a:r>
                        <a:rPr sz="1400" kern="0" spc="10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0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月份</a:t>
                      </a:r>
                      <a:r>
                        <a:rPr sz="1400" kern="0" spc="-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25844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4</a:t>
                      </a:r>
                      <a:r>
                        <a:rPr sz="1400" kern="0" spc="6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     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y</a:t>
                      </a:r>
                      <a:r>
                        <a:rPr sz="1400" kern="0" spc="13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死亡率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))</a:t>
                      </a:r>
                      <a:r>
                        <a:rPr sz="14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45"/>
                        </a:lnSpc>
                        <a:tabLst>
                          <a:tab pos="26987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5</a:t>
                      </a:r>
                      <a:r>
                        <a:rPr sz="1400" kern="0" spc="5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geom_col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fill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20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"steelblue</a:t>
                      </a:r>
                      <a:r>
                        <a:rPr sz="1400" kern="0" spc="-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</a:tr>
            </a:tbl>
          </a:graphicData>
        </a:graphic>
      </p:graphicFrame>
      <p:sp>
        <p:nvSpPr>
          <p:cNvPr id="628" name="rect 628"/>
          <p:cNvSpPr/>
          <p:nvPr/>
        </p:nvSpPr>
        <p:spPr>
          <a:xfrm>
            <a:off x="333375" y="190500"/>
            <a:ext cx="12192000" cy="390524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30" name="textbox 630"/>
          <p:cNvSpPr/>
          <p:nvPr/>
        </p:nvSpPr>
        <p:spPr>
          <a:xfrm>
            <a:off x="323646" y="2810512"/>
            <a:ext cx="5899150" cy="3606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</a:pPr>
            <a:r>
              <a:rPr sz="25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颜色随死亡原因变化</a:t>
            </a:r>
            <a:r>
              <a:rPr sz="2500" kern="0" spc="-3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kern="0" spc="-6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并自动生成图</a:t>
            </a:r>
            <a:r>
              <a:rPr sz="25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例。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2" name="textbox 632"/>
          <p:cNvSpPr/>
          <p:nvPr/>
        </p:nvSpPr>
        <p:spPr>
          <a:xfrm>
            <a:off x="6489776" y="2581912"/>
            <a:ext cx="5568315" cy="3606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</a:pPr>
            <a:r>
              <a:rPr sz="25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所有柱子同一种颜色</a:t>
            </a:r>
            <a:r>
              <a:rPr sz="2500" kern="0" spc="-3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，不会生成</a:t>
            </a:r>
            <a:r>
              <a:rPr sz="25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图例。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4" name="rect 634"/>
          <p:cNvSpPr/>
          <p:nvPr/>
        </p:nvSpPr>
        <p:spPr>
          <a:xfrm>
            <a:off x="8782050" y="209549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36" name="textbox 636"/>
          <p:cNvSpPr/>
          <p:nvPr/>
        </p:nvSpPr>
        <p:spPr>
          <a:xfrm>
            <a:off x="7591902" y="245045"/>
            <a:ext cx="4866640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</a:t>
            </a:r>
            <a:r>
              <a:rPr sz="2100" b="1" kern="0" spc="15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3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8" name="rect 638"/>
          <p:cNvSpPr/>
          <p:nvPr/>
        </p:nvSpPr>
        <p:spPr>
          <a:xfrm>
            <a:off x="8743950" y="781049"/>
            <a:ext cx="857250" cy="3333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40" name="textbox 640"/>
          <p:cNvSpPr/>
          <p:nvPr/>
        </p:nvSpPr>
        <p:spPr>
          <a:xfrm>
            <a:off x="6493790" y="757300"/>
            <a:ext cx="3511550" cy="374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2400" kern="0" spc="-1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属性设定：</a:t>
            </a:r>
            <a:r>
              <a:rPr sz="2400" kern="0" spc="-48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kern="0" spc="-1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写在</a:t>
            </a:r>
            <a:r>
              <a:rPr sz="2400" kern="0" spc="55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b="1" kern="0" spc="-1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aes()</a:t>
            </a:r>
            <a:r>
              <a:rPr sz="2100" b="1" kern="0" spc="-1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400" kern="0" spc="-1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2" name="rect 642"/>
          <p:cNvSpPr/>
          <p:nvPr/>
        </p:nvSpPr>
        <p:spPr>
          <a:xfrm>
            <a:off x="1962149" y="781049"/>
            <a:ext cx="857250" cy="3333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44" name="textbox 644"/>
          <p:cNvSpPr/>
          <p:nvPr/>
        </p:nvSpPr>
        <p:spPr>
          <a:xfrm>
            <a:off x="340182" y="757300"/>
            <a:ext cx="2884170" cy="374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</a:pPr>
            <a:r>
              <a:rPr sz="2400" kern="0" spc="-5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映射：</a:t>
            </a:r>
            <a:r>
              <a:rPr sz="2400" kern="0" spc="-47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kern="0" spc="-5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写在</a:t>
            </a:r>
            <a:r>
              <a:rPr sz="2400" kern="0" spc="54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b="1" kern="0" spc="-5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aes()</a:t>
            </a:r>
            <a:r>
              <a:rPr sz="2100" b="1" kern="0" spc="21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400" kern="0" spc="-5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46" name="picture 6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619124"/>
            <a:ext cx="12192000" cy="19050"/>
          </a:xfrm>
          <a:prstGeom prst="rect">
            <a:avLst/>
          </a:prstGeom>
        </p:spPr>
      </p:pic>
      <p:pic>
        <p:nvPicPr>
          <p:cNvPr id="648" name="picture 6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3375" y="571499"/>
            <a:ext cx="12192000" cy="9525"/>
          </a:xfrm>
          <a:prstGeom prst="rect">
            <a:avLst/>
          </a:prstGeom>
        </p:spPr>
      </p:pic>
      <p:sp>
        <p:nvSpPr>
          <p:cNvPr id="650" name="textbox 650"/>
          <p:cNvSpPr/>
          <p:nvPr/>
        </p:nvSpPr>
        <p:spPr>
          <a:xfrm>
            <a:off x="12558662" y="6906773"/>
            <a:ext cx="170179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25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rect 652"/>
          <p:cNvSpPr/>
          <p:nvPr/>
        </p:nvSpPr>
        <p:spPr>
          <a:xfrm>
            <a:off x="0" y="0"/>
            <a:ext cx="12858750" cy="7219949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54" name="rect 654"/>
          <p:cNvSpPr/>
          <p:nvPr/>
        </p:nvSpPr>
        <p:spPr>
          <a:xfrm>
            <a:off x="6457950" y="3771899"/>
            <a:ext cx="4029075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56" name="rect 656"/>
          <p:cNvSpPr/>
          <p:nvPr/>
        </p:nvSpPr>
        <p:spPr>
          <a:xfrm>
            <a:off x="6457950" y="3371849"/>
            <a:ext cx="2809875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658" name="table 658"/>
          <p:cNvGraphicFramePr>
            <a:graphicFrameLocks noGrp="1"/>
          </p:cNvGraphicFramePr>
          <p:nvPr/>
        </p:nvGraphicFramePr>
        <p:xfrm>
          <a:off x="333375" y="619124"/>
          <a:ext cx="12191999" cy="3477895"/>
        </p:xfrm>
        <a:graphic>
          <a:graphicData uri="http://schemas.openxmlformats.org/drawingml/2006/table">
            <a:tbl>
              <a:tblPr/>
              <a:tblGrid>
                <a:gridCol w="1629410"/>
                <a:gridCol w="3763009"/>
                <a:gridCol w="6799579"/>
              </a:tblGrid>
              <a:tr h="2228850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3190" algn="l" rtl="0" eaLnBrk="0">
                        <a:lnSpc>
                          <a:spcPts val="2710"/>
                        </a:lnSpc>
                      </a:pPr>
                      <a:r>
                        <a:rPr sz="2100" kern="0" spc="-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</a:t>
                      </a:r>
                      <a:r>
                        <a:rPr sz="2100" kern="0" spc="20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100" kern="0" spc="-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由</a:t>
                      </a:r>
                      <a:r>
                        <a:rPr sz="2100" b="1" kern="0" spc="-4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死亡原因这个变量</a:t>
                      </a:r>
                      <a:r>
                        <a:rPr sz="2100" kern="0" spc="-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决定，属于变量映射</a:t>
                      </a:r>
                      <a:r>
                        <a:rPr sz="2100" kern="0" spc="-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，颜色随数据取值自动变化，并生成图例。</a:t>
                      </a:r>
                      <a:endParaRPr sz="2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410845" indent="-284480" algn="l" rtl="0" eaLnBrk="0">
                        <a:lnSpc>
                          <a:spcPct val="97000"/>
                        </a:lnSpc>
                        <a:spcBef>
                          <a:spcPts val="40"/>
                        </a:spcBef>
                      </a:pPr>
                      <a:r>
                        <a:rPr sz="21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 三类死因会变成同一种颜色，读者</a:t>
                      </a:r>
                      <a:r>
                        <a:rPr sz="2100" b="1" kern="0" spc="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看不出每个月的高死亡水</a:t>
                      </a:r>
                      <a:r>
                        <a:rPr sz="2100" b="1" kern="0" spc="-1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平主要由哪类原因贡献</a:t>
                      </a:r>
                      <a:r>
                        <a:rPr sz="2100" kern="0" spc="-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——玫瑰图会退 </a:t>
                      </a:r>
                      <a:r>
                        <a:rPr sz="2100" kern="0" spc="-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化成”一圈同色的柱子”，</a:t>
                      </a:r>
                      <a:r>
                        <a:rPr sz="2100" kern="0" spc="-40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100" kern="0" spc="-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同时失去”总量</a:t>
                      </a:r>
                      <a:r>
                        <a:rPr sz="2100" kern="0" spc="2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100" kern="0" spc="-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 构成”的表达能力。</a:t>
                      </a:r>
                      <a:endParaRPr sz="2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67D6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FAF7"/>
                    </a:solidFill>
                  </a:tcPr>
                </a:tc>
                <a:tc hMerge="1">
                  <a:tcPr marL="0" marR="0" marT="0" marB="0" vert="horz">
                    <a:lnL w="47625" cap="flat" cmpd="sng" algn="ctr">
                      <a:solidFill>
                        <a:srgbClr val="67D6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FAF7"/>
                    </a:solidFill>
                  </a:tcPr>
                </a:tc>
                <a:tc hMerge="1">
                  <a:tcPr marL="0" marR="0" marT="0" marB="0" vert="horz">
                    <a:lnL w="47625" cap="flat" cmpd="sng" algn="ctr">
                      <a:solidFill>
                        <a:srgbClr val="67D6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FAF7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37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概念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67D6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6715" algn="l" rtl="0" eaLnBrk="0">
                        <a:lnSpc>
                          <a:spcPts val="3035"/>
                        </a:lnSpc>
                        <a:spcBef>
                          <a:spcPts val="5"/>
                        </a:spcBef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颜色 / 位置由谁</a:t>
                      </a:r>
                      <a:r>
                        <a:rPr sz="2200" b="1" kern="0" spc="7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决定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3342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b="1" kern="0" spc="7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例子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变量映射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544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b="1" kern="0" spc="9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数据变量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6925" algn="l" rtl="0" eaLnBrk="0">
                        <a:lnSpc>
                          <a:spcPts val="2640"/>
                        </a:lnSpc>
                        <a:spcBef>
                          <a:spcPts val="5"/>
                        </a:spcBef>
                      </a:pP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aes(fill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2000" kern="0" spc="12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死亡原因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endParaRPr sz="20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7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874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属性设定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7350" algn="l" rtl="0" eaLnBrk="0">
                        <a:lnSpc>
                          <a:spcPct val="98000"/>
                        </a:lnSpc>
                      </a:pPr>
                      <a:r>
                        <a:rPr sz="2200" b="1" kern="0" spc="2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你指定</a:t>
                      </a:r>
                      <a:r>
                        <a:rPr sz="2200" b="1" kern="0" spc="-32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2200" kern="0" spc="-5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与数据无关           </a:t>
                      </a:r>
                      <a:r>
                        <a:rPr sz="2200" kern="0" spc="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</a:t>
                      </a: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geom</a:t>
                      </a:r>
                      <a:r>
                        <a:rPr sz="2000" kern="0" spc="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col</a:t>
                      </a:r>
                      <a:r>
                        <a:rPr sz="2000" kern="0" spc="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fill</a:t>
                      </a:r>
                      <a:r>
                        <a:rPr sz="2000" kern="0" spc="14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kern="0" spc="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2000" kern="0" spc="26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kern="0" spc="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steelblue</a:t>
                      </a:r>
                      <a:r>
                        <a:rPr sz="2000" kern="0" spc="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")</a:t>
                      </a:r>
                      <a:endParaRPr sz="20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60" name="textbox 660"/>
          <p:cNvSpPr/>
          <p:nvPr/>
        </p:nvSpPr>
        <p:spPr>
          <a:xfrm>
            <a:off x="371475" y="704849"/>
            <a:ext cx="12153900" cy="447675"/>
          </a:xfrm>
          <a:prstGeom prst="rect">
            <a:avLst/>
          </a:prstGeom>
          <a:solidFill>
            <a:srgbClr val="67D6B4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7020" algn="l" rtl="0" eaLnBrk="0">
              <a:lnSpc>
                <a:spcPct val="91000"/>
              </a:lnSpc>
            </a:pPr>
            <a:r>
              <a:rPr sz="1900" b="1" kern="0" spc="-1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【参考答案】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2" name="rect 662"/>
          <p:cNvSpPr/>
          <p:nvPr/>
        </p:nvSpPr>
        <p:spPr>
          <a:xfrm>
            <a:off x="333375" y="190500"/>
            <a:ext cx="12192000" cy="390524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64" name="rect 664"/>
          <p:cNvSpPr/>
          <p:nvPr/>
        </p:nvSpPr>
        <p:spPr>
          <a:xfrm>
            <a:off x="1600199" y="1333499"/>
            <a:ext cx="2400300" cy="2952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66" name="rect 666"/>
          <p:cNvSpPr/>
          <p:nvPr/>
        </p:nvSpPr>
        <p:spPr>
          <a:xfrm>
            <a:off x="4695824" y="1333499"/>
            <a:ext cx="733425" cy="2952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68" name="textbox 668"/>
          <p:cNvSpPr/>
          <p:nvPr/>
        </p:nvSpPr>
        <p:spPr>
          <a:xfrm>
            <a:off x="456609" y="1267230"/>
            <a:ext cx="11677650" cy="377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75"/>
              </a:lnSpc>
            </a:pP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2100" kern="0" spc="1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b="1" kern="0" spc="-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种。</a:t>
            </a:r>
            <a:r>
              <a:rPr sz="2100" b="1" kern="0" spc="3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fill</a:t>
            </a:r>
            <a:r>
              <a:rPr sz="1800" kern="0" spc="-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00" kern="0" spc="-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=</a:t>
            </a:r>
            <a:r>
              <a:rPr sz="1800" kern="0" spc="25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00" kern="0" spc="-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"steelblue"</a:t>
            </a:r>
            <a:r>
              <a:rPr sz="1800" kern="0" spc="-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写在  </a:t>
            </a:r>
            <a:r>
              <a:rPr sz="1800" kern="0" spc="-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aes()</a:t>
            </a:r>
            <a:r>
              <a:rPr sz="1800" kern="0" spc="-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外，是固定属性，与数据无关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，所有柱子（扇形）同色。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0" name="rect 670"/>
          <p:cNvSpPr/>
          <p:nvPr/>
        </p:nvSpPr>
        <p:spPr>
          <a:xfrm>
            <a:off x="8782050" y="209549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72" name="textbox 672"/>
          <p:cNvSpPr/>
          <p:nvPr/>
        </p:nvSpPr>
        <p:spPr>
          <a:xfrm>
            <a:off x="7591902" y="245045"/>
            <a:ext cx="4866640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</a:t>
            </a:r>
            <a:r>
              <a:rPr sz="2100" b="1" kern="0" spc="15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3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74" name="picture 6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571499"/>
            <a:ext cx="12192000" cy="9525"/>
          </a:xfrm>
          <a:prstGeom prst="rect">
            <a:avLst/>
          </a:prstGeom>
        </p:spPr>
      </p:pic>
      <p:sp>
        <p:nvSpPr>
          <p:cNvPr id="676" name="textbox 676"/>
          <p:cNvSpPr/>
          <p:nvPr/>
        </p:nvSpPr>
        <p:spPr>
          <a:xfrm>
            <a:off x="12558662" y="6906773"/>
            <a:ext cx="170179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26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rect 678"/>
          <p:cNvSpPr/>
          <p:nvPr/>
        </p:nvSpPr>
        <p:spPr>
          <a:xfrm>
            <a:off x="0" y="0"/>
            <a:ext cx="12858750" cy="7219949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680" name="table 680"/>
          <p:cNvGraphicFramePr>
            <a:graphicFrameLocks noGrp="1"/>
          </p:cNvGraphicFramePr>
          <p:nvPr/>
        </p:nvGraphicFramePr>
        <p:xfrm>
          <a:off x="333375" y="2419349"/>
          <a:ext cx="12192000" cy="2485390"/>
        </p:xfrm>
        <a:graphic>
          <a:graphicData uri="http://schemas.openxmlformats.org/drawingml/2006/table">
            <a:tbl>
              <a:tblPr/>
              <a:tblGrid>
                <a:gridCol w="12192000"/>
              </a:tblGrid>
              <a:tr h="13563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" algn="l" rtl="0" eaLnBrk="0">
                        <a:lnSpc>
                          <a:spcPts val="1840"/>
                        </a:lnSpc>
                        <a:spcBef>
                          <a:spcPts val="5"/>
                        </a:spcBef>
                        <a:tabLst>
                          <a:tab pos="26289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</a:t>
                      </a:r>
                      <a:r>
                        <a:rPr sz="1400" kern="0" spc="5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ggplot</a:t>
                      </a:r>
                      <a:r>
                        <a:rPr sz="14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cause</a:t>
                      </a:r>
                      <a:r>
                        <a:rPr sz="14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summary</a:t>
                      </a:r>
                      <a:r>
                        <a:rPr sz="14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55"/>
                        </a:lnSpc>
                        <a:tabLst>
                          <a:tab pos="26352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2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aes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x</a:t>
                      </a:r>
                      <a:r>
                        <a:rPr sz="1400" kern="0" spc="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死亡原因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750"/>
                        </a:lnSpc>
                        <a:tabLst>
                          <a:tab pos="2647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3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     </a:t>
                      </a:r>
                      <a:r>
                        <a:rPr sz="1400" kern="0" spc="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y</a:t>
                      </a:r>
                      <a:r>
                        <a:rPr sz="1400" kern="0" spc="1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累计死亡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人数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25527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4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    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fill</a:t>
                      </a:r>
                      <a:r>
                        <a:rPr sz="1400" kern="0" spc="1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7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亡原因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))</a:t>
                      </a:r>
                      <a:r>
                        <a:rPr sz="14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45"/>
                        </a:lnSpc>
                        <a:tabLst>
                          <a:tab pos="26670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5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geom</a:t>
                      </a:r>
                      <a:r>
                        <a:rPr sz="1400" kern="0" spc="2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col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()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    </a:t>
                      </a:r>
                      <a:r>
                        <a:rPr sz="1400" kern="0" spc="2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#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数据里已经有</a:t>
                      </a:r>
                      <a:r>
                        <a:rPr sz="1400" kern="0" spc="13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y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值，直接用</a:t>
                      </a:r>
                      <a:r>
                        <a:rPr sz="1400" kern="0" spc="15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geom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col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()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</a:tr>
              <a:tr h="11290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81E21"/>
                    </a:solidFill>
                  </a:tcPr>
                </a:tc>
              </a:tr>
            </a:tbl>
          </a:graphicData>
        </a:graphic>
      </p:graphicFrame>
      <p:sp>
        <p:nvSpPr>
          <p:cNvPr id="682" name="rect 682"/>
          <p:cNvSpPr/>
          <p:nvPr/>
        </p:nvSpPr>
        <p:spPr>
          <a:xfrm>
            <a:off x="409575" y="1162049"/>
            <a:ext cx="1504950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684" name="table 684"/>
          <p:cNvGraphicFramePr>
            <a:graphicFrameLocks noGrp="1"/>
          </p:cNvGraphicFramePr>
          <p:nvPr/>
        </p:nvGraphicFramePr>
        <p:xfrm>
          <a:off x="333375" y="628649"/>
          <a:ext cx="12191999" cy="876300"/>
        </p:xfrm>
        <a:graphic>
          <a:graphicData uri="http://schemas.openxmlformats.org/drawingml/2006/table">
            <a:tbl>
              <a:tblPr/>
              <a:tblGrid>
                <a:gridCol w="2077085"/>
                <a:gridCol w="4456429"/>
                <a:gridCol w="5658484"/>
              </a:tblGrid>
              <a:tr h="476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b="1" kern="0" spc="1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函数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8229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b="1" kern="0" spc="9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柱高来自哪里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6266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适用问题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6200" algn="l" rtl="0" eaLnBrk="0">
                        <a:lnSpc>
                          <a:spcPts val="2640"/>
                        </a:lnSpc>
                        <a:spcBef>
                          <a:spcPts val="5"/>
                        </a:spcBef>
                        <a:tabLst>
                          <a:tab pos="137795" algn="l"/>
                        </a:tabLst>
                      </a:pP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	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geom_bar()</a:t>
                      </a:r>
                      <a:endParaRPr sz="20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1404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自动统计每类有多少行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60120" algn="l" rtl="0" eaLnBrk="0">
                        <a:lnSpc>
                          <a:spcPts val="297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每个类别</a:t>
                      </a:r>
                      <a:r>
                        <a:rPr sz="2200" b="1" kern="0" spc="8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出现多少次</a:t>
                      </a: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86" name="rect 686"/>
          <p:cNvSpPr/>
          <p:nvPr/>
        </p:nvSpPr>
        <p:spPr>
          <a:xfrm>
            <a:off x="1924049" y="4448174"/>
            <a:ext cx="476250" cy="295275"/>
          </a:xfrm>
          <a:prstGeom prst="rect">
            <a:avLst/>
          </a:prstGeom>
          <a:solidFill>
            <a:srgbClr val="78C8F5">
              <a:alpha val="1098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88" name="rect 688"/>
          <p:cNvSpPr/>
          <p:nvPr/>
        </p:nvSpPr>
        <p:spPr>
          <a:xfrm>
            <a:off x="4076699" y="4448174"/>
            <a:ext cx="485775" cy="2952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90" name="rect 690"/>
          <p:cNvSpPr/>
          <p:nvPr/>
        </p:nvSpPr>
        <p:spPr>
          <a:xfrm>
            <a:off x="371475" y="3848099"/>
            <a:ext cx="12153900" cy="447675"/>
          </a:xfrm>
          <a:prstGeom prst="rect">
            <a:avLst/>
          </a:prstGeom>
          <a:solidFill>
            <a:srgbClr val="78C8F5">
              <a:alpha val="1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92" name="textbox 692"/>
          <p:cNvSpPr/>
          <p:nvPr/>
        </p:nvSpPr>
        <p:spPr>
          <a:xfrm>
            <a:off x="358775" y="3941812"/>
            <a:ext cx="12179300" cy="816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tabLst>
                <a:tab pos="153670" algn="l"/>
              </a:tabLst>
            </a:pP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与讲义《知识点速查卡》一致的一句话记忆                                                        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2000"/>
              </a:lnSpc>
            </a:pP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4940" algn="l" rtl="0" eaLnBrk="0">
              <a:lnSpc>
                <a:spcPct val="92000"/>
              </a:lnSpc>
            </a:pPr>
            <a:r>
              <a:rPr sz="2100" b="1" kern="0" spc="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有数值就用</a:t>
            </a:r>
            <a:r>
              <a:rPr sz="2100" b="1" kern="0" spc="50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col</a:t>
            </a:r>
            <a:r>
              <a:rPr sz="2100" b="1" kern="0" spc="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，数条数才用  </a:t>
            </a:r>
            <a:r>
              <a:rPr sz="1800" b="1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bar</a:t>
            </a:r>
            <a:r>
              <a:rPr sz="2100" b="1" kern="0" spc="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4" name="rect 694"/>
          <p:cNvSpPr/>
          <p:nvPr/>
        </p:nvSpPr>
        <p:spPr>
          <a:xfrm>
            <a:off x="409575" y="1552574"/>
            <a:ext cx="1504950" cy="3333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96" name="rect 696"/>
          <p:cNvSpPr/>
          <p:nvPr/>
        </p:nvSpPr>
        <p:spPr>
          <a:xfrm>
            <a:off x="5114925" y="2000249"/>
            <a:ext cx="981075" cy="3619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98" name="rect 698"/>
          <p:cNvSpPr/>
          <p:nvPr/>
        </p:nvSpPr>
        <p:spPr>
          <a:xfrm>
            <a:off x="2743199" y="2000249"/>
            <a:ext cx="1847850" cy="3619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00" name="textbox 700"/>
          <p:cNvSpPr/>
          <p:nvPr/>
        </p:nvSpPr>
        <p:spPr>
          <a:xfrm>
            <a:off x="325957" y="1494499"/>
            <a:ext cx="10274934" cy="847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970"/>
              </a:lnSpc>
            </a:pPr>
            <a:r>
              <a:rPr sz="20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geom</a:t>
            </a:r>
            <a:r>
              <a:rPr sz="2000" kern="0" spc="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_</a:t>
            </a:r>
            <a:r>
              <a:rPr sz="20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col</a:t>
            </a:r>
            <a:r>
              <a:rPr sz="2000" kern="0" spc="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()</a:t>
            </a:r>
            <a:r>
              <a:rPr sz="2000" kern="0" spc="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</a:t>
            </a:r>
            <a:r>
              <a:rPr sz="22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直接使用已有</a:t>
            </a:r>
            <a:r>
              <a:rPr sz="2200" kern="0" spc="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 y 变量                      每类</a:t>
            </a:r>
            <a:r>
              <a:rPr sz="2200" b="1" kern="0" spc="2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已有数值是多少</a:t>
            </a:r>
            <a:r>
              <a:rPr sz="2200" kern="0" spc="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？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5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本项目已经拥有</a:t>
            </a:r>
            <a:r>
              <a:rPr sz="2500" kern="0" spc="6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kern="0" spc="50" dirty="0">
                <a:solidFill>
                  <a:srgbClr val="9BDCFF">
                    <a:alpha val="100000"/>
                  </a:srgbClr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累计死亡人数</a:t>
            </a:r>
            <a:r>
              <a:rPr sz="2200" kern="0" spc="50" dirty="0">
                <a:solidFill>
                  <a:srgbClr val="9BDCFF">
                    <a:alpha val="100000"/>
                  </a:srgbClr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 </a:t>
            </a:r>
            <a:r>
              <a:rPr sz="25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sz="2500" kern="0" spc="5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kern="0" spc="50" dirty="0">
                <a:solidFill>
                  <a:srgbClr val="9BDCFF">
                    <a:alpha val="100000"/>
                  </a:srgbClr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死亡率</a:t>
            </a:r>
            <a:r>
              <a:rPr sz="2200" kern="0" spc="-250" dirty="0">
                <a:solidFill>
                  <a:srgbClr val="9BDCFF">
                    <a:alpha val="100000"/>
                  </a:srgbClr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 </a:t>
            </a:r>
            <a:r>
              <a:rPr sz="25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kern="0" spc="-4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因此全部使</a:t>
            </a:r>
            <a:r>
              <a:rPr sz="25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用：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2" name="textbox 702"/>
          <p:cNvSpPr/>
          <p:nvPr/>
        </p:nvSpPr>
        <p:spPr>
          <a:xfrm>
            <a:off x="333375" y="190500"/>
            <a:ext cx="12192000" cy="409575"/>
          </a:xfrm>
          <a:prstGeom prst="rect">
            <a:avLst/>
          </a:prstGeom>
          <a:solidFill>
            <a:srgbClr val="111A22">
              <a:alpha val="96862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/>
        </p:txBody>
      </p:sp>
      <p:sp>
        <p:nvSpPr>
          <p:cNvPr id="704" name="rect 704"/>
          <p:cNvSpPr/>
          <p:nvPr/>
        </p:nvSpPr>
        <p:spPr>
          <a:xfrm>
            <a:off x="8782050" y="209549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06" name="textbox 706"/>
          <p:cNvSpPr/>
          <p:nvPr/>
        </p:nvSpPr>
        <p:spPr>
          <a:xfrm>
            <a:off x="7591902" y="245045"/>
            <a:ext cx="4866640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</a:t>
            </a:r>
            <a:r>
              <a:rPr sz="2100" b="1" kern="0" spc="15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3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08" name="picture 7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571499"/>
            <a:ext cx="12192000" cy="9525"/>
          </a:xfrm>
          <a:prstGeom prst="rect">
            <a:avLst/>
          </a:prstGeom>
        </p:spPr>
      </p:pic>
      <p:sp>
        <p:nvSpPr>
          <p:cNvPr id="710" name="textbox 710"/>
          <p:cNvSpPr/>
          <p:nvPr/>
        </p:nvSpPr>
        <p:spPr>
          <a:xfrm>
            <a:off x="12558662" y="6947979"/>
            <a:ext cx="170179" cy="138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27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rect 712"/>
          <p:cNvSpPr/>
          <p:nvPr/>
        </p:nvSpPr>
        <p:spPr>
          <a:xfrm>
            <a:off x="0" y="0"/>
            <a:ext cx="12858750" cy="7219949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14" name="rect 714"/>
          <p:cNvSpPr/>
          <p:nvPr/>
        </p:nvSpPr>
        <p:spPr>
          <a:xfrm>
            <a:off x="352425" y="4229099"/>
            <a:ext cx="12172950" cy="2028825"/>
          </a:xfrm>
          <a:prstGeom prst="rect">
            <a:avLst/>
          </a:prstGeom>
          <a:solidFill>
            <a:srgbClr val="FF9F87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716" name="table 716"/>
          <p:cNvGraphicFramePr>
            <a:graphicFrameLocks noGrp="1"/>
          </p:cNvGraphicFramePr>
          <p:nvPr/>
        </p:nvGraphicFramePr>
        <p:xfrm>
          <a:off x="333375" y="628649"/>
          <a:ext cx="12191365" cy="1724025"/>
        </p:xfrm>
        <a:graphic>
          <a:graphicData uri="http://schemas.openxmlformats.org/drawingml/2006/table">
            <a:tbl>
              <a:tblPr/>
              <a:tblGrid>
                <a:gridCol w="3542029"/>
                <a:gridCol w="4661534"/>
                <a:gridCol w="3987800"/>
              </a:tblGrid>
              <a:tr h="914400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8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5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本项目</a:t>
                      </a:r>
                      <a:r>
                        <a:rPr sz="2500" b="1" kern="0" spc="7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全项目只用一套颜色</a:t>
                      </a:r>
                      <a:r>
                        <a:rPr sz="2500" b="1" kern="0" spc="-34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5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2500" kern="0" spc="-6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5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定义在数据准备代码里</a:t>
                      </a:r>
                      <a:r>
                        <a:rPr sz="2500" kern="0" spc="-3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5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，之后任何地方都不再改动：</a:t>
                      </a:r>
                      <a:endParaRPr sz="25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8740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b="1" kern="0" spc="9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死亡原因</a:t>
                      </a:r>
                      <a:r>
                        <a:rPr sz="2200" b="1" kern="0" spc="1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                    </a:t>
                      </a:r>
                      <a:r>
                        <a:rPr sz="2200" b="1" kern="0" spc="9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色值</a:t>
                      </a:r>
                      <a:r>
                        <a:rPr sz="2200" b="1" kern="0" spc="1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            </a:t>
                      </a:r>
                      <a:r>
                        <a:rPr sz="2200" b="1" kern="0" spc="9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外观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28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可预防疾病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64640" algn="l" rtl="0" eaLnBrk="0">
                        <a:lnSpc>
                          <a:spcPct val="8700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灰蓝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51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017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战伤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64640" algn="l" rtl="0" eaLnBrk="0">
                        <a:lnSpc>
                          <a:spcPct val="8800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灰粉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18" name="table 718"/>
          <p:cNvGraphicFramePr>
            <a:graphicFrameLocks noGrp="1"/>
          </p:cNvGraphicFramePr>
          <p:nvPr/>
        </p:nvGraphicFramePr>
        <p:xfrm>
          <a:off x="333375" y="2790824"/>
          <a:ext cx="12192000" cy="1362075"/>
        </p:xfrm>
        <a:graphic>
          <a:graphicData uri="http://schemas.openxmlformats.org/drawingml/2006/table">
            <a:tbl>
              <a:tblPr>
                <a:solidFill>
                  <a:srgbClr val="24292E"/>
                </a:solidFill>
              </a:tblPr>
              <a:tblGrid>
                <a:gridCol w="12192000"/>
              </a:tblGrid>
              <a:tr h="13493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" algn="l" rtl="0" eaLnBrk="0">
                        <a:lnSpc>
                          <a:spcPts val="1875"/>
                        </a:lnSpc>
                        <a:spcBef>
                          <a:spcPts val="5"/>
                        </a:spcBef>
                        <a:tabLst>
                          <a:tab pos="26289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cause_colors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&lt;-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可预防疾病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20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"#BCC7C9"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19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战伤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9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"#E6BDB8"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2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其他原因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10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9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"#777777"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ct val="87000"/>
                        </a:lnSpc>
                        <a:spcBef>
                          <a:spcPts val="10"/>
                        </a:spcBef>
                        <a:tabLst>
                          <a:tab pos="263525" algn="l"/>
                        </a:tabLst>
                      </a:pP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300" kern="0" spc="-4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2</a:t>
                      </a:r>
                      <a:r>
                        <a:rPr sz="13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 </a:t>
                      </a:r>
                      <a:endParaRPr sz="13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40"/>
                        </a:lnSpc>
                        <a:spcBef>
                          <a:spcPts val="355"/>
                        </a:spcBef>
                        <a:tabLst>
                          <a:tab pos="2647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3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ggplot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cause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summary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aes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x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死亡原因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y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3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累计死亡人数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fill</a:t>
                      </a:r>
                      <a:r>
                        <a:rPr sz="1400" kern="0" spc="10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8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死亡原因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))</a:t>
                      </a:r>
                      <a:r>
                        <a:rPr sz="14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10"/>
                        </a:lnSpc>
                        <a:tabLst>
                          <a:tab pos="25527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4</a:t>
                      </a:r>
                      <a:r>
                        <a:rPr sz="1400" kern="0" spc="5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geom</a:t>
                      </a:r>
                      <a:r>
                        <a:rPr sz="1400" kern="0" spc="1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col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()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30"/>
                        </a:lnSpc>
                        <a:tabLst>
                          <a:tab pos="26670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5</a:t>
                      </a:r>
                      <a:r>
                        <a:rPr sz="1400" kern="0" spc="5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scale</a:t>
                      </a:r>
                      <a:r>
                        <a:rPr sz="1400" kern="0" spc="2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fill</a:t>
                      </a:r>
                      <a:r>
                        <a:rPr sz="1400" kern="0" spc="2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manual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values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cause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colors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</a:t>
                      </a:r>
                      <a:r>
                        <a:rPr sz="1400" kern="0" spc="2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#</a:t>
                      </a:r>
                      <a:r>
                        <a:rPr sz="1400" kern="0" spc="2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套用统一配色</a:t>
                      </a:r>
                      <a:endParaRPr sz="1400" dirty="0">
                        <a:latin typeface="新宋体" panose="02010609030101010101" charset="-122"/>
                        <a:ea typeface="新宋体" panose="02010609030101010101" charset="-122"/>
                        <a:cs typeface="新宋体" panose="02010609030101010101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</a:tr>
            </a:tbl>
          </a:graphicData>
        </a:graphic>
      </p:graphicFrame>
      <p:pic>
        <p:nvPicPr>
          <p:cNvPr id="720" name="picture 7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4229100"/>
            <a:ext cx="47625" cy="2028824"/>
          </a:xfrm>
          <a:prstGeom prst="rect">
            <a:avLst/>
          </a:prstGeom>
        </p:spPr>
      </p:pic>
      <p:sp>
        <p:nvSpPr>
          <p:cNvPr id="722" name="textbox 722"/>
          <p:cNvSpPr/>
          <p:nvPr/>
        </p:nvSpPr>
        <p:spPr>
          <a:xfrm>
            <a:off x="371475" y="4229099"/>
            <a:ext cx="12153900" cy="447675"/>
          </a:xfrm>
          <a:prstGeom prst="rect">
            <a:avLst/>
          </a:prstGeom>
          <a:solidFill>
            <a:srgbClr val="FF9F87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6525" algn="l" rtl="0" eaLnBrk="0">
              <a:lnSpc>
                <a:spcPts val="2770"/>
              </a:lnSpc>
            </a:pP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表达红线：不要覆盖 cause_co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lors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4" name="textbox 724"/>
          <p:cNvSpPr/>
          <p:nvPr/>
        </p:nvSpPr>
        <p:spPr>
          <a:xfrm>
            <a:off x="333375" y="190500"/>
            <a:ext cx="12192000" cy="40957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/>
        </p:txBody>
      </p:sp>
      <p:graphicFrame>
        <p:nvGraphicFramePr>
          <p:cNvPr id="726" name="table 726"/>
          <p:cNvGraphicFramePr>
            <a:graphicFrameLocks noGrp="1"/>
          </p:cNvGraphicFramePr>
          <p:nvPr/>
        </p:nvGraphicFramePr>
        <p:xfrm>
          <a:off x="514350" y="5162549"/>
          <a:ext cx="11868150" cy="419100"/>
        </p:xfrm>
        <a:graphic>
          <a:graphicData uri="http://schemas.openxmlformats.org/drawingml/2006/table">
            <a:tbl>
              <a:tblPr>
                <a:solidFill>
                  <a:srgbClr val="24292E"/>
                </a:solidFill>
              </a:tblPr>
              <a:tblGrid>
                <a:gridCol w="11868150"/>
              </a:tblGrid>
              <a:tr h="406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" algn="l" rtl="0" eaLnBrk="0">
                        <a:lnSpc>
                          <a:spcPts val="1835"/>
                        </a:lnSpc>
                        <a:spcBef>
                          <a:spcPts val="5"/>
                        </a:spcBef>
                        <a:tabLst>
                          <a:tab pos="255270" algn="l"/>
                        </a:tabLst>
                      </a:pP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300" kern="0" spc="6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</a:t>
                      </a:r>
                      <a:r>
                        <a:rPr sz="1300" kern="0" spc="56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my</a:t>
                      </a:r>
                      <a:r>
                        <a:rPr sz="1300" kern="0" spc="6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colors</a:t>
                      </a:r>
                      <a:r>
                        <a:rPr sz="1300" kern="0" spc="6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6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&lt;-</a:t>
                      </a:r>
                      <a:r>
                        <a:rPr sz="1300" kern="0" spc="6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6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</a:t>
                      </a:r>
                      <a:r>
                        <a:rPr sz="1300" kern="0" spc="6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300" kern="0" spc="6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300" kern="0" spc="6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可预防疾病</a:t>
                      </a:r>
                      <a:r>
                        <a:rPr sz="1300" kern="0" spc="6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300" kern="0" spc="6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6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300" kern="0" spc="23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6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"#3B7</a:t>
                      </a:r>
                      <a:r>
                        <a:rPr sz="13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EA</a:t>
                      </a:r>
                      <a:r>
                        <a:rPr sz="1300" kern="0" spc="5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1"</a:t>
                      </a:r>
                      <a:r>
                        <a:rPr sz="1300" kern="0" spc="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300" kern="0" spc="24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5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300" kern="0" spc="5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战伤</a:t>
                      </a:r>
                      <a:r>
                        <a:rPr sz="1300" kern="0" spc="5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300" kern="0" spc="5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5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300" kern="0" spc="23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5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"#C4622D"</a:t>
                      </a:r>
                      <a:r>
                        <a:rPr sz="1300" kern="0" spc="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300" kern="0" spc="2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5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300" kern="0" spc="5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其他原因</a:t>
                      </a:r>
                      <a:r>
                        <a:rPr sz="1300" kern="0" spc="5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300" kern="0" spc="15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5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300" kern="0" spc="23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5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"#6E6E6E"</a:t>
                      </a:r>
                      <a:r>
                        <a:rPr sz="1300" kern="0" spc="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endParaRPr sz="13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</a:tr>
            </a:tbl>
          </a:graphicData>
        </a:graphic>
      </p:graphicFrame>
      <p:sp>
        <p:nvSpPr>
          <p:cNvPr id="728" name="rect 728"/>
          <p:cNvSpPr/>
          <p:nvPr/>
        </p:nvSpPr>
        <p:spPr>
          <a:xfrm>
            <a:off x="1657349" y="5800724"/>
            <a:ext cx="1628775" cy="2952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30" name="textbox 730"/>
          <p:cNvSpPr/>
          <p:nvPr/>
        </p:nvSpPr>
        <p:spPr>
          <a:xfrm>
            <a:off x="501601" y="5780415"/>
            <a:ext cx="11550650" cy="332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6000"/>
              </a:lnSpc>
            </a:pP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一旦覆盖</a:t>
            </a:r>
            <a:r>
              <a:rPr sz="2100" kern="0" spc="5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cause_colors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，后面任务的配色会跟着变，</a:t>
            </a:r>
            <a:r>
              <a:rPr sz="2100" kern="0" spc="-2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b="1" kern="0" spc="-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“同一类死因在所有图里颜色相同”就断了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2" name="rect 732"/>
          <p:cNvSpPr/>
          <p:nvPr/>
        </p:nvSpPr>
        <p:spPr>
          <a:xfrm>
            <a:off x="8858250" y="4829174"/>
            <a:ext cx="1247775" cy="2952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34" name="textbox 734"/>
          <p:cNvSpPr/>
          <p:nvPr/>
        </p:nvSpPr>
        <p:spPr>
          <a:xfrm>
            <a:off x="501334" y="4808865"/>
            <a:ext cx="9833609" cy="332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6000"/>
              </a:lnSpc>
            </a:pPr>
            <a:r>
              <a:rPr sz="21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</a:t>
            </a:r>
            <a:r>
              <a:rPr sz="2100" b="1" kern="0" spc="-2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自选</a:t>
            </a:r>
            <a:r>
              <a:rPr sz="21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颜色时（例如巩固提升的进阶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请另起一个变量名，例如</a:t>
            </a:r>
            <a:r>
              <a:rPr sz="2100" kern="0" spc="4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-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my_colors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6" name="rect 736"/>
          <p:cNvSpPr/>
          <p:nvPr/>
        </p:nvSpPr>
        <p:spPr>
          <a:xfrm>
            <a:off x="5886450" y="2400299"/>
            <a:ext cx="1085850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38" name="textbox 738"/>
          <p:cNvSpPr/>
          <p:nvPr/>
        </p:nvSpPr>
        <p:spPr>
          <a:xfrm>
            <a:off x="400957" y="2388478"/>
            <a:ext cx="10294619" cy="3181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2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其他原因                                                   </a:t>
            </a:r>
            <a:r>
              <a:rPr sz="2000" kern="0" spc="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#777777</a:t>
            </a:r>
            <a:r>
              <a:rPr sz="2000" kern="0" spc="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          </a:t>
            </a:r>
            <a:r>
              <a:rPr sz="22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深灰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0" name="rect 740"/>
          <p:cNvSpPr/>
          <p:nvPr/>
        </p:nvSpPr>
        <p:spPr>
          <a:xfrm>
            <a:off x="8782050" y="209549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42" name="textbox 742"/>
          <p:cNvSpPr/>
          <p:nvPr/>
        </p:nvSpPr>
        <p:spPr>
          <a:xfrm>
            <a:off x="7591902" y="245045"/>
            <a:ext cx="4866640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</a:t>
            </a:r>
            <a:r>
              <a:rPr sz="2100" b="1" kern="0" spc="15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3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4" name="textbox 744"/>
          <p:cNvSpPr/>
          <p:nvPr/>
        </p:nvSpPr>
        <p:spPr>
          <a:xfrm>
            <a:off x="5886450" y="1600199"/>
            <a:ext cx="1085850" cy="323850"/>
          </a:xfrm>
          <a:prstGeom prst="rect">
            <a:avLst/>
          </a:prstGeom>
          <a:solidFill>
            <a:srgbClr val="78C8F5">
              <a:alpha val="11372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0325" algn="l" rtl="0" eaLnBrk="0">
              <a:lnSpc>
                <a:spcPct val="66000"/>
              </a:lnSpc>
              <a:spcBef>
                <a:spcPts val="5"/>
              </a:spcBef>
            </a:pPr>
            <a:r>
              <a:rPr sz="2000" kern="0" spc="-1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</a:t>
            </a:r>
            <a:r>
              <a:rPr sz="20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BCC</a:t>
            </a:r>
            <a:r>
              <a:rPr sz="2000" kern="0" spc="-1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7C9</a:t>
            </a:r>
            <a:endParaRPr sz="2000" dirty="0"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46" name="textbox 746"/>
          <p:cNvSpPr/>
          <p:nvPr/>
        </p:nvSpPr>
        <p:spPr>
          <a:xfrm>
            <a:off x="5886450" y="2000249"/>
            <a:ext cx="1085850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0325" algn="l" rtl="0" eaLnBrk="0">
              <a:lnSpc>
                <a:spcPct val="66000"/>
              </a:lnSpc>
              <a:spcBef>
                <a:spcPts val="0"/>
              </a:spcBef>
            </a:pPr>
            <a:r>
              <a:rPr sz="2000" kern="0" spc="-1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#E6</a:t>
            </a:r>
            <a:r>
              <a:rPr sz="20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BDB</a:t>
            </a:r>
            <a:r>
              <a:rPr sz="2000" kern="0" spc="-1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8</a:t>
            </a:r>
            <a:endParaRPr sz="2000" dirty="0"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pic>
        <p:nvPicPr>
          <p:cNvPr id="748" name="picture 7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571499"/>
            <a:ext cx="12192000" cy="9525"/>
          </a:xfrm>
          <a:prstGeom prst="rect">
            <a:avLst/>
          </a:prstGeom>
        </p:spPr>
      </p:pic>
      <p:sp>
        <p:nvSpPr>
          <p:cNvPr id="750" name="textbox 750"/>
          <p:cNvSpPr/>
          <p:nvPr/>
        </p:nvSpPr>
        <p:spPr>
          <a:xfrm>
            <a:off x="12558662" y="6906773"/>
            <a:ext cx="170179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28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rect 752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54" name="rect 754"/>
          <p:cNvSpPr/>
          <p:nvPr/>
        </p:nvSpPr>
        <p:spPr>
          <a:xfrm>
            <a:off x="2162174" y="2571761"/>
            <a:ext cx="2343150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756" name="table 756"/>
          <p:cNvGraphicFramePr>
            <a:graphicFrameLocks noGrp="1"/>
          </p:cNvGraphicFramePr>
          <p:nvPr/>
        </p:nvGraphicFramePr>
        <p:xfrm>
          <a:off x="333375" y="628661"/>
          <a:ext cx="12191365" cy="2676525"/>
        </p:xfrm>
        <a:graphic>
          <a:graphicData uri="http://schemas.openxmlformats.org/drawingml/2006/table">
            <a:tbl>
              <a:tblPr/>
              <a:tblGrid>
                <a:gridCol w="1534160"/>
                <a:gridCol w="5104129"/>
                <a:gridCol w="5553075"/>
              </a:tblGrid>
              <a:tr h="528955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4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5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分面把一张图拆成</a:t>
                      </a:r>
                      <a:r>
                        <a:rPr sz="2500" b="1" kern="0" spc="8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结构相同</a:t>
                      </a:r>
                      <a:r>
                        <a:rPr sz="25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的多个小图</a:t>
                      </a:r>
                      <a:r>
                        <a:rPr sz="2500" kern="0" spc="-3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5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2500" kern="0" spc="-6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5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让小图之间可以</a:t>
                      </a:r>
                      <a:r>
                        <a:rPr sz="25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直接比较。</a:t>
                      </a:r>
                      <a:endParaRPr sz="25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3605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" algn="l" rtl="0" eaLnBrk="0">
                        <a:lnSpc>
                          <a:spcPts val="1840"/>
                        </a:lnSpc>
                        <a:spcBef>
                          <a:spcPts val="0"/>
                        </a:spcBef>
                        <a:tabLst>
                          <a:tab pos="26289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ggplot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nightingale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long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aes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x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月份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y</a:t>
                      </a:r>
                      <a:r>
                        <a:rPr sz="1400" kern="0" spc="10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死亡率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fill</a:t>
                      </a:r>
                      <a:r>
                        <a:rPr sz="1400" kern="0" spc="1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7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死亡原因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))</a:t>
                      </a:r>
                      <a:r>
                        <a:rPr sz="14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10"/>
                        </a:lnSpc>
                        <a:tabLst>
                          <a:tab pos="26352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2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geom_col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()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45"/>
                        </a:lnSpc>
                        <a:tabLst>
                          <a:tab pos="2647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3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facet</a:t>
                      </a:r>
                      <a:r>
                        <a:rPr sz="1400" kern="0" spc="1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wrap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~</a:t>
                      </a:r>
                      <a:r>
                        <a:rPr sz="1400" kern="0" spc="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阶段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ncol</a:t>
                      </a:r>
                      <a:r>
                        <a:rPr sz="1400" kern="0" spc="1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2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#</a:t>
                      </a:r>
                      <a:r>
                        <a:rPr sz="1400" kern="0" spc="12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按阶段拆成两</a:t>
                      </a:r>
                      <a:r>
                        <a:rPr sz="1400" kern="0" spc="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张小图</a:t>
                      </a:r>
                      <a:endParaRPr sz="1400" dirty="0">
                        <a:latin typeface="新宋体" panose="02010609030101010101" charset="-122"/>
                        <a:ea typeface="新宋体" panose="02010609030101010101" charset="-122"/>
                        <a:cs typeface="新宋体" panose="02010609030101010101" charset="-122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  <a:tc hMerge="1"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  <a:tc hMerge="1"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</a:tr>
              <a:tr h="4527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b="1" kern="0" spc="7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要点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591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b="1" kern="0" spc="7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做法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88035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原因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56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37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纵轴尺度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4005" algn="l" rtl="0" eaLnBrk="0">
                        <a:lnSpc>
                          <a:spcPts val="2995"/>
                        </a:lnSpc>
                        <a:tabLst>
                          <a:tab pos="363220" algn="l"/>
                        </a:tabLst>
                      </a:pP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	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scales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2000" kern="0" spc="33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"fixed"</a:t>
                      </a:r>
                      <a:r>
                        <a:rPr sz="2000" kern="0" spc="-63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（默认）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8803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尺度不一致</a:t>
                      </a:r>
                      <a:r>
                        <a:rPr sz="2200" kern="0" spc="-2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，柱高就不可比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56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6360" algn="l" rtl="0" eaLnBrk="0">
                        <a:lnSpc>
                          <a:spcPct val="88000"/>
                        </a:lnSpc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月份顺序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97815" algn="l" rtl="0" eaLnBrk="0">
                        <a:lnSpc>
                          <a:spcPts val="2950"/>
                        </a:lnSpc>
                      </a:pP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两个阶段都用 4 月 →</a:t>
                      </a: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次年</a:t>
                      </a:r>
                      <a:r>
                        <a:rPr sz="2200" kern="0" spc="1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r>
                        <a:rPr sz="2200" kern="0" spc="1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87400" algn="l" rtl="0" eaLnBrk="0">
                        <a:lnSpc>
                          <a:spcPct val="8700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便于逐月对照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58" name="rect 758"/>
          <p:cNvSpPr/>
          <p:nvPr/>
        </p:nvSpPr>
        <p:spPr>
          <a:xfrm>
            <a:off x="352425" y="3771911"/>
            <a:ext cx="12172950" cy="1047750"/>
          </a:xfrm>
          <a:prstGeom prst="rect">
            <a:avLst/>
          </a:prstGeom>
          <a:solidFill>
            <a:srgbClr val="78C8F5">
              <a:alpha val="745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760" name="picture 7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3771911"/>
            <a:ext cx="47625" cy="1047738"/>
          </a:xfrm>
          <a:prstGeom prst="rect">
            <a:avLst/>
          </a:prstGeom>
        </p:spPr>
      </p:pic>
      <p:sp>
        <p:nvSpPr>
          <p:cNvPr id="762" name="textbox 762"/>
          <p:cNvSpPr/>
          <p:nvPr/>
        </p:nvSpPr>
        <p:spPr>
          <a:xfrm>
            <a:off x="371475" y="3771911"/>
            <a:ext cx="12153900" cy="447675"/>
          </a:xfrm>
          <a:prstGeom prst="rect">
            <a:avLst/>
          </a:prstGeom>
          <a:solidFill>
            <a:srgbClr val="78C8F5">
              <a:alpha val="16078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1605" algn="l" rtl="0" eaLnBrk="0">
              <a:lnSpc>
                <a:spcPct val="87000"/>
              </a:lnSpc>
              <a:spcBef>
                <a:spcPts val="0"/>
              </a:spcBef>
            </a:pPr>
            <a:r>
              <a:rPr sz="2100" b="1" kern="0" spc="-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4" name="rect 764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66" name="rect 766"/>
          <p:cNvSpPr/>
          <p:nvPr/>
        </p:nvSpPr>
        <p:spPr>
          <a:xfrm>
            <a:off x="87820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68" name="textbox 768"/>
          <p:cNvSpPr/>
          <p:nvPr/>
        </p:nvSpPr>
        <p:spPr>
          <a:xfrm>
            <a:off x="320675" y="196861"/>
            <a:ext cx="12138025" cy="4305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  <a:spcBef>
                <a:spcPts val="0"/>
              </a:spcBef>
              <a:tabLst>
                <a:tab pos="1087755" algn="l"/>
              </a:tabLst>
            </a:pPr>
            <a:r>
              <a:rPr sz="2100" kern="0" spc="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100" kern="0" spc="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</a:t>
            </a:r>
            <a:r>
              <a:rPr sz="2100" b="1" kern="0" spc="16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70" name="picture 7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409699" y="209561"/>
            <a:ext cx="2219325" cy="390525"/>
          </a:xfrm>
          <a:prstGeom prst="rect">
            <a:avLst/>
          </a:prstGeom>
        </p:spPr>
      </p:pic>
      <p:sp>
        <p:nvSpPr>
          <p:cNvPr id="772" name="rect 772"/>
          <p:cNvSpPr/>
          <p:nvPr/>
        </p:nvSpPr>
        <p:spPr>
          <a:xfrm>
            <a:off x="4000499" y="3352811"/>
            <a:ext cx="1781175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74" name="textbox 774"/>
          <p:cNvSpPr/>
          <p:nvPr/>
        </p:nvSpPr>
        <p:spPr>
          <a:xfrm>
            <a:off x="399205" y="3330008"/>
            <a:ext cx="10582909" cy="3771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70"/>
              </a:lnSpc>
            </a:pPr>
            <a:r>
              <a:rPr sz="22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颜色含义</a:t>
            </a:r>
            <a:r>
              <a:rPr sz="2200" kern="0" spc="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22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两个面板都用</a:t>
            </a:r>
            <a:r>
              <a:rPr sz="2200" kern="0" spc="6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cause</a:t>
            </a:r>
            <a:r>
              <a:rPr sz="2000" kern="0" spc="7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_</a:t>
            </a:r>
            <a:r>
              <a:rPr sz="20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colors</a:t>
            </a:r>
            <a:r>
              <a:rPr sz="2000" kern="0" spc="7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  </a:t>
            </a:r>
            <a:r>
              <a:rPr sz="22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同一颜</a:t>
            </a:r>
            <a:r>
              <a:rPr sz="22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色必须是同一死因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6" name="textbox 776"/>
          <p:cNvSpPr/>
          <p:nvPr/>
        </p:nvSpPr>
        <p:spPr>
          <a:xfrm>
            <a:off x="500000" y="4350066"/>
            <a:ext cx="10204450" cy="3054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b="1" kern="0" spc="-5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分面</a:t>
            </a:r>
            <a:r>
              <a:rPr sz="2100" b="1" kern="0" spc="2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b="1" kern="0" spc="-5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 同样的图形结构</a:t>
            </a:r>
            <a:r>
              <a:rPr sz="2100" b="1" kern="0" spc="2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b="1" kern="0" spc="-5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同样的尺度</a:t>
            </a:r>
            <a:r>
              <a:rPr sz="2100" b="1" kern="0" spc="2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b="1" kern="0" spc="-5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不同的分组。 </a:t>
            </a:r>
            <a:r>
              <a:rPr sz="2100" kern="0" spc="-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少了</a:t>
            </a:r>
            <a:r>
              <a:rPr sz="2100" kern="0" spc="-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任何一条，</a:t>
            </a:r>
            <a:r>
              <a:rPr sz="2100" kern="0" spc="-5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比较就不成立。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78" name="picture 7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780" name="textbox 780"/>
          <p:cNvSpPr/>
          <p:nvPr/>
        </p:nvSpPr>
        <p:spPr>
          <a:xfrm>
            <a:off x="12558662" y="6906786"/>
            <a:ext cx="170179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29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rect 782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84" name="rect 784"/>
          <p:cNvSpPr/>
          <p:nvPr/>
        </p:nvSpPr>
        <p:spPr>
          <a:xfrm>
            <a:off x="352425" y="4276736"/>
            <a:ext cx="12172950" cy="1828800"/>
          </a:xfrm>
          <a:prstGeom prst="rect">
            <a:avLst/>
          </a:prstGeom>
          <a:solidFill>
            <a:srgbClr val="FFD166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86" name="textbox 786"/>
          <p:cNvSpPr/>
          <p:nvPr/>
        </p:nvSpPr>
        <p:spPr>
          <a:xfrm>
            <a:off x="322655" y="2902840"/>
            <a:ext cx="12038330" cy="13595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ts val="3355"/>
              </a:lnSpc>
            </a:pP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又因为三类死因是</a:t>
            </a:r>
            <a:r>
              <a:rPr sz="2500" b="1" kern="0" spc="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叠加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画的</a:t>
            </a:r>
            <a:r>
              <a:rPr sz="2500" kern="0" spc="-3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，第</a:t>
            </a:r>
            <a:r>
              <a:rPr sz="2500" kern="0" spc="2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 类死因所占扇环的面积为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875" indent="-3175" algn="l" rtl="0" eaLnBrk="0">
              <a:lnSpc>
                <a:spcPct val="118000"/>
              </a:lnSpc>
              <a:spcBef>
                <a:spcPts val="15"/>
              </a:spcBef>
            </a:pPr>
            <a:r>
              <a:rPr sz="3900" b="1" kern="0" spc="0" baseline="-700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sz="3300" b="1" kern="0" spc="0" baseline="-800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sz="2100" b="1" kern="0" spc="45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 ½·θ·(</a:t>
            </a:r>
            <a:r>
              <a:rPr sz="2500" b="1" kern="0" spc="22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r>
              <a:rPr sz="3300" b="1" kern="0" spc="0" baseline="-1400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sz="2100" b="1" kern="0" spc="-48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900" b="1" kern="0" spc="0" baseline="300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²</a:t>
            </a:r>
            <a:r>
              <a:rPr sz="2500" b="1" kern="0" spc="3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−</a:t>
            </a:r>
            <a:r>
              <a:rPr sz="2500" b="1" kern="0" spc="22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r>
              <a:rPr sz="3300" b="1" kern="0" spc="0" baseline="-1400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k−1</a:t>
            </a:r>
            <a:r>
              <a:rPr sz="25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² )</a:t>
            </a:r>
            <a:r>
              <a:rPr sz="2500" b="1" kern="0" spc="35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 </a:t>
            </a:r>
            <a:r>
              <a:rPr sz="25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½</a:t>
            </a:r>
            <a:r>
              <a:rPr sz="25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·θ·d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   </a:t>
            </a:r>
            <a:r>
              <a:rPr sz="25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(θ</a:t>
            </a:r>
            <a:r>
              <a:rPr sz="2500" kern="0" spc="3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 每月所占角度</a:t>
            </a:r>
            <a:r>
              <a:rPr sz="2500" kern="0" spc="-3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kern="0" spc="-5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900" kern="0" spc="-10" baseline="-30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sz="3300" kern="0" spc="-10" baseline="-30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5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 第</a:t>
            </a:r>
            <a:r>
              <a:rPr sz="2500" kern="0" spc="2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 类死因当月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死亡率）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8" name="textbox 788"/>
          <p:cNvSpPr/>
          <p:nvPr/>
        </p:nvSpPr>
        <p:spPr>
          <a:xfrm>
            <a:off x="324636" y="725210"/>
            <a:ext cx="12182475" cy="1203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5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玫瑰图</a:t>
            </a:r>
            <a:r>
              <a:rPr sz="2500" kern="0" spc="4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 柱形图</a:t>
            </a:r>
            <a:r>
              <a:rPr sz="2500" kern="0" spc="3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</a:t>
            </a:r>
            <a:r>
              <a:rPr sz="2500" b="1" kern="0" spc="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极坐标</a:t>
            </a:r>
            <a:r>
              <a:rPr sz="2500" b="1" kern="0" spc="3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</a:t>
            </a:r>
            <a:r>
              <a:rPr sz="2500" b="1" kern="0" spc="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平方根尺度</a:t>
            </a:r>
            <a:r>
              <a:rPr sz="25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" indent="-4445" algn="l" rtl="0" eaLnBrk="0">
              <a:lnSpc>
                <a:spcPct val="105000"/>
              </a:lnSpc>
              <a:spcBef>
                <a:spcPts val="345"/>
              </a:spcBef>
            </a:pP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等角扇形的面积满足 </a:t>
            </a:r>
            <a:r>
              <a:rPr sz="2500" b="1" kern="0" spc="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sz="2500" b="1" kern="0" spc="3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b="1" kern="0" spc="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 </a:t>
            </a:r>
            <a:r>
              <a:rPr sz="2500" b="1" kern="0" spc="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½·θ·r²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sz="2500" kern="0" spc="-6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要让</a:t>
            </a:r>
            <a:r>
              <a:rPr sz="2500" b="1" kern="0" spc="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面积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与死亡率成正比</a:t>
            </a:r>
            <a:r>
              <a:rPr sz="2500" kern="0" spc="-3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kern="0" spc="-6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半径必须按死亡率的</a:t>
            </a:r>
            <a:r>
              <a:rPr sz="2500" b="1" kern="0" spc="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平方根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缩放：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90" name="table 790"/>
          <p:cNvGraphicFramePr>
            <a:graphicFrameLocks noGrp="1"/>
          </p:cNvGraphicFramePr>
          <p:nvPr/>
        </p:nvGraphicFramePr>
        <p:xfrm>
          <a:off x="333375" y="1962161"/>
          <a:ext cx="12192000" cy="914400"/>
        </p:xfrm>
        <a:graphic>
          <a:graphicData uri="http://schemas.openxmlformats.org/drawingml/2006/table">
            <a:tbl>
              <a:tblPr>
                <a:solidFill>
                  <a:srgbClr val="24292E"/>
                </a:solidFill>
              </a:tblPr>
              <a:tblGrid>
                <a:gridCol w="12192000"/>
              </a:tblGrid>
              <a:tr h="901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" algn="l" rtl="0" eaLnBrk="0">
                        <a:lnSpc>
                          <a:spcPts val="1840"/>
                        </a:lnSpc>
                        <a:spcBef>
                          <a:spcPts val="5"/>
                        </a:spcBef>
                        <a:tabLst>
                          <a:tab pos="26289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p4_rose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&lt;-</a:t>
                      </a:r>
                      <a:r>
                        <a:rPr sz="1400" kern="0" spc="12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p4_base</a:t>
                      </a:r>
                      <a:r>
                        <a:rPr sz="14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10"/>
                        </a:lnSpc>
                        <a:tabLst>
                          <a:tab pos="26352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2</a:t>
                      </a:r>
                      <a:r>
                        <a:rPr sz="1400" kern="0" spc="54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scale</a:t>
                      </a:r>
                      <a:r>
                        <a:rPr sz="1400" kern="0" spc="1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_y_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sqrt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()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r>
                        <a:rPr sz="1400" kern="0" spc="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#</a:t>
                      </a:r>
                      <a:r>
                        <a:rPr sz="1400" kern="0" spc="9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半径</a:t>
                      </a:r>
                      <a:r>
                        <a:rPr sz="1400" kern="0" spc="18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6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√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数值，使面积对应数值</a:t>
                      </a:r>
                      <a:endParaRPr sz="1400" dirty="0">
                        <a:latin typeface="新宋体" panose="02010609030101010101" charset="-122"/>
                        <a:ea typeface="新宋体" panose="02010609030101010101" charset="-122"/>
                        <a:cs typeface="新宋体" panose="02010609030101010101" charset="-122"/>
                      </a:endParaRPr>
                    </a:p>
                    <a:p>
                      <a:pPr marL="9525" algn="l" rtl="0" eaLnBrk="0">
                        <a:lnSpc>
                          <a:spcPts val="1845"/>
                        </a:lnSpc>
                        <a:tabLst>
                          <a:tab pos="2647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3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coord</a:t>
                      </a:r>
                      <a:r>
                        <a:rPr sz="1400" kern="0" spc="1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polar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()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  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#</a:t>
                      </a:r>
                      <a:r>
                        <a:rPr sz="1400" kern="0" spc="12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直角坐标</a:t>
                      </a:r>
                      <a:r>
                        <a:rPr sz="1400" kern="0" spc="10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→</a:t>
                      </a:r>
                      <a:r>
                        <a:rPr sz="1400" kern="0" spc="9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极坐标</a:t>
                      </a:r>
                      <a:endParaRPr sz="1400" dirty="0">
                        <a:latin typeface="新宋体" panose="02010609030101010101" charset="-122"/>
                        <a:ea typeface="新宋体" panose="02010609030101010101" charset="-122"/>
                        <a:cs typeface="新宋体" panose="02010609030101010101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</a:tr>
            </a:tbl>
          </a:graphicData>
        </a:graphic>
      </p:graphicFrame>
      <p:sp>
        <p:nvSpPr>
          <p:cNvPr id="792" name="textbox 792"/>
          <p:cNvSpPr/>
          <p:nvPr/>
        </p:nvSpPr>
        <p:spPr>
          <a:xfrm>
            <a:off x="444341" y="4844985"/>
            <a:ext cx="6835140" cy="1075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765" algn="l" rtl="0" eaLnBrk="0">
              <a:lnSpc>
                <a:spcPts val="2710"/>
              </a:lnSpc>
            </a:pPr>
            <a:r>
              <a:rPr sz="2100" kern="0" spc="-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柱形图用什么表达数值？玫瑰图用什</a:t>
            </a:r>
            <a:r>
              <a:rPr sz="2100" kern="0" spc="-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么表达数值？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2710"/>
              </a:lnSpc>
              <a:spcBef>
                <a:spcPts val="65"/>
              </a:spcBef>
            </a:pP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如果把半径的倍数直接当成死亡率</a:t>
            </a:r>
            <a:r>
              <a:rPr sz="2100" kern="0" spc="-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的倍数，会犯什么错？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875" algn="l" rtl="0" eaLnBrk="0">
              <a:lnSpc>
                <a:spcPts val="2710"/>
              </a:lnSpc>
              <a:spcBef>
                <a:spcPts val="65"/>
              </a:spcBef>
            </a:pPr>
            <a:r>
              <a:rPr sz="2100" kern="0" spc="-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既然面积编码这么绕，为什么南丁格尔还要用它？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94" name="picture 7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4276736"/>
            <a:ext cx="47625" cy="1828788"/>
          </a:xfrm>
          <a:prstGeom prst="rect">
            <a:avLst/>
          </a:prstGeom>
        </p:spPr>
      </p:pic>
      <p:sp>
        <p:nvSpPr>
          <p:cNvPr id="796" name="textbox 796"/>
          <p:cNvSpPr/>
          <p:nvPr/>
        </p:nvSpPr>
        <p:spPr>
          <a:xfrm>
            <a:off x="371475" y="4276736"/>
            <a:ext cx="12153900" cy="447675"/>
          </a:xfrm>
          <a:prstGeom prst="rect">
            <a:avLst/>
          </a:prstGeom>
          <a:solidFill>
            <a:srgbClr val="FFD166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7020" algn="l" rtl="0" eaLnBrk="0">
              <a:lnSpc>
                <a:spcPct val="91000"/>
              </a:lnSpc>
              <a:spcBef>
                <a:spcPts val="0"/>
              </a:spcBef>
            </a:pPr>
            <a:r>
              <a:rPr sz="1900" b="1" kern="0" spc="-1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【先想一想】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8" name="rect 798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00" name="rect 800"/>
          <p:cNvSpPr/>
          <p:nvPr/>
        </p:nvSpPr>
        <p:spPr>
          <a:xfrm>
            <a:off x="87820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02" name="textbox 802"/>
          <p:cNvSpPr/>
          <p:nvPr/>
        </p:nvSpPr>
        <p:spPr>
          <a:xfrm>
            <a:off x="7591902" y="245057"/>
            <a:ext cx="4866640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</a:t>
            </a:r>
            <a:r>
              <a:rPr sz="2100" b="1" kern="0" spc="15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3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04" name="picture 8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619136"/>
            <a:ext cx="12192000" cy="19050"/>
          </a:xfrm>
          <a:prstGeom prst="rect">
            <a:avLst/>
          </a:prstGeom>
        </p:spPr>
      </p:pic>
      <p:pic>
        <p:nvPicPr>
          <p:cNvPr id="806" name="picture 8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808" name="textbox 808"/>
          <p:cNvSpPr/>
          <p:nvPr/>
        </p:nvSpPr>
        <p:spPr>
          <a:xfrm>
            <a:off x="12560395" y="6906786"/>
            <a:ext cx="16827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30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rect 810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12" name="rect 812"/>
          <p:cNvSpPr/>
          <p:nvPr/>
        </p:nvSpPr>
        <p:spPr>
          <a:xfrm>
            <a:off x="352425" y="704861"/>
            <a:ext cx="12172950" cy="2447925"/>
          </a:xfrm>
          <a:prstGeom prst="rect">
            <a:avLst/>
          </a:prstGeom>
          <a:solidFill>
            <a:srgbClr val="67D6B4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814" name="table 814"/>
          <p:cNvGraphicFramePr>
            <a:graphicFrameLocks noGrp="1"/>
          </p:cNvGraphicFramePr>
          <p:nvPr/>
        </p:nvGraphicFramePr>
        <p:xfrm>
          <a:off x="333375" y="3720112"/>
          <a:ext cx="12191365" cy="1611630"/>
        </p:xfrm>
        <a:graphic>
          <a:graphicData uri="http://schemas.openxmlformats.org/drawingml/2006/table">
            <a:tbl>
              <a:tblPr/>
              <a:tblGrid>
                <a:gridCol w="4091304"/>
                <a:gridCol w="5011420"/>
                <a:gridCol w="3088639"/>
              </a:tblGrid>
              <a:tr h="4610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874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200" b="1" kern="0" spc="9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死亡原因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28645" algn="l" rtl="0" eaLnBrk="0">
                        <a:lnSpc>
                          <a:spcPts val="3535"/>
                        </a:lnSpc>
                      </a:pPr>
                      <a:r>
                        <a:rPr sz="2200" b="1" kern="0" spc="-1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</a:t>
                      </a:r>
                      <a:r>
                        <a:rPr sz="1900" b="1" kern="0" spc="-1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k</a:t>
                      </a:r>
                      <a:endParaRPr sz="1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5511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200" b="1" kern="0" spc="9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扇环面积比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280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可预防疾病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59685" algn="l" rtl="0" eaLnBrk="0">
                        <a:lnSpc>
                          <a:spcPts val="2970"/>
                        </a:lnSpc>
                      </a:pPr>
                      <a:r>
                        <a:rPr sz="2200" kern="0" spc="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1022.8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17090" algn="l" rtl="0" eaLnBrk="0">
                        <a:lnSpc>
                          <a:spcPts val="2970"/>
                        </a:lnSpc>
                      </a:pPr>
                      <a:r>
                        <a:rPr sz="2200" kern="0" spc="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1022.8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017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战伤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92425" algn="l" rtl="0" eaLnBrk="0">
                        <a:lnSpc>
                          <a:spcPts val="2950"/>
                        </a:lnSpc>
                      </a:pPr>
                      <a:r>
                        <a:rPr sz="2200" kern="0" spc="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30.7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449195" algn="l" rtl="0" eaLnBrk="0">
                        <a:lnSpc>
                          <a:spcPts val="2950"/>
                        </a:lnSpc>
                      </a:pPr>
                      <a:r>
                        <a:rPr sz="2200" kern="0" spc="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30.7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01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其他原因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731135" algn="l" rtl="0" eaLnBrk="0">
                        <a:lnSpc>
                          <a:spcPts val="2900"/>
                        </a:lnSpc>
                      </a:pPr>
                      <a:r>
                        <a:rPr sz="2200" kern="0" spc="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120.0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287905" algn="l" rtl="0" eaLnBrk="0">
                        <a:lnSpc>
                          <a:spcPts val="2900"/>
                        </a:lnSpc>
                      </a:pPr>
                      <a:r>
                        <a:rPr sz="2200" kern="0" spc="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120.0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16" name="textbox 816"/>
          <p:cNvSpPr/>
          <p:nvPr/>
        </p:nvSpPr>
        <p:spPr>
          <a:xfrm>
            <a:off x="444341" y="1273110"/>
            <a:ext cx="11871959" cy="16630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765" algn="l" rtl="0" eaLnBrk="0">
              <a:lnSpc>
                <a:spcPts val="2710"/>
              </a:lnSpc>
            </a:pP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柱形图用</a:t>
            </a:r>
            <a:r>
              <a:rPr sz="2100" b="1" kern="0" spc="-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高度（长度）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</a:t>
            </a:r>
            <a:r>
              <a:rPr sz="2100" kern="0" spc="-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数值；玫瑰图用</a:t>
            </a:r>
            <a:r>
              <a:rPr sz="2100" b="1" kern="0" spc="-5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扇形面积</a:t>
            </a:r>
            <a:r>
              <a:rPr sz="2100" kern="0" spc="-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表达数值。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01625" indent="-289560" algn="l" rtl="0" eaLnBrk="0">
              <a:lnSpc>
                <a:spcPct val="96000"/>
              </a:lnSpc>
              <a:spcBef>
                <a:spcPts val="85"/>
              </a:spcBef>
            </a:pP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面积与半径是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平方关系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：半径放大 2 倍，面积会放大到 4 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倍。把半径倍数读成死亡率倍数，会把差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系统性夸大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06070" indent="-290195" algn="l" rtl="0" eaLnBrk="0">
              <a:lnSpc>
                <a:spcPct val="98000"/>
              </a:lnSpc>
              <a:spcBef>
                <a:spcPts val="320"/>
              </a:spcBef>
            </a:pP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sz="2100" kern="0" spc="1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因为她的读者是议员与公众，不是统计人员。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角度</a:t>
            </a:r>
            <a:r>
              <a:rPr sz="2100" b="1" kern="0" spc="2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面积能</a:t>
            </a:r>
            <a:r>
              <a:rPr sz="2100" b="1" kern="0" spc="-2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一眼看出”整体反差”</a:t>
            </a:r>
            <a:r>
              <a:rPr sz="21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，柱形图却要逐</a:t>
            </a:r>
            <a:r>
              <a:rPr sz="21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月比高矮——玫瑰图牺牲精确性，换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来传播力。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8" name="rect 818"/>
          <p:cNvSpPr/>
          <p:nvPr/>
        </p:nvSpPr>
        <p:spPr>
          <a:xfrm>
            <a:off x="333375" y="5819786"/>
            <a:ext cx="2343150" cy="3714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20" name="textbox 820"/>
          <p:cNvSpPr/>
          <p:nvPr/>
        </p:nvSpPr>
        <p:spPr>
          <a:xfrm>
            <a:off x="323646" y="5430230"/>
            <a:ext cx="11247119" cy="767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2710" indent="-80010" algn="l" rtl="0" eaLnBrk="0">
              <a:lnSpc>
                <a:spcPct val="97000"/>
              </a:lnSpc>
            </a:pPr>
            <a:r>
              <a:rPr sz="2500" b="1" kern="0" spc="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</a:t>
            </a:r>
            <a:r>
              <a:rPr sz="2500" b="1" kern="0" spc="-5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每一类死因扇环的面积</a:t>
            </a:r>
            <a:r>
              <a:rPr sz="2500" kern="0" spc="-3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kern="0" spc="-6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恰好与它自己的死亡率成正比。</a:t>
            </a:r>
            <a:r>
              <a:rPr sz="2500" kern="0" spc="-5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前提：</a:t>
            </a:r>
            <a:r>
              <a:rPr sz="2500" kern="0" spc="-6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必须用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scale</a:t>
            </a:r>
            <a:r>
              <a:rPr sz="2200" kern="0" spc="7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_y_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sqrt</a:t>
            </a:r>
            <a:r>
              <a:rPr sz="2200" kern="0" spc="7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()</a:t>
            </a:r>
            <a:r>
              <a:rPr sz="2200" kern="0" spc="-37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kern="0" spc="-6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且三类死因共用同一个军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队人数作分母。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22" name="picture 8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704861"/>
            <a:ext cx="47625" cy="2447913"/>
          </a:xfrm>
          <a:prstGeom prst="rect">
            <a:avLst/>
          </a:prstGeom>
        </p:spPr>
      </p:pic>
      <p:sp>
        <p:nvSpPr>
          <p:cNvPr id="824" name="textbox 824"/>
          <p:cNvSpPr/>
          <p:nvPr/>
        </p:nvSpPr>
        <p:spPr>
          <a:xfrm>
            <a:off x="371475" y="704861"/>
            <a:ext cx="12153900" cy="447675"/>
          </a:xfrm>
          <a:prstGeom prst="rect">
            <a:avLst/>
          </a:prstGeom>
          <a:solidFill>
            <a:srgbClr val="67D6B4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7020" algn="l" rtl="0" eaLnBrk="0">
              <a:lnSpc>
                <a:spcPct val="91000"/>
              </a:lnSpc>
            </a:pPr>
            <a:r>
              <a:rPr sz="1900" b="1" kern="0" spc="-1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【参考答案】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6" name="rect 826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28" name="textbox 828"/>
          <p:cNvSpPr/>
          <p:nvPr/>
        </p:nvSpPr>
        <p:spPr>
          <a:xfrm>
            <a:off x="327938" y="3188590"/>
            <a:ext cx="9034780" cy="513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840"/>
              </a:lnSpc>
            </a:pPr>
            <a:r>
              <a:rPr sz="2500" kern="0" spc="1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sz="2500" kern="0" spc="3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1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1855 年</a:t>
            </a:r>
            <a:r>
              <a:rPr sz="2500" kern="0" spc="3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1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月的实际数据验证</a:t>
            </a:r>
            <a:r>
              <a:rPr sz="25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sz="25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为该类死因的死亡率</a:t>
            </a:r>
            <a:r>
              <a:rPr sz="2500" kern="0" spc="-8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sz="2500" kern="0" spc="-6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-8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0" name="rect 830"/>
          <p:cNvSpPr/>
          <p:nvPr/>
        </p:nvSpPr>
        <p:spPr>
          <a:xfrm>
            <a:off x="87820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32" name="textbox 832"/>
          <p:cNvSpPr/>
          <p:nvPr/>
        </p:nvSpPr>
        <p:spPr>
          <a:xfrm>
            <a:off x="7591902" y="245057"/>
            <a:ext cx="4866640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</a:t>
            </a:r>
            <a:r>
              <a:rPr sz="2100" b="1" kern="0" spc="15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3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34" name="picture 8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619136"/>
            <a:ext cx="12192000" cy="19050"/>
          </a:xfrm>
          <a:prstGeom prst="rect">
            <a:avLst/>
          </a:prstGeom>
        </p:spPr>
      </p:pic>
      <p:pic>
        <p:nvPicPr>
          <p:cNvPr id="836" name="picture 8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838" name="textbox 838"/>
          <p:cNvSpPr/>
          <p:nvPr/>
        </p:nvSpPr>
        <p:spPr>
          <a:xfrm>
            <a:off x="12560395" y="6906786"/>
            <a:ext cx="16827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31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rect 840"/>
          <p:cNvSpPr/>
          <p:nvPr/>
        </p:nvSpPr>
        <p:spPr>
          <a:xfrm>
            <a:off x="0" y="0"/>
            <a:ext cx="12858750" cy="7219936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42" name="rect 842"/>
          <p:cNvSpPr/>
          <p:nvPr/>
        </p:nvSpPr>
        <p:spPr>
          <a:xfrm>
            <a:off x="666749" y="4200511"/>
            <a:ext cx="904875" cy="361950"/>
          </a:xfrm>
          <a:prstGeom prst="rect">
            <a:avLst/>
          </a:prstGeom>
          <a:solidFill>
            <a:srgbClr val="78C8F5">
              <a:alpha val="11764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44" name="rect 844"/>
          <p:cNvSpPr/>
          <p:nvPr/>
        </p:nvSpPr>
        <p:spPr>
          <a:xfrm>
            <a:off x="666749" y="3686161"/>
            <a:ext cx="742950" cy="3619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46" name="rect 846"/>
          <p:cNvSpPr/>
          <p:nvPr/>
        </p:nvSpPr>
        <p:spPr>
          <a:xfrm>
            <a:off x="666749" y="4714861"/>
            <a:ext cx="1704975" cy="3714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48" name="rect 848"/>
          <p:cNvSpPr/>
          <p:nvPr/>
        </p:nvSpPr>
        <p:spPr>
          <a:xfrm>
            <a:off x="1752599" y="5238736"/>
            <a:ext cx="2381250" cy="3619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50" name="rect 850"/>
          <p:cNvSpPr/>
          <p:nvPr/>
        </p:nvSpPr>
        <p:spPr>
          <a:xfrm>
            <a:off x="4991100" y="5238736"/>
            <a:ext cx="904875" cy="3619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52" name="textbox 852"/>
          <p:cNvSpPr/>
          <p:nvPr/>
        </p:nvSpPr>
        <p:spPr>
          <a:xfrm>
            <a:off x="323722" y="2943177"/>
            <a:ext cx="8152765" cy="3184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ts val="3430"/>
              </a:lnSpc>
            </a:pPr>
            <a:r>
              <a:rPr sz="2500" b="1" kern="0" spc="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代码解释关卡（两人一组</a:t>
            </a:r>
            <a:r>
              <a:rPr sz="2500" b="1" kern="0" spc="-42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b="1" kern="0" spc="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b="1" kern="0" spc="-6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b="1" kern="0" spc="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</a:t>
            </a:r>
            <a:r>
              <a:rPr sz="2500" b="1" kern="0" spc="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流解释</a:t>
            </a:r>
            <a:r>
              <a:rPr sz="25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sz="2500" b="1" kern="0" spc="-6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1925" algn="l" rtl="0" eaLnBrk="0">
              <a:lnSpc>
                <a:spcPts val="3395"/>
              </a:lnSpc>
              <a:spcBef>
                <a:spcPts val="1805"/>
              </a:spcBef>
              <a:tabLst>
                <a:tab pos="412750" algn="l"/>
              </a:tabLst>
            </a:pP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	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data</a:t>
            </a:r>
            <a:r>
              <a:rPr sz="2200" kern="0" spc="7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指定了什么？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1925" algn="l" rtl="0" eaLnBrk="0">
              <a:lnSpc>
                <a:spcPts val="3395"/>
              </a:lnSpc>
              <a:spcBef>
                <a:spcPts val="655"/>
              </a:spcBef>
              <a:tabLst>
                <a:tab pos="342900" algn="l"/>
              </a:tabLst>
            </a:pP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	</a:t>
            </a:r>
            <a:r>
              <a:rPr sz="2200" kern="0" spc="-56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aes</a:t>
            </a:r>
            <a:r>
              <a:rPr sz="2200" kern="0" spc="6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()</a:t>
            </a:r>
            <a:r>
              <a:rPr sz="2200" kern="0" spc="6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建立了哪些映射？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1925" algn="l" rtl="0" eaLnBrk="0">
              <a:lnSpc>
                <a:spcPts val="3355"/>
              </a:lnSpc>
              <a:spcBef>
                <a:spcPts val="730"/>
              </a:spcBef>
              <a:tabLst>
                <a:tab pos="342900" algn="l"/>
              </a:tabLst>
            </a:pP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	</a:t>
            </a:r>
            <a:r>
              <a:rPr sz="2200" kern="0" spc="-65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geom</a:t>
            </a:r>
            <a:r>
              <a:rPr sz="2200" kern="0" spc="8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_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col</a:t>
            </a:r>
            <a:r>
              <a:rPr sz="2200" kern="0" spc="8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()</a:t>
            </a:r>
            <a:r>
              <a:rPr sz="2200" kern="0" spc="8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为什么适合本任务？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1925" algn="l" rtl="0" eaLnBrk="0">
              <a:lnSpc>
                <a:spcPts val="3395"/>
              </a:lnSpc>
              <a:spcBef>
                <a:spcPts val="695"/>
              </a:spcBef>
              <a:tabLst>
                <a:tab pos="342900" algn="l"/>
              </a:tabLst>
            </a:pP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500" kern="0" spc="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如果把</a:t>
            </a:r>
            <a:r>
              <a:rPr sz="2500" kern="0" spc="4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fill</a:t>
            </a:r>
            <a:r>
              <a:rPr sz="2200" kern="0" spc="1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00" kern="0" spc="1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=</a:t>
            </a:r>
            <a:r>
              <a:rPr sz="2200" kern="0" spc="1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00" kern="0" spc="10" dirty="0">
                <a:solidFill>
                  <a:srgbClr val="9BDCFF">
                    <a:alpha val="100000"/>
                  </a:srgbClr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死亡原因</a:t>
            </a:r>
            <a:r>
              <a:rPr sz="2200" kern="0" spc="10" dirty="0">
                <a:solidFill>
                  <a:srgbClr val="9BDCFF">
                    <a:alpha val="100000"/>
                  </a:srgbClr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 </a:t>
            </a: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移到  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aes()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</a:t>
            </a:r>
            <a:r>
              <a:rPr sz="2500" kern="0" spc="-3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，会发生什么？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  <a:spcBef>
                <a:spcPts val="5"/>
              </a:spcBef>
            </a:pPr>
            <a:r>
              <a:rPr sz="1900" kern="0" spc="6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通过标准</a:t>
            </a:r>
            <a:r>
              <a:rPr sz="1900" kern="0" spc="-17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6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：不看讲义</a:t>
            </a:r>
            <a:r>
              <a:rPr sz="1900" kern="0" spc="-26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6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900" kern="0" spc="-4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6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用自己的语言说明每一行代码。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54" name="picture 8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71475" y="5343511"/>
            <a:ext cx="114300" cy="114300"/>
          </a:xfrm>
          <a:prstGeom prst="rect">
            <a:avLst/>
          </a:prstGeom>
        </p:spPr>
      </p:pic>
      <p:pic>
        <p:nvPicPr>
          <p:cNvPr id="856" name="picture 8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71475" y="4829161"/>
            <a:ext cx="114300" cy="114300"/>
          </a:xfrm>
          <a:prstGeom prst="rect">
            <a:avLst/>
          </a:prstGeom>
        </p:spPr>
      </p:pic>
      <p:pic>
        <p:nvPicPr>
          <p:cNvPr id="858" name="picture 8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71475" y="4305286"/>
            <a:ext cx="114300" cy="114300"/>
          </a:xfrm>
          <a:prstGeom prst="rect">
            <a:avLst/>
          </a:prstGeom>
        </p:spPr>
      </p:pic>
      <p:pic>
        <p:nvPicPr>
          <p:cNvPr id="860" name="picture 8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71475" y="3790936"/>
            <a:ext cx="114300" cy="114300"/>
          </a:xfrm>
          <a:prstGeom prst="rect">
            <a:avLst/>
          </a:prstGeom>
        </p:spPr>
      </p:pic>
      <p:sp>
        <p:nvSpPr>
          <p:cNvPr id="862" name="rect 862"/>
          <p:cNvSpPr/>
          <p:nvPr/>
        </p:nvSpPr>
        <p:spPr>
          <a:xfrm>
            <a:off x="8534400" y="1152511"/>
            <a:ext cx="2809875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864" name="picture 86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534400" y="1552575"/>
            <a:ext cx="2305050" cy="647686"/>
          </a:xfrm>
          <a:prstGeom prst="rect">
            <a:avLst/>
          </a:prstGeom>
        </p:spPr>
      </p:pic>
      <p:graphicFrame>
        <p:nvGraphicFramePr>
          <p:cNvPr id="866" name="table 866"/>
          <p:cNvGraphicFramePr>
            <a:graphicFrameLocks noGrp="1"/>
          </p:cNvGraphicFramePr>
          <p:nvPr/>
        </p:nvGraphicFramePr>
        <p:xfrm>
          <a:off x="333375" y="619111"/>
          <a:ext cx="12191999" cy="1609725"/>
        </p:xfrm>
        <a:graphic>
          <a:graphicData uri="http://schemas.openxmlformats.org/drawingml/2006/table">
            <a:tbl>
              <a:tblPr/>
              <a:tblGrid>
                <a:gridCol w="2691764"/>
                <a:gridCol w="5377179"/>
                <a:gridCol w="4123054"/>
              </a:tblGrid>
              <a:tr h="476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375" algn="l" rtl="0" eaLnBrk="0">
                        <a:lnSpc>
                          <a:spcPct val="87000"/>
                        </a:lnSpc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概念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45097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含义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779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b="1" kern="0" spc="9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本项目中的例子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变量映射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450340" algn="l" rtl="0" eaLnBrk="0">
                        <a:lnSpc>
                          <a:spcPts val="297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颜色 / 位置由</a:t>
                      </a:r>
                      <a:r>
                        <a:rPr sz="2200" b="1" kern="0" spc="8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数据变量</a:t>
                      </a: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决定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2080" algn="l" rtl="0" eaLnBrk="0">
                        <a:lnSpc>
                          <a:spcPts val="2640"/>
                        </a:lnSpc>
                        <a:spcBef>
                          <a:spcPts val="5"/>
                        </a:spcBef>
                        <a:tabLst>
                          <a:tab pos="201295" algn="l"/>
                        </a:tabLst>
                      </a:pP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	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aes(fill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2000" kern="0" spc="13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死亡原因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endParaRPr sz="20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89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8740" algn="l" rtl="0" eaLnBrk="0">
                        <a:lnSpc>
                          <a:spcPct val="8700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属性设定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52880" indent="-2540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</a:pP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颜色 / 大小由</a:t>
                      </a:r>
                      <a:r>
                        <a:rPr sz="2200" b="1" kern="0" spc="5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你指定</a:t>
                      </a:r>
                      <a:r>
                        <a:rPr sz="2200" b="1" kern="0" spc="-26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2200" kern="0" spc="-5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与数据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无关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422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7485" algn="l" rtl="0" eaLnBrk="0">
                        <a:lnSpc>
                          <a:spcPts val="2640"/>
                        </a:lnSpc>
                        <a:spcBef>
                          <a:spcPts val="0"/>
                        </a:spcBef>
                      </a:pP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geom</a:t>
                      </a:r>
                      <a:r>
                        <a:rPr sz="2000" kern="0" spc="2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col</a:t>
                      </a:r>
                      <a:r>
                        <a:rPr sz="2000" kern="0" spc="2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fill</a:t>
                      </a:r>
                      <a:r>
                        <a:rPr sz="2000" kern="0" spc="2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kern="0" spc="2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endParaRPr sz="20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166370" algn="l" rtl="0" eaLnBrk="0">
                        <a:lnSpc>
                          <a:spcPts val="2505"/>
                        </a:lnSpc>
                        <a:spcBef>
                          <a:spcPts val="45"/>
                        </a:spcBef>
                      </a:pPr>
                      <a:r>
                        <a:rPr sz="2000" kern="0" spc="-2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"steelblue")</a:t>
                      </a:r>
                      <a:endParaRPr sz="20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68" name="rect 868"/>
          <p:cNvSpPr/>
          <p:nvPr/>
        </p:nvSpPr>
        <p:spPr>
          <a:xfrm>
            <a:off x="333375" y="190500"/>
            <a:ext cx="12192000" cy="390511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70" name="textbox 870"/>
          <p:cNvSpPr/>
          <p:nvPr/>
        </p:nvSpPr>
        <p:spPr>
          <a:xfrm>
            <a:off x="8529343" y="2208862"/>
            <a:ext cx="3816984" cy="745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905" algn="l" rtl="0" eaLnBrk="0">
              <a:lnSpc>
                <a:spcPct val="107000"/>
              </a:lnSpc>
            </a:pPr>
            <a:r>
              <a:rPr sz="2200" kern="0" spc="1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累计死亡人数（负担</a:t>
            </a:r>
            <a:r>
              <a:rPr sz="2200" kern="0" spc="-2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）／</a:t>
            </a:r>
            <a:r>
              <a:rPr sz="2200" kern="0" spc="1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年化</a:t>
            </a:r>
            <a:r>
              <a:rPr sz="22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死亡率（风险）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2" name="rect 872"/>
          <p:cNvSpPr/>
          <p:nvPr/>
        </p:nvSpPr>
        <p:spPr>
          <a:xfrm>
            <a:off x="8782050" y="209536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74" name="textbox 874"/>
          <p:cNvSpPr/>
          <p:nvPr/>
        </p:nvSpPr>
        <p:spPr>
          <a:xfrm>
            <a:off x="7591902" y="245033"/>
            <a:ext cx="4866640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</a:t>
            </a:r>
            <a:r>
              <a:rPr sz="2100" b="1" kern="0" spc="15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3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6" name="textbox 876"/>
          <p:cNvSpPr/>
          <p:nvPr/>
        </p:nvSpPr>
        <p:spPr>
          <a:xfrm>
            <a:off x="4466902" y="2423937"/>
            <a:ext cx="2647314" cy="32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2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用什么数字回答问题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8" name="textbox 878"/>
          <p:cNvSpPr/>
          <p:nvPr/>
        </p:nvSpPr>
        <p:spPr>
          <a:xfrm>
            <a:off x="400665" y="2426565"/>
            <a:ext cx="605790" cy="315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2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80" name="picture 88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33375" y="571486"/>
            <a:ext cx="12192000" cy="9525"/>
          </a:xfrm>
          <a:prstGeom prst="rect">
            <a:avLst/>
          </a:prstGeom>
        </p:spPr>
      </p:pic>
      <p:sp>
        <p:nvSpPr>
          <p:cNvPr id="882" name="textbox 882"/>
          <p:cNvSpPr/>
          <p:nvPr/>
        </p:nvSpPr>
        <p:spPr>
          <a:xfrm>
            <a:off x="12560395" y="6906761"/>
            <a:ext cx="16827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32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rect 884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886" name="picture 8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3095636"/>
            <a:ext cx="12192000" cy="390525"/>
          </a:xfrm>
          <a:prstGeom prst="rect">
            <a:avLst/>
          </a:prstGeom>
        </p:spPr>
      </p:pic>
      <p:sp>
        <p:nvSpPr>
          <p:cNvPr id="888" name="rect 888"/>
          <p:cNvSpPr/>
          <p:nvPr/>
        </p:nvSpPr>
        <p:spPr>
          <a:xfrm>
            <a:off x="10039350" y="3114686"/>
            <a:ext cx="1228725" cy="333375"/>
          </a:xfrm>
          <a:prstGeom prst="rect">
            <a:avLst/>
          </a:prstGeom>
          <a:solidFill>
            <a:srgbClr val="78C8F5">
              <a:alpha val="96862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90" name="textbox 890"/>
          <p:cNvSpPr/>
          <p:nvPr/>
        </p:nvSpPr>
        <p:spPr>
          <a:xfrm>
            <a:off x="336358" y="3151249"/>
            <a:ext cx="12122150" cy="911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tabLst>
                <a:tab pos="11043285" algn="l"/>
              </a:tabLst>
            </a:pPr>
            <a:r>
              <a:rPr sz="9900" strike="sngStrike" kern="0" spc="50" baseline="-1300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6400" strike="sngStrike" kern="0" spc="5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</a:t>
            </a:r>
            <a:r>
              <a:rPr sz="6400" strike="sngStrike" kern="0" spc="4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6400" kern="0" spc="19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6400" strike="sngStrike" kern="0" spc="-34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6400" kern="0" spc="19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6400" strike="sngStrike" kern="0" spc="-35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6400" kern="0" spc="19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6400" strike="sngStrike" kern="0" spc="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endParaRPr sz="6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2" name="textbox 892"/>
          <p:cNvSpPr/>
          <p:nvPr/>
        </p:nvSpPr>
        <p:spPr>
          <a:xfrm>
            <a:off x="7589425" y="3151249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</a:t>
            </a:r>
            <a:r>
              <a:rPr sz="2100" strike="sngStrike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</a:t>
            </a:r>
            <a:r>
              <a:rPr sz="2100" strike="sngStrike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strike="sngStrike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4" name="textbox 894"/>
          <p:cNvSpPr/>
          <p:nvPr/>
        </p:nvSpPr>
        <p:spPr>
          <a:xfrm>
            <a:off x="12560395" y="6906786"/>
            <a:ext cx="16827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33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rect 896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898" name="table 898"/>
          <p:cNvGraphicFramePr>
            <a:graphicFrameLocks noGrp="1"/>
          </p:cNvGraphicFramePr>
          <p:nvPr/>
        </p:nvGraphicFramePr>
        <p:xfrm>
          <a:off x="333375" y="619136"/>
          <a:ext cx="12191365" cy="2598420"/>
        </p:xfrm>
        <a:graphic>
          <a:graphicData uri="http://schemas.openxmlformats.org/drawingml/2006/table">
            <a:tbl>
              <a:tblPr/>
              <a:tblGrid>
                <a:gridCol w="2182495"/>
                <a:gridCol w="3634739"/>
                <a:gridCol w="3194050"/>
                <a:gridCol w="3180079"/>
              </a:tblGrid>
              <a:tr h="476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37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b="1" kern="0" spc="7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环节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488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b="1" kern="0" spc="7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020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200" b="1" kern="0" spc="6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当前问题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336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证据图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88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375" algn="l" rtl="0" eaLnBrk="0">
                        <a:lnSpc>
                          <a:spcPts val="2970"/>
                        </a:lnSpc>
                      </a:pP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</a:t>
                      </a:r>
                      <a:r>
                        <a:rPr sz="2200" kern="0" spc="2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4880" algn="l" rtl="0" eaLnBrk="0">
                        <a:lnSpc>
                          <a:spcPct val="87000"/>
                        </a:lnSpc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认识数据、</a:t>
                      </a:r>
                      <a:r>
                        <a:rPr sz="2200" kern="0" spc="-4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选指标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0840" algn="l" rtl="0" eaLnBrk="0">
                        <a:lnSpc>
                          <a:spcPct val="9600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哪一类死亡原因造成</a:t>
                      </a: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的死亡</a:t>
                      </a:r>
                      <a:r>
                        <a:rPr sz="2200" b="1" kern="0" spc="6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负担</a:t>
                      </a: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最重？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5900" algn="l" rtl="0" eaLnBrk="0">
                        <a:lnSpc>
                          <a:spcPct val="8700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累计死亡人数对比图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375" algn="l" rtl="0" eaLnBrk="0">
                        <a:lnSpc>
                          <a:spcPts val="2970"/>
                        </a:lnSpc>
                        <a:spcBef>
                          <a:spcPts val="5"/>
                        </a:spcBef>
                      </a:pP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</a:t>
                      </a:r>
                      <a:r>
                        <a:rPr sz="2200" kern="0" spc="1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4880" algn="l" rtl="0" eaLnBrk="0">
                        <a:lnSpc>
                          <a:spcPct val="8800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换月度视角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8140" indent="1270" algn="l" rtl="0" eaLnBrk="0">
                        <a:lnSpc>
                          <a:spcPct val="9500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高死亡水平是否</a:t>
                      </a:r>
                      <a:r>
                        <a:rPr sz="2200" b="1" kern="0" spc="9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集中</a:t>
                      </a:r>
                      <a:r>
                        <a:rPr sz="2200" b="1" kern="0" spc="7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在个别月份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907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月度堆叠柱形图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375" algn="l" rtl="0" eaLnBrk="0">
                        <a:lnSpc>
                          <a:spcPct val="8600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巩固提升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932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三星分层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4490" indent="-5080" algn="l" rtl="0" eaLnBrk="0">
                        <a:lnSpc>
                          <a:spcPct val="10300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变化是否一致？怎样</a:t>
                      </a: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改进表达？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9075" algn="l" rtl="0" eaLnBrk="0">
                        <a:lnSpc>
                          <a:spcPts val="2970"/>
                        </a:lnSpc>
                      </a:pPr>
                      <a:r>
                        <a:rPr sz="2200" kern="0" spc="2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★/★★/ ★★★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00" name="textbox 900"/>
          <p:cNvSpPr/>
          <p:nvPr/>
        </p:nvSpPr>
        <p:spPr>
          <a:xfrm>
            <a:off x="322985" y="3317000"/>
            <a:ext cx="10851515" cy="8185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</a:pPr>
            <a:r>
              <a:rPr sz="25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第一课时的重点：</a:t>
            </a:r>
            <a:r>
              <a:rPr sz="2500" kern="0" spc="-6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完成”</a:t>
            </a:r>
            <a:r>
              <a:rPr sz="2500" b="1" kern="0" spc="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分类比较</a:t>
            </a:r>
            <a:r>
              <a:rPr sz="25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”与”</a:t>
            </a:r>
            <a:r>
              <a:rPr sz="2500" b="1" kern="0" spc="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月份变化</a:t>
            </a:r>
            <a:r>
              <a:rPr sz="25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”两个层次的证据构建。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334385" algn="l" rtl="0" eaLnBrk="0">
              <a:lnSpc>
                <a:spcPct val="88000"/>
              </a:lnSpc>
              <a:spcBef>
                <a:spcPts val="0"/>
              </a:spcBef>
            </a:pPr>
            <a:r>
              <a:rPr sz="2200" b="1" kern="0" spc="9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分析目的   数据映</a:t>
            </a:r>
            <a:r>
              <a:rPr sz="2200" b="1" kern="0" spc="8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射</a:t>
            </a:r>
            <a:r>
              <a:rPr sz="2200" b="1" kern="0" spc="15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200" b="1" kern="0" spc="8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图形建构</a:t>
            </a:r>
            <a:r>
              <a:rPr sz="2200" b="1" kern="0" spc="16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200" b="1" kern="0" spc="8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图表解读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2" name="rect 902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04" name="rect 904"/>
          <p:cNvSpPr/>
          <p:nvPr/>
        </p:nvSpPr>
        <p:spPr>
          <a:xfrm>
            <a:off x="100393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06" name="textbox 906"/>
          <p:cNvSpPr/>
          <p:nvPr/>
        </p:nvSpPr>
        <p:spPr>
          <a:xfrm>
            <a:off x="7591902" y="246125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08" name="picture 9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910" name="textbox 910"/>
          <p:cNvSpPr/>
          <p:nvPr/>
        </p:nvSpPr>
        <p:spPr>
          <a:xfrm>
            <a:off x="12560395" y="6906786"/>
            <a:ext cx="16827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34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rect 912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14" name="rect 914"/>
          <p:cNvSpPr/>
          <p:nvPr/>
        </p:nvSpPr>
        <p:spPr>
          <a:xfrm>
            <a:off x="3390899" y="5000636"/>
            <a:ext cx="942975" cy="3333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916" name="table 916"/>
          <p:cNvGraphicFramePr>
            <a:graphicFrameLocks noGrp="1"/>
          </p:cNvGraphicFramePr>
          <p:nvPr/>
        </p:nvGraphicFramePr>
        <p:xfrm>
          <a:off x="333375" y="1076336"/>
          <a:ext cx="12191365" cy="4276725"/>
        </p:xfrm>
        <a:graphic>
          <a:graphicData uri="http://schemas.openxmlformats.org/drawingml/2006/table">
            <a:tbl>
              <a:tblPr/>
              <a:tblGrid>
                <a:gridCol w="2149475"/>
                <a:gridCol w="10041890"/>
              </a:tblGrid>
              <a:tr h="26289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512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100" b="1" kern="0" spc="-8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【先想一想】任务1 的分析目</a:t>
                      </a:r>
                      <a:r>
                        <a:rPr sz="2100" b="1" kern="0" spc="-9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</a:t>
                      </a:r>
                      <a:endParaRPr sz="2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82245" algn="l" rtl="0" eaLnBrk="0">
                        <a:lnSpc>
                          <a:spcPts val="2770"/>
                        </a:lnSpc>
                        <a:spcBef>
                          <a:spcPts val="1200"/>
                        </a:spcBef>
                      </a:pPr>
                      <a:r>
                        <a:rPr sz="2100" b="1" kern="0" spc="-3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主要问题：卫生改革前这</a:t>
                      </a:r>
                      <a:r>
                        <a:rPr sz="2100" b="1" kern="0" spc="19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100" b="1" kern="0" spc="-3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 个月里，三类死因各自累计死亡多少人，</a:t>
                      </a:r>
                      <a:r>
                        <a:rPr sz="2100" b="1" kern="0" spc="-4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谁的死亡负担最重？</a:t>
                      </a:r>
                      <a:endParaRPr sz="2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9705" algn="l" rtl="0" eaLnBrk="0">
                        <a:lnSpc>
                          <a:spcPct val="87000"/>
                        </a:lnSpc>
                        <a:spcBef>
                          <a:spcPts val="1645"/>
                        </a:spcBef>
                        <a:tabLst>
                          <a:tab pos="5627370" algn="l"/>
                        </a:tabLst>
                      </a:pPr>
                      <a:r>
                        <a:rPr sz="2100" kern="0" spc="-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我要比较的是：</a:t>
                      </a:r>
                      <a:r>
                        <a:rPr sz="2100" u="sng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endParaRPr sz="2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9705" algn="l" rtl="0" eaLnBrk="0">
                        <a:lnSpc>
                          <a:spcPct val="87000"/>
                        </a:lnSpc>
                        <a:spcBef>
                          <a:spcPts val="1710"/>
                        </a:spcBef>
                        <a:tabLst>
                          <a:tab pos="5921375" algn="l"/>
                        </a:tabLst>
                      </a:pPr>
                      <a:r>
                        <a:rPr sz="2100" kern="0" spc="-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我要比较的变量是：</a:t>
                      </a:r>
                      <a:r>
                        <a:rPr sz="2100" u="sng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endParaRPr sz="2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970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>
                          <a:tab pos="7679690" algn="l"/>
                        </a:tabLst>
                      </a:pPr>
                      <a:r>
                        <a:rPr sz="21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我的预测：负担最重的是 </a:t>
                      </a:r>
                      <a:r>
                        <a:rPr sz="2100" u="sng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</a:t>
                      </a:r>
                      <a:r>
                        <a:rPr sz="21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，理由</a:t>
                      </a:r>
                      <a:r>
                        <a:rPr sz="2100" kern="0" spc="-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 </a:t>
                      </a:r>
                      <a:r>
                        <a:rPr sz="2100" u="sng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endParaRPr sz="2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92419"/>
                    </a:solidFill>
                  </a:tcPr>
                </a:tc>
                <a:tc h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92419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874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200" b="1" kern="0" spc="9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决策问题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0678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b="1" kern="0" spc="9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本任务的选择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1440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比较对象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0868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可预防疾病、</a:t>
                      </a:r>
                      <a:r>
                        <a:rPr sz="2200" kern="0" spc="-4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战伤、</a:t>
                      </a:r>
                      <a:r>
                        <a:rPr sz="2200" kern="0" spc="-5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其</a:t>
                      </a: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他原因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144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比较指标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7415" algn="l" rtl="0" eaLnBrk="0">
                        <a:lnSpc>
                          <a:spcPts val="2950"/>
                        </a:lnSpc>
                      </a:pPr>
                      <a:r>
                        <a:rPr sz="2200" b="1" kern="0" spc="8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累计死亡人数</a:t>
                      </a: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（12 个月合计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51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01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使用数据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74090" algn="l" rtl="0" eaLnBrk="0">
                        <a:lnSpc>
                          <a:spcPts val="2970"/>
                        </a:lnSpc>
                      </a:pP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before</a:t>
                      </a:r>
                      <a:r>
                        <a:rPr sz="2000" kern="0" spc="-63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200" kern="0" spc="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（改革前</a:t>
                      </a:r>
                      <a:r>
                        <a:rPr sz="2200" kern="0" spc="2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 个月）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18" name="rect 918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20" name="textbox 920"/>
          <p:cNvSpPr/>
          <p:nvPr/>
        </p:nvSpPr>
        <p:spPr>
          <a:xfrm>
            <a:off x="416143" y="5386237"/>
            <a:ext cx="6195695" cy="319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2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图形受众        </a:t>
            </a:r>
            <a:r>
              <a:rPr sz="22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没有统计基础的政府官员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2" name="textbox 922"/>
          <p:cNvSpPr/>
          <p:nvPr/>
        </p:nvSpPr>
        <p:spPr>
          <a:xfrm>
            <a:off x="325652" y="645961"/>
            <a:ext cx="4469765" cy="389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7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700" b="1" kern="0" spc="6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27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700" kern="0" spc="-4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哪类死因的</a:t>
            </a:r>
            <a:r>
              <a:rPr sz="27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负担最重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4" name="rect 924"/>
          <p:cNvSpPr/>
          <p:nvPr/>
        </p:nvSpPr>
        <p:spPr>
          <a:xfrm>
            <a:off x="100393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26" name="textbox 926"/>
          <p:cNvSpPr/>
          <p:nvPr/>
        </p:nvSpPr>
        <p:spPr>
          <a:xfrm>
            <a:off x="7591902" y="246125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28" name="picture 9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930" name="textbox 930"/>
          <p:cNvSpPr/>
          <p:nvPr/>
        </p:nvSpPr>
        <p:spPr>
          <a:xfrm>
            <a:off x="12560395" y="6906786"/>
            <a:ext cx="16827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35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rect 932"/>
          <p:cNvSpPr/>
          <p:nvPr/>
        </p:nvSpPr>
        <p:spPr>
          <a:xfrm>
            <a:off x="0" y="0"/>
            <a:ext cx="12858750" cy="7219936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34" name="rect 934"/>
          <p:cNvSpPr/>
          <p:nvPr/>
        </p:nvSpPr>
        <p:spPr>
          <a:xfrm>
            <a:off x="352425" y="1171561"/>
            <a:ext cx="12172950" cy="2352675"/>
          </a:xfrm>
          <a:prstGeom prst="rect">
            <a:avLst/>
          </a:prstGeom>
          <a:solidFill>
            <a:srgbClr val="67D6B4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36" name="textbox 936"/>
          <p:cNvSpPr/>
          <p:nvPr/>
        </p:nvSpPr>
        <p:spPr>
          <a:xfrm>
            <a:off x="500534" y="1701710"/>
            <a:ext cx="11784330" cy="1692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955" algn="l" rtl="0" eaLnBrk="0">
              <a:lnSpc>
                <a:spcPts val="2710"/>
              </a:lnSpc>
            </a:pPr>
            <a:r>
              <a:rPr sz="2100" b="1" kern="0" spc="-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比较对象：</a:t>
            </a:r>
            <a:r>
              <a:rPr sz="2100" kern="0" spc="-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改革前</a:t>
            </a:r>
            <a:r>
              <a:rPr sz="2100" kern="0" spc="2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个月里，三类死因各自累计的死亡人数。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ct val="87000"/>
              </a:lnSpc>
              <a:spcBef>
                <a:spcPts val="1665"/>
              </a:spcBef>
            </a:pPr>
            <a:r>
              <a:rPr sz="2100" b="1" kern="0" spc="-5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比较变量：</a:t>
            </a:r>
            <a:r>
              <a:rPr sz="2100" kern="0" spc="-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死亡原因（分类变量）与累计死亡人数（数值</a:t>
            </a:r>
            <a:r>
              <a:rPr sz="2100" kern="0" spc="-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变量）。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270" algn="l" rtl="0" eaLnBrk="0">
              <a:lnSpc>
                <a:spcPct val="104000"/>
              </a:lnSpc>
            </a:pP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为什么用”人数”而不是”死亡率”？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100" kern="0" spc="2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问的是”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负担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”——12 个月一共死了多少人。负担是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规模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问题，直接相加即可回答；风险才是”率”的问题（留到任务 2）。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8" name="rect 938"/>
          <p:cNvSpPr/>
          <p:nvPr/>
        </p:nvSpPr>
        <p:spPr>
          <a:xfrm>
            <a:off x="5133975" y="4038586"/>
            <a:ext cx="1123950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40" name="rect 940"/>
          <p:cNvSpPr/>
          <p:nvPr/>
        </p:nvSpPr>
        <p:spPr>
          <a:xfrm>
            <a:off x="7305675" y="4038586"/>
            <a:ext cx="1647825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942" name="table 942"/>
          <p:cNvGraphicFramePr>
            <a:graphicFrameLocks noGrp="1"/>
          </p:cNvGraphicFramePr>
          <p:nvPr/>
        </p:nvGraphicFramePr>
        <p:xfrm>
          <a:off x="333375" y="3638247"/>
          <a:ext cx="12191999" cy="1480185"/>
        </p:xfrm>
        <a:graphic>
          <a:graphicData uri="http://schemas.openxmlformats.org/drawingml/2006/table">
            <a:tbl>
              <a:tblPr/>
              <a:tblGrid>
                <a:gridCol w="3471545"/>
                <a:gridCol w="8720454"/>
              </a:tblGrid>
              <a:tr h="342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2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375" algn="l" rtl="0" eaLnBrk="0">
                        <a:lnSpc>
                          <a:spcPct val="86000"/>
                        </a:lnSpc>
                      </a:pPr>
                      <a:r>
                        <a:rPr sz="2200" b="1" kern="0" spc="7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提示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3135" algn="l" rtl="0" eaLnBrk="0">
                        <a:lnSpc>
                          <a:spcPct val="87000"/>
                        </a:lnSpc>
                      </a:pPr>
                      <a:r>
                        <a:rPr sz="2200" b="1" kern="0" spc="7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说明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810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数据要分组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00" algn="l" rtl="0" eaLnBrk="0">
                        <a:lnSpc>
                          <a:spcPts val="2760"/>
                        </a:lnSpc>
                        <a:spcBef>
                          <a:spcPts val="0"/>
                        </a:spcBef>
                      </a:pPr>
                      <a:r>
                        <a:rPr sz="2200" kern="0" spc="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</a:t>
                      </a:r>
                      <a:r>
                        <a:rPr sz="2200" kern="0" spc="5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000" kern="0" spc="3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死亡原因</a:t>
                      </a:r>
                      <a:r>
                        <a:rPr sz="2000" kern="0" spc="3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 </a:t>
                      </a:r>
                      <a:r>
                        <a:rPr sz="2200" kern="0" spc="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分组后  </a:t>
                      </a: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summarise</a:t>
                      </a:r>
                      <a:r>
                        <a:rPr sz="2000" kern="0" spc="2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()</a:t>
                      </a:r>
                      <a:r>
                        <a:rPr sz="2000" kern="0" spc="2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200" kern="0" spc="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求和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图形要表达”多少”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1230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柱高直接对应累计死亡人数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2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37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结论要带数字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0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指出最高者、</a:t>
                      </a:r>
                      <a:r>
                        <a:rPr sz="2200" kern="0" spc="-4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它的数值与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占比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944" name="picture 9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1171575"/>
            <a:ext cx="47625" cy="2352661"/>
          </a:xfrm>
          <a:prstGeom prst="rect">
            <a:avLst/>
          </a:prstGeom>
        </p:spPr>
      </p:pic>
      <p:sp>
        <p:nvSpPr>
          <p:cNvPr id="946" name="textbox 946"/>
          <p:cNvSpPr/>
          <p:nvPr/>
        </p:nvSpPr>
        <p:spPr>
          <a:xfrm>
            <a:off x="371475" y="1171561"/>
            <a:ext cx="12153900" cy="447675"/>
          </a:xfrm>
          <a:prstGeom prst="rect">
            <a:avLst/>
          </a:prstGeom>
          <a:solidFill>
            <a:srgbClr val="67D6B4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7020" algn="l" rtl="0" eaLnBrk="0">
              <a:lnSpc>
                <a:spcPct val="91000"/>
              </a:lnSpc>
            </a:pPr>
            <a:r>
              <a:rPr sz="1900" b="1" kern="0" spc="-1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【参考答案】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8" name="rect 948"/>
          <p:cNvSpPr/>
          <p:nvPr/>
        </p:nvSpPr>
        <p:spPr>
          <a:xfrm>
            <a:off x="333375" y="190500"/>
            <a:ext cx="12192000" cy="390511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50" name="textbox 950"/>
          <p:cNvSpPr/>
          <p:nvPr/>
        </p:nvSpPr>
        <p:spPr>
          <a:xfrm>
            <a:off x="325652" y="645936"/>
            <a:ext cx="4767579" cy="388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</a:pPr>
            <a:r>
              <a:rPr sz="2700" kern="0" spc="-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700" b="1" kern="0" spc="-7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2700" kern="0" spc="-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700" kern="0" spc="-5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分析目的</a:t>
            </a:r>
            <a:r>
              <a:rPr sz="2700" kern="0" spc="-6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（参</a:t>
            </a:r>
            <a:r>
              <a:rPr sz="2700" kern="0" spc="-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考答案）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2" name="rect 952"/>
          <p:cNvSpPr/>
          <p:nvPr/>
        </p:nvSpPr>
        <p:spPr>
          <a:xfrm>
            <a:off x="10039350" y="209536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54" name="textbox 954"/>
          <p:cNvSpPr/>
          <p:nvPr/>
        </p:nvSpPr>
        <p:spPr>
          <a:xfrm>
            <a:off x="7591902" y="246100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56" name="picture 9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1076311"/>
            <a:ext cx="12192000" cy="19050"/>
          </a:xfrm>
          <a:prstGeom prst="rect">
            <a:avLst/>
          </a:prstGeom>
        </p:spPr>
      </p:pic>
      <p:pic>
        <p:nvPicPr>
          <p:cNvPr id="958" name="picture 9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571486"/>
            <a:ext cx="12192000" cy="9525"/>
          </a:xfrm>
          <a:prstGeom prst="rect">
            <a:avLst/>
          </a:prstGeom>
        </p:spPr>
      </p:pic>
      <p:sp>
        <p:nvSpPr>
          <p:cNvPr id="960" name="textbox 960"/>
          <p:cNvSpPr/>
          <p:nvPr/>
        </p:nvSpPr>
        <p:spPr>
          <a:xfrm>
            <a:off x="12560395" y="6906761"/>
            <a:ext cx="16827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36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rect 962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4" name="rect 964"/>
          <p:cNvSpPr/>
          <p:nvPr/>
        </p:nvSpPr>
        <p:spPr>
          <a:xfrm>
            <a:off x="352425" y="1171586"/>
            <a:ext cx="12172950" cy="2419350"/>
          </a:xfrm>
          <a:prstGeom prst="rect">
            <a:avLst/>
          </a:prstGeom>
          <a:solidFill>
            <a:srgbClr val="FFD166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6" name="rect 966"/>
          <p:cNvSpPr/>
          <p:nvPr/>
        </p:nvSpPr>
        <p:spPr>
          <a:xfrm>
            <a:off x="7791450" y="3200411"/>
            <a:ext cx="1676400" cy="27622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968" name="table 968"/>
          <p:cNvGraphicFramePr>
            <a:graphicFrameLocks noGrp="1"/>
          </p:cNvGraphicFramePr>
          <p:nvPr/>
        </p:nvGraphicFramePr>
        <p:xfrm>
          <a:off x="333375" y="1076336"/>
          <a:ext cx="12191365" cy="2513965"/>
        </p:xfrm>
        <a:graphic>
          <a:graphicData uri="http://schemas.openxmlformats.org/drawingml/2006/table">
            <a:tbl>
              <a:tblPr/>
              <a:tblGrid>
                <a:gridCol w="3136264"/>
                <a:gridCol w="3351529"/>
                <a:gridCol w="5703570"/>
              </a:tblGrid>
              <a:tr h="542925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463550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9705" algn="l" rtl="0" eaLnBrk="0">
                        <a:lnSpc>
                          <a:spcPct val="87000"/>
                        </a:lnSpc>
                      </a:pPr>
                      <a:r>
                        <a:rPr sz="2100" kern="0" spc="-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把每个数据变量放到它应该去的视觉通道</a:t>
                      </a:r>
                      <a:r>
                        <a:rPr sz="2100" kern="0" spc="-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上。</a:t>
                      </a:r>
                      <a:endParaRPr sz="2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447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1900" b="1" kern="0" spc="9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数据变量</a:t>
                      </a:r>
                      <a:endParaRPr sz="1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7287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19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视觉通道</a:t>
                      </a:r>
                      <a:endParaRPr sz="1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82980" algn="l" rtl="0" eaLnBrk="0">
                        <a:lnSpc>
                          <a:spcPts val="2635"/>
                        </a:lnSpc>
                      </a:pPr>
                      <a:r>
                        <a:rPr sz="1900" b="1" kern="0" spc="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ggplot</a:t>
                      </a:r>
                      <a:r>
                        <a:rPr sz="1900" b="1" kern="0" spc="13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 写法</a:t>
                      </a:r>
                      <a:endParaRPr sz="1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638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19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死亡原因</a:t>
                      </a:r>
                      <a:endParaRPr sz="1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7096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19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横轴位置</a:t>
                      </a:r>
                      <a:endParaRPr sz="1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8920" algn="l" rtl="0" eaLnBrk="0">
                        <a:lnSpc>
                          <a:spcPct val="87000"/>
                        </a:lnSpc>
                      </a:pPr>
                      <a:r>
                        <a:rPr sz="19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累计死亡人数</a:t>
                      </a:r>
                      <a:endParaRPr sz="1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7160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19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柱形高度</a:t>
                      </a:r>
                      <a:endParaRPr sz="1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1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638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19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死亡原因</a:t>
                      </a:r>
                      <a:endParaRPr sz="1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72235" algn="l" rtl="0" eaLnBrk="0">
                        <a:lnSpc>
                          <a:spcPct val="88000"/>
                        </a:lnSpc>
                      </a:pPr>
                      <a:r>
                        <a:rPr sz="19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填充颜色</a:t>
                      </a:r>
                      <a:endParaRPr sz="1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17270" algn="l" rtl="0" eaLnBrk="0">
                        <a:lnSpc>
                          <a:spcPct val="133000"/>
                        </a:lnSpc>
                        <a:tabLst>
                          <a:tab pos="2604770" algn="l"/>
                        </a:tabLst>
                      </a:pPr>
                      <a:r>
                        <a:rPr sz="17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fill</a:t>
                      </a:r>
                      <a:r>
                        <a:rPr sz="1700" kern="0" spc="13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700" kern="0" spc="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700" kern="0" spc="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700" u="sng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	</a:t>
                      </a:r>
                      <a:r>
                        <a:rPr sz="17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endParaRPr sz="17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70" name="rect 970"/>
          <p:cNvSpPr/>
          <p:nvPr/>
        </p:nvSpPr>
        <p:spPr>
          <a:xfrm>
            <a:off x="5962650" y="3695711"/>
            <a:ext cx="1847850" cy="3714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72" name="rect 972"/>
          <p:cNvSpPr/>
          <p:nvPr/>
        </p:nvSpPr>
        <p:spPr>
          <a:xfrm>
            <a:off x="761999" y="3695711"/>
            <a:ext cx="1704975" cy="3714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74" name="textbox 974"/>
          <p:cNvSpPr/>
          <p:nvPr/>
        </p:nvSpPr>
        <p:spPr>
          <a:xfrm>
            <a:off x="324636" y="3669100"/>
            <a:ext cx="12121515" cy="7537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240" indent="-2540" algn="l" rtl="0" eaLnBrk="0">
              <a:lnSpc>
                <a:spcPct val="96000"/>
              </a:lnSpc>
            </a:pPr>
            <a:r>
              <a:rPr sz="25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</a:t>
            </a:r>
            <a:r>
              <a:rPr sz="2500" kern="0" spc="5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geom</a:t>
            </a:r>
            <a:r>
              <a:rPr sz="2200" kern="0" spc="5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_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col</a:t>
            </a:r>
            <a:r>
              <a:rPr sz="2200" kern="0" spc="5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()</a:t>
            </a:r>
            <a:r>
              <a:rPr sz="2200" kern="0" spc="5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5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的理由</a:t>
            </a:r>
            <a:r>
              <a:rPr sz="2500" kern="0" spc="-2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：数据里已经有  </a:t>
            </a:r>
            <a:r>
              <a:rPr sz="2200" kern="0" spc="40" dirty="0">
                <a:solidFill>
                  <a:srgbClr val="9BDCFF">
                    <a:alpha val="100000"/>
                  </a:srgbClr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累计死亡人数</a:t>
            </a:r>
            <a:r>
              <a:rPr sz="2200" kern="0" spc="-250" dirty="0">
                <a:solidFill>
                  <a:srgbClr val="9BDCFF">
                    <a:alpha val="100000"/>
                  </a:srgbClr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 </a:t>
            </a:r>
            <a:r>
              <a:rPr sz="25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，柱形高度</a:t>
            </a:r>
            <a:r>
              <a:rPr sz="2500" b="1" kern="0" spc="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直接使用</a:t>
            </a:r>
            <a:r>
              <a:rPr sz="25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该数值</a:t>
            </a:r>
            <a:r>
              <a:rPr sz="2500" kern="0" spc="-3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需要再统计计数。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6" name="textbox 976"/>
          <p:cNvSpPr/>
          <p:nvPr/>
        </p:nvSpPr>
        <p:spPr>
          <a:xfrm>
            <a:off x="371475" y="1171586"/>
            <a:ext cx="12153900" cy="447675"/>
          </a:xfrm>
          <a:prstGeom prst="rect">
            <a:avLst/>
          </a:prstGeom>
          <a:solidFill>
            <a:srgbClr val="FFD166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7020" algn="l" rtl="0" eaLnBrk="0">
              <a:lnSpc>
                <a:spcPct val="87000"/>
              </a:lnSpc>
              <a:spcBef>
                <a:spcPts val="0"/>
              </a:spcBef>
            </a:pPr>
            <a:r>
              <a:rPr sz="2100" b="1" kern="0" spc="-1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【先想一想】补全映射</a:t>
            </a:r>
            <a:r>
              <a:rPr sz="2100" b="1" kern="0" spc="-12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8" name="rect 978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80" name="textbox 980"/>
          <p:cNvSpPr/>
          <p:nvPr/>
        </p:nvSpPr>
        <p:spPr>
          <a:xfrm>
            <a:off x="325652" y="645961"/>
            <a:ext cx="4110354" cy="389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7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700" b="1" kern="0" spc="6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27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700" kern="0" spc="-5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变量如何进</a:t>
            </a:r>
            <a:r>
              <a:rPr sz="27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入图形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2" name="rect 982"/>
          <p:cNvSpPr/>
          <p:nvPr/>
        </p:nvSpPr>
        <p:spPr>
          <a:xfrm>
            <a:off x="100393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84" name="textbox 984"/>
          <p:cNvSpPr/>
          <p:nvPr/>
        </p:nvSpPr>
        <p:spPr>
          <a:xfrm>
            <a:off x="7591902" y="246125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6" name="textbox 986"/>
          <p:cNvSpPr/>
          <p:nvPr/>
        </p:nvSpPr>
        <p:spPr>
          <a:xfrm>
            <a:off x="7791450" y="2495561"/>
            <a:ext cx="1314450" cy="27622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4610" algn="l" rtl="0" eaLnBrk="0">
              <a:lnSpc>
                <a:spcPct val="51000"/>
              </a:lnSpc>
              <a:spcBef>
                <a:spcPts val="5"/>
              </a:spcBef>
              <a:tabLst>
                <a:tab pos="1268730" algn="l"/>
              </a:tabLst>
            </a:pPr>
            <a:r>
              <a:rPr sz="1700" kern="0" spc="-7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x</a:t>
            </a:r>
            <a:r>
              <a:rPr sz="1700" kern="0" spc="1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700" kern="0" spc="-7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=</a:t>
            </a:r>
            <a:r>
              <a:rPr sz="1700" kern="0" spc="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700" u="sng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	</a:t>
            </a:r>
            <a:endParaRPr sz="1700" dirty="0"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88" name="textbox 988"/>
          <p:cNvSpPr/>
          <p:nvPr/>
        </p:nvSpPr>
        <p:spPr>
          <a:xfrm>
            <a:off x="7791450" y="2847986"/>
            <a:ext cx="1314450" cy="27622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3340" algn="l" rtl="0" eaLnBrk="0">
              <a:lnSpc>
                <a:spcPct val="63000"/>
              </a:lnSpc>
              <a:spcBef>
                <a:spcPts val="5"/>
              </a:spcBef>
              <a:tabLst>
                <a:tab pos="1268730" algn="l"/>
              </a:tabLst>
            </a:pPr>
            <a:r>
              <a:rPr sz="1700" kern="0" spc="-7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y</a:t>
            </a:r>
            <a:r>
              <a:rPr sz="1700" kern="0" spc="14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700" kern="0" spc="-7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=</a:t>
            </a:r>
            <a:r>
              <a:rPr sz="1700" kern="0" spc="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700" u="sng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	</a:t>
            </a:r>
            <a:endParaRPr sz="1700" dirty="0"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pic>
        <p:nvPicPr>
          <p:cNvPr id="990" name="picture 99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992" name="textbox 992"/>
          <p:cNvSpPr/>
          <p:nvPr/>
        </p:nvSpPr>
        <p:spPr>
          <a:xfrm>
            <a:off x="12560395" y="6906786"/>
            <a:ext cx="16827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37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rect 994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96" name="rect 996"/>
          <p:cNvSpPr/>
          <p:nvPr/>
        </p:nvSpPr>
        <p:spPr>
          <a:xfrm>
            <a:off x="9048750" y="2009786"/>
            <a:ext cx="2200275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98" name="rect 998"/>
          <p:cNvSpPr/>
          <p:nvPr/>
        </p:nvSpPr>
        <p:spPr>
          <a:xfrm>
            <a:off x="9048750" y="2409836"/>
            <a:ext cx="2105025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000" name="table 1000"/>
          <p:cNvGraphicFramePr>
            <a:graphicFrameLocks noGrp="1"/>
          </p:cNvGraphicFramePr>
          <p:nvPr/>
        </p:nvGraphicFramePr>
        <p:xfrm>
          <a:off x="333375" y="1076336"/>
          <a:ext cx="12191365" cy="1658620"/>
        </p:xfrm>
        <a:graphic>
          <a:graphicData uri="http://schemas.openxmlformats.org/drawingml/2006/table">
            <a:tbl>
              <a:tblPr/>
              <a:tblGrid>
                <a:gridCol w="2392680"/>
                <a:gridCol w="2143760"/>
                <a:gridCol w="3375025"/>
                <a:gridCol w="4279900"/>
              </a:tblGrid>
              <a:tr h="476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8105" algn="l" rtl="0" eaLnBrk="0">
                        <a:lnSpc>
                          <a:spcPct val="87000"/>
                        </a:lnSpc>
                      </a:pPr>
                      <a:r>
                        <a:rPr sz="2200" b="1" kern="0" spc="9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数据变量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6642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变量类型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9735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视觉通道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4705" algn="l" rtl="0" eaLnBrk="0">
                        <a:lnSpc>
                          <a:spcPts val="3035"/>
                        </a:lnSpc>
                        <a:spcBef>
                          <a:spcPts val="0"/>
                        </a:spcBef>
                      </a:pPr>
                      <a:r>
                        <a:rPr sz="2200" b="1" kern="0" spc="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ggplot</a:t>
                      </a:r>
                      <a:r>
                        <a:rPr sz="2200" b="1" kern="0" spc="12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 写法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死亡原因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65150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分类变量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7195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横轴位置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18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累计死亡人数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6515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数值变量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17830" algn="l" rtl="0" eaLnBrk="0">
                        <a:lnSpc>
                          <a:spcPts val="295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柱形长度（高度）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61060" algn="l" rtl="0" eaLnBrk="0">
                        <a:lnSpc>
                          <a:spcPct val="89000"/>
                        </a:lnSpc>
                        <a:spcBef>
                          <a:spcPts val="5"/>
                        </a:spcBef>
                      </a:pPr>
                      <a:r>
                        <a:rPr sz="2000" kern="0" spc="-4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y</a:t>
                      </a:r>
                      <a:r>
                        <a:rPr sz="2000" kern="0" spc="18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kern="0" spc="-4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2000" kern="0" spc="16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kern="0" spc="-4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累计死亡人数</a:t>
                      </a:r>
                      <a:endParaRPr sz="2000" dirty="0">
                        <a:latin typeface="新宋体" panose="02010609030101010101" charset="-122"/>
                        <a:ea typeface="新宋体" panose="02010609030101010101" charset="-122"/>
                        <a:cs typeface="新宋体" panose="0201060903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死亡原因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65150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分类变量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9100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填充颜色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54075" algn="l" rtl="0" eaLnBrk="0">
                        <a:lnSpc>
                          <a:spcPts val="2590"/>
                        </a:lnSpc>
                        <a:spcBef>
                          <a:spcPts val="0"/>
                        </a:spcBef>
                      </a:pP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fill</a:t>
                      </a:r>
                      <a:r>
                        <a:rPr sz="2000" kern="0" spc="17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死亡原因</a:t>
                      </a:r>
                      <a:endParaRPr sz="2000" dirty="0">
                        <a:latin typeface="新宋体" panose="02010609030101010101" charset="-122"/>
                        <a:ea typeface="新宋体" panose="02010609030101010101" charset="-122"/>
                        <a:cs typeface="新宋体" panose="0201060903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02" name="rect 1002"/>
          <p:cNvSpPr/>
          <p:nvPr/>
        </p:nvSpPr>
        <p:spPr>
          <a:xfrm>
            <a:off x="352425" y="2819411"/>
            <a:ext cx="12172950" cy="1371600"/>
          </a:xfrm>
          <a:prstGeom prst="rect">
            <a:avLst/>
          </a:prstGeom>
          <a:solidFill>
            <a:srgbClr val="78C8F5">
              <a:alpha val="745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04" name="textbox 1004"/>
          <p:cNvSpPr/>
          <p:nvPr/>
        </p:nvSpPr>
        <p:spPr>
          <a:xfrm>
            <a:off x="501867" y="3426674"/>
            <a:ext cx="11798934" cy="596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7145" algn="l" rtl="0" eaLnBrk="0">
              <a:lnSpc>
                <a:spcPct val="89000"/>
              </a:lnSpc>
            </a:pP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同一个变量可以同时映射到多个通道。这里它既决定柱子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的位置，也决定柱子的颜色——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颜色并不提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供额外信息，只是让三类死因更容易区分</a:t>
            </a:r>
            <a:r>
              <a:rPr sz="21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，所以本图可以隐藏图例。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06" name="picture 10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2819411"/>
            <a:ext cx="47625" cy="1371588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371475" y="2819411"/>
            <a:ext cx="12153900" cy="466725"/>
            <a:chOff x="0" y="0"/>
            <a:chExt cx="12153900" cy="466725"/>
          </a:xfrm>
        </p:grpSpPr>
        <p:pic>
          <p:nvPicPr>
            <p:cNvPr id="1008" name="picture 100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2153900" cy="466725"/>
            </a:xfrm>
            <a:prstGeom prst="rect">
              <a:avLst/>
            </a:prstGeom>
          </p:spPr>
        </p:pic>
        <p:sp>
          <p:nvSpPr>
            <p:cNvPr id="1010" name="textbox 1010"/>
            <p:cNvSpPr/>
            <p:nvPr/>
          </p:nvSpPr>
          <p:spPr>
            <a:xfrm>
              <a:off x="-12700" y="-12700"/>
              <a:ext cx="12179300" cy="4921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</a:pPr>
              <a:endParaRPr sz="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49860" algn="l" rtl="0" eaLnBrk="0">
                <a:lnSpc>
                  <a:spcPct val="92000"/>
                </a:lnSpc>
              </a:pPr>
              <a:r>
                <a:rPr sz="2100" b="1" kern="0" spc="20" dirty="0">
                  <a:solidFill>
                    <a:srgbClr val="FFD16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注意：</a:t>
              </a:r>
              <a:r>
                <a:rPr sz="2100" b="1" kern="0" spc="-260" dirty="0">
                  <a:solidFill>
                    <a:srgbClr val="FFD16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800" b="1" kern="0" spc="0" dirty="0">
                  <a:solidFill>
                    <a:srgbClr val="9BDCFF">
                      <a:alpha val="100000"/>
                    </a:srgbClr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fill</a:t>
              </a:r>
              <a:r>
                <a:rPr sz="1800" b="1" kern="0" spc="20" dirty="0">
                  <a:solidFill>
                    <a:srgbClr val="9BDCFF">
                      <a:alpha val="100000"/>
                    </a:srgbClr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 </a:t>
              </a:r>
              <a:r>
                <a:rPr sz="1800" b="1" kern="0" spc="20" dirty="0">
                  <a:solidFill>
                    <a:srgbClr val="9BDCFF">
                      <a:alpha val="100000"/>
                    </a:srgbClr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=</a:t>
              </a:r>
              <a:r>
                <a:rPr sz="1800" b="1" kern="0" spc="20" dirty="0">
                  <a:solidFill>
                    <a:srgbClr val="9BDCFF">
                      <a:alpha val="100000"/>
                    </a:srgbClr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 </a:t>
              </a:r>
              <a:r>
                <a:rPr sz="1800" kern="0" spc="20" dirty="0">
                  <a:solidFill>
                    <a:srgbClr val="9BDC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死亡原因  </a:t>
              </a:r>
              <a:r>
                <a:rPr sz="2100" b="1" kern="0" spc="20" dirty="0">
                  <a:solidFill>
                    <a:srgbClr val="FFD16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与</a:t>
              </a:r>
              <a:r>
                <a:rPr sz="2100" b="1" kern="0" spc="400" dirty="0">
                  <a:solidFill>
                    <a:srgbClr val="FFD16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800" b="1" kern="0" spc="20" dirty="0">
                  <a:solidFill>
                    <a:srgbClr val="9BDCFF">
                      <a:alpha val="100000"/>
                    </a:srgbClr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x</a:t>
              </a:r>
              <a:r>
                <a:rPr sz="1800" b="1" kern="0" spc="20" dirty="0">
                  <a:solidFill>
                    <a:srgbClr val="9BDCFF">
                      <a:alpha val="100000"/>
                    </a:srgbClr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 </a:t>
              </a:r>
              <a:r>
                <a:rPr sz="1800" b="1" kern="0" spc="20" dirty="0">
                  <a:solidFill>
                    <a:srgbClr val="9BDCFF">
                      <a:alpha val="100000"/>
                    </a:srgbClr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=</a:t>
              </a:r>
              <a:r>
                <a:rPr sz="1800" b="1" kern="0" spc="100" dirty="0">
                  <a:solidFill>
                    <a:srgbClr val="9BDCFF">
                      <a:alpha val="100000"/>
                    </a:srgbClr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 </a:t>
              </a:r>
              <a:r>
                <a:rPr sz="1800" kern="0" spc="20" dirty="0">
                  <a:solidFill>
                    <a:srgbClr val="9BDC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死亡</a:t>
              </a:r>
              <a:r>
                <a:rPr sz="1800" kern="0" spc="10" dirty="0">
                  <a:solidFill>
                    <a:srgbClr val="9BDC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原因  </a:t>
              </a:r>
              <a:r>
                <a:rPr sz="2100" b="1" kern="0" spc="10" dirty="0">
                  <a:solidFill>
                    <a:srgbClr val="FFD16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是同一个变量</a:t>
              </a:r>
              <a:endParaRPr sz="2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012" name="rect 1012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14" name="textbox 1014"/>
          <p:cNvSpPr/>
          <p:nvPr/>
        </p:nvSpPr>
        <p:spPr>
          <a:xfrm>
            <a:off x="325652" y="645961"/>
            <a:ext cx="4767579" cy="388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</a:pPr>
            <a:r>
              <a:rPr sz="2700" kern="0" spc="-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700" b="1" kern="0" spc="-7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2700" kern="0" spc="-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700" kern="0" spc="-5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数据映射</a:t>
            </a:r>
            <a:r>
              <a:rPr sz="2700" kern="0" spc="-6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（参考答案</a:t>
            </a:r>
            <a:r>
              <a:rPr sz="2700" kern="0" spc="-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6" name="rect 1016"/>
          <p:cNvSpPr/>
          <p:nvPr/>
        </p:nvSpPr>
        <p:spPr>
          <a:xfrm>
            <a:off x="100393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18" name="textbox 1018"/>
          <p:cNvSpPr/>
          <p:nvPr/>
        </p:nvSpPr>
        <p:spPr>
          <a:xfrm>
            <a:off x="7591902" y="246125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0" name="textbox 1020"/>
          <p:cNvSpPr/>
          <p:nvPr/>
        </p:nvSpPr>
        <p:spPr>
          <a:xfrm>
            <a:off x="9048750" y="1609736"/>
            <a:ext cx="1685925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8420" algn="l" rtl="0" eaLnBrk="0">
              <a:lnSpc>
                <a:spcPct val="85000"/>
              </a:lnSpc>
            </a:pPr>
            <a:r>
              <a:rPr sz="2000" kern="0" spc="-4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x</a:t>
            </a:r>
            <a:r>
              <a:rPr sz="2000" kern="0" spc="1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000" kern="0" spc="-4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=</a:t>
            </a:r>
            <a:r>
              <a:rPr sz="2000" kern="0" spc="10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000" kern="0" spc="-40" dirty="0">
                <a:solidFill>
                  <a:srgbClr val="9BDCFF">
                    <a:alpha val="100000"/>
                  </a:srgbClr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死亡原因</a:t>
            </a:r>
            <a:endParaRPr sz="2000" dirty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</p:txBody>
      </p:sp>
      <p:pic>
        <p:nvPicPr>
          <p:cNvPr id="1022" name="picture 10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1024" name="textbox 1024"/>
          <p:cNvSpPr/>
          <p:nvPr/>
        </p:nvSpPr>
        <p:spPr>
          <a:xfrm>
            <a:off x="12560395" y="6906786"/>
            <a:ext cx="16827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38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 1026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28" name="textbox 1028"/>
          <p:cNvSpPr/>
          <p:nvPr/>
        </p:nvSpPr>
        <p:spPr>
          <a:xfrm>
            <a:off x="323976" y="5686883"/>
            <a:ext cx="8350884" cy="353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580"/>
              </a:lnSpc>
            </a:pPr>
            <a:r>
              <a:rPr sz="1900" kern="0" spc="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提示：</a:t>
            </a:r>
            <a:r>
              <a:rPr sz="1900" kern="0" spc="-4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标题要说明”什么范围、</a:t>
            </a:r>
            <a:r>
              <a:rPr sz="1900" kern="0" spc="-4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什么指标”</a:t>
            </a:r>
            <a:r>
              <a:rPr sz="1900" kern="0" spc="-26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；纵</a:t>
            </a:r>
            <a:r>
              <a:rPr sz="1900" kern="0" spc="3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轴标签必须带单位（人）</a:t>
            </a:r>
            <a:r>
              <a:rPr sz="1900" kern="0" spc="-4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3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30" name="table 1030"/>
          <p:cNvGraphicFramePr>
            <a:graphicFrameLocks noGrp="1"/>
          </p:cNvGraphicFramePr>
          <p:nvPr/>
        </p:nvGraphicFramePr>
        <p:xfrm>
          <a:off x="333375" y="1162061"/>
          <a:ext cx="12192000" cy="4543425"/>
        </p:xfrm>
        <a:graphic>
          <a:graphicData uri="http://schemas.openxmlformats.org/drawingml/2006/table">
            <a:tbl>
              <a:tblPr>
                <a:solidFill>
                  <a:srgbClr val="24292E"/>
                </a:solidFill>
              </a:tblPr>
              <a:tblGrid>
                <a:gridCol w="12192000"/>
              </a:tblGrid>
              <a:tr h="4530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  <a:tabLst>
                          <a:tab pos="26289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#</a:t>
                      </a:r>
                      <a:r>
                        <a:rPr sz="1400" kern="0" spc="2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先按死亡原因汇总，再画图</a:t>
                      </a:r>
                      <a:endParaRPr sz="1400" dirty="0">
                        <a:latin typeface="新宋体" panose="02010609030101010101" charset="-122"/>
                        <a:ea typeface="新宋体" panose="02010609030101010101" charset="-122"/>
                        <a:cs typeface="新宋体" panose="02010609030101010101" charset="-122"/>
                      </a:endParaRPr>
                    </a:p>
                    <a:p>
                      <a:pPr marL="9525" algn="l" rtl="0" eaLnBrk="0">
                        <a:lnSpc>
                          <a:spcPts val="1840"/>
                        </a:lnSpc>
                        <a:spcBef>
                          <a:spcPts val="155"/>
                        </a:spcBef>
                        <a:tabLst>
                          <a:tab pos="26352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2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cause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summary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&lt;-</a:t>
                      </a:r>
                      <a:r>
                        <a:rPr sz="1400" kern="0" spc="12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before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%&gt;%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10"/>
                        </a:lnSpc>
                        <a:tabLst>
                          <a:tab pos="2647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3</a:t>
                      </a:r>
                      <a:r>
                        <a:rPr sz="1400" kern="0" spc="56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group</a:t>
                      </a:r>
                      <a:r>
                        <a:rPr sz="1400" kern="0" spc="1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by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死亡原因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%&gt;%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25527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4</a:t>
                      </a:r>
                      <a:r>
                        <a:rPr sz="1400" kern="0" spc="56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summarise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累计死亡人数</a:t>
                      </a:r>
                      <a:r>
                        <a:rPr sz="1400" kern="0" spc="1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4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sum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死亡人数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),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26670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5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     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平均死亡率</a:t>
                      </a:r>
                      <a:r>
                        <a:rPr sz="1400" kern="0" spc="1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7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mean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死亡率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),</a:t>
                      </a:r>
                      <a:r>
                        <a:rPr sz="1400" kern="0" spc="29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.gro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ups</a:t>
                      </a:r>
                      <a:r>
                        <a:rPr sz="1400" kern="0" spc="10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9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"drop"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%&gt;%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30"/>
                        </a:lnSpc>
                        <a:tabLst>
                          <a:tab pos="26162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6</a:t>
                      </a:r>
                      <a:r>
                        <a:rPr sz="1400" kern="0" spc="56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mutate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占比</a:t>
                      </a:r>
                      <a:r>
                        <a:rPr sz="1400" kern="0" spc="1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100</a:t>
                      </a:r>
                      <a:r>
                        <a:rPr sz="1400" kern="0" spc="13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*</a:t>
                      </a:r>
                      <a:r>
                        <a:rPr sz="1400" kern="0" spc="12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累计死亡人数</a:t>
                      </a:r>
                      <a:r>
                        <a:rPr sz="1400" kern="0" spc="1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/</a:t>
                      </a:r>
                      <a:r>
                        <a:rPr sz="1400" kern="0" spc="14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sum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累计死亡人数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))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925"/>
                        </a:lnSpc>
                        <a:spcBef>
                          <a:spcPts val="370"/>
                        </a:spcBef>
                        <a:tabLst>
                          <a:tab pos="26162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-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7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 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40"/>
                        </a:lnSpc>
                        <a:spcBef>
                          <a:spcPts val="355"/>
                        </a:spcBef>
                        <a:tabLst>
                          <a:tab pos="26162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8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p1</a:t>
                      </a:r>
                      <a:r>
                        <a:rPr sz="1400" kern="0" spc="1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&lt;-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ggpl</a:t>
                      </a:r>
                      <a:r>
                        <a:rPr sz="1400" kern="0" spc="-1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ot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10"/>
                        </a:lnSpc>
                        <a:tabLst>
                          <a:tab pos="26035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9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data</a:t>
                      </a:r>
                      <a:r>
                        <a:rPr sz="1400" kern="0" spc="1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cause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summary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10</a:t>
                      </a:r>
                      <a:r>
                        <a:rPr sz="1400" kern="0" spc="5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aes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x</a:t>
                      </a:r>
                      <a:r>
                        <a:rPr sz="1400" kern="0" spc="10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____,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y</a:t>
                      </a:r>
                      <a:r>
                        <a:rPr sz="1400" kern="0" spc="1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____,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fill</a:t>
                      </a:r>
                      <a:r>
                        <a:rPr sz="1400" kern="0" spc="1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____)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755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-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11</a:t>
                      </a:r>
                      <a:r>
                        <a:rPr sz="1400" kern="0" spc="5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-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r>
                        <a:rPr sz="14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2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770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12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geom_col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width</a:t>
                      </a:r>
                      <a:r>
                        <a:rPr sz="1400" kern="0" spc="10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8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0.7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r>
                        <a:rPr sz="14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13</a:t>
                      </a:r>
                      <a:r>
                        <a:rPr sz="1400" kern="0" spc="5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scale</a:t>
                      </a:r>
                      <a:r>
                        <a:rPr sz="1400" kern="0" spc="2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fill</a:t>
                      </a:r>
                      <a:r>
                        <a:rPr sz="1400" kern="0" spc="2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manual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values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cause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colors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r>
                        <a:rPr sz="1400" kern="0" spc="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14</a:t>
                      </a:r>
                      <a:r>
                        <a:rPr sz="1400" kern="0" spc="5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labs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15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title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9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"______</a:t>
                      </a:r>
                      <a:r>
                        <a:rPr sz="1400" kern="0" spc="-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_______________________________"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16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subtitle</a:t>
                      </a:r>
                      <a:r>
                        <a:rPr sz="1400" kern="0" spc="10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9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"1854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年</a:t>
                      </a:r>
                      <a:r>
                        <a:rPr sz="1400" kern="0" spc="12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4</a:t>
                      </a:r>
                      <a:r>
                        <a:rPr sz="1400" kern="0" spc="10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月</a:t>
                      </a:r>
                      <a:r>
                        <a:rPr sz="1400" kern="0" spc="-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—1855</a:t>
                      </a:r>
                      <a:r>
                        <a:rPr sz="1400" kern="0" spc="8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年</a:t>
                      </a:r>
                      <a:r>
                        <a:rPr sz="1400" kern="0" spc="20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3</a:t>
                      </a:r>
                      <a:r>
                        <a:rPr sz="1400" kern="0" spc="10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月，共</a:t>
                      </a:r>
                      <a:r>
                        <a:rPr sz="1400" kern="0" spc="18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12</a:t>
                      </a:r>
                      <a:r>
                        <a:rPr sz="1400" kern="0" spc="7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个月</a:t>
                      </a:r>
                      <a:r>
                        <a:rPr sz="1400" kern="0" spc="-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755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17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x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0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NULL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y</a:t>
                      </a:r>
                      <a:r>
                        <a:rPr sz="1400" kern="0" spc="1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9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"_____________</a:t>
                      </a:r>
                      <a:r>
                        <a:rPr sz="1400" kern="0" spc="-2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________"</a:t>
                      </a:r>
                      <a:r>
                        <a:rPr sz="1400" kern="0" spc="-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-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fill</a:t>
                      </a:r>
                      <a:r>
                        <a:rPr sz="1400" kern="0" spc="1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9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2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-2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死亡原因</a:t>
                      </a:r>
                      <a:r>
                        <a:rPr sz="1400" kern="0" spc="-2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20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-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18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1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-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ct val="74000"/>
                        </a:lnSpc>
                        <a:spcBef>
                          <a:spcPts val="410"/>
                        </a:spcBef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19</a:t>
                      </a:r>
                      <a:r>
                        <a:rPr sz="1400" kern="0" spc="54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p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</a:tr>
            </a:tbl>
          </a:graphicData>
        </a:graphic>
      </p:graphicFrame>
      <p:sp>
        <p:nvSpPr>
          <p:cNvPr id="1032" name="rect 1032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34" name="textbox 1034"/>
          <p:cNvSpPr/>
          <p:nvPr/>
        </p:nvSpPr>
        <p:spPr>
          <a:xfrm>
            <a:off x="325652" y="645961"/>
            <a:ext cx="5126990" cy="388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</a:pPr>
            <a:r>
              <a:rPr sz="2700" kern="0" spc="-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700" b="1" kern="0" spc="-7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2700" kern="0" spc="-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700" kern="0" spc="-4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图形建构</a:t>
            </a:r>
            <a:r>
              <a:rPr sz="2700" kern="0" spc="-6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（先自己补全）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6" name="rect 1036"/>
          <p:cNvSpPr/>
          <p:nvPr/>
        </p:nvSpPr>
        <p:spPr>
          <a:xfrm>
            <a:off x="100393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38" name="textbox 1038"/>
          <p:cNvSpPr/>
          <p:nvPr/>
        </p:nvSpPr>
        <p:spPr>
          <a:xfrm>
            <a:off x="7591902" y="246125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40" name="picture 10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1076336"/>
            <a:ext cx="12192000" cy="19050"/>
          </a:xfrm>
          <a:prstGeom prst="rect">
            <a:avLst/>
          </a:prstGeom>
        </p:spPr>
      </p:pic>
      <p:pic>
        <p:nvPicPr>
          <p:cNvPr id="1042" name="picture 10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1044" name="textbox 1044"/>
          <p:cNvSpPr/>
          <p:nvPr/>
        </p:nvSpPr>
        <p:spPr>
          <a:xfrm>
            <a:off x="12560395" y="6906786"/>
            <a:ext cx="16827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39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rect 1046"/>
          <p:cNvSpPr/>
          <p:nvPr/>
        </p:nvSpPr>
        <p:spPr>
          <a:xfrm>
            <a:off x="0" y="0"/>
            <a:ext cx="12858750" cy="7219936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048" name="picture 10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1276350"/>
            <a:ext cx="11191875" cy="4543425"/>
          </a:xfrm>
          <a:prstGeom prst="rect">
            <a:avLst/>
          </a:prstGeom>
        </p:spPr>
      </p:pic>
      <p:sp>
        <p:nvSpPr>
          <p:cNvPr id="1050" name="rect 1050"/>
          <p:cNvSpPr/>
          <p:nvPr/>
        </p:nvSpPr>
        <p:spPr>
          <a:xfrm>
            <a:off x="2647949" y="6124561"/>
            <a:ext cx="742950" cy="3714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52" name="rect 1052"/>
          <p:cNvSpPr/>
          <p:nvPr/>
        </p:nvSpPr>
        <p:spPr>
          <a:xfrm>
            <a:off x="9124950" y="6124575"/>
            <a:ext cx="2752725" cy="371461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54" name="rect 1054"/>
          <p:cNvSpPr/>
          <p:nvPr/>
        </p:nvSpPr>
        <p:spPr>
          <a:xfrm>
            <a:off x="333375" y="6515100"/>
            <a:ext cx="695325" cy="361936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56" name="rect 1056"/>
          <p:cNvSpPr/>
          <p:nvPr/>
        </p:nvSpPr>
        <p:spPr>
          <a:xfrm>
            <a:off x="5476875" y="6124561"/>
            <a:ext cx="904875" cy="371475"/>
          </a:xfrm>
          <a:prstGeom prst="rect">
            <a:avLst/>
          </a:prstGeom>
          <a:solidFill>
            <a:srgbClr val="78C8F5">
              <a:alpha val="11372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58" name="rect 1058"/>
          <p:cNvSpPr/>
          <p:nvPr/>
        </p:nvSpPr>
        <p:spPr>
          <a:xfrm>
            <a:off x="3867149" y="6515086"/>
            <a:ext cx="904875" cy="3619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60" name="textbox 1060"/>
          <p:cNvSpPr/>
          <p:nvPr/>
        </p:nvSpPr>
        <p:spPr>
          <a:xfrm>
            <a:off x="325296" y="6046065"/>
            <a:ext cx="11565255" cy="866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320" indent="-7620" algn="l" rtl="0" eaLnBrk="0">
              <a:lnSpc>
                <a:spcPct val="110000"/>
              </a:lnSpc>
            </a:pPr>
            <a:r>
              <a:rPr sz="2500" b="1" kern="0" spc="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代码解释关卡： 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data</a:t>
            </a:r>
            <a:r>
              <a:rPr sz="2200" kern="0" spc="7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指定了什么？ 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aes</a:t>
            </a:r>
            <a:r>
              <a:rPr sz="2200" kern="0" spc="7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()</a:t>
            </a:r>
            <a:r>
              <a:rPr sz="2200" kern="0" spc="7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建立了哪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些映射？ 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geom</a:t>
            </a:r>
            <a:r>
              <a:rPr sz="2200" kern="0" spc="6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_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col</a:t>
            </a:r>
            <a:r>
              <a:rPr sz="2200" kern="0" spc="6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(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width</a:t>
            </a:r>
            <a:r>
              <a:rPr sz="2200" kern="0" spc="6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00" kern="0" spc="6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=</a:t>
            </a:r>
            <a:r>
              <a:rPr sz="2200" kern="0" spc="-1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00" kern="0" spc="8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0.7)</a:t>
            </a:r>
            <a:r>
              <a:rPr sz="2200" kern="0" spc="8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做了什么？为什么</a:t>
            </a:r>
            <a:r>
              <a:rPr sz="2500" kern="0" spc="5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width</a:t>
            </a:r>
            <a:r>
              <a:rPr sz="2200" kern="0" spc="8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只影响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外观、</a:t>
            </a:r>
            <a:r>
              <a:rPr sz="2500" kern="0" spc="-6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不影响比较？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2" name="rect 1062"/>
          <p:cNvSpPr/>
          <p:nvPr/>
        </p:nvSpPr>
        <p:spPr>
          <a:xfrm>
            <a:off x="333375" y="190500"/>
            <a:ext cx="12192000" cy="390511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64" name="textbox 1064"/>
          <p:cNvSpPr/>
          <p:nvPr/>
        </p:nvSpPr>
        <p:spPr>
          <a:xfrm>
            <a:off x="325652" y="645936"/>
            <a:ext cx="4767579" cy="388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</a:pPr>
            <a:r>
              <a:rPr sz="2700" kern="0" spc="-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700" b="1" kern="0" spc="-8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2700" kern="0" spc="-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700" kern="0" spc="-4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图形建构</a:t>
            </a:r>
            <a:r>
              <a:rPr sz="2700" kern="0" spc="-6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（参考答案</a:t>
            </a:r>
            <a:r>
              <a:rPr sz="2700" kern="0" spc="-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6" name="rect 1066"/>
          <p:cNvSpPr/>
          <p:nvPr/>
        </p:nvSpPr>
        <p:spPr>
          <a:xfrm>
            <a:off x="10039350" y="209536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68" name="textbox 1068"/>
          <p:cNvSpPr/>
          <p:nvPr/>
        </p:nvSpPr>
        <p:spPr>
          <a:xfrm>
            <a:off x="7591902" y="246100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70" name="picture 10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1076311"/>
            <a:ext cx="12192000" cy="19050"/>
          </a:xfrm>
          <a:prstGeom prst="rect">
            <a:avLst/>
          </a:prstGeom>
        </p:spPr>
      </p:pic>
      <p:pic>
        <p:nvPicPr>
          <p:cNvPr id="1072" name="picture 10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571486"/>
            <a:ext cx="12192000" cy="9525"/>
          </a:xfrm>
          <a:prstGeom prst="rect">
            <a:avLst/>
          </a:prstGeom>
        </p:spPr>
      </p:pic>
      <p:sp>
        <p:nvSpPr>
          <p:cNvPr id="1074" name="textbox 1074"/>
          <p:cNvSpPr/>
          <p:nvPr/>
        </p:nvSpPr>
        <p:spPr>
          <a:xfrm>
            <a:off x="12556528" y="6906761"/>
            <a:ext cx="17208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40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rect 1076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78" name="rect 1078"/>
          <p:cNvSpPr/>
          <p:nvPr/>
        </p:nvSpPr>
        <p:spPr>
          <a:xfrm>
            <a:off x="352425" y="1171586"/>
            <a:ext cx="12172950" cy="2038350"/>
          </a:xfrm>
          <a:prstGeom prst="rect">
            <a:avLst/>
          </a:prstGeom>
          <a:solidFill>
            <a:srgbClr val="FFD166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080" name="picture 10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1171586"/>
            <a:ext cx="47625" cy="2038338"/>
          </a:xfrm>
          <a:prstGeom prst="rect">
            <a:avLst/>
          </a:prstGeom>
        </p:spPr>
      </p:pic>
      <p:sp>
        <p:nvSpPr>
          <p:cNvPr id="1082" name="rect 1082"/>
          <p:cNvSpPr/>
          <p:nvPr/>
        </p:nvSpPr>
        <p:spPr>
          <a:xfrm>
            <a:off x="371475" y="1171586"/>
            <a:ext cx="12153900" cy="447675"/>
          </a:xfrm>
          <a:prstGeom prst="rect">
            <a:avLst/>
          </a:prstGeom>
          <a:solidFill>
            <a:srgbClr val="FFD166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84" name="textbox 1084"/>
          <p:cNvSpPr/>
          <p:nvPr/>
        </p:nvSpPr>
        <p:spPr>
          <a:xfrm>
            <a:off x="358775" y="1265566"/>
            <a:ext cx="12179300" cy="1845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tabLst>
                <a:tab pos="299720" algn="l"/>
              </a:tabLst>
            </a:pP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100" b="1" kern="0" spc="-10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【先想一想】用证据回答问题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3035" algn="l" rtl="0" eaLnBrk="0">
              <a:lnSpc>
                <a:spcPct val="87000"/>
              </a:lnSpc>
              <a:spcBef>
                <a:spcPts val="1650"/>
              </a:spcBef>
            </a:pP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死亡负担最重的是 </a:t>
            </a:r>
            <a:r>
              <a:rPr sz="2100" u="sng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5575" algn="l" rtl="0" eaLnBrk="0">
              <a:lnSpc>
                <a:spcPct val="116000"/>
              </a:lnSpc>
              <a:spcBef>
                <a:spcPts val="1385"/>
              </a:spcBef>
            </a:pPr>
            <a:r>
              <a:rPr sz="2100" b="1" kern="0" spc="-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累计死亡 </a:t>
            </a:r>
            <a:r>
              <a:rPr sz="2100" u="sng" kern="0" spc="-30" dirty="0">
                <a:solidFill>
                  <a:srgbClr val="F3F6F9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人，</a:t>
            </a:r>
            <a:r>
              <a:rPr sz="2100" kern="0" spc="-3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占全部死亡的 </a:t>
            </a:r>
            <a:r>
              <a:rPr sz="2100" u="sng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</a:t>
            </a:r>
            <a:r>
              <a:rPr sz="2100" kern="0" spc="-5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%。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4940" algn="l" rtl="0" eaLnBrk="0">
              <a:lnSpc>
                <a:spcPct val="116000"/>
              </a:lnSpc>
              <a:spcBef>
                <a:spcPts val="5"/>
              </a:spcBef>
            </a:pP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局限：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该图只反映</a:t>
            </a:r>
            <a:r>
              <a:rPr sz="2100" kern="0" spc="2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个月的合计，不能说明 </a:t>
            </a:r>
            <a:r>
              <a:rPr sz="2100" u="sng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</a:t>
            </a:r>
            <a:r>
              <a:rPr sz="2100" u="sng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6" name="textbox 1086"/>
          <p:cNvSpPr/>
          <p:nvPr/>
        </p:nvSpPr>
        <p:spPr>
          <a:xfrm>
            <a:off x="299044" y="3306485"/>
            <a:ext cx="4615815" cy="20580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8735" algn="l" rtl="0" eaLnBrk="0">
              <a:lnSpc>
                <a:spcPct val="87000"/>
              </a:lnSpc>
            </a:pPr>
            <a:r>
              <a:rPr sz="25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读图时按三个问题依次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回答：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305" algn="l" rtl="0" eaLnBrk="0">
              <a:lnSpc>
                <a:spcPts val="3355"/>
              </a:lnSpc>
              <a:spcBef>
                <a:spcPts val="755"/>
              </a:spcBef>
            </a:pPr>
            <a:r>
              <a:rPr sz="2500" kern="0" spc="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谁最高？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3355"/>
              </a:lnSpc>
              <a:spcBef>
                <a:spcPts val="695"/>
              </a:spcBef>
            </a:pPr>
            <a:r>
              <a:rPr sz="25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高多少</a:t>
            </a:r>
            <a:r>
              <a:rPr sz="25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？（</a:t>
            </a:r>
            <a:r>
              <a:rPr sz="25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给出数值与占比）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10" algn="l" rtl="0" eaLnBrk="0">
              <a:lnSpc>
                <a:spcPts val="3355"/>
              </a:lnSpc>
              <a:spcBef>
                <a:spcPts val="620"/>
              </a:spcBef>
            </a:pP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这张图还不能说明什么？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8" name="rect 1088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90" name="textbox 1090"/>
          <p:cNvSpPr/>
          <p:nvPr/>
        </p:nvSpPr>
        <p:spPr>
          <a:xfrm>
            <a:off x="325652" y="645961"/>
            <a:ext cx="4767579" cy="388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</a:pPr>
            <a:r>
              <a:rPr sz="2700" kern="0" spc="-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700" b="1" kern="0" spc="-8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2700" kern="0" spc="-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700" kern="0" spc="-4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图表解读</a:t>
            </a:r>
            <a:r>
              <a:rPr sz="2700" kern="0" spc="-6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（先写结论</a:t>
            </a:r>
            <a:r>
              <a:rPr sz="2700" kern="0" spc="-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2" name="rect 1092"/>
          <p:cNvSpPr/>
          <p:nvPr/>
        </p:nvSpPr>
        <p:spPr>
          <a:xfrm>
            <a:off x="100393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94" name="textbox 1094"/>
          <p:cNvSpPr/>
          <p:nvPr/>
        </p:nvSpPr>
        <p:spPr>
          <a:xfrm>
            <a:off x="7591902" y="246125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96" name="picture 10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1076336"/>
            <a:ext cx="12192000" cy="19050"/>
          </a:xfrm>
          <a:prstGeom prst="rect">
            <a:avLst/>
          </a:prstGeom>
        </p:spPr>
      </p:pic>
      <p:pic>
        <p:nvPicPr>
          <p:cNvPr id="1098" name="picture 10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1100" name="textbox 1100"/>
          <p:cNvSpPr/>
          <p:nvPr/>
        </p:nvSpPr>
        <p:spPr>
          <a:xfrm>
            <a:off x="12556528" y="6947991"/>
            <a:ext cx="172085" cy="138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41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rect 1102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104" name="picture 1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52425" y="1171586"/>
            <a:ext cx="12172950" cy="3781425"/>
          </a:xfrm>
          <a:prstGeom prst="rect">
            <a:avLst/>
          </a:prstGeom>
        </p:spPr>
      </p:pic>
      <p:sp>
        <p:nvSpPr>
          <p:cNvPr id="1106" name="textbox 1106"/>
          <p:cNvSpPr/>
          <p:nvPr/>
        </p:nvSpPr>
        <p:spPr>
          <a:xfrm>
            <a:off x="499734" y="1751074"/>
            <a:ext cx="11786234" cy="1625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卫生改革前，死亡负担最重的是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可预防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疾病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1115" indent="-16510" algn="l" rtl="0" eaLnBrk="0">
              <a:lnSpc>
                <a:spcPct val="105000"/>
              </a:lnSpc>
              <a:spcBef>
                <a:spcPts val="1365"/>
              </a:spcBef>
            </a:pP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累计死亡</a:t>
            </a:r>
            <a:r>
              <a:rPr sz="2100" kern="0" spc="1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11157 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人，占全部死亡（1329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人）的 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83.93%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；战伤 772 人（5.81%</a:t>
            </a:r>
            <a:r>
              <a:rPr sz="2100" kern="0" spc="-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其他原</a:t>
            </a:r>
            <a:r>
              <a:rPr sz="2100" kern="0" spc="-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</a:t>
            </a:r>
            <a:r>
              <a:rPr sz="2100" kern="0" spc="2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1365 人（10.27%）。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8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ts val="2710"/>
              </a:lnSpc>
            </a:pPr>
            <a:r>
              <a:rPr sz="2100" b="1" kern="0" spc="-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局限：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该图把</a:t>
            </a:r>
            <a:r>
              <a:rPr sz="2100" kern="0" spc="2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个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月合并成一个数，</a:t>
            </a:r>
            <a:r>
              <a:rPr sz="2100" b="1" kern="0" spc="-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看不出死亡集中在哪些月份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，也看不出改革后是否变化。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8" name="textbox 1108"/>
          <p:cNvSpPr/>
          <p:nvPr/>
        </p:nvSpPr>
        <p:spPr>
          <a:xfrm>
            <a:off x="498934" y="4130610"/>
            <a:ext cx="11737975" cy="701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indent="-1905" algn="l" rtl="0" eaLnBrk="0">
              <a:lnSpc>
                <a:spcPct val="106000"/>
              </a:lnSpc>
            </a:pP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不够。总人数把</a:t>
            </a:r>
            <a:r>
              <a:rPr sz="2100" kern="0" spc="2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个月”抹平”了。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如果高死亡集中在少数几个月，就必须换一个月度视角——这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正是任务 2 要解决的问题。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10" name="picture 11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1171586"/>
            <a:ext cx="47625" cy="2352663"/>
          </a:xfrm>
          <a:prstGeom prst="rect">
            <a:avLst/>
          </a:prstGeom>
        </p:spPr>
      </p:pic>
      <p:sp>
        <p:nvSpPr>
          <p:cNvPr id="1112" name="textbox 1112"/>
          <p:cNvSpPr/>
          <p:nvPr/>
        </p:nvSpPr>
        <p:spPr>
          <a:xfrm>
            <a:off x="371475" y="1171586"/>
            <a:ext cx="12153900" cy="447675"/>
          </a:xfrm>
          <a:prstGeom prst="rect">
            <a:avLst/>
          </a:prstGeom>
          <a:solidFill>
            <a:srgbClr val="67D6B4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7020" algn="l" rtl="0" eaLnBrk="0">
              <a:lnSpc>
                <a:spcPct val="91000"/>
              </a:lnSpc>
            </a:pPr>
            <a:r>
              <a:rPr sz="1900" b="1" kern="0" spc="-1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【参考答案】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14" name="picture 11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3590936"/>
            <a:ext cx="47625" cy="1362063"/>
          </a:xfrm>
          <a:prstGeom prst="rect">
            <a:avLst/>
          </a:prstGeom>
        </p:spPr>
      </p:pic>
      <p:sp>
        <p:nvSpPr>
          <p:cNvPr id="1116" name="textbox 1116"/>
          <p:cNvSpPr/>
          <p:nvPr/>
        </p:nvSpPr>
        <p:spPr>
          <a:xfrm>
            <a:off x="371475" y="3590936"/>
            <a:ext cx="12153900" cy="447675"/>
          </a:xfrm>
          <a:prstGeom prst="rect">
            <a:avLst/>
          </a:prstGeom>
          <a:solidFill>
            <a:srgbClr val="78C8F5">
              <a:alpha val="16078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7795" algn="l" rtl="0" eaLnBrk="0">
              <a:lnSpc>
                <a:spcPct val="87000"/>
              </a:lnSpc>
              <a:spcBef>
                <a:spcPts val="5"/>
              </a:spcBef>
            </a:pPr>
            <a:r>
              <a:rPr sz="2100" b="1" kern="0" spc="-10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追问：只看总人数够吗？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8" name="rect 1118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20" name="textbox 1120"/>
          <p:cNvSpPr/>
          <p:nvPr/>
        </p:nvSpPr>
        <p:spPr>
          <a:xfrm>
            <a:off x="325652" y="645961"/>
            <a:ext cx="4767579" cy="388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</a:pPr>
            <a:r>
              <a:rPr sz="2700" kern="0" spc="-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700" b="1" kern="0" spc="-8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2700" kern="0" spc="-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700" kern="0" spc="-4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图表解读</a:t>
            </a:r>
            <a:r>
              <a:rPr sz="2700" kern="0" spc="-6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（参考答案</a:t>
            </a:r>
            <a:r>
              <a:rPr sz="2700" kern="0" spc="-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2" name="rect 1122"/>
          <p:cNvSpPr/>
          <p:nvPr/>
        </p:nvSpPr>
        <p:spPr>
          <a:xfrm>
            <a:off x="100393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24" name="textbox 1124"/>
          <p:cNvSpPr/>
          <p:nvPr/>
        </p:nvSpPr>
        <p:spPr>
          <a:xfrm>
            <a:off x="7591902" y="246125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26" name="picture 11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3375" y="1076336"/>
            <a:ext cx="12192000" cy="19050"/>
          </a:xfrm>
          <a:prstGeom prst="rect">
            <a:avLst/>
          </a:prstGeom>
        </p:spPr>
      </p:pic>
      <p:pic>
        <p:nvPicPr>
          <p:cNvPr id="1128" name="picture 11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1130" name="textbox 1130"/>
          <p:cNvSpPr/>
          <p:nvPr/>
        </p:nvSpPr>
        <p:spPr>
          <a:xfrm>
            <a:off x="12556528" y="6947991"/>
            <a:ext cx="172085" cy="138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42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rect 1132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134" name="table 1134"/>
          <p:cNvGraphicFramePr>
            <a:graphicFrameLocks noGrp="1"/>
          </p:cNvGraphicFramePr>
          <p:nvPr/>
        </p:nvGraphicFramePr>
        <p:xfrm>
          <a:off x="333375" y="1076336"/>
          <a:ext cx="12191365" cy="3876040"/>
        </p:xfrm>
        <a:graphic>
          <a:graphicData uri="http://schemas.openxmlformats.org/drawingml/2006/table">
            <a:tbl>
              <a:tblPr/>
              <a:tblGrid>
                <a:gridCol w="5063490"/>
                <a:gridCol w="7127875"/>
              </a:tblGrid>
              <a:tr h="26289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512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100" b="1" kern="0" spc="-8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【先想一想】任务2 的分析目</a:t>
                      </a:r>
                      <a:r>
                        <a:rPr sz="2100" b="1" kern="0" spc="-9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</a:t>
                      </a:r>
                      <a:endParaRPr sz="2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82245" algn="l" rtl="0" eaLnBrk="0">
                        <a:lnSpc>
                          <a:spcPts val="2770"/>
                        </a:lnSpc>
                        <a:spcBef>
                          <a:spcPts val="1200"/>
                        </a:spcBef>
                      </a:pPr>
                      <a:r>
                        <a:rPr sz="2100" b="1" kern="0" spc="-3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主要问题：改革前这</a:t>
                      </a:r>
                      <a:r>
                        <a:rPr sz="2100" b="1" kern="0" spc="21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100" b="1" kern="0" spc="-3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 个月里，哪些月份的死亡水平较高？它们是否相邻？主要由哪类死因贡献？</a:t>
                      </a:r>
                      <a:endParaRPr sz="2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80340" algn="l" rtl="0" eaLnBrk="0">
                        <a:lnSpc>
                          <a:spcPct val="83000"/>
                        </a:lnSpc>
                        <a:spcBef>
                          <a:spcPts val="1630"/>
                        </a:spcBef>
                      </a:pPr>
                      <a:r>
                        <a:rPr sz="21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本任务观察的时间单位是 </a:t>
                      </a:r>
                      <a:r>
                        <a:rPr sz="2100" u="sng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</a:t>
                      </a:r>
                      <a:r>
                        <a:rPr sz="21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，使用的指标是 </a:t>
                      </a:r>
                      <a:r>
                        <a:rPr sz="2100" u="sng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</a:t>
                      </a:r>
                      <a:r>
                        <a:rPr sz="21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sz="2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9705" algn="l" rtl="0" eaLnBrk="0">
                        <a:lnSpc>
                          <a:spcPct val="163000"/>
                        </a:lnSpc>
                        <a:tabLst>
                          <a:tab pos="7788275" algn="l"/>
                        </a:tabLst>
                      </a:pPr>
                      <a:r>
                        <a:rPr sz="21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我判断”高值是否集中”的</a:t>
                      </a:r>
                      <a:r>
                        <a:rPr sz="2100" kern="0" spc="-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依据是：</a:t>
                      </a:r>
                      <a:r>
                        <a:rPr sz="2100" u="sng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endParaRPr sz="2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9705" algn="l" rtl="0" eaLnBrk="0">
                        <a:lnSpc>
                          <a:spcPct val="88000"/>
                        </a:lnSpc>
                      </a:pPr>
                      <a:r>
                        <a:rPr sz="2100" kern="0" spc="-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我的预测：最高的月份是 </a:t>
                      </a:r>
                      <a:r>
                        <a:rPr sz="2100" u="sng" kern="0" spc="-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</a:t>
                      </a:r>
                      <a:r>
                        <a:rPr sz="2100" kern="0" spc="-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2100" kern="0" spc="-4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100" kern="0" spc="-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它应该在</a:t>
                      </a:r>
                      <a:r>
                        <a:rPr sz="2100" u="sng" kern="0" spc="-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</a:t>
                      </a:r>
                      <a:r>
                        <a:rPr sz="2100" kern="0" spc="-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季。</a:t>
                      </a:r>
                      <a:endParaRPr sz="2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92419"/>
                    </a:solidFill>
                  </a:tcPr>
                </a:tc>
                <a:tc h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92419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8740" algn="l" rtl="0" eaLnBrk="0">
                        <a:lnSpc>
                          <a:spcPts val="3035"/>
                        </a:lnSpc>
                        <a:spcBef>
                          <a:spcPts val="5"/>
                        </a:spcBef>
                      </a:pPr>
                      <a:r>
                        <a:rPr sz="2200" b="1" kern="0" spc="16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从任务1到任务2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5001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b="1" kern="0" spc="9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需要增加的分析维度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2075" algn="l" rtl="0" eaLnBrk="0">
                        <a:lnSpc>
                          <a:spcPts val="297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哪些月份的死亡水平较高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5255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月份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445">
                <a:tc>
                  <a:txBody>
                    <a:bodyPr/>
                    <a:lstStyle/>
                    <a:p>
                      <a:pPr marL="81280" algn="l" rtl="0" eaLnBrk="0">
                        <a:lnSpc>
                          <a:spcPts val="295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高死亡主要由什么原</a:t>
                      </a: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因造成？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4747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死亡原因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36" name="rect 1136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38" name="textbox 1138"/>
          <p:cNvSpPr/>
          <p:nvPr/>
        </p:nvSpPr>
        <p:spPr>
          <a:xfrm>
            <a:off x="401249" y="4942561"/>
            <a:ext cx="9855834" cy="402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970"/>
              </a:lnSpc>
            </a:pPr>
            <a:r>
              <a:rPr sz="22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每月的总体死亡水平是多少？                 </a:t>
            </a:r>
            <a:r>
              <a:rPr sz="22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同月三类死因的死亡率之和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0" name="textbox 1140"/>
          <p:cNvSpPr/>
          <p:nvPr/>
        </p:nvSpPr>
        <p:spPr>
          <a:xfrm>
            <a:off x="325652" y="645961"/>
            <a:ext cx="5617209" cy="389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700" kern="0" spc="1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700" b="1" kern="0" spc="11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r>
              <a:rPr sz="2700" kern="0" spc="1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700" kern="0" spc="-4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1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高风险是否集</a:t>
            </a:r>
            <a:r>
              <a:rPr sz="2700" kern="0" spc="1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中在个别月份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2" name="rect 1142"/>
          <p:cNvSpPr/>
          <p:nvPr/>
        </p:nvSpPr>
        <p:spPr>
          <a:xfrm>
            <a:off x="100393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44" name="textbox 1144"/>
          <p:cNvSpPr/>
          <p:nvPr/>
        </p:nvSpPr>
        <p:spPr>
          <a:xfrm>
            <a:off x="7591902" y="246125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46" name="picture 11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1148" name="textbox 1148"/>
          <p:cNvSpPr/>
          <p:nvPr/>
        </p:nvSpPr>
        <p:spPr>
          <a:xfrm>
            <a:off x="12556528" y="6906786"/>
            <a:ext cx="17208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43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rect 1150"/>
          <p:cNvSpPr/>
          <p:nvPr/>
        </p:nvSpPr>
        <p:spPr>
          <a:xfrm>
            <a:off x="0" y="0"/>
            <a:ext cx="12858750" cy="7219936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52" name="rect 1152"/>
          <p:cNvSpPr/>
          <p:nvPr/>
        </p:nvSpPr>
        <p:spPr>
          <a:xfrm>
            <a:off x="352425" y="1171561"/>
            <a:ext cx="12172950" cy="2352675"/>
          </a:xfrm>
          <a:prstGeom prst="rect">
            <a:avLst/>
          </a:prstGeom>
          <a:solidFill>
            <a:srgbClr val="67D6B4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54" name="textbox 1154"/>
          <p:cNvSpPr/>
          <p:nvPr/>
        </p:nvSpPr>
        <p:spPr>
          <a:xfrm>
            <a:off x="498934" y="1750783"/>
            <a:ext cx="11896725" cy="1596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305" algn="l" rtl="0" eaLnBrk="0">
              <a:lnSpc>
                <a:spcPct val="87000"/>
              </a:lnSpc>
            </a:pPr>
            <a:r>
              <a:rPr sz="2100" b="1" kern="0" spc="-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时间单位：月份；指标：当月三类死因合计的年化死亡率。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875" algn="l" rtl="0" eaLnBrk="0">
              <a:lnSpc>
                <a:spcPts val="2710"/>
              </a:lnSpc>
              <a:spcBef>
                <a:spcPts val="1405"/>
              </a:spcBef>
            </a:pP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判断依据：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</a:t>
            </a:r>
            <a:r>
              <a:rPr sz="2100" kern="0" spc="2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个月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的”月合计死亡率”排序，看最高的 3 个月在时间上是否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9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905" algn="l" rtl="0" eaLnBrk="0">
              <a:lnSpc>
                <a:spcPct val="97000"/>
              </a:lnSpc>
              <a:spcBef>
                <a:spcPts val="0"/>
              </a:spcBef>
            </a:pP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关键决策：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100" kern="0" spc="2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用”人数”看负担，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 2 必须换成”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年化死亡率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”看风险——因为各月军队人数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不同，直接比较人数会被分母干扰。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6" name="textbox 1156"/>
          <p:cNvSpPr/>
          <p:nvPr/>
        </p:nvSpPr>
        <p:spPr>
          <a:xfrm>
            <a:off x="400373" y="4023553"/>
            <a:ext cx="11995784" cy="640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20320" algn="l" rtl="0" eaLnBrk="0">
              <a:lnSpc>
                <a:spcPct val="92000"/>
              </a:lnSpc>
            </a:pPr>
            <a:r>
              <a:rPr sz="22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同一个月里</a:t>
            </a:r>
            <a:r>
              <a:rPr sz="2200" kern="0" spc="-3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200" kern="0" spc="-5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三类死因共享</a:t>
            </a:r>
            <a:r>
              <a:rPr sz="2200" b="1" kern="0" spc="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同一个军队人数</a:t>
            </a:r>
            <a:r>
              <a:rPr sz="22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作分母</a:t>
            </a:r>
            <a:r>
              <a:rPr sz="2200" kern="0" spc="-3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，所</a:t>
            </a:r>
            <a:r>
              <a:rPr sz="22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以它们的年化死亡率可以叠加</a:t>
            </a:r>
            <a:r>
              <a:rPr sz="2200" kern="0" spc="-3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，柱子的</a:t>
            </a:r>
            <a:r>
              <a:rPr sz="22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总高度就是”当月整体死亡风险”。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58" name="picture 11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1171575"/>
            <a:ext cx="47625" cy="2352661"/>
          </a:xfrm>
          <a:prstGeom prst="rect">
            <a:avLst/>
          </a:prstGeom>
        </p:spPr>
      </p:pic>
      <p:sp>
        <p:nvSpPr>
          <p:cNvPr id="1160" name="textbox 1160"/>
          <p:cNvSpPr/>
          <p:nvPr/>
        </p:nvSpPr>
        <p:spPr>
          <a:xfrm>
            <a:off x="371475" y="1171561"/>
            <a:ext cx="12153900" cy="447675"/>
          </a:xfrm>
          <a:prstGeom prst="rect">
            <a:avLst/>
          </a:prstGeom>
          <a:solidFill>
            <a:srgbClr val="67D6B4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7020" algn="l" rtl="0" eaLnBrk="0">
              <a:lnSpc>
                <a:spcPct val="91000"/>
              </a:lnSpc>
            </a:pPr>
            <a:r>
              <a:rPr sz="1900" b="1" kern="0" spc="-1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【参考答案】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2" name="rect 1162"/>
          <p:cNvSpPr/>
          <p:nvPr/>
        </p:nvSpPr>
        <p:spPr>
          <a:xfrm>
            <a:off x="333375" y="190500"/>
            <a:ext cx="12192000" cy="390511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64" name="textbox 1164"/>
          <p:cNvSpPr/>
          <p:nvPr/>
        </p:nvSpPr>
        <p:spPr>
          <a:xfrm>
            <a:off x="325652" y="645936"/>
            <a:ext cx="4838065" cy="388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</a:pPr>
            <a:r>
              <a:rPr sz="27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700" b="1" kern="0" spc="-3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r>
              <a:rPr sz="27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700" kern="0" spc="-5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分析目的</a:t>
            </a:r>
            <a:r>
              <a:rPr sz="2700" kern="0" spc="-6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sz="27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参考答案）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6" name="textbox 1166"/>
          <p:cNvSpPr/>
          <p:nvPr/>
        </p:nvSpPr>
        <p:spPr>
          <a:xfrm>
            <a:off x="414099" y="3564512"/>
            <a:ext cx="3944620" cy="4108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035"/>
              </a:lnSpc>
            </a:pPr>
            <a:r>
              <a:rPr sz="2200" b="1" kern="0" spc="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同月三类死因为什么可以相加？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8" name="rect 1168"/>
          <p:cNvSpPr/>
          <p:nvPr/>
        </p:nvSpPr>
        <p:spPr>
          <a:xfrm>
            <a:off x="10039350" y="209536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70" name="textbox 1170"/>
          <p:cNvSpPr/>
          <p:nvPr/>
        </p:nvSpPr>
        <p:spPr>
          <a:xfrm>
            <a:off x="7591902" y="246100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72" name="picture 11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1076311"/>
            <a:ext cx="12192000" cy="19050"/>
          </a:xfrm>
          <a:prstGeom prst="rect">
            <a:avLst/>
          </a:prstGeom>
        </p:spPr>
      </p:pic>
      <p:pic>
        <p:nvPicPr>
          <p:cNvPr id="1174" name="picture 11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3971911"/>
            <a:ext cx="12192000" cy="19050"/>
          </a:xfrm>
          <a:prstGeom prst="rect">
            <a:avLst/>
          </a:prstGeom>
        </p:spPr>
      </p:pic>
      <p:pic>
        <p:nvPicPr>
          <p:cNvPr id="1176" name="picture 117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3375" y="571486"/>
            <a:ext cx="12192000" cy="9525"/>
          </a:xfrm>
          <a:prstGeom prst="rect">
            <a:avLst/>
          </a:prstGeom>
        </p:spPr>
      </p:pic>
      <p:sp>
        <p:nvSpPr>
          <p:cNvPr id="1178" name="textbox 1178"/>
          <p:cNvSpPr/>
          <p:nvPr/>
        </p:nvSpPr>
        <p:spPr>
          <a:xfrm>
            <a:off x="12556528" y="6948366"/>
            <a:ext cx="172085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000" kern="0" spc="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44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rect 1180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182" name="picture 118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971799" y="2847986"/>
            <a:ext cx="1704975" cy="361950"/>
          </a:xfrm>
          <a:prstGeom prst="rect">
            <a:avLst/>
          </a:prstGeom>
        </p:spPr>
      </p:pic>
      <p:sp>
        <p:nvSpPr>
          <p:cNvPr id="1184" name="rect 1184"/>
          <p:cNvSpPr/>
          <p:nvPr/>
        </p:nvSpPr>
        <p:spPr>
          <a:xfrm>
            <a:off x="9267825" y="2409836"/>
            <a:ext cx="2105025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86" name="textbox 1186"/>
          <p:cNvSpPr/>
          <p:nvPr/>
        </p:nvSpPr>
        <p:spPr>
          <a:xfrm>
            <a:off x="325627" y="2387015"/>
            <a:ext cx="11011534" cy="2480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860"/>
              </a:lnSpc>
            </a:pPr>
            <a:r>
              <a:rPr sz="22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不同死因的贡献                                  死亡原因      </a:t>
            </a:r>
            <a:r>
              <a:rPr sz="22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填充颜色          </a:t>
            </a:r>
            <a:r>
              <a:rPr sz="20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fill</a:t>
            </a:r>
            <a:r>
              <a:rPr sz="2000" kern="0" spc="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000" kern="0" spc="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=</a:t>
            </a:r>
            <a:r>
              <a:rPr sz="2000" kern="0" spc="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000" kern="0" spc="30" dirty="0">
                <a:solidFill>
                  <a:srgbClr val="9BDCFF">
                    <a:alpha val="100000"/>
                  </a:srgbClr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死亡原因</a:t>
            </a:r>
            <a:endParaRPr sz="2000" dirty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  <a:p>
            <a:pPr marL="12700" algn="l" rtl="0" eaLnBrk="0">
              <a:lnSpc>
                <a:spcPts val="3395"/>
              </a:lnSpc>
              <a:spcBef>
                <a:spcPts val="150"/>
              </a:spcBef>
            </a:pP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sz="2500" b="1" kern="0" spc="8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堆叠柱形图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 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geom</a:t>
            </a:r>
            <a:r>
              <a:rPr sz="2200" kern="0" spc="7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_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col</a:t>
            </a:r>
            <a:r>
              <a:rPr sz="2200" kern="0" spc="7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()</a:t>
            </a:r>
            <a:r>
              <a:rPr sz="2200" kern="0" spc="7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的默认位置</a:t>
            </a: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sz="2500" kern="0" spc="-6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0020" algn="l" rtl="0" eaLnBrk="0">
              <a:lnSpc>
                <a:spcPct val="86000"/>
              </a:lnSpc>
              <a:spcBef>
                <a:spcPts val="760"/>
              </a:spcBef>
              <a:tabLst>
                <a:tab pos="340995" algn="l"/>
              </a:tabLst>
            </a:pP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柱子的总高度</a:t>
            </a:r>
            <a:r>
              <a:rPr sz="2500" kern="0" spc="3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 当月三类死因合计的年化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死亡率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0020" algn="l" rtl="0" eaLnBrk="0">
              <a:lnSpc>
                <a:spcPts val="3975"/>
              </a:lnSpc>
              <a:tabLst>
                <a:tab pos="342900" algn="l"/>
              </a:tabLst>
            </a:pP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每种颜色</a:t>
            </a:r>
            <a:r>
              <a:rPr sz="2500" kern="0" spc="3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 一类死因的贡献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5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0020" algn="l" rtl="0" eaLnBrk="0">
              <a:lnSpc>
                <a:spcPct val="88000"/>
              </a:lnSpc>
              <a:tabLst>
                <a:tab pos="342265" algn="l"/>
              </a:tabLst>
            </a:pP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读图顺序：</a:t>
            </a:r>
            <a:r>
              <a:rPr sz="2500" kern="0" spc="-5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b="1" kern="0" spc="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先看总高度</a:t>
            </a:r>
            <a:r>
              <a:rPr sz="2500" b="1" kern="0" spc="-42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b="1" kern="0" spc="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b="1" kern="0" spc="-6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b="1" kern="0" spc="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再看颜色构成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88" name="picture 11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71475" y="4629161"/>
            <a:ext cx="114300" cy="114300"/>
          </a:xfrm>
          <a:prstGeom prst="rect">
            <a:avLst/>
          </a:prstGeom>
        </p:spPr>
      </p:pic>
      <p:pic>
        <p:nvPicPr>
          <p:cNvPr id="1190" name="picture 11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71475" y="4124336"/>
            <a:ext cx="114300" cy="114300"/>
          </a:xfrm>
          <a:prstGeom prst="rect">
            <a:avLst/>
          </a:prstGeom>
        </p:spPr>
      </p:pic>
      <p:pic>
        <p:nvPicPr>
          <p:cNvPr id="1192" name="picture 11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71475" y="3619511"/>
            <a:ext cx="114300" cy="114300"/>
          </a:xfrm>
          <a:prstGeom prst="rect">
            <a:avLst/>
          </a:prstGeom>
        </p:spPr>
      </p:pic>
      <p:sp>
        <p:nvSpPr>
          <p:cNvPr id="1194" name="rect 1194"/>
          <p:cNvSpPr/>
          <p:nvPr/>
        </p:nvSpPr>
        <p:spPr>
          <a:xfrm>
            <a:off x="9267825" y="2009786"/>
            <a:ext cx="1428750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196" name="table 1196"/>
          <p:cNvGraphicFramePr>
            <a:graphicFrameLocks noGrp="1"/>
          </p:cNvGraphicFramePr>
          <p:nvPr/>
        </p:nvGraphicFramePr>
        <p:xfrm>
          <a:off x="333375" y="1076336"/>
          <a:ext cx="12191365" cy="1285875"/>
        </p:xfrm>
        <a:graphic>
          <a:graphicData uri="http://schemas.openxmlformats.org/drawingml/2006/table">
            <a:tbl>
              <a:tblPr/>
              <a:tblGrid>
                <a:gridCol w="4162425"/>
                <a:gridCol w="2432685"/>
                <a:gridCol w="1951989"/>
                <a:gridCol w="3644264"/>
              </a:tblGrid>
              <a:tr h="476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185" algn="l" rtl="0" eaLnBrk="0">
                        <a:lnSpc>
                          <a:spcPct val="87000"/>
                        </a:lnSpc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需要表达的信息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81380" algn="l" rtl="0" eaLnBrk="0">
                        <a:lnSpc>
                          <a:spcPct val="87000"/>
                        </a:lnSpc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使用变量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5605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视觉通道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8145" algn="l" rtl="0" eaLnBrk="0">
                        <a:lnSpc>
                          <a:spcPts val="3035"/>
                        </a:lnSpc>
                        <a:spcBef>
                          <a:spcPts val="0"/>
                        </a:spcBef>
                      </a:pPr>
                      <a:r>
                        <a:rPr sz="2200" b="1" kern="0" spc="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ggplot</a:t>
                      </a:r>
                      <a:r>
                        <a:rPr sz="2200" b="1" kern="0" spc="12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 写法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636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月份先后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8709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月份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3065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横轴位置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51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某月某类死因的死亡水平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8138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死亡率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370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柱形高度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4500" algn="l" rtl="0" eaLnBrk="0">
                        <a:lnSpc>
                          <a:spcPct val="89000"/>
                        </a:lnSpc>
                        <a:spcBef>
                          <a:spcPts val="5"/>
                        </a:spcBef>
                      </a:pPr>
                      <a:r>
                        <a:rPr sz="2000" kern="0" spc="-5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y</a:t>
                      </a:r>
                      <a:r>
                        <a:rPr sz="2000" kern="0" spc="14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kern="0" spc="-5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2000" kern="0" spc="9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kern="0" spc="-5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死亡率</a:t>
                      </a:r>
                      <a:endParaRPr sz="2000" dirty="0">
                        <a:latin typeface="新宋体" panose="02010609030101010101" charset="-122"/>
                        <a:ea typeface="新宋体" panose="02010609030101010101" charset="-122"/>
                        <a:cs typeface="新宋体" panose="0201060903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98" name="rect 1198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00" name="textbox 1200"/>
          <p:cNvSpPr/>
          <p:nvPr/>
        </p:nvSpPr>
        <p:spPr>
          <a:xfrm>
            <a:off x="325652" y="645961"/>
            <a:ext cx="4540250" cy="389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7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700" b="1" kern="0" spc="9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r>
              <a:rPr sz="27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700" kern="0" spc="-5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月份、</a:t>
            </a:r>
            <a:r>
              <a:rPr sz="2700" kern="0" spc="-5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死亡率与死因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2" name="rect 1202"/>
          <p:cNvSpPr/>
          <p:nvPr/>
        </p:nvSpPr>
        <p:spPr>
          <a:xfrm>
            <a:off x="100393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04" name="textbox 1204"/>
          <p:cNvSpPr/>
          <p:nvPr/>
        </p:nvSpPr>
        <p:spPr>
          <a:xfrm>
            <a:off x="7591902" y="246125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6" name="textbox 1206"/>
          <p:cNvSpPr/>
          <p:nvPr/>
        </p:nvSpPr>
        <p:spPr>
          <a:xfrm>
            <a:off x="9267825" y="1609736"/>
            <a:ext cx="1171575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8420" algn="l" rtl="0" eaLnBrk="0">
              <a:lnSpc>
                <a:spcPct val="85000"/>
              </a:lnSpc>
              <a:spcBef>
                <a:spcPts val="0"/>
              </a:spcBef>
            </a:pPr>
            <a:r>
              <a:rPr sz="2000" kern="0" spc="-8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x</a:t>
            </a:r>
            <a:r>
              <a:rPr sz="2000" kern="0" spc="15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000" kern="0" spc="-8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=</a:t>
            </a:r>
            <a:r>
              <a:rPr sz="2000" kern="0" spc="1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000" kern="0" spc="-80" dirty="0">
                <a:solidFill>
                  <a:srgbClr val="9BDCFF">
                    <a:alpha val="100000"/>
                  </a:srgbClr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月份</a:t>
            </a:r>
            <a:endParaRPr sz="2000" dirty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</p:txBody>
      </p:sp>
      <p:pic>
        <p:nvPicPr>
          <p:cNvPr id="1208" name="picture 12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1210" name="textbox 1210"/>
          <p:cNvSpPr/>
          <p:nvPr/>
        </p:nvSpPr>
        <p:spPr>
          <a:xfrm>
            <a:off x="12556528" y="6906786"/>
            <a:ext cx="17208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45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rect 1212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214" name="table 1214"/>
          <p:cNvGraphicFramePr>
            <a:graphicFrameLocks noGrp="1"/>
          </p:cNvGraphicFramePr>
          <p:nvPr/>
        </p:nvGraphicFramePr>
        <p:xfrm>
          <a:off x="333375" y="1162061"/>
          <a:ext cx="12192000" cy="4772025"/>
        </p:xfrm>
        <a:graphic>
          <a:graphicData uri="http://schemas.openxmlformats.org/drawingml/2006/table">
            <a:tbl>
              <a:tblPr>
                <a:solidFill>
                  <a:srgbClr val="24292E"/>
                </a:solidFill>
              </a:tblPr>
              <a:tblGrid>
                <a:gridCol w="12192000"/>
              </a:tblGrid>
              <a:tr h="47593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" algn="l" rtl="0" eaLnBrk="0">
                        <a:lnSpc>
                          <a:spcPts val="1840"/>
                        </a:lnSpc>
                        <a:spcBef>
                          <a:spcPts val="5"/>
                        </a:spcBef>
                        <a:tabLst>
                          <a:tab pos="26289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p2</a:t>
                      </a:r>
                      <a:r>
                        <a:rPr sz="1400" kern="0" spc="1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&lt;-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ggp</a:t>
                      </a:r>
                      <a:r>
                        <a:rPr sz="1400" kern="0" spc="-1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lot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10"/>
                        </a:lnSpc>
                        <a:tabLst>
                          <a:tab pos="26352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2</a:t>
                      </a:r>
                      <a:r>
                        <a:rPr sz="1400" kern="0" spc="5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data</a:t>
                      </a:r>
                      <a:r>
                        <a:rPr sz="1400" kern="0" spc="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____,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                 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#</a:t>
                      </a:r>
                      <a:r>
                        <a:rPr sz="1400" kern="0" spc="13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提示：使用改革前的数据</a:t>
                      </a:r>
                      <a:endParaRPr sz="1400" dirty="0">
                        <a:latin typeface="新宋体" panose="02010609030101010101" charset="-122"/>
                        <a:ea typeface="新宋体" panose="02010609030101010101" charset="-122"/>
                        <a:cs typeface="新宋体" panose="02010609030101010101" charset="-122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2647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3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aes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x</a:t>
                      </a:r>
                      <a:r>
                        <a:rPr sz="1400" kern="0" spc="1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____,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y</a:t>
                      </a:r>
                      <a:r>
                        <a:rPr sz="1400" kern="0" spc="10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____,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fill</a:t>
                      </a:r>
                      <a:r>
                        <a:rPr sz="1400" kern="0" spc="1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__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__)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790"/>
                        </a:lnSpc>
                        <a:tabLst>
                          <a:tab pos="25527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4</a:t>
                      </a:r>
                      <a:r>
                        <a:rPr sz="1400" kern="0" spc="5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r>
                        <a:rPr sz="14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10"/>
                        </a:lnSpc>
                        <a:tabLst>
                          <a:tab pos="26670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5</a:t>
                      </a:r>
                      <a:r>
                        <a:rPr sz="1400" kern="0" spc="5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geom</a:t>
                      </a:r>
                      <a:r>
                        <a:rPr sz="1400" kern="0" spc="-1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col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()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755"/>
                        </a:lnSpc>
                        <a:tabLst>
                          <a:tab pos="26162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6</a:t>
                      </a:r>
                      <a:r>
                        <a:rPr sz="1400" kern="0" spc="5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scale</a:t>
                      </a:r>
                      <a:r>
                        <a:rPr sz="1400" kern="0" spc="2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fill</a:t>
                      </a:r>
                      <a:r>
                        <a:rPr sz="1400" kern="0" spc="2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manual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values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cause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colors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r>
                        <a:rPr sz="14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770"/>
                        </a:lnSpc>
                        <a:tabLst>
                          <a:tab pos="26162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7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labs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26162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8</a:t>
                      </a:r>
                      <a:r>
                        <a:rPr sz="1400" kern="0" spc="5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title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9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"_____________________________"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26035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9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subtitle</a:t>
                      </a:r>
                      <a:r>
                        <a:rPr sz="1400" kern="0" spc="10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9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改革前：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1854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年</a:t>
                      </a:r>
                      <a:r>
                        <a:rPr sz="1400" kern="0" spc="12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4</a:t>
                      </a:r>
                      <a:r>
                        <a:rPr sz="1400" kern="0" spc="10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月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—1855</a:t>
                      </a:r>
                      <a:r>
                        <a:rPr sz="1400" kern="0" spc="8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年</a:t>
                      </a:r>
                      <a:r>
                        <a:rPr sz="1400" kern="0" spc="20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3</a:t>
                      </a:r>
                      <a:r>
                        <a:rPr sz="1400" kern="0" spc="10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月</a:t>
                      </a:r>
                      <a:r>
                        <a:rPr sz="1400" kern="0" spc="-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10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x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0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NULL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y</a:t>
                      </a:r>
                      <a:r>
                        <a:rPr sz="1400" kern="0" spc="1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9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"_____________</a:t>
                      </a:r>
                      <a:r>
                        <a:rPr sz="1400" kern="0" spc="-2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________"</a:t>
                      </a:r>
                      <a:r>
                        <a:rPr sz="1400" kern="0" spc="-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-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fill</a:t>
                      </a:r>
                      <a:r>
                        <a:rPr sz="1400" kern="0" spc="1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9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2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-2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死亡原因</a:t>
                      </a:r>
                      <a:r>
                        <a:rPr sz="1400" kern="0" spc="-2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30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-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11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1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-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ct val="73000"/>
                        </a:lnSpc>
                        <a:spcBef>
                          <a:spcPts val="350"/>
                        </a:spcBef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12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p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2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950"/>
                        </a:lnSpc>
                        <a:spcBef>
                          <a:spcPts val="575"/>
                        </a:spcBef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-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13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 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ct val="85000"/>
                        </a:lnSpc>
                        <a:spcBef>
                          <a:spcPts val="560"/>
                        </a:spcBef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14</a:t>
                      </a:r>
                      <a:r>
                        <a:rPr sz="1400" kern="0" spc="5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#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再找出月合计死亡率最高的</a:t>
                      </a:r>
                      <a:r>
                        <a:rPr sz="1400" kern="0" spc="20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3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个月</a:t>
                      </a:r>
                      <a:endParaRPr sz="1400" dirty="0">
                        <a:latin typeface="新宋体" panose="02010609030101010101" charset="-122"/>
                        <a:ea typeface="新宋体" panose="02010609030101010101" charset="-122"/>
                        <a:cs typeface="新宋体" panose="02010609030101010101" charset="-122"/>
                      </a:endParaRPr>
                    </a:p>
                    <a:p>
                      <a:pPr marL="9525" algn="l" rtl="0" eaLnBrk="0">
                        <a:lnSpc>
                          <a:spcPts val="1840"/>
                        </a:lnSpc>
                        <a:spcBef>
                          <a:spcPts val="155"/>
                        </a:spcBef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15</a:t>
                      </a:r>
                      <a:r>
                        <a:rPr sz="1400" kern="0" spc="5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n_high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&lt;-</a:t>
                      </a:r>
                      <a:r>
                        <a:rPr sz="1400" kern="0" spc="13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before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%&gt;%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10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16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group</a:t>
                      </a:r>
                      <a:r>
                        <a:rPr sz="1400" kern="0" spc="1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by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日期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1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月份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%&gt;</a:t>
                      </a:r>
                      <a:r>
                        <a:rPr sz="1400" kern="0" spc="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%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755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17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summarise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月合计死亡率</a:t>
                      </a:r>
                      <a:r>
                        <a:rPr sz="1400" kern="0" spc="1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sum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死亡率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),</a:t>
                      </a:r>
                      <a:r>
                        <a:rPr sz="1400" kern="0" spc="29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.groups</a:t>
                      </a:r>
                      <a:r>
                        <a:rPr sz="1400" kern="0" spc="10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20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"drop"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%&gt;</a:t>
                      </a:r>
                      <a:r>
                        <a:rPr sz="1400" kern="0" spc="-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%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770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18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slice_max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order_by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____,</a:t>
                      </a:r>
                      <a:r>
                        <a:rPr sz="1400" kern="0" spc="1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n</a:t>
                      </a:r>
                      <a:r>
                        <a:rPr sz="1400" kern="0" spc="10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3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3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with_ties</a:t>
                      </a:r>
                      <a:r>
                        <a:rPr sz="1400" kern="0" spc="1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5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FA</a:t>
                      </a:r>
                      <a:r>
                        <a:rPr sz="1400" kern="0" spc="-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LSE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%&gt;%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19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arrange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日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期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30"/>
                        </a:lnSpc>
                        <a:tabLst>
                          <a:tab pos="16383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20</a:t>
                      </a:r>
                      <a:r>
                        <a:rPr sz="1400" kern="0" spc="5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n_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high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</a:tr>
            </a:tbl>
          </a:graphicData>
        </a:graphic>
      </p:graphicFrame>
      <p:sp>
        <p:nvSpPr>
          <p:cNvPr id="1216" name="rect 1216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18" name="textbox 1218"/>
          <p:cNvSpPr/>
          <p:nvPr/>
        </p:nvSpPr>
        <p:spPr>
          <a:xfrm>
            <a:off x="325652" y="645961"/>
            <a:ext cx="5556250" cy="388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</a:pPr>
            <a:r>
              <a:rPr sz="27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700" b="1" kern="0" spc="-1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r>
              <a:rPr sz="27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700" kern="0" spc="-5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月度构成图</a:t>
            </a:r>
            <a:r>
              <a:rPr sz="2700" kern="0" spc="-6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（先自己补</a:t>
            </a:r>
            <a:r>
              <a:rPr sz="27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全）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20" name="rect 1220"/>
          <p:cNvSpPr/>
          <p:nvPr/>
        </p:nvSpPr>
        <p:spPr>
          <a:xfrm>
            <a:off x="100393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22" name="textbox 1222"/>
          <p:cNvSpPr/>
          <p:nvPr/>
        </p:nvSpPr>
        <p:spPr>
          <a:xfrm>
            <a:off x="7591902" y="246125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24" name="picture 12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1076336"/>
            <a:ext cx="12192000" cy="19050"/>
          </a:xfrm>
          <a:prstGeom prst="rect">
            <a:avLst/>
          </a:prstGeom>
        </p:spPr>
      </p:pic>
      <p:pic>
        <p:nvPicPr>
          <p:cNvPr id="1226" name="picture 12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1228" name="textbox 1228"/>
          <p:cNvSpPr/>
          <p:nvPr/>
        </p:nvSpPr>
        <p:spPr>
          <a:xfrm>
            <a:off x="12556528" y="6906786"/>
            <a:ext cx="17208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46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rect 1230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232" name="table 1232"/>
          <p:cNvGraphicFramePr>
            <a:graphicFrameLocks noGrp="1"/>
          </p:cNvGraphicFramePr>
          <p:nvPr/>
        </p:nvGraphicFramePr>
        <p:xfrm>
          <a:off x="333375" y="1076336"/>
          <a:ext cx="12191999" cy="5076190"/>
        </p:xfrm>
        <a:graphic>
          <a:graphicData uri="http://schemas.openxmlformats.org/drawingml/2006/table">
            <a:tbl>
              <a:tblPr/>
              <a:tblGrid>
                <a:gridCol w="3926204"/>
                <a:gridCol w="3556000"/>
                <a:gridCol w="2101850"/>
                <a:gridCol w="2607945"/>
              </a:tblGrid>
              <a:tr h="4155440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010" algn="l" rtl="0" eaLnBrk="0">
                        <a:lnSpc>
                          <a:spcPts val="3035"/>
                        </a:lnSpc>
                      </a:pPr>
                      <a:r>
                        <a:rPr sz="2200" b="1" kern="0" spc="5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最高的</a:t>
                      </a:r>
                      <a:r>
                        <a:rPr sz="2200" b="1" kern="0" spc="21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b="1" kern="0" spc="5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 个月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36445" algn="l" rtl="0" eaLnBrk="0">
                        <a:lnSpc>
                          <a:spcPts val="3035"/>
                        </a:lnSpc>
                      </a:pPr>
                      <a:r>
                        <a:rPr sz="2200" b="1" kern="0" spc="-1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</a:t>
                      </a:r>
                      <a:r>
                        <a:rPr sz="2200" b="1" kern="0" spc="24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b="1" kern="0" spc="-1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b="1" kern="0" spc="-1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82295" algn="l" rtl="0" eaLnBrk="0">
                        <a:lnSpc>
                          <a:spcPts val="3035"/>
                        </a:lnSpc>
                      </a:pPr>
                      <a:r>
                        <a:rPr sz="2200" b="1" kern="0" spc="2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</a:t>
                      </a:r>
                      <a:r>
                        <a:rPr sz="2200" b="1" kern="0" spc="15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b="1" kern="0" spc="2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b="1" kern="0" spc="2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82295" algn="l" rtl="0" eaLnBrk="0">
                        <a:lnSpc>
                          <a:spcPts val="3035"/>
                        </a:lnSpc>
                      </a:pPr>
                      <a:r>
                        <a:rPr sz="2200" b="1" kern="0" spc="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</a:t>
                      </a:r>
                      <a:r>
                        <a:rPr sz="2200" b="1" kern="0" spc="21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b="1" kern="0" spc="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b="1" kern="0" spc="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81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0015" algn="l" rtl="0" eaLnBrk="0">
                        <a:lnSpc>
                          <a:spcPts val="2970"/>
                        </a:lnSpc>
                      </a:pPr>
                      <a:r>
                        <a:rPr sz="2200" kern="0" spc="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日期                                                               1854-12            1855-01            1855-02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234" name="picture 12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1276350"/>
            <a:ext cx="9429750" cy="3829050"/>
          </a:xfrm>
          <a:prstGeom prst="rect">
            <a:avLst/>
          </a:prstGeom>
        </p:spPr>
      </p:pic>
      <p:sp>
        <p:nvSpPr>
          <p:cNvPr id="1236" name="textbox 1236"/>
          <p:cNvSpPr/>
          <p:nvPr/>
        </p:nvSpPr>
        <p:spPr>
          <a:xfrm>
            <a:off x="324484" y="6126762"/>
            <a:ext cx="10942955" cy="7994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035"/>
              </a:lnSpc>
            </a:pPr>
            <a:r>
              <a:rPr sz="22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月合计死亡率（每千人年）                            721.2   </a:t>
            </a:r>
            <a:r>
              <a:rPr sz="22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</a:t>
            </a:r>
            <a:r>
              <a:rPr sz="2200" b="1" kern="0" spc="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1173.5             </a:t>
            </a:r>
            <a:r>
              <a:rPr sz="22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979.2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2580"/>
              </a:lnSpc>
              <a:spcBef>
                <a:spcPts val="480"/>
              </a:spcBef>
            </a:pPr>
            <a:r>
              <a:rPr sz="1900" kern="0" spc="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最高的是</a:t>
            </a:r>
            <a:r>
              <a:rPr sz="1900" kern="0" spc="2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1855 年</a:t>
            </a:r>
            <a:r>
              <a:rPr sz="1900" kern="0" spc="23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月（1173.5</a:t>
            </a:r>
            <a:r>
              <a:rPr sz="1900" kern="0" spc="-8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sz="1900" kern="0" spc="-16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-8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sz="1900" kern="0" spc="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最低的</a:t>
            </a:r>
            <a:r>
              <a:rPr sz="1900" kern="0" spc="2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1854 年 6 月仅 7.2</a:t>
            </a:r>
            <a:r>
              <a:rPr sz="1900" kern="0" spc="-26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900" kern="0" spc="-4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两者相差约</a:t>
            </a:r>
            <a:r>
              <a:rPr sz="1900" kern="0" spc="2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1166.3。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8" name="rect 1238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40" name="textbox 1240"/>
          <p:cNvSpPr/>
          <p:nvPr/>
        </p:nvSpPr>
        <p:spPr>
          <a:xfrm>
            <a:off x="325652" y="645961"/>
            <a:ext cx="5196840" cy="388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</a:pPr>
            <a:r>
              <a:rPr sz="27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700" b="1" kern="0" spc="-2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r>
              <a:rPr sz="27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700" kern="0" spc="-5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月度构成图</a:t>
            </a:r>
            <a:r>
              <a:rPr sz="2700" kern="0" spc="-6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（参考答案</a:t>
            </a:r>
            <a:r>
              <a:rPr sz="27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2" name="rect 1242"/>
          <p:cNvSpPr/>
          <p:nvPr/>
        </p:nvSpPr>
        <p:spPr>
          <a:xfrm>
            <a:off x="100393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44" name="textbox 1244"/>
          <p:cNvSpPr/>
          <p:nvPr/>
        </p:nvSpPr>
        <p:spPr>
          <a:xfrm>
            <a:off x="7591902" y="246125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46" name="picture 12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1248" name="textbox 1248"/>
          <p:cNvSpPr/>
          <p:nvPr/>
        </p:nvSpPr>
        <p:spPr>
          <a:xfrm>
            <a:off x="12556528" y="6948391"/>
            <a:ext cx="172085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000" kern="0" spc="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47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rect 1250"/>
          <p:cNvSpPr/>
          <p:nvPr/>
        </p:nvSpPr>
        <p:spPr>
          <a:xfrm>
            <a:off x="0" y="0"/>
            <a:ext cx="12858750" cy="7219936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52" name="rect 1252"/>
          <p:cNvSpPr/>
          <p:nvPr/>
        </p:nvSpPr>
        <p:spPr>
          <a:xfrm>
            <a:off x="352425" y="1171561"/>
            <a:ext cx="12172950" cy="2590800"/>
          </a:xfrm>
          <a:prstGeom prst="rect">
            <a:avLst/>
          </a:prstGeom>
          <a:solidFill>
            <a:srgbClr val="FFD166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254" name="picture 12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1171575"/>
            <a:ext cx="47625" cy="2590786"/>
          </a:xfrm>
          <a:prstGeom prst="rect">
            <a:avLst/>
          </a:prstGeom>
        </p:spPr>
      </p:pic>
      <p:sp>
        <p:nvSpPr>
          <p:cNvPr id="1256" name="rect 1256"/>
          <p:cNvSpPr/>
          <p:nvPr/>
        </p:nvSpPr>
        <p:spPr>
          <a:xfrm>
            <a:off x="371475" y="1171561"/>
            <a:ext cx="12153900" cy="447675"/>
          </a:xfrm>
          <a:prstGeom prst="rect">
            <a:avLst/>
          </a:prstGeom>
          <a:solidFill>
            <a:srgbClr val="FFD166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58" name="textbox 1258"/>
          <p:cNvSpPr/>
          <p:nvPr/>
        </p:nvSpPr>
        <p:spPr>
          <a:xfrm>
            <a:off x="358775" y="1265808"/>
            <a:ext cx="12179300" cy="2351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tabLst>
                <a:tab pos="299720" algn="l"/>
              </a:tabLst>
            </a:pP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100" b="1" kern="0" spc="-1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【先想一想】证据接力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   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4940" algn="l" rtl="0" eaLnBrk="0">
              <a:lnSpc>
                <a:spcPct val="86000"/>
              </a:lnSpc>
              <a:spcBef>
                <a:spcPts val="1640"/>
              </a:spcBef>
            </a:pPr>
            <a:r>
              <a:rPr sz="2100" kern="0" spc="-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每组说一句话，后一组必须引用前一组的证据：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10490" algn="l" rtl="0" eaLnBrk="0">
              <a:lnSpc>
                <a:spcPct val="110000"/>
              </a:lnSpc>
              <a:spcBef>
                <a:spcPts val="1035"/>
              </a:spcBef>
            </a:pP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描述：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最高的月份是 </a:t>
            </a:r>
            <a:r>
              <a:rPr sz="2100" u="sng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7790" algn="l" rtl="0" eaLnBrk="0">
              <a:lnSpc>
                <a:spcPct val="110000"/>
              </a:lnSpc>
              <a:spcBef>
                <a:spcPts val="5"/>
              </a:spcBef>
            </a:pPr>
            <a:r>
              <a:rPr sz="21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sz="2100" b="1" kern="0" spc="-2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比较：</a:t>
            </a:r>
            <a:r>
              <a:rPr sz="2100" b="1" kern="0" spc="-5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它明显高于 </a:t>
            </a:r>
            <a:r>
              <a:rPr sz="2100" u="sng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0965" algn="l" rtl="0" eaLnBrk="0">
              <a:lnSpc>
                <a:spcPct val="107000"/>
              </a:lnSpc>
              <a:spcBef>
                <a:spcPts val="10"/>
              </a:spcBef>
            </a:pPr>
            <a:r>
              <a:rPr sz="2100" kern="0" spc="-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sz="2100" b="1" kern="0" spc="-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构成：</a:t>
            </a:r>
            <a:r>
              <a:rPr sz="2100" kern="0" spc="-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高值主要</a:t>
            </a:r>
            <a:r>
              <a:rPr sz="2100" kern="0" spc="-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 </a:t>
            </a:r>
            <a:r>
              <a:rPr sz="2100" u="sng" kern="0" spc="0" dirty="0">
                <a:solidFill>
                  <a:srgbClr val="F3F6F9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</a:t>
            </a:r>
            <a:r>
              <a:rPr sz="2100" kern="0" spc="-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死亡构成。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4455" algn="l" rtl="0" eaLnBrk="0">
              <a:lnSpc>
                <a:spcPct val="116000"/>
              </a:lnSpc>
            </a:pP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边界：</a:t>
            </a:r>
            <a:r>
              <a:rPr sz="2100" b="1" kern="0" spc="-49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图中还不能说明 </a:t>
            </a:r>
            <a:r>
              <a:rPr sz="2100" u="sng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</a:t>
            </a:r>
            <a:r>
              <a:rPr sz="2100" u="sng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60" name="rect 1260"/>
          <p:cNvSpPr/>
          <p:nvPr/>
        </p:nvSpPr>
        <p:spPr>
          <a:xfrm>
            <a:off x="666750" y="4562461"/>
            <a:ext cx="952500" cy="285750"/>
          </a:xfrm>
          <a:prstGeom prst="rect">
            <a:avLst/>
          </a:prstGeom>
          <a:solidFill>
            <a:srgbClr val="FFD16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62" name="rect 1262"/>
          <p:cNvSpPr/>
          <p:nvPr/>
        </p:nvSpPr>
        <p:spPr>
          <a:xfrm>
            <a:off x="666750" y="5067286"/>
            <a:ext cx="1143000" cy="285750"/>
          </a:xfrm>
          <a:prstGeom prst="rect">
            <a:avLst/>
          </a:prstGeom>
          <a:solidFill>
            <a:srgbClr val="FFD16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64" name="rect 1264"/>
          <p:cNvSpPr/>
          <p:nvPr/>
        </p:nvSpPr>
        <p:spPr>
          <a:xfrm>
            <a:off x="666750" y="5581636"/>
            <a:ext cx="1343025" cy="276225"/>
          </a:xfrm>
          <a:prstGeom prst="rect">
            <a:avLst/>
          </a:prstGeom>
          <a:solidFill>
            <a:srgbClr val="FFD166">
              <a:alpha val="97647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66" name="textbox 1266"/>
          <p:cNvSpPr/>
          <p:nvPr/>
        </p:nvSpPr>
        <p:spPr>
          <a:xfrm>
            <a:off x="323976" y="3860891"/>
            <a:ext cx="8863965" cy="20339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500" b="1" kern="0" spc="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分层任务：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4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1290" algn="l" rtl="0" eaLnBrk="0">
              <a:lnSpc>
                <a:spcPct val="88000"/>
              </a:lnSpc>
              <a:spcBef>
                <a:spcPts val="760"/>
              </a:spcBef>
              <a:tabLst>
                <a:tab pos="342265" algn="l"/>
              </a:tabLst>
            </a:pPr>
            <a:r>
              <a:rPr sz="1800" b="1" kern="0" spc="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800" b="1" kern="0" spc="30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900" b="1" kern="0" spc="70" baseline="400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★</a:t>
            </a:r>
            <a:r>
              <a:rPr sz="1800" b="1" kern="0" spc="7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900" b="1" kern="0" spc="70" baseline="400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</a:t>
            </a:r>
            <a:r>
              <a:rPr sz="1800" b="1" kern="0" spc="26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找出最高月份和主要死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1290" algn="l" rtl="0" eaLnBrk="0">
              <a:lnSpc>
                <a:spcPct val="88000"/>
              </a:lnSpc>
              <a:spcBef>
                <a:spcPts val="1335"/>
              </a:spcBef>
              <a:tabLst>
                <a:tab pos="342265" algn="l"/>
              </a:tabLst>
            </a:pPr>
            <a:r>
              <a:rPr sz="1800" b="1" kern="0" spc="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800" b="1" kern="0" spc="35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kern="0" spc="8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★★ 进阶   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比较”人数图”与”死亡率图”是否得出相同结论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6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1290" algn="l" rtl="0" eaLnBrk="0">
              <a:lnSpc>
                <a:spcPct val="88000"/>
              </a:lnSpc>
              <a:spcBef>
                <a:spcPts val="0"/>
              </a:spcBef>
              <a:tabLst>
                <a:tab pos="342265" algn="l"/>
              </a:tabLst>
            </a:pPr>
            <a:r>
              <a:rPr sz="1800" b="1" kern="0" spc="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800" b="1" kern="0" spc="3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900" b="1" kern="0" spc="80" baseline="400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★★★</a:t>
            </a:r>
            <a:r>
              <a:rPr sz="1800" b="1" kern="0" spc="8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900" b="1" kern="0" spc="80" baseline="400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挑战</a:t>
            </a:r>
            <a:r>
              <a:rPr sz="1800" b="1" kern="0" spc="26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说明为什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么</a:t>
            </a:r>
            <a:r>
              <a:rPr sz="2500" b="1" kern="0" spc="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不同月份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的死亡率可以直接比较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68" name="picture 12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71475" y="5657836"/>
            <a:ext cx="114300" cy="114300"/>
          </a:xfrm>
          <a:prstGeom prst="rect">
            <a:avLst/>
          </a:prstGeom>
        </p:spPr>
      </p:pic>
      <p:pic>
        <p:nvPicPr>
          <p:cNvPr id="1270" name="picture 12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71475" y="5143486"/>
            <a:ext cx="114300" cy="114300"/>
          </a:xfrm>
          <a:prstGeom prst="rect">
            <a:avLst/>
          </a:prstGeom>
        </p:spPr>
      </p:pic>
      <p:pic>
        <p:nvPicPr>
          <p:cNvPr id="1272" name="picture 12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71475" y="4638661"/>
            <a:ext cx="114300" cy="114300"/>
          </a:xfrm>
          <a:prstGeom prst="rect">
            <a:avLst/>
          </a:prstGeom>
        </p:spPr>
      </p:pic>
      <p:sp>
        <p:nvSpPr>
          <p:cNvPr id="1274" name="rect 1274"/>
          <p:cNvSpPr/>
          <p:nvPr/>
        </p:nvSpPr>
        <p:spPr>
          <a:xfrm>
            <a:off x="333375" y="190500"/>
            <a:ext cx="12192000" cy="390511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76" name="textbox 1276"/>
          <p:cNvSpPr/>
          <p:nvPr/>
        </p:nvSpPr>
        <p:spPr>
          <a:xfrm>
            <a:off x="325652" y="645936"/>
            <a:ext cx="4540250" cy="389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700" kern="0" spc="1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700" b="1" kern="0" spc="11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r>
              <a:rPr sz="2700" kern="0" spc="1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700" kern="0" spc="-5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1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月份模式与死亡构</a:t>
            </a:r>
            <a:r>
              <a:rPr sz="2700" kern="0" spc="1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78" name="rect 1278"/>
          <p:cNvSpPr/>
          <p:nvPr/>
        </p:nvSpPr>
        <p:spPr>
          <a:xfrm>
            <a:off x="10039350" y="209536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80" name="textbox 1280"/>
          <p:cNvSpPr/>
          <p:nvPr/>
        </p:nvSpPr>
        <p:spPr>
          <a:xfrm>
            <a:off x="7591902" y="246100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82" name="picture 128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33375" y="1076311"/>
            <a:ext cx="12192000" cy="19050"/>
          </a:xfrm>
          <a:prstGeom prst="rect">
            <a:avLst/>
          </a:prstGeom>
        </p:spPr>
      </p:pic>
      <p:pic>
        <p:nvPicPr>
          <p:cNvPr id="1284" name="picture 128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33375" y="571486"/>
            <a:ext cx="12192000" cy="9525"/>
          </a:xfrm>
          <a:prstGeom prst="rect">
            <a:avLst/>
          </a:prstGeom>
        </p:spPr>
      </p:pic>
      <p:sp>
        <p:nvSpPr>
          <p:cNvPr id="1286" name="textbox 1286"/>
          <p:cNvSpPr/>
          <p:nvPr/>
        </p:nvSpPr>
        <p:spPr>
          <a:xfrm>
            <a:off x="12556528" y="6906761"/>
            <a:ext cx="17208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48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rect 1288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90" name="rect 1290"/>
          <p:cNvSpPr/>
          <p:nvPr/>
        </p:nvSpPr>
        <p:spPr>
          <a:xfrm>
            <a:off x="352425" y="1171586"/>
            <a:ext cx="12172950" cy="3152775"/>
          </a:xfrm>
          <a:prstGeom prst="rect">
            <a:avLst/>
          </a:prstGeom>
          <a:solidFill>
            <a:srgbClr val="67D6B4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92" name="textbox 1292"/>
          <p:cNvSpPr/>
          <p:nvPr/>
        </p:nvSpPr>
        <p:spPr>
          <a:xfrm>
            <a:off x="500534" y="1695868"/>
            <a:ext cx="11717655" cy="24752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70"/>
              </a:lnSpc>
            </a:pPr>
            <a:r>
              <a:rPr sz="2100" b="1" kern="0" spc="-5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描述：</a:t>
            </a:r>
            <a:r>
              <a:rPr sz="2100" kern="0" spc="-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最高的月份是</a:t>
            </a:r>
            <a:r>
              <a:rPr sz="2100" kern="0" spc="2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b="1" kern="0" spc="-5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1855 年</a:t>
            </a:r>
            <a:r>
              <a:rPr sz="2100" b="1" kern="0" spc="19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b="1" kern="0" spc="-5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月</a:t>
            </a:r>
            <a:r>
              <a:rPr sz="2100" kern="0" spc="-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（月合计年化死亡率</a:t>
            </a:r>
            <a:r>
              <a:rPr sz="2100" kern="0" spc="2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b="1" kern="0" spc="-5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1173.5 </a:t>
            </a:r>
            <a:r>
              <a:rPr sz="2100" kern="0" spc="-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每千人年）。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ts val="2710"/>
              </a:lnSpc>
              <a:spcBef>
                <a:spcPts val="1250"/>
              </a:spcBef>
            </a:pPr>
            <a:r>
              <a:rPr sz="2100" b="1" kern="0" spc="-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比较：</a:t>
            </a:r>
            <a:r>
              <a:rPr sz="2100" b="1" kern="0" spc="-4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它明显高于同期的其他月份——最低的</a:t>
            </a:r>
            <a:r>
              <a:rPr sz="2100" kern="0" spc="2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1854 年 6 月仅 7.2，相差约</a:t>
            </a:r>
            <a:r>
              <a:rPr sz="2100" kern="0" spc="2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1166.3。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875" indent="-3175" algn="l" rtl="0" eaLnBrk="0">
              <a:lnSpc>
                <a:spcPct val="104000"/>
              </a:lnSpc>
              <a:spcBef>
                <a:spcPts val="1120"/>
              </a:spcBef>
            </a:pP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构成：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高值月份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相邻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，集中在</a:t>
            </a:r>
            <a:r>
              <a:rPr sz="2100" kern="0" spc="2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1854 年</a:t>
            </a:r>
            <a:r>
              <a:rPr sz="2100" b="1" kern="0" spc="19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月—1855 年</a:t>
            </a:r>
            <a:r>
              <a:rPr sz="2100" b="1" kern="0" spc="-2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月这三个连续的冬季月</a:t>
            </a:r>
            <a:r>
              <a:rPr sz="21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；柱形绝大部分由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可预防疾病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（灰蓝）构成——1855 年</a:t>
            </a:r>
            <a:r>
              <a:rPr sz="2100" kern="0" spc="2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月可预防疾病的年化死亡率达</a:t>
            </a:r>
            <a:r>
              <a:rPr sz="2100" kern="0" spc="2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1022.8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，占</a:t>
            </a:r>
            <a:r>
              <a:rPr sz="21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该月合计的八成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以上，</a:t>
            </a:r>
            <a:r>
              <a:rPr sz="2100" kern="0" spc="-4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同期战伤仅 30.7、其他原因</a:t>
            </a:r>
            <a:r>
              <a:rPr sz="2100" kern="0" spc="2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120.0。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2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8000"/>
              </a:lnSpc>
            </a:pPr>
            <a:r>
              <a:rPr sz="2100" b="1" kern="0" spc="-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边界：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数据缺少</a:t>
            </a:r>
            <a:r>
              <a:rPr sz="2100" b="1" kern="0" spc="-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气温、营地密度、士兵病史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等信息，不能</a:t>
            </a:r>
            <a:r>
              <a:rPr sz="2100" kern="0" spc="-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确认高值的成因。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94" name="picture 12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1171586"/>
            <a:ext cx="47625" cy="3152763"/>
          </a:xfrm>
          <a:prstGeom prst="rect">
            <a:avLst/>
          </a:prstGeom>
        </p:spPr>
      </p:pic>
      <p:sp>
        <p:nvSpPr>
          <p:cNvPr id="1296" name="textbox 1296"/>
          <p:cNvSpPr/>
          <p:nvPr/>
        </p:nvSpPr>
        <p:spPr>
          <a:xfrm>
            <a:off x="371475" y="1171586"/>
            <a:ext cx="12153900" cy="447675"/>
          </a:xfrm>
          <a:prstGeom prst="rect">
            <a:avLst/>
          </a:prstGeom>
          <a:solidFill>
            <a:srgbClr val="67D6B4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7020" algn="l" rtl="0" eaLnBrk="0">
              <a:lnSpc>
                <a:spcPct val="91000"/>
              </a:lnSpc>
            </a:pPr>
            <a:r>
              <a:rPr sz="1900" b="1" kern="0" spc="-1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【参考答案】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98" name="rect 1298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00" name="textbox 1300"/>
          <p:cNvSpPr/>
          <p:nvPr/>
        </p:nvSpPr>
        <p:spPr>
          <a:xfrm>
            <a:off x="325652" y="645961"/>
            <a:ext cx="4838065" cy="388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</a:pPr>
            <a:r>
              <a:rPr sz="27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700" b="1" kern="0" spc="-4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r>
              <a:rPr sz="27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700" kern="0" spc="-4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图表解读</a:t>
            </a:r>
            <a:r>
              <a:rPr sz="2700" kern="0" spc="-6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（参考答</a:t>
            </a:r>
            <a:r>
              <a:rPr sz="2700" kern="0" spc="-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案）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02" name="rect 1302"/>
          <p:cNvSpPr/>
          <p:nvPr/>
        </p:nvSpPr>
        <p:spPr>
          <a:xfrm>
            <a:off x="100393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04" name="textbox 1304"/>
          <p:cNvSpPr/>
          <p:nvPr/>
        </p:nvSpPr>
        <p:spPr>
          <a:xfrm>
            <a:off x="7591902" y="246125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06" name="picture 13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1076336"/>
            <a:ext cx="12192000" cy="19050"/>
          </a:xfrm>
          <a:prstGeom prst="rect">
            <a:avLst/>
          </a:prstGeom>
        </p:spPr>
      </p:pic>
      <p:pic>
        <p:nvPicPr>
          <p:cNvPr id="1308" name="picture 13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1310" name="textbox 1310"/>
          <p:cNvSpPr/>
          <p:nvPr/>
        </p:nvSpPr>
        <p:spPr>
          <a:xfrm>
            <a:off x="12556528" y="6906786"/>
            <a:ext cx="17208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49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rect 1312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14" name="rect 1314"/>
          <p:cNvSpPr/>
          <p:nvPr/>
        </p:nvSpPr>
        <p:spPr>
          <a:xfrm>
            <a:off x="6505575" y="2133611"/>
            <a:ext cx="1790700" cy="3333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16" name="rect 1316"/>
          <p:cNvSpPr/>
          <p:nvPr/>
        </p:nvSpPr>
        <p:spPr>
          <a:xfrm>
            <a:off x="409575" y="2857511"/>
            <a:ext cx="1152525" cy="276225"/>
          </a:xfrm>
          <a:prstGeom prst="rect">
            <a:avLst/>
          </a:prstGeom>
          <a:solidFill>
            <a:srgbClr val="FFD16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18" name="rect 1318"/>
          <p:cNvSpPr/>
          <p:nvPr/>
        </p:nvSpPr>
        <p:spPr>
          <a:xfrm>
            <a:off x="6505575" y="2847986"/>
            <a:ext cx="2771775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20" name="rect 1320"/>
          <p:cNvSpPr/>
          <p:nvPr/>
        </p:nvSpPr>
        <p:spPr>
          <a:xfrm>
            <a:off x="6505575" y="3400436"/>
            <a:ext cx="1647825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22" name="rect 1322"/>
          <p:cNvSpPr/>
          <p:nvPr/>
        </p:nvSpPr>
        <p:spPr>
          <a:xfrm>
            <a:off x="409575" y="3581411"/>
            <a:ext cx="1343025" cy="276225"/>
          </a:xfrm>
          <a:prstGeom prst="rect">
            <a:avLst/>
          </a:prstGeom>
          <a:solidFill>
            <a:srgbClr val="FFD166">
              <a:alpha val="97254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24" name="rect 1324"/>
          <p:cNvSpPr/>
          <p:nvPr/>
        </p:nvSpPr>
        <p:spPr>
          <a:xfrm>
            <a:off x="6505575" y="3733811"/>
            <a:ext cx="942975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326" name="table 1326"/>
          <p:cNvGraphicFramePr>
            <a:graphicFrameLocks noGrp="1"/>
          </p:cNvGraphicFramePr>
          <p:nvPr/>
        </p:nvGraphicFramePr>
        <p:xfrm>
          <a:off x="333375" y="1580288"/>
          <a:ext cx="12191365" cy="2478404"/>
        </p:xfrm>
        <a:graphic>
          <a:graphicData uri="http://schemas.openxmlformats.org/drawingml/2006/table">
            <a:tbl>
              <a:tblPr/>
              <a:tblGrid>
                <a:gridCol w="2272664"/>
                <a:gridCol w="3713479"/>
                <a:gridCol w="3097530"/>
                <a:gridCol w="3107689"/>
              </a:tblGrid>
              <a:tr h="343534">
                <a:tc>
                  <a:txBody>
                    <a:bodyPr/>
                    <a:lstStyle/>
                    <a:p>
                      <a:pPr marL="79375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b="1" kern="0" spc="7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星级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83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54710" algn="l" rtl="0" eaLnBrk="0">
                        <a:lnSpc>
                          <a:spcPct val="87000"/>
                        </a:lnSpc>
                      </a:pPr>
                      <a:r>
                        <a:rPr sz="2200" b="1" kern="0" spc="7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3675" algn="l" rtl="0" eaLnBrk="0">
                        <a:lnSpc>
                          <a:spcPct val="87000"/>
                        </a:lnSpc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用到的新函数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9700" algn="l" rtl="0" eaLnBrk="0">
                        <a:lnSpc>
                          <a:spcPct val="88000"/>
                        </a:lnSpc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对应讲义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88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52805" indent="635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三类死因的月度变化</a:t>
                      </a: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是否一致？</a:t>
                      </a:r>
                      <a:r>
                        <a:rPr sz="2200" b="1" kern="0" spc="9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分开</a:t>
                      </a: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呈现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6220" algn="l" rtl="0" eaLnBrk="0">
                        <a:lnSpc>
                          <a:spcPts val="2640"/>
                        </a:lnSpc>
                      </a:pP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facet</a:t>
                      </a:r>
                      <a:r>
                        <a:rPr sz="2000" kern="0" spc="2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wrap</a:t>
                      </a:r>
                      <a:r>
                        <a:rPr sz="2000" kern="0" spc="2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()</a:t>
                      </a:r>
                      <a:endParaRPr sz="20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9700" algn="l" rtl="0" eaLnBrk="0">
                        <a:lnSpc>
                          <a:spcPts val="2970"/>
                        </a:lnSpc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巩固提升 ★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6200" algn="l" rtl="0" eaLnBrk="0">
                        <a:lnSpc>
                          <a:spcPct val="86000"/>
                        </a:lnSpc>
                        <a:tabLst>
                          <a:tab pos="185420" algn="l"/>
                        </a:tabLst>
                      </a:pPr>
                      <a:r>
                        <a:rPr sz="1800" b="1" kern="0" spc="0" dirty="0">
                          <a:solidFill>
                            <a:srgbClr val="07131D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1800" b="1" kern="0" spc="60" dirty="0">
                          <a:solidFill>
                            <a:srgbClr val="07131D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★★ 进阶</a:t>
                      </a:r>
                      <a:r>
                        <a:rPr sz="1800" b="1" kern="0" spc="0" dirty="0">
                          <a:solidFill>
                            <a:srgbClr val="07131D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endParaRPr sz="1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54710" indent="5715" algn="l" rtl="0" eaLnBrk="0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为上一张图</a:t>
                      </a:r>
                      <a:r>
                        <a:rPr sz="2200" b="1" kern="0" spc="8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自选三种</a:t>
                      </a:r>
                      <a:r>
                        <a:rPr sz="2200" b="1" kern="0" spc="8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填充颜色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6055" algn="l" rtl="0" eaLnBrk="0">
                        <a:lnSpc>
                          <a:spcPts val="2640"/>
                        </a:lnSpc>
                        <a:spcBef>
                          <a:spcPts val="0"/>
                        </a:spcBef>
                        <a:tabLst>
                          <a:tab pos="258445" algn="l"/>
                        </a:tabLst>
                      </a:pP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	</a:t>
                      </a: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scale_fill_m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anual()</a:t>
                      </a:r>
                      <a:endParaRPr sz="20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9700" algn="l" rtl="0" eaLnBrk="0">
                        <a:lnSpc>
                          <a:spcPts val="2970"/>
                        </a:lnSpc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巩固提升 ★★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620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  <a:tabLst>
                          <a:tab pos="185420" algn="l"/>
                        </a:tabLst>
                      </a:pPr>
                      <a:r>
                        <a:rPr sz="1800" b="1" kern="0" spc="0" dirty="0">
                          <a:solidFill>
                            <a:srgbClr val="07131D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1800" b="1" kern="0" spc="60" dirty="0">
                          <a:solidFill>
                            <a:srgbClr val="07131D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★★★ 挑战</a:t>
                      </a:r>
                      <a:r>
                        <a:rPr sz="1800" b="1" kern="0" spc="10" dirty="0">
                          <a:solidFill>
                            <a:srgbClr val="07131D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endParaRPr sz="18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54075" indent="6985" algn="l" rtl="0" eaLnBrk="0">
                        <a:lnSpc>
                          <a:spcPct val="99000"/>
                        </a:lnSpc>
                      </a:pP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为任务</a:t>
                      </a:r>
                      <a:r>
                        <a:rPr sz="2200" kern="0" spc="3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的图加上</a:t>
                      </a:r>
                      <a:r>
                        <a:rPr sz="2200" b="1" kern="0" spc="5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</a:t>
                      </a:r>
                      <a:r>
                        <a:rPr sz="2200" b="1" kern="0" spc="8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值标签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6055" algn="l" rtl="0" eaLnBrk="0">
                        <a:lnSpc>
                          <a:spcPct val="99000"/>
                        </a:lnSpc>
                        <a:tabLst>
                          <a:tab pos="247650" algn="l"/>
                        </a:tabLst>
                      </a:pP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	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geom_text()</a:t>
                      </a:r>
                      <a:r>
                        <a:rPr sz="2000" kern="0" spc="34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86055" algn="l" rtl="0" eaLnBrk="0">
                        <a:lnSpc>
                          <a:spcPts val="2590"/>
                        </a:lnSpc>
                        <a:spcBef>
                          <a:spcPts val="10"/>
                        </a:spcBef>
                        <a:tabLst>
                          <a:tab pos="250825" algn="l"/>
                        </a:tabLst>
                      </a:pP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	</a:t>
                      </a:r>
                      <a:r>
                        <a:rPr sz="2000" kern="0" spc="-2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expand</a:t>
                      </a:r>
                      <a:endParaRPr sz="20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9700" algn="l" rtl="0" eaLnBrk="0">
                        <a:lnSpc>
                          <a:spcPts val="2970"/>
                        </a:lnSpc>
                        <a:spcBef>
                          <a:spcPts val="5"/>
                        </a:spcBef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巩固提升 ★★★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328" name="rect 1328"/>
          <p:cNvSpPr/>
          <p:nvPr/>
        </p:nvSpPr>
        <p:spPr>
          <a:xfrm>
            <a:off x="352425" y="4143386"/>
            <a:ext cx="12172950" cy="1371600"/>
          </a:xfrm>
          <a:prstGeom prst="rect">
            <a:avLst/>
          </a:prstGeom>
          <a:solidFill>
            <a:srgbClr val="78C8F5">
              <a:alpha val="745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330" name="picture 13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4143386"/>
            <a:ext cx="47625" cy="1371588"/>
          </a:xfrm>
          <a:prstGeom prst="rect">
            <a:avLst/>
          </a:prstGeom>
        </p:spPr>
      </p:pic>
      <p:sp>
        <p:nvSpPr>
          <p:cNvPr id="1332" name="rect 1332"/>
          <p:cNvSpPr/>
          <p:nvPr/>
        </p:nvSpPr>
        <p:spPr>
          <a:xfrm>
            <a:off x="371475" y="4143386"/>
            <a:ext cx="12153900" cy="447675"/>
          </a:xfrm>
          <a:prstGeom prst="rect">
            <a:avLst/>
          </a:prstGeom>
          <a:solidFill>
            <a:srgbClr val="78C8F5">
              <a:alpha val="1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34" name="rect 1334"/>
          <p:cNvSpPr/>
          <p:nvPr/>
        </p:nvSpPr>
        <p:spPr>
          <a:xfrm>
            <a:off x="6715125" y="4743461"/>
            <a:ext cx="1638300" cy="2952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36" name="rect 1336"/>
          <p:cNvSpPr/>
          <p:nvPr/>
        </p:nvSpPr>
        <p:spPr>
          <a:xfrm>
            <a:off x="3790949" y="4743461"/>
            <a:ext cx="1247775" cy="2952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38" name="textbox 1338"/>
          <p:cNvSpPr/>
          <p:nvPr/>
        </p:nvSpPr>
        <p:spPr>
          <a:xfrm>
            <a:off x="358775" y="4235232"/>
            <a:ext cx="12179300" cy="1101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  <a:tabLst>
                <a:tab pos="173355" algn="l"/>
              </a:tabLst>
            </a:pP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自选配色前必读                                                                                                                  </a:t>
            </a:r>
            <a:r>
              <a:rPr sz="2100" b="1" kern="0" spc="-2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0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735" indent="17145" algn="l" rtl="0" eaLnBrk="0">
              <a:lnSpc>
                <a:spcPct val="98000"/>
              </a:lnSpc>
              <a:spcBef>
                <a:spcPts val="0"/>
              </a:spcBef>
            </a:pP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自选颜色请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另起变量名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（如</a:t>
            </a:r>
            <a:r>
              <a:rPr sz="2100" kern="0" spc="6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my_colors</a:t>
            </a:r>
            <a:r>
              <a:rPr sz="1800" kern="0" spc="-42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不要覆盖</a:t>
            </a:r>
            <a:r>
              <a:rPr sz="2100" kern="0" spc="5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cause_colors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——后面任务 3、任务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还要用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-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它做跨图对照。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40" name="rect 1340"/>
          <p:cNvSpPr/>
          <p:nvPr/>
        </p:nvSpPr>
        <p:spPr>
          <a:xfrm>
            <a:off x="761999" y="1114436"/>
            <a:ext cx="2019300" cy="3714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42" name="textbox 1342"/>
          <p:cNvSpPr/>
          <p:nvPr/>
        </p:nvSpPr>
        <p:spPr>
          <a:xfrm>
            <a:off x="323976" y="724220"/>
            <a:ext cx="11907519" cy="768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270" algn="l" rtl="0" eaLnBrk="0">
              <a:lnSpc>
                <a:spcPct val="98000"/>
              </a:lnSpc>
            </a:pP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基础任务必做</a:t>
            </a:r>
            <a:r>
              <a:rPr sz="2500" kern="0" spc="-3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kern="0" spc="-6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进阶与挑战任务按自己的学习情况选做。</a:t>
            </a:r>
            <a:r>
              <a:rPr sz="2500" kern="0" spc="-6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所有图形继续使用</a:t>
            </a:r>
            <a:r>
              <a:rPr sz="2500" b="1" kern="0" spc="8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统一配</a:t>
            </a:r>
            <a:r>
              <a:rPr sz="2500" b="1" kern="0" spc="2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色</a:t>
            </a:r>
            <a:r>
              <a:rPr sz="2500" b="1" kern="0" spc="6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cause</a:t>
            </a:r>
            <a:r>
              <a:rPr sz="2200" kern="0" spc="26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_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colors</a:t>
            </a:r>
            <a:r>
              <a:rPr sz="2500" kern="0" spc="2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44" name="rect 1344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46" name="rect 1346"/>
          <p:cNvSpPr/>
          <p:nvPr/>
        </p:nvSpPr>
        <p:spPr>
          <a:xfrm>
            <a:off x="100393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48" name="textbox 1348"/>
          <p:cNvSpPr/>
          <p:nvPr/>
        </p:nvSpPr>
        <p:spPr>
          <a:xfrm>
            <a:off x="7591902" y="246125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50" name="textbox 1350"/>
          <p:cNvSpPr/>
          <p:nvPr/>
        </p:nvSpPr>
        <p:spPr>
          <a:xfrm>
            <a:off x="409575" y="2152661"/>
            <a:ext cx="952500" cy="276225"/>
          </a:xfrm>
          <a:prstGeom prst="rect">
            <a:avLst/>
          </a:prstGeom>
          <a:solidFill>
            <a:srgbClr val="FFD16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9220" algn="l" rtl="0" eaLnBrk="0">
              <a:lnSpc>
                <a:spcPct val="88000"/>
              </a:lnSpc>
            </a:pPr>
            <a:r>
              <a:rPr sz="1800" b="1" kern="0" spc="5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★ 基础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52" name="picture 13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619136"/>
            <a:ext cx="12192000" cy="19050"/>
          </a:xfrm>
          <a:prstGeom prst="rect">
            <a:avLst/>
          </a:prstGeom>
        </p:spPr>
      </p:pic>
      <p:pic>
        <p:nvPicPr>
          <p:cNvPr id="1354" name="picture 13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1356" name="textbox 1356"/>
          <p:cNvSpPr/>
          <p:nvPr/>
        </p:nvSpPr>
        <p:spPr>
          <a:xfrm>
            <a:off x="12560395" y="6906786"/>
            <a:ext cx="16827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50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rect 1358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60" name="rect 1360"/>
          <p:cNvSpPr/>
          <p:nvPr/>
        </p:nvSpPr>
        <p:spPr>
          <a:xfrm>
            <a:off x="352425" y="1171586"/>
            <a:ext cx="12172950" cy="2552700"/>
          </a:xfrm>
          <a:prstGeom prst="rect">
            <a:avLst/>
          </a:prstGeom>
          <a:solidFill>
            <a:srgbClr val="FFD166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362" name="picture 13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1171586"/>
            <a:ext cx="47625" cy="2552688"/>
          </a:xfrm>
          <a:prstGeom prst="rect">
            <a:avLst/>
          </a:prstGeom>
        </p:spPr>
      </p:pic>
      <p:sp>
        <p:nvSpPr>
          <p:cNvPr id="1364" name="rect 1364"/>
          <p:cNvSpPr/>
          <p:nvPr/>
        </p:nvSpPr>
        <p:spPr>
          <a:xfrm>
            <a:off x="371475" y="1171586"/>
            <a:ext cx="12153900" cy="447675"/>
          </a:xfrm>
          <a:prstGeom prst="rect">
            <a:avLst/>
          </a:prstGeom>
          <a:solidFill>
            <a:srgbClr val="FFD166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66" name="rect 1366"/>
          <p:cNvSpPr/>
          <p:nvPr/>
        </p:nvSpPr>
        <p:spPr>
          <a:xfrm>
            <a:off x="857250" y="2266961"/>
            <a:ext cx="352425" cy="285750"/>
          </a:xfrm>
          <a:prstGeom prst="rect">
            <a:avLst/>
          </a:prstGeom>
          <a:solidFill>
            <a:srgbClr val="78C8F5">
              <a:alpha val="901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68" name="rect 1368"/>
          <p:cNvSpPr/>
          <p:nvPr/>
        </p:nvSpPr>
        <p:spPr>
          <a:xfrm>
            <a:off x="9144000" y="2771786"/>
            <a:ext cx="2019300" cy="2857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70" name="textbox 1370"/>
          <p:cNvSpPr/>
          <p:nvPr/>
        </p:nvSpPr>
        <p:spPr>
          <a:xfrm>
            <a:off x="358775" y="1266366"/>
            <a:ext cx="12179300" cy="2327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tabLst>
                <a:tab pos="299720" algn="l"/>
              </a:tabLst>
            </a:pP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100" b="1" kern="0" spc="-10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【先想一想】★ 基</a:t>
            </a:r>
            <a:r>
              <a:rPr sz="2100" b="1" kern="0" spc="-1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础任务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8750" algn="l" rtl="0" eaLnBrk="0">
              <a:lnSpc>
                <a:spcPct val="88000"/>
              </a:lnSpc>
              <a:spcBef>
                <a:spcPts val="1605"/>
              </a:spcBef>
            </a:pP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三类死因的死亡率是否都随月份变化？最高值是否出现在同一个月？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4305" algn="l" rtl="0" eaLnBrk="0">
              <a:lnSpc>
                <a:spcPct val="88000"/>
              </a:lnSpc>
              <a:spcBef>
                <a:spcPts val="1770"/>
              </a:spcBef>
            </a:pP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sz="2100" kern="0" spc="5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p2</a:t>
            </a:r>
            <a:r>
              <a:rPr sz="18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的基础上添加分面，把三类死因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分开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呈现，并保持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相同的纵轴尺度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3670" indent="-635" algn="l" rtl="0" eaLnBrk="0">
              <a:lnSpc>
                <a:spcPct val="154000"/>
              </a:lnSpc>
              <a:spcBef>
                <a:spcPts val="270"/>
              </a:spcBef>
              <a:tabLst>
                <a:tab pos="5784850" algn="l"/>
              </a:tabLst>
            </a:pPr>
            <a:r>
              <a:rPr sz="2100" kern="0" spc="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分面变量是 </a:t>
            </a:r>
            <a:r>
              <a:rPr sz="2100" u="sng" kern="0" spc="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</a:t>
            </a:r>
            <a:r>
              <a:rPr sz="2100" kern="0" spc="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；保持相同尺度的参数是 </a:t>
            </a:r>
            <a:r>
              <a:rPr sz="2100" u="sng" kern="0" spc="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</a:t>
            </a:r>
            <a:r>
              <a:rPr sz="2100" kern="0" spc="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默认值 /</a:t>
            </a:r>
            <a:r>
              <a:rPr sz="2100" kern="0" spc="5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scales</a:t>
            </a:r>
            <a:r>
              <a:rPr sz="18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=</a:t>
            </a:r>
            <a:r>
              <a:rPr sz="18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"free"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）。        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我的发现：</a:t>
            </a:r>
            <a:r>
              <a:rPr sz="2100" u="sng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72" name="rect 1372"/>
          <p:cNvSpPr/>
          <p:nvPr/>
        </p:nvSpPr>
        <p:spPr>
          <a:xfrm>
            <a:off x="1323974" y="3838586"/>
            <a:ext cx="7943850" cy="3619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74" name="rect 1374"/>
          <p:cNvSpPr/>
          <p:nvPr/>
        </p:nvSpPr>
        <p:spPr>
          <a:xfrm>
            <a:off x="9982200" y="3838586"/>
            <a:ext cx="904875" cy="3619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76" name="textbox 1376"/>
          <p:cNvSpPr/>
          <p:nvPr/>
        </p:nvSpPr>
        <p:spPr>
          <a:xfrm>
            <a:off x="324966" y="3811975"/>
            <a:ext cx="11995150" cy="742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indent="-1270" algn="l" rtl="0" eaLnBrk="0">
              <a:lnSpc>
                <a:spcPct val="94000"/>
              </a:lnSpc>
            </a:pPr>
            <a:r>
              <a:rPr sz="2500" b="1" kern="0" spc="9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提示：</a:t>
            </a:r>
            <a:r>
              <a:rPr sz="2500" b="1" kern="0" spc="-20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facet</a:t>
            </a:r>
            <a:r>
              <a:rPr sz="2200" kern="0" spc="9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_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wrap</a:t>
            </a:r>
            <a:r>
              <a:rPr sz="2200" kern="0" spc="9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(~</a:t>
            </a:r>
            <a:r>
              <a:rPr sz="2200" kern="0" spc="9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00" kern="0" spc="90" dirty="0">
                <a:solidFill>
                  <a:srgbClr val="9BDCFF">
                    <a:alpha val="100000"/>
                  </a:srgbClr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死亡原因</a:t>
            </a:r>
            <a:r>
              <a:rPr sz="2200" kern="0" spc="9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,</a:t>
            </a:r>
            <a:r>
              <a:rPr sz="2200" kern="0" spc="9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ncol</a:t>
            </a:r>
            <a:r>
              <a:rPr sz="2200" kern="0" spc="9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00" kern="0" spc="9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=</a:t>
            </a:r>
            <a:r>
              <a:rPr sz="2200" kern="0" spc="9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00" kern="0" spc="9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3,</a:t>
            </a:r>
            <a:r>
              <a:rPr sz="2200" kern="0" spc="25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scales</a:t>
            </a:r>
            <a:r>
              <a:rPr sz="2200" kern="0" spc="18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00" kern="0" spc="9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=</a:t>
            </a:r>
            <a:r>
              <a:rPr sz="2200" kern="0" spc="3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00" kern="0" spc="9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fixed</a:t>
            </a:r>
            <a:r>
              <a:rPr sz="2200" kern="0" spc="9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")</a:t>
            </a:r>
            <a:r>
              <a:rPr sz="2200" kern="0" spc="-75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5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fixed</a:t>
            </a:r>
            <a:r>
              <a:rPr sz="2200" kern="0" spc="8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表示所有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小图共用同一套纵轴刻度</a:t>
            </a:r>
            <a:r>
              <a:rPr sz="2500" kern="0" spc="-3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kern="0" spc="-6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这样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柱高才可比。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78" name="rect 1378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80" name="textbox 1380"/>
          <p:cNvSpPr/>
          <p:nvPr/>
        </p:nvSpPr>
        <p:spPr>
          <a:xfrm>
            <a:off x="327786" y="645961"/>
            <a:ext cx="4787900" cy="387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700" kern="0" spc="1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巩固提升 ★：</a:t>
            </a:r>
            <a:r>
              <a:rPr sz="2700" kern="0" spc="-4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1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三类死因分开看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82" name="rect 1382"/>
          <p:cNvSpPr/>
          <p:nvPr/>
        </p:nvSpPr>
        <p:spPr>
          <a:xfrm>
            <a:off x="100393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84" name="textbox 1384"/>
          <p:cNvSpPr/>
          <p:nvPr/>
        </p:nvSpPr>
        <p:spPr>
          <a:xfrm>
            <a:off x="7591902" y="246125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86" name="picture 13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1076336"/>
            <a:ext cx="12192000" cy="19050"/>
          </a:xfrm>
          <a:prstGeom prst="rect">
            <a:avLst/>
          </a:prstGeom>
        </p:spPr>
      </p:pic>
      <p:pic>
        <p:nvPicPr>
          <p:cNvPr id="1388" name="picture 13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1390" name="textbox 1390"/>
          <p:cNvSpPr/>
          <p:nvPr/>
        </p:nvSpPr>
        <p:spPr>
          <a:xfrm>
            <a:off x="12560395" y="6906786"/>
            <a:ext cx="16827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51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rect 1392"/>
          <p:cNvSpPr/>
          <p:nvPr/>
        </p:nvSpPr>
        <p:spPr>
          <a:xfrm>
            <a:off x="0" y="0"/>
            <a:ext cx="12858750" cy="7219936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94" name="rect 1394"/>
          <p:cNvSpPr/>
          <p:nvPr/>
        </p:nvSpPr>
        <p:spPr>
          <a:xfrm>
            <a:off x="352425" y="3676636"/>
            <a:ext cx="12172950" cy="3171825"/>
          </a:xfrm>
          <a:prstGeom prst="rect">
            <a:avLst/>
          </a:prstGeom>
          <a:solidFill>
            <a:srgbClr val="67D6B4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96" name="textbox 1396"/>
          <p:cNvSpPr/>
          <p:nvPr/>
        </p:nvSpPr>
        <p:spPr>
          <a:xfrm>
            <a:off x="473075" y="4265650"/>
            <a:ext cx="11784965" cy="2402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4450" algn="l" rtl="0" eaLnBrk="0">
              <a:lnSpc>
                <a:spcPct val="87000"/>
              </a:lnSpc>
            </a:pPr>
            <a:r>
              <a:rPr sz="2100" b="1" kern="0" spc="-5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三者的变化并不一致，峰值也不在同一个</a:t>
            </a:r>
            <a:r>
              <a:rPr sz="2100" b="1" kern="0" spc="-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7950" algn="l" rtl="0" eaLnBrk="0">
              <a:lnSpc>
                <a:spcPts val="2710"/>
              </a:lnSpc>
              <a:spcBef>
                <a:spcPts val="940"/>
              </a:spcBef>
              <a:tabLst>
                <a:tab pos="274320" algn="l"/>
              </a:tabLst>
            </a:pP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100" b="1" kern="0" spc="-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可预防疾病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：明显的冬季高峰，</a:t>
            </a:r>
            <a:r>
              <a:rPr sz="2100" kern="0" spc="-4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1855 年</a:t>
            </a:r>
            <a:r>
              <a:rPr sz="2100" kern="0" spc="2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月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最高（1022.8）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7950" algn="l" rtl="0" eaLnBrk="0">
              <a:lnSpc>
                <a:spcPts val="2710"/>
              </a:lnSpc>
              <a:spcBef>
                <a:spcPts val="65"/>
              </a:spcBef>
              <a:tabLst>
                <a:tab pos="280670" algn="l"/>
              </a:tabLst>
            </a:pP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战伤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：1854 年</a:t>
            </a:r>
            <a:r>
              <a:rPr sz="2100" kern="0" spc="2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月出现峰</a:t>
            </a:r>
            <a:r>
              <a:rPr sz="21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值（115.8）后迅速回落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7950" algn="l" rtl="0" eaLnBrk="0">
              <a:lnSpc>
                <a:spcPts val="2710"/>
              </a:lnSpc>
              <a:spcBef>
                <a:spcPts val="65"/>
              </a:spcBef>
              <a:tabLst>
                <a:tab pos="273050" algn="l"/>
              </a:tabLst>
            </a:pP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其他原因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：整体波动小得多，最高</a:t>
            </a:r>
            <a:r>
              <a:rPr sz="21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也只在</a:t>
            </a:r>
            <a:r>
              <a:rPr sz="2100" kern="0" spc="2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140 左右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8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9370" indent="-635" algn="l" rtl="0" eaLnBrk="0">
              <a:lnSpc>
                <a:spcPct val="89000"/>
              </a:lnSpc>
              <a:spcBef>
                <a:spcPts val="5"/>
              </a:spcBef>
            </a:pP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把三类死因混在一张堆叠图里，会被”最高的那一类”掩盖差异；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分面之后，各自的节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奏才看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得出来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98" name="picture 139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85775" y="5514961"/>
            <a:ext cx="95250" cy="95250"/>
          </a:xfrm>
          <a:prstGeom prst="rect">
            <a:avLst/>
          </a:prstGeom>
        </p:spPr>
      </p:pic>
      <p:pic>
        <p:nvPicPr>
          <p:cNvPr id="1400" name="picture 14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85775" y="5162536"/>
            <a:ext cx="95250" cy="95250"/>
          </a:xfrm>
          <a:prstGeom prst="rect">
            <a:avLst/>
          </a:prstGeom>
        </p:spPr>
      </p:pic>
      <p:pic>
        <p:nvPicPr>
          <p:cNvPr id="1402" name="picture 14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85775" y="4810111"/>
            <a:ext cx="95250" cy="95250"/>
          </a:xfrm>
          <a:prstGeom prst="rect">
            <a:avLst/>
          </a:prstGeom>
        </p:spPr>
      </p:pic>
      <p:pic>
        <p:nvPicPr>
          <p:cNvPr id="1404" name="picture 14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3375" y="1276350"/>
            <a:ext cx="5372100" cy="2124075"/>
          </a:xfrm>
          <a:prstGeom prst="rect">
            <a:avLst/>
          </a:prstGeom>
        </p:spPr>
      </p:pic>
      <p:pic>
        <p:nvPicPr>
          <p:cNvPr id="1406" name="picture 140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33375" y="3676650"/>
            <a:ext cx="47625" cy="3171811"/>
          </a:xfrm>
          <a:prstGeom prst="rect">
            <a:avLst/>
          </a:prstGeom>
        </p:spPr>
      </p:pic>
      <p:sp>
        <p:nvSpPr>
          <p:cNvPr id="1408" name="textbox 1408"/>
          <p:cNvSpPr/>
          <p:nvPr/>
        </p:nvSpPr>
        <p:spPr>
          <a:xfrm>
            <a:off x="371475" y="3676636"/>
            <a:ext cx="12153900" cy="447675"/>
          </a:xfrm>
          <a:prstGeom prst="rect">
            <a:avLst/>
          </a:prstGeom>
          <a:solidFill>
            <a:srgbClr val="67D6B4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7020" algn="l" rtl="0" eaLnBrk="0">
              <a:lnSpc>
                <a:spcPct val="91000"/>
              </a:lnSpc>
            </a:pPr>
            <a:r>
              <a:rPr sz="1900" b="1" kern="0" spc="-1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【参考答案】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10" name="rect 1410"/>
          <p:cNvSpPr/>
          <p:nvPr/>
        </p:nvSpPr>
        <p:spPr>
          <a:xfrm>
            <a:off x="333375" y="190500"/>
            <a:ext cx="12192000" cy="390511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12" name="textbox 1412"/>
          <p:cNvSpPr/>
          <p:nvPr/>
        </p:nvSpPr>
        <p:spPr>
          <a:xfrm>
            <a:off x="327786" y="645936"/>
            <a:ext cx="4008754" cy="3879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</a:pPr>
            <a:r>
              <a:rPr sz="27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巩固提升 ★</a:t>
            </a:r>
            <a:r>
              <a:rPr sz="2700" kern="0" spc="-6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（参考答案）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14" name="rect 1414"/>
          <p:cNvSpPr/>
          <p:nvPr/>
        </p:nvSpPr>
        <p:spPr>
          <a:xfrm>
            <a:off x="10039350" y="209536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16" name="textbox 1416"/>
          <p:cNvSpPr/>
          <p:nvPr/>
        </p:nvSpPr>
        <p:spPr>
          <a:xfrm>
            <a:off x="7591902" y="246100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18" name="picture 14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33375" y="1076311"/>
            <a:ext cx="12192000" cy="19050"/>
          </a:xfrm>
          <a:prstGeom prst="rect">
            <a:avLst/>
          </a:prstGeom>
        </p:spPr>
      </p:pic>
      <p:pic>
        <p:nvPicPr>
          <p:cNvPr id="1420" name="picture 14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33375" y="571486"/>
            <a:ext cx="12192000" cy="9525"/>
          </a:xfrm>
          <a:prstGeom prst="rect">
            <a:avLst/>
          </a:prstGeom>
        </p:spPr>
      </p:pic>
      <p:sp>
        <p:nvSpPr>
          <p:cNvPr id="1422" name="textbox 1422"/>
          <p:cNvSpPr/>
          <p:nvPr/>
        </p:nvSpPr>
        <p:spPr>
          <a:xfrm>
            <a:off x="12560395" y="6906761"/>
            <a:ext cx="16827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52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rect 1424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26" name="rect 1426"/>
          <p:cNvSpPr/>
          <p:nvPr/>
        </p:nvSpPr>
        <p:spPr>
          <a:xfrm>
            <a:off x="352425" y="1171586"/>
            <a:ext cx="12172950" cy="2895600"/>
          </a:xfrm>
          <a:prstGeom prst="rect">
            <a:avLst/>
          </a:prstGeom>
          <a:solidFill>
            <a:srgbClr val="FFD166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428" name="table 1428"/>
          <p:cNvGraphicFramePr>
            <a:graphicFrameLocks noGrp="1"/>
          </p:cNvGraphicFramePr>
          <p:nvPr/>
        </p:nvGraphicFramePr>
        <p:xfrm>
          <a:off x="333375" y="1076336"/>
          <a:ext cx="12191365" cy="2990214"/>
        </p:xfrm>
        <a:graphic>
          <a:graphicData uri="http://schemas.openxmlformats.org/drawingml/2006/table">
            <a:tbl>
              <a:tblPr/>
              <a:tblGrid>
                <a:gridCol w="185420"/>
                <a:gridCol w="11857990"/>
                <a:gridCol w="147954"/>
              </a:tblGrid>
              <a:tr h="544830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473075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5420" algn="l" rtl="0" eaLnBrk="0">
                        <a:lnSpc>
                          <a:spcPct val="87000"/>
                        </a:lnSpc>
                      </a:pPr>
                      <a:r>
                        <a:rPr sz="2100" kern="0" spc="-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为上面那张分面图自选三种填充颜色，让不</a:t>
                      </a:r>
                      <a:r>
                        <a:rPr sz="2100" kern="0" spc="-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同死因更容易区分。</a:t>
                      </a:r>
                      <a:endParaRPr sz="2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959">
                <a:tc rowSpan="5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80" algn="l" rtl="0" eaLnBrk="0">
                        <a:lnSpc>
                          <a:spcPts val="1810"/>
                        </a:lnSpc>
                        <a:spcBef>
                          <a:spcPts val="0"/>
                        </a:spcBef>
                        <a:tabLst>
                          <a:tab pos="250825" algn="l"/>
                        </a:tabLst>
                      </a:pP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300" kern="0" spc="1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</a:t>
                      </a:r>
                      <a:r>
                        <a:rPr sz="1300" kern="0" spc="56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300" kern="0" spc="10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#</a:t>
                      </a:r>
                      <a:r>
                        <a:rPr sz="1300" kern="0" spc="34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10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自选三种颜色填进来，注意不</a:t>
                      </a:r>
                      <a:r>
                        <a:rPr sz="1300" kern="0" spc="9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要覆盖</a:t>
                      </a:r>
                      <a:r>
                        <a:rPr sz="1300" kern="0" spc="22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 </a:t>
                      </a:r>
                      <a:r>
                        <a:rPr sz="1300" kern="0" spc="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cause</a:t>
                      </a:r>
                      <a:r>
                        <a:rPr sz="1300" kern="0" spc="9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300" kern="0" spc="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colors</a:t>
                      </a:r>
                      <a:endParaRPr sz="13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1300">
                <a:tc v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080" algn="l" rtl="0" eaLnBrk="0">
                        <a:lnSpc>
                          <a:spcPct val="112000"/>
                        </a:lnSpc>
                        <a:spcBef>
                          <a:spcPts val="0"/>
                        </a:spcBef>
                        <a:tabLst>
                          <a:tab pos="252095" algn="l"/>
                        </a:tabLst>
                      </a:pP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3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2</a:t>
                      </a:r>
                      <a:r>
                        <a:rPr sz="1300" kern="0" spc="59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my</a:t>
                      </a:r>
                      <a:r>
                        <a:rPr sz="13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colors</a:t>
                      </a:r>
                      <a:r>
                        <a:rPr sz="13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3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&lt;-</a:t>
                      </a:r>
                      <a:r>
                        <a:rPr sz="1300" kern="0" spc="3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3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</a:t>
                      </a:r>
                      <a:r>
                        <a:rPr sz="13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300" kern="0" spc="3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300" kern="0" spc="3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可预防疾病</a:t>
                      </a:r>
                      <a:r>
                        <a:rPr sz="1300" kern="0" spc="3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300" kern="0" spc="15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3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300" kern="0" spc="23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3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300" kern="0" spc="-7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u="sng" kern="0" spc="5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</a:t>
                      </a:r>
                      <a:r>
                        <a:rPr sz="1300" kern="0" spc="-52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3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3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300" kern="0" spc="24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3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300" kern="0" spc="3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战伤</a:t>
                      </a:r>
                      <a:r>
                        <a:rPr sz="1300" kern="0" spc="3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300" kern="0" spc="14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3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300" kern="0" spc="24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3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300" kern="0" spc="-72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u="sng" kern="0" spc="5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</a:t>
                      </a:r>
                      <a:r>
                        <a:rPr sz="1300" kern="0" spc="-5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3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3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300" kern="0" spc="2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3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300" kern="0" spc="3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其他原因</a:t>
                      </a:r>
                      <a:r>
                        <a:rPr sz="1300" kern="0" spc="3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300" kern="0" spc="15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3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300" kern="0" spc="23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3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300" kern="0" spc="-7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u="sng" kern="0" spc="5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</a:t>
                      </a:r>
                      <a:r>
                        <a:rPr sz="1300" kern="0" spc="-52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3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3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endParaRPr sz="13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125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0025">
                <a:tc v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80" algn="l" rtl="0" eaLnBrk="0">
                        <a:lnSpc>
                          <a:spcPct val="67000"/>
                        </a:lnSpc>
                        <a:spcBef>
                          <a:spcPts val="0"/>
                        </a:spcBef>
                        <a:tabLst>
                          <a:tab pos="254000" algn="l"/>
                        </a:tabLst>
                      </a:pP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300" kern="0" spc="-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3</a:t>
                      </a:r>
                      <a:r>
                        <a:rPr sz="13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 </a:t>
                      </a:r>
                      <a:endParaRPr sz="13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0665">
                <a:tc v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080" algn="l" rtl="0" eaLnBrk="0">
                        <a:lnSpc>
                          <a:spcPct val="115000"/>
                        </a:lnSpc>
                        <a:spcBef>
                          <a:spcPts val="5"/>
                        </a:spcBef>
                        <a:tabLst>
                          <a:tab pos="243840" algn="l"/>
                        </a:tabLst>
                      </a:pP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300" kern="0" spc="1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4</a:t>
                      </a:r>
                      <a:r>
                        <a:rPr sz="1300" kern="0" spc="56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300" kern="0" spc="1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p_</a:t>
                      </a: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month</a:t>
                      </a:r>
                      <a:r>
                        <a:rPr sz="1300" kern="0" spc="1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custom</a:t>
                      </a:r>
                      <a:r>
                        <a:rPr sz="1300" kern="0" spc="1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13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&lt;-</a:t>
                      </a:r>
                      <a:r>
                        <a:rPr sz="1300" kern="0" spc="13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1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p_</a:t>
                      </a: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month</a:t>
                      </a:r>
                      <a:r>
                        <a:rPr sz="1300" kern="0" spc="1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13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r>
                        <a:rPr sz="1300" kern="0" spc="18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scale</a:t>
                      </a:r>
                      <a:r>
                        <a:rPr sz="1300" kern="0" spc="13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3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fill</a:t>
                      </a:r>
                      <a:r>
                        <a:rPr sz="1300" kern="0" spc="12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3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manual</a:t>
                      </a:r>
                      <a:r>
                        <a:rPr sz="1300" kern="0" spc="1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3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values</a:t>
                      </a:r>
                      <a:r>
                        <a:rPr sz="1300" kern="0" spc="15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1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300" kern="0" spc="1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u="sng" kern="0" spc="120" dirty="0">
                          <a:solidFill>
                            <a:srgbClr val="F97583">
                              <a:alpha val="100000"/>
                            </a:srgbClr>
                          </a:solidFill>
                          <a:uFill>
                            <a:solidFill>
                              <a:srgbClr val="E1E4E8"/>
                            </a:solidFill>
                          </a:u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</a:t>
                      </a:r>
                      <a:r>
                        <a:rPr sz="1300" kern="0" spc="-54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1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endParaRPr sz="13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532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0990">
                <a:tc v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080" algn="l" rtl="0" eaLnBrk="0">
                        <a:lnSpc>
                          <a:spcPts val="1580"/>
                        </a:lnSpc>
                        <a:tabLst>
                          <a:tab pos="255270" algn="l"/>
                        </a:tabLst>
                      </a:pP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300" kern="0" spc="1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5</a:t>
                      </a:r>
                      <a:r>
                        <a:rPr sz="1300" kern="0" spc="56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300" kern="0" spc="1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p_</a:t>
                      </a: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month</a:t>
                      </a:r>
                      <a:r>
                        <a:rPr sz="1300" kern="0" spc="1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custom</a:t>
                      </a:r>
                      <a:endParaRPr sz="13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74369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6055" algn="l" rtl="0" eaLnBrk="0">
                        <a:lnSpc>
                          <a:spcPct val="87000"/>
                        </a:lnSpc>
                        <a:tabLst>
                          <a:tab pos="8300085" algn="l"/>
                        </a:tabLst>
                      </a:pPr>
                      <a:r>
                        <a:rPr sz="21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改完配色后，</a:t>
                      </a:r>
                      <a:r>
                        <a:rPr sz="2100" b="1" kern="0" spc="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柱高、峰值月份、</a:t>
                      </a:r>
                      <a:r>
                        <a:rPr sz="2100" b="1" kern="0" spc="-1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分析结论有没有变？ </a:t>
                      </a:r>
                      <a:r>
                        <a:rPr sz="2100" b="1" u="sng" kern="0" spc="0" dirty="0">
                          <a:solidFill>
                            <a:srgbClr val="FFD166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endParaRPr sz="2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430" name="textbox 1430"/>
          <p:cNvSpPr/>
          <p:nvPr/>
        </p:nvSpPr>
        <p:spPr>
          <a:xfrm>
            <a:off x="371475" y="1171586"/>
            <a:ext cx="12153900" cy="447675"/>
          </a:xfrm>
          <a:prstGeom prst="rect">
            <a:avLst/>
          </a:prstGeom>
          <a:solidFill>
            <a:srgbClr val="FFD166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7020" algn="l" rtl="0" eaLnBrk="0">
              <a:lnSpc>
                <a:spcPct val="87000"/>
              </a:lnSpc>
              <a:spcBef>
                <a:spcPts val="0"/>
              </a:spcBef>
            </a:pPr>
            <a:r>
              <a:rPr sz="2100" b="1" kern="0" spc="-10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【先想一想】★★ 进阶任务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32" name="rect 1432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34" name="textbox 1434"/>
          <p:cNvSpPr/>
          <p:nvPr/>
        </p:nvSpPr>
        <p:spPr>
          <a:xfrm>
            <a:off x="327786" y="645961"/>
            <a:ext cx="4417695" cy="388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700" kern="0" spc="1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巩固提升 ★★：</a:t>
            </a:r>
            <a:r>
              <a:rPr sz="2700" kern="0" spc="-2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1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自定义</a:t>
            </a:r>
            <a:r>
              <a:rPr sz="2700" kern="0" spc="1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配色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36" name="rect 1436"/>
          <p:cNvSpPr/>
          <p:nvPr/>
        </p:nvSpPr>
        <p:spPr>
          <a:xfrm>
            <a:off x="100393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38" name="textbox 1438"/>
          <p:cNvSpPr/>
          <p:nvPr/>
        </p:nvSpPr>
        <p:spPr>
          <a:xfrm>
            <a:off x="7591902" y="246125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40" name="picture 14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1442" name="textbox 1442"/>
          <p:cNvSpPr/>
          <p:nvPr/>
        </p:nvSpPr>
        <p:spPr>
          <a:xfrm>
            <a:off x="12560395" y="6906786"/>
            <a:ext cx="16827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53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rect 1444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46" name="rect 1446"/>
          <p:cNvSpPr/>
          <p:nvPr/>
        </p:nvSpPr>
        <p:spPr>
          <a:xfrm>
            <a:off x="352425" y="4152911"/>
            <a:ext cx="12172950" cy="2686050"/>
          </a:xfrm>
          <a:prstGeom prst="rect">
            <a:avLst/>
          </a:prstGeom>
          <a:solidFill>
            <a:srgbClr val="67D6B4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448" name="picture 14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1276350"/>
            <a:ext cx="6410325" cy="2600325"/>
          </a:xfrm>
          <a:prstGeom prst="rect">
            <a:avLst/>
          </a:prstGeom>
        </p:spPr>
      </p:pic>
      <p:sp>
        <p:nvSpPr>
          <p:cNvPr id="1450" name="rect 1450"/>
          <p:cNvSpPr/>
          <p:nvPr/>
        </p:nvSpPr>
        <p:spPr>
          <a:xfrm>
            <a:off x="6029325" y="6076961"/>
            <a:ext cx="1628775" cy="2952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52" name="rect 1452"/>
          <p:cNvSpPr/>
          <p:nvPr/>
        </p:nvSpPr>
        <p:spPr>
          <a:xfrm>
            <a:off x="4248149" y="6076961"/>
            <a:ext cx="1247775" cy="2952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54" name="rect 1454"/>
          <p:cNvSpPr/>
          <p:nvPr/>
        </p:nvSpPr>
        <p:spPr>
          <a:xfrm>
            <a:off x="514350" y="5572136"/>
            <a:ext cx="2524125" cy="2952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56" name="textbox 1456"/>
          <p:cNvSpPr/>
          <p:nvPr/>
        </p:nvSpPr>
        <p:spPr>
          <a:xfrm>
            <a:off x="501067" y="5551772"/>
            <a:ext cx="11858625" cy="1120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200" algn="l" rtl="0" eaLnBrk="0">
              <a:lnSpc>
                <a:spcPct val="96000"/>
              </a:lnSpc>
            </a:pPr>
            <a:r>
              <a:rPr sz="1800" kern="0" spc="-2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scale_fill</a:t>
            </a:r>
            <a:r>
              <a:rPr sz="1800" kern="0" spc="-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_manual()</a:t>
            </a:r>
            <a:r>
              <a:rPr sz="1800" kern="0" spc="-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只改变</a:t>
            </a:r>
            <a:r>
              <a:rPr sz="2100" b="1" kern="0" spc="-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外观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：柱高、峰值月份和分析结论都不变。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  <a:spcBef>
                <a:spcPts val="5"/>
              </a:spcBef>
            </a:pPr>
            <a:r>
              <a:rPr sz="2100" b="1" kern="0" spc="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关键点：</a:t>
            </a:r>
            <a:r>
              <a:rPr sz="2100" kern="0" spc="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换配色时另起变量名（ </a:t>
            </a:r>
            <a:r>
              <a:rPr sz="18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my</a:t>
            </a:r>
            <a:r>
              <a:rPr sz="1800" kern="0" spc="1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_</a:t>
            </a:r>
            <a:r>
              <a:rPr sz="18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colors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</a:t>
            </a:r>
            <a:r>
              <a:rPr sz="2100" kern="0" spc="-1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cause</a:t>
            </a:r>
            <a:r>
              <a:rPr sz="1800" kern="0" spc="1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_</a:t>
            </a:r>
            <a:r>
              <a:rPr sz="18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colors</a:t>
            </a:r>
            <a:r>
              <a:rPr sz="18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保持原值——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100" b="1" kern="0" spc="1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3、任务 4 的配色才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不会被带偏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。也就是说，配色是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属性层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的决策，不能污染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映射层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21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约定。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458" name="table 1458"/>
          <p:cNvGraphicFramePr>
            <a:graphicFrameLocks noGrp="1"/>
          </p:cNvGraphicFramePr>
          <p:nvPr/>
        </p:nvGraphicFramePr>
        <p:xfrm>
          <a:off x="514350" y="4705361"/>
          <a:ext cx="11868150" cy="647700"/>
        </p:xfrm>
        <a:graphic>
          <a:graphicData uri="http://schemas.openxmlformats.org/drawingml/2006/table">
            <a:tbl>
              <a:tblPr>
                <a:solidFill>
                  <a:srgbClr val="24292E"/>
                </a:solidFill>
              </a:tblPr>
              <a:tblGrid>
                <a:gridCol w="11868150"/>
              </a:tblGrid>
              <a:tr h="635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" algn="l" rtl="0" eaLnBrk="0">
                        <a:lnSpc>
                          <a:spcPts val="1780"/>
                        </a:lnSpc>
                        <a:spcBef>
                          <a:spcPts val="0"/>
                        </a:spcBef>
                        <a:tabLst>
                          <a:tab pos="255270" algn="l"/>
                        </a:tabLst>
                      </a:pP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300" kern="0" spc="6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</a:t>
                      </a:r>
                      <a:r>
                        <a:rPr sz="1300" kern="0" spc="56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my</a:t>
                      </a:r>
                      <a:r>
                        <a:rPr sz="1300" kern="0" spc="6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colors</a:t>
                      </a:r>
                      <a:r>
                        <a:rPr sz="1300" kern="0" spc="6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6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&lt;-</a:t>
                      </a:r>
                      <a:r>
                        <a:rPr sz="1300" kern="0" spc="6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6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</a:t>
                      </a:r>
                      <a:r>
                        <a:rPr sz="1300" kern="0" spc="6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300" kern="0" spc="6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300" kern="0" spc="6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可预防疾病</a:t>
                      </a:r>
                      <a:r>
                        <a:rPr sz="1300" kern="0" spc="6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300" kern="0" spc="6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6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300" kern="0" spc="23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6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"#3B7</a:t>
                      </a:r>
                      <a:r>
                        <a:rPr sz="13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EA</a:t>
                      </a:r>
                      <a:r>
                        <a:rPr sz="1300" kern="0" spc="5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1"</a:t>
                      </a:r>
                      <a:r>
                        <a:rPr sz="1300" kern="0" spc="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300" kern="0" spc="24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5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300" kern="0" spc="5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战伤</a:t>
                      </a:r>
                      <a:r>
                        <a:rPr sz="1300" kern="0" spc="5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300" kern="0" spc="5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5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300" kern="0" spc="23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5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"#C4622D"</a:t>
                      </a:r>
                      <a:r>
                        <a:rPr sz="1300" kern="0" spc="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300" kern="0" spc="2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5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300" kern="0" spc="5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其他原因</a:t>
                      </a:r>
                      <a:r>
                        <a:rPr sz="1300" kern="0" spc="5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300" kern="0" spc="15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5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300" kern="0" spc="23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5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"#6E6E6E"</a:t>
                      </a:r>
                      <a:r>
                        <a:rPr sz="1300" kern="0" spc="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endParaRPr sz="13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780"/>
                        </a:lnSpc>
                        <a:tabLst>
                          <a:tab pos="257175" algn="l"/>
                        </a:tabLst>
                      </a:pP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300" kern="0" spc="1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2</a:t>
                      </a:r>
                      <a:r>
                        <a:rPr sz="1300" kern="0" spc="56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300" kern="0" spc="1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p_</a:t>
                      </a: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month</a:t>
                      </a:r>
                      <a:r>
                        <a:rPr sz="1300" kern="0" spc="1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custom</a:t>
                      </a:r>
                      <a:r>
                        <a:rPr sz="1300" kern="0" spc="1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17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&lt;-</a:t>
                      </a:r>
                      <a:r>
                        <a:rPr sz="1300" kern="0" spc="17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1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p_</a:t>
                      </a: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month</a:t>
                      </a:r>
                      <a:r>
                        <a:rPr sz="1300" kern="0" spc="1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17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r>
                        <a:rPr sz="1300" kern="0" spc="18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scale</a:t>
                      </a:r>
                      <a:r>
                        <a:rPr sz="1300" kern="0" spc="17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3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fill</a:t>
                      </a:r>
                      <a:r>
                        <a:rPr sz="1300" kern="0" spc="17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3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manual</a:t>
                      </a:r>
                      <a:r>
                        <a:rPr sz="1300" kern="0" spc="1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3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values</a:t>
                      </a:r>
                      <a:r>
                        <a:rPr sz="1300" kern="0" spc="16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16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300" kern="0" spc="1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my</a:t>
                      </a:r>
                      <a:r>
                        <a:rPr sz="1300" kern="0" spc="16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colors</a:t>
                      </a:r>
                      <a:r>
                        <a:rPr sz="1300" kern="0" spc="16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endParaRPr sz="13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</a:tr>
            </a:tbl>
          </a:graphicData>
        </a:graphic>
      </p:graphicFrame>
      <p:pic>
        <p:nvPicPr>
          <p:cNvPr id="1460" name="picture 14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4152911"/>
            <a:ext cx="47625" cy="2686038"/>
          </a:xfrm>
          <a:prstGeom prst="rect">
            <a:avLst/>
          </a:prstGeom>
        </p:spPr>
      </p:pic>
      <p:sp>
        <p:nvSpPr>
          <p:cNvPr id="1462" name="textbox 1462"/>
          <p:cNvSpPr/>
          <p:nvPr/>
        </p:nvSpPr>
        <p:spPr>
          <a:xfrm>
            <a:off x="371475" y="4152911"/>
            <a:ext cx="12153900" cy="447675"/>
          </a:xfrm>
          <a:prstGeom prst="rect">
            <a:avLst/>
          </a:prstGeom>
          <a:solidFill>
            <a:srgbClr val="67D6B4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7020" algn="l" rtl="0" eaLnBrk="0">
              <a:lnSpc>
                <a:spcPct val="91000"/>
              </a:lnSpc>
            </a:pPr>
            <a:r>
              <a:rPr sz="1900" b="1" kern="0" spc="-1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【参考答案】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64" name="rect 1464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66" name="textbox 1466"/>
          <p:cNvSpPr/>
          <p:nvPr/>
        </p:nvSpPr>
        <p:spPr>
          <a:xfrm>
            <a:off x="327786" y="645961"/>
            <a:ext cx="4367529" cy="3879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</a:pPr>
            <a:r>
              <a:rPr sz="27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巩固提升 ★★</a:t>
            </a:r>
            <a:r>
              <a:rPr sz="2700" kern="0" spc="-6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（参考答案）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68" name="rect 1468"/>
          <p:cNvSpPr/>
          <p:nvPr/>
        </p:nvSpPr>
        <p:spPr>
          <a:xfrm>
            <a:off x="100393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70" name="textbox 1470"/>
          <p:cNvSpPr/>
          <p:nvPr/>
        </p:nvSpPr>
        <p:spPr>
          <a:xfrm>
            <a:off x="7591902" y="246125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72" name="picture 14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3375" y="1076336"/>
            <a:ext cx="12192000" cy="19050"/>
          </a:xfrm>
          <a:prstGeom prst="rect">
            <a:avLst/>
          </a:prstGeom>
        </p:spPr>
      </p:pic>
      <p:pic>
        <p:nvPicPr>
          <p:cNvPr id="1474" name="picture 14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1476" name="textbox 1476"/>
          <p:cNvSpPr/>
          <p:nvPr/>
        </p:nvSpPr>
        <p:spPr>
          <a:xfrm>
            <a:off x="12560395" y="6906786"/>
            <a:ext cx="16827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54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rect 1478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80" name="rect 1480"/>
          <p:cNvSpPr/>
          <p:nvPr/>
        </p:nvSpPr>
        <p:spPr>
          <a:xfrm>
            <a:off x="352425" y="1171586"/>
            <a:ext cx="12172950" cy="3352800"/>
          </a:xfrm>
          <a:prstGeom prst="rect">
            <a:avLst/>
          </a:prstGeom>
          <a:solidFill>
            <a:srgbClr val="FFD166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82" name="rect 1482"/>
          <p:cNvSpPr/>
          <p:nvPr/>
        </p:nvSpPr>
        <p:spPr>
          <a:xfrm>
            <a:off x="7277100" y="1762136"/>
            <a:ext cx="1762125" cy="2952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84" name="rect 1484"/>
          <p:cNvSpPr/>
          <p:nvPr/>
        </p:nvSpPr>
        <p:spPr>
          <a:xfrm>
            <a:off x="1971674" y="1762136"/>
            <a:ext cx="352425" cy="295275"/>
          </a:xfrm>
          <a:prstGeom prst="rect">
            <a:avLst/>
          </a:prstGeom>
          <a:solidFill>
            <a:srgbClr val="78C8F5">
              <a:alpha val="8627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486" name="table 1486"/>
          <p:cNvGraphicFramePr>
            <a:graphicFrameLocks noGrp="1"/>
          </p:cNvGraphicFramePr>
          <p:nvPr/>
        </p:nvGraphicFramePr>
        <p:xfrm>
          <a:off x="333375" y="1076336"/>
          <a:ext cx="12192000" cy="3447414"/>
        </p:xfrm>
        <a:graphic>
          <a:graphicData uri="http://schemas.openxmlformats.org/drawingml/2006/table">
            <a:tbl>
              <a:tblPr/>
              <a:tblGrid>
                <a:gridCol w="185420"/>
                <a:gridCol w="11858625"/>
                <a:gridCol w="147955"/>
              </a:tblGrid>
              <a:tr h="544830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482600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5420" algn="l" rtl="0" eaLnBrk="0">
                        <a:lnSpc>
                          <a:spcPts val="2710"/>
                        </a:lnSpc>
                      </a:pPr>
                      <a:r>
                        <a:rPr sz="2100" kern="0" spc="-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为任务</a:t>
                      </a:r>
                      <a:r>
                        <a:rPr sz="2100" kern="0" spc="2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100" kern="0" spc="-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的  </a:t>
                      </a:r>
                      <a:r>
                        <a:rPr sz="1800" kern="0" spc="-3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p1</a:t>
                      </a:r>
                      <a:r>
                        <a:rPr sz="1800" kern="0" spc="-3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100" kern="0" spc="-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添加三类死因的累计死亡人数标签，并与</a:t>
                      </a:r>
                      <a:r>
                        <a:rPr sz="2100" kern="0" spc="5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800" kern="0" spc="-3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cause_summary</a:t>
                      </a:r>
                      <a:r>
                        <a:rPr sz="1800" kern="0" spc="-3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100" kern="0" spc="-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核对。</a:t>
                      </a:r>
                      <a:endParaRPr sz="2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595">
                <a:tc rowSpan="7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80" algn="l" rtl="0" eaLnBrk="0">
                        <a:lnSpc>
                          <a:spcPts val="1815"/>
                        </a:lnSpc>
                        <a:spcBef>
                          <a:spcPts val="0"/>
                        </a:spcBef>
                        <a:tabLst>
                          <a:tab pos="250825" algn="l"/>
                        </a:tabLst>
                      </a:pP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300" kern="0" spc="1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</a:t>
                      </a:r>
                      <a:r>
                        <a:rPr sz="1300" kern="0" spc="56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300" kern="0" spc="1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p1_</a:t>
                      </a: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labeled</a:t>
                      </a:r>
                      <a:r>
                        <a:rPr sz="1300" kern="0" spc="1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18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&lt;-</a:t>
                      </a:r>
                      <a:r>
                        <a:rPr sz="1300" kern="0" spc="18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ggplot</a:t>
                      </a:r>
                      <a:r>
                        <a:rPr sz="1300" kern="0" spc="1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cause</a:t>
                      </a:r>
                      <a:r>
                        <a:rPr sz="1300" kern="0" spc="1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summary</a:t>
                      </a:r>
                      <a:r>
                        <a:rPr sz="1300" kern="0" spc="1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endParaRPr sz="13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8600">
                <a:tc v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080" algn="l" rtl="0" eaLnBrk="0">
                        <a:lnSpc>
                          <a:spcPts val="1725"/>
                        </a:lnSpc>
                        <a:tabLst>
                          <a:tab pos="252095" algn="l"/>
                        </a:tabLst>
                      </a:pP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3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2</a:t>
                      </a:r>
                      <a:r>
                        <a:rPr sz="1300" kern="0" spc="56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3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                </a:t>
                      </a:r>
                      <a:r>
                        <a:rPr sz="13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aes</a:t>
                      </a:r>
                      <a:r>
                        <a:rPr sz="13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300" kern="0" spc="7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x</a:t>
                      </a:r>
                      <a:r>
                        <a:rPr sz="1300" kern="0" spc="7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7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300" kern="0" spc="7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死亡原因</a:t>
                      </a:r>
                      <a:r>
                        <a:rPr sz="13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3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7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y</a:t>
                      </a:r>
                      <a:r>
                        <a:rPr sz="1300" kern="0" spc="23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7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300" kern="0" spc="16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累计死亡人数</a:t>
                      </a:r>
                      <a:r>
                        <a:rPr sz="13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3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fill</a:t>
                      </a:r>
                      <a:r>
                        <a:rPr sz="1300" kern="0" spc="15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7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300" kern="0" spc="1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6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死亡原因</a:t>
                      </a:r>
                      <a:r>
                        <a:rPr sz="1300" kern="0" spc="6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))</a:t>
                      </a:r>
                      <a:r>
                        <a:rPr sz="1300" kern="0" spc="1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6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endParaRPr sz="13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4789">
                <a:tc v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080" algn="l" rtl="0" eaLnBrk="0">
                        <a:lnSpc>
                          <a:spcPts val="1720"/>
                        </a:lnSpc>
                        <a:tabLst>
                          <a:tab pos="254000" algn="l"/>
                        </a:tabLst>
                      </a:pP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300" kern="0" spc="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3</a:t>
                      </a:r>
                      <a:r>
                        <a:rPr sz="1300" kern="0" spc="6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300" kern="0" spc="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3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geom</a:t>
                      </a:r>
                      <a:r>
                        <a:rPr sz="1300" kern="0" spc="8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3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col</a:t>
                      </a:r>
                      <a:r>
                        <a:rPr sz="1300" kern="0" spc="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3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width</a:t>
                      </a:r>
                      <a:r>
                        <a:rPr sz="1300" kern="0" spc="15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8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300" kern="0" spc="1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8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0.7</a:t>
                      </a:r>
                      <a:r>
                        <a:rPr sz="1300" kern="0" spc="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r>
                        <a:rPr sz="1300" kern="0" spc="1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8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endParaRPr sz="13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4789">
                <a:tc v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080" algn="l" rtl="0" eaLnBrk="0">
                        <a:lnSpc>
                          <a:spcPts val="1680"/>
                        </a:lnSpc>
                        <a:tabLst>
                          <a:tab pos="243840" algn="l"/>
                        </a:tabLst>
                      </a:pP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300" kern="0" spc="19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4</a:t>
                      </a:r>
                      <a:r>
                        <a:rPr sz="1300" kern="0" spc="6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300" kern="0" spc="19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3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scale</a:t>
                      </a:r>
                      <a:r>
                        <a:rPr sz="1300" kern="0" spc="19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3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fill</a:t>
                      </a:r>
                      <a:r>
                        <a:rPr sz="1300" kern="0" spc="19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3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manual</a:t>
                      </a:r>
                      <a:r>
                        <a:rPr sz="1300" kern="0" spc="19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3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values</a:t>
                      </a:r>
                      <a:r>
                        <a:rPr sz="1300" kern="0" spc="19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19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300" kern="0" spc="16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cause</a:t>
                      </a:r>
                      <a:r>
                        <a:rPr sz="1300" kern="0" spc="19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colors</a:t>
                      </a:r>
                      <a:r>
                        <a:rPr sz="1300" kern="0" spc="19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r>
                        <a:rPr sz="1300" kern="0" spc="1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19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endParaRPr sz="13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2090">
                <a:tc v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80" algn="l" rtl="0" eaLnBrk="0">
                        <a:lnSpc>
                          <a:spcPct val="103000"/>
                        </a:lnSpc>
                        <a:tabLst>
                          <a:tab pos="255270" algn="l"/>
                        </a:tabLst>
                      </a:pP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300" kern="0" spc="4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5</a:t>
                      </a:r>
                      <a:r>
                        <a:rPr sz="1300" kern="0" spc="56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300" kern="0" spc="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300" u="sng" kern="0" spc="50" dirty="0">
                          <a:solidFill>
                            <a:srgbClr val="E1E4E8">
                              <a:alpha val="100000"/>
                            </a:srgbClr>
                          </a:solidFill>
                          <a:uFill>
                            <a:solidFill>
                              <a:srgbClr val="B392F0"/>
                            </a:solidFill>
                          </a:u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</a:t>
                      </a:r>
                      <a:r>
                        <a:rPr sz="1300" kern="0" spc="-4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4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3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aes</a:t>
                      </a:r>
                      <a:r>
                        <a:rPr sz="1300" kern="0" spc="4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3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label</a:t>
                      </a:r>
                      <a:r>
                        <a:rPr sz="1300" kern="0" spc="4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4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300" kern="0" spc="4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u="sng" kern="0" spc="50" dirty="0">
                          <a:solidFill>
                            <a:srgbClr val="F97583">
                              <a:alpha val="100000"/>
                            </a:srgbClr>
                          </a:solidFill>
                          <a:uFill>
                            <a:solidFill>
                              <a:srgbClr val="E1E4E8"/>
                            </a:solidFill>
                          </a:u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</a:t>
                      </a:r>
                      <a:r>
                        <a:rPr sz="1300" kern="0" spc="-5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4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),</a:t>
                      </a:r>
                      <a:r>
                        <a:rPr sz="1300" kern="0" spc="1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v</a:t>
                      </a:r>
                      <a:r>
                        <a:rPr sz="1300" kern="0" spc="-63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just</a:t>
                      </a:r>
                      <a:r>
                        <a:rPr sz="1300" kern="0" spc="15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4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300" kern="0" spc="24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4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-0.5</a:t>
                      </a:r>
                      <a:r>
                        <a:rPr sz="1300" kern="0" spc="4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300" kern="0" spc="1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size</a:t>
                      </a:r>
                      <a:r>
                        <a:rPr sz="1300" kern="0" spc="14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3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300" kern="0" spc="9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3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4</a:t>
                      </a:r>
                      <a:r>
                        <a:rPr sz="13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r>
                        <a:rPr sz="1300" kern="0" spc="1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3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endParaRPr sz="13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5584">
                <a:tc v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80" algn="l" rtl="0" eaLnBrk="0">
                        <a:lnSpc>
                          <a:spcPct val="115000"/>
                        </a:lnSpc>
                        <a:tabLst>
                          <a:tab pos="250825" algn="l"/>
                        </a:tabLst>
                      </a:pP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300" kern="0" spc="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6</a:t>
                      </a:r>
                      <a:r>
                        <a:rPr sz="1300" kern="0" spc="5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300" kern="0" spc="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300" u="sng" kern="0" spc="50" dirty="0">
                          <a:solidFill>
                            <a:srgbClr val="E1E4E8">
                              <a:alpha val="100000"/>
                            </a:srgbClr>
                          </a:solidFill>
                          <a:uFill>
                            <a:solidFill>
                              <a:srgbClr val="B392F0"/>
                            </a:solidFill>
                          </a:u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</a:t>
                      </a:r>
                      <a:r>
                        <a:rPr sz="1300" kern="0" spc="-4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3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expand</a:t>
                      </a:r>
                      <a:r>
                        <a:rPr sz="1300" kern="0" spc="8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8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300" kern="0" spc="8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expansion</a:t>
                      </a:r>
                      <a:r>
                        <a:rPr sz="1300" kern="0" spc="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3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mult</a:t>
                      </a:r>
                      <a:r>
                        <a:rPr sz="1300" kern="0" spc="15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8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300" kern="0" spc="16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8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</a:t>
                      </a:r>
                      <a:r>
                        <a:rPr sz="1300" kern="0" spc="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300" kern="0" spc="8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0</a:t>
                      </a:r>
                      <a:r>
                        <a:rPr sz="1300" kern="0" spc="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300" kern="0" spc="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8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0.12</a:t>
                      </a:r>
                      <a:r>
                        <a:rPr sz="1300" kern="0" spc="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)))</a:t>
                      </a:r>
                      <a:r>
                        <a:rPr sz="1300" kern="0" spc="6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</a:t>
                      </a:r>
                      <a:r>
                        <a:rPr sz="1300" kern="0" spc="8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#</a:t>
                      </a:r>
                      <a:r>
                        <a:rPr sz="1300" kern="0" spc="13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8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顶部留白</a:t>
                      </a:r>
                      <a:endParaRPr sz="1300" dirty="0">
                        <a:latin typeface="新宋体" panose="02010609030101010101" charset="-122"/>
                        <a:ea typeface="新宋体" panose="02010609030101010101" charset="-122"/>
                        <a:cs typeface="新宋体" panose="02010609030101010101" charset="-122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4165">
                <a:tc v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080" algn="l" rtl="0" eaLnBrk="0">
                        <a:lnSpc>
                          <a:spcPts val="1605"/>
                        </a:lnSpc>
                        <a:tabLst>
                          <a:tab pos="250190" algn="l"/>
                        </a:tabLst>
                      </a:pP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300" kern="0" spc="1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7</a:t>
                      </a:r>
                      <a:r>
                        <a:rPr sz="1300" kern="0" spc="5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300" kern="0" spc="1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p1_</a:t>
                      </a: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labeled</a:t>
                      </a:r>
                      <a:endParaRPr sz="13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74369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4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288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  <a:tabLst>
                          <a:tab pos="8755380" algn="l"/>
                        </a:tabLst>
                      </a:pPr>
                      <a:r>
                        <a:rPr sz="21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两个空分别填什么？为什么</a:t>
                      </a:r>
                      <a:r>
                        <a:rPr sz="2100" b="1" kern="0" spc="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必须</a:t>
                      </a:r>
                      <a:r>
                        <a:rPr sz="21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加”顶部</a:t>
                      </a:r>
                      <a:r>
                        <a:rPr sz="2100" kern="0" spc="-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留白”这一步？</a:t>
                      </a:r>
                      <a:r>
                        <a:rPr sz="2100" u="sng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endParaRPr sz="2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488" name="textbox 1488"/>
          <p:cNvSpPr/>
          <p:nvPr/>
        </p:nvSpPr>
        <p:spPr>
          <a:xfrm>
            <a:off x="371475" y="1171586"/>
            <a:ext cx="12153900" cy="447675"/>
          </a:xfrm>
          <a:prstGeom prst="rect">
            <a:avLst/>
          </a:prstGeom>
          <a:solidFill>
            <a:srgbClr val="FFD166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7020" algn="l" rtl="0" eaLnBrk="0">
              <a:lnSpc>
                <a:spcPct val="87000"/>
              </a:lnSpc>
              <a:spcBef>
                <a:spcPts val="0"/>
              </a:spcBef>
            </a:pPr>
            <a:r>
              <a:rPr sz="2100" b="1" kern="0" spc="-9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【先想一想】★★★ 挑战任务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90" name="rect 1490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92" name="textbox 1492"/>
          <p:cNvSpPr/>
          <p:nvPr/>
        </p:nvSpPr>
        <p:spPr>
          <a:xfrm>
            <a:off x="327786" y="645961"/>
            <a:ext cx="5865495" cy="385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700" kern="0" spc="1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巩固提升 ★★★：</a:t>
            </a:r>
            <a:r>
              <a:rPr sz="2700" kern="0" spc="-5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1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给图形加数值标签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94" name="rect 1494"/>
          <p:cNvSpPr/>
          <p:nvPr/>
        </p:nvSpPr>
        <p:spPr>
          <a:xfrm>
            <a:off x="100393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96" name="textbox 1496"/>
          <p:cNvSpPr/>
          <p:nvPr/>
        </p:nvSpPr>
        <p:spPr>
          <a:xfrm>
            <a:off x="7591902" y="246125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98" name="picture 14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1500" name="textbox 1500"/>
          <p:cNvSpPr/>
          <p:nvPr/>
        </p:nvSpPr>
        <p:spPr>
          <a:xfrm>
            <a:off x="12560395" y="6906786"/>
            <a:ext cx="16827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55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rect 1502"/>
          <p:cNvSpPr/>
          <p:nvPr/>
        </p:nvSpPr>
        <p:spPr>
          <a:xfrm>
            <a:off x="0" y="0"/>
            <a:ext cx="12858750" cy="7219936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04" name="rect 1504"/>
          <p:cNvSpPr/>
          <p:nvPr/>
        </p:nvSpPr>
        <p:spPr>
          <a:xfrm>
            <a:off x="352425" y="3533761"/>
            <a:ext cx="12172950" cy="3314700"/>
          </a:xfrm>
          <a:prstGeom prst="rect">
            <a:avLst/>
          </a:prstGeom>
          <a:solidFill>
            <a:srgbClr val="67D6B4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06" name="rect 1506"/>
          <p:cNvSpPr/>
          <p:nvPr/>
        </p:nvSpPr>
        <p:spPr>
          <a:xfrm>
            <a:off x="4571999" y="5267311"/>
            <a:ext cx="3686175" cy="2952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08" name="rect 1508"/>
          <p:cNvSpPr/>
          <p:nvPr/>
        </p:nvSpPr>
        <p:spPr>
          <a:xfrm>
            <a:off x="2990849" y="6086461"/>
            <a:ext cx="3286125" cy="2857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10" name="rect 1510"/>
          <p:cNvSpPr/>
          <p:nvPr/>
        </p:nvSpPr>
        <p:spPr>
          <a:xfrm>
            <a:off x="3448049" y="4952986"/>
            <a:ext cx="3038475" cy="2952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12" name="textbox 1512"/>
          <p:cNvSpPr/>
          <p:nvPr/>
        </p:nvSpPr>
        <p:spPr>
          <a:xfrm>
            <a:off x="500000" y="4892585"/>
            <a:ext cx="11888469" cy="18135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270" algn="l" rtl="0" eaLnBrk="0">
              <a:lnSpc>
                <a:spcPct val="98000"/>
              </a:lnSpc>
            </a:pP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为什么必须加顶部留白：</a:t>
            </a:r>
            <a:r>
              <a:rPr sz="2100" b="1" kern="0" spc="-18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geom_text(vjust</a:t>
            </a:r>
            <a:r>
              <a:rPr sz="18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=</a:t>
            </a:r>
            <a:r>
              <a:rPr sz="1800" kern="0" spc="26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-0.5)</a:t>
            </a:r>
            <a:r>
              <a:rPr sz="18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把标签放在柱顶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上方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</a:t>
            </a:r>
            <a:r>
              <a:rPr sz="2100" kern="0" spc="1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gg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plot 默认的坐标轴留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白很小，</a:t>
            </a:r>
            <a:r>
              <a:rPr sz="2100" kern="0" spc="-4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11157 的标签会被裁掉。</a:t>
            </a:r>
            <a:r>
              <a:rPr sz="2100" kern="0" spc="-1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expansion(mult</a:t>
            </a:r>
            <a:r>
              <a:rPr sz="18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=</a:t>
            </a:r>
            <a:r>
              <a:rPr sz="18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c(0,</a:t>
            </a:r>
            <a:r>
              <a:rPr sz="18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8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0.1</a:t>
            </a:r>
            <a:r>
              <a:rPr sz="1800" kern="0" spc="-1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2))</a:t>
            </a:r>
            <a:r>
              <a:rPr sz="1800" kern="0" spc="-1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在纵轴顶部追加</a:t>
            </a:r>
            <a:r>
              <a:rPr sz="2100" kern="0" spc="2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12%</a:t>
            </a:r>
            <a:r>
              <a:rPr sz="2100" kern="0" spc="1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的空白，标</a:t>
            </a:r>
            <a:r>
              <a:rPr sz="2100" kern="0" spc="-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签才完整。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9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indent="-3175" algn="l" rtl="0" eaLnBrk="0">
              <a:lnSpc>
                <a:spcPct val="104000"/>
              </a:lnSpc>
              <a:spcBef>
                <a:spcPts val="0"/>
              </a:spcBef>
            </a:pPr>
            <a:r>
              <a:rPr sz="2100" b="1" kern="0" spc="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核对结果：</a:t>
            </a:r>
            <a:r>
              <a:rPr sz="2100" kern="0" spc="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标签值与</a:t>
            </a:r>
            <a:r>
              <a:rPr sz="2100" kern="0" spc="5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cause</a:t>
            </a:r>
            <a:r>
              <a:rPr sz="1800" kern="0" spc="1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_</a:t>
            </a:r>
            <a:r>
              <a:rPr sz="18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summary</a:t>
            </a:r>
            <a:r>
              <a:rPr sz="1800" kern="0" spc="1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</a:t>
            </a:r>
            <a:r>
              <a:rPr sz="1800" kern="0" spc="10" dirty="0">
                <a:solidFill>
                  <a:srgbClr val="9BDCFF">
                    <a:alpha val="100000"/>
                  </a:srgbClr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累计</a:t>
            </a:r>
            <a:r>
              <a:rPr sz="1800" kern="0" spc="0" dirty="0">
                <a:solidFill>
                  <a:srgbClr val="9BDCFF">
                    <a:alpha val="100000"/>
                  </a:srgbClr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死亡人数</a:t>
            </a:r>
            <a:r>
              <a:rPr sz="1800" kern="0" spc="0" dirty="0">
                <a:solidFill>
                  <a:srgbClr val="9BDCFF">
                    <a:alpha val="100000"/>
                  </a:srgbClr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 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完全一致（11157 / 772 /</a:t>
            </a:r>
            <a:r>
              <a:rPr sz="2100" kern="0" spc="1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1365）——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图形上的数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字必须能被数据核对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14" name="picture 15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1276350"/>
            <a:ext cx="5143500" cy="1981200"/>
          </a:xfrm>
          <a:prstGeom prst="rect">
            <a:avLst/>
          </a:prstGeom>
        </p:spPr>
      </p:pic>
      <p:graphicFrame>
        <p:nvGraphicFramePr>
          <p:cNvPr id="1516" name="table 1516"/>
          <p:cNvGraphicFramePr>
            <a:graphicFrameLocks noGrp="1"/>
          </p:cNvGraphicFramePr>
          <p:nvPr/>
        </p:nvGraphicFramePr>
        <p:xfrm>
          <a:off x="514350" y="4086211"/>
          <a:ext cx="11868150" cy="647700"/>
        </p:xfrm>
        <a:graphic>
          <a:graphicData uri="http://schemas.openxmlformats.org/drawingml/2006/table">
            <a:tbl>
              <a:tblPr>
                <a:solidFill>
                  <a:srgbClr val="24292E"/>
                </a:solidFill>
              </a:tblPr>
              <a:tblGrid>
                <a:gridCol w="11868150"/>
              </a:tblGrid>
              <a:tr h="635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" algn="l" rtl="0" eaLnBrk="0">
                        <a:lnSpc>
                          <a:spcPts val="1780"/>
                        </a:lnSpc>
                        <a:spcBef>
                          <a:spcPts val="0"/>
                        </a:spcBef>
                        <a:tabLst>
                          <a:tab pos="255270" algn="l"/>
                        </a:tabLst>
                      </a:pP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300" kern="0" spc="9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</a:t>
                      </a:r>
                      <a:r>
                        <a:rPr sz="1300" kern="0" spc="56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3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geom</a:t>
                      </a:r>
                      <a:r>
                        <a:rPr sz="1300" kern="0" spc="9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3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text</a:t>
                      </a:r>
                      <a:r>
                        <a:rPr sz="1300" kern="0" spc="9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3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aes</a:t>
                      </a:r>
                      <a:r>
                        <a:rPr sz="1300" kern="0" spc="9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3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label</a:t>
                      </a:r>
                      <a:r>
                        <a:rPr sz="1300" kern="0" spc="9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9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300" kern="0" spc="9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9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累计死亡人数</a:t>
                      </a:r>
                      <a:r>
                        <a:rPr sz="1300" kern="0" spc="9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),</a:t>
                      </a:r>
                      <a:r>
                        <a:rPr sz="1300" kern="0" spc="9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v</a:t>
                      </a:r>
                      <a:r>
                        <a:rPr sz="1300" kern="0" spc="-63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just</a:t>
                      </a:r>
                      <a:r>
                        <a:rPr sz="1300" kern="0" spc="15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9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300" kern="0" spc="24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9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-0.5</a:t>
                      </a:r>
                      <a:r>
                        <a:rPr sz="1300" kern="0" spc="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300" kern="0" spc="1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size</a:t>
                      </a:r>
                      <a:r>
                        <a:rPr sz="1300" kern="0" spc="14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8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300" kern="0" spc="8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8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4</a:t>
                      </a:r>
                      <a:r>
                        <a:rPr sz="1300" kern="0" spc="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r>
                        <a:rPr sz="1300" kern="0" spc="1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8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endParaRPr sz="13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780"/>
                        </a:lnSpc>
                        <a:tabLst>
                          <a:tab pos="257175" algn="l"/>
                        </a:tabLst>
                      </a:pPr>
                      <a:r>
                        <a:rPr sz="13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300" kern="0" spc="1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2</a:t>
                      </a:r>
                      <a:r>
                        <a:rPr sz="1300" kern="0" spc="56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3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scale</a:t>
                      </a:r>
                      <a:r>
                        <a:rPr sz="1300" kern="0" spc="13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_y_</a:t>
                      </a:r>
                      <a:r>
                        <a:rPr sz="13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continuous</a:t>
                      </a:r>
                      <a:r>
                        <a:rPr sz="1300" kern="0" spc="1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3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expand</a:t>
                      </a:r>
                      <a:r>
                        <a:rPr sz="1300" kern="0" spc="13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13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300" kern="0" spc="13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expansion</a:t>
                      </a:r>
                      <a:r>
                        <a:rPr sz="1300" kern="0" spc="1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3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mult</a:t>
                      </a:r>
                      <a:r>
                        <a:rPr sz="1300" kern="0" spc="13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13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300" kern="0" spc="16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13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</a:t>
                      </a:r>
                      <a:r>
                        <a:rPr sz="1300" kern="0" spc="1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300" kern="0" spc="12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0</a:t>
                      </a:r>
                      <a:r>
                        <a:rPr sz="1300" kern="0" spc="1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300" kern="0" spc="1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300" kern="0" spc="12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0.12</a:t>
                      </a:r>
                      <a:r>
                        <a:rPr sz="1300" kern="0" spc="1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)))</a:t>
                      </a:r>
                      <a:endParaRPr sz="13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</a:tr>
            </a:tbl>
          </a:graphicData>
        </a:graphic>
      </p:graphicFrame>
      <p:pic>
        <p:nvPicPr>
          <p:cNvPr id="1518" name="picture 15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3533775"/>
            <a:ext cx="47625" cy="3314686"/>
          </a:xfrm>
          <a:prstGeom prst="rect">
            <a:avLst/>
          </a:prstGeom>
        </p:spPr>
      </p:pic>
      <p:sp>
        <p:nvSpPr>
          <p:cNvPr id="1520" name="textbox 1520"/>
          <p:cNvSpPr/>
          <p:nvPr/>
        </p:nvSpPr>
        <p:spPr>
          <a:xfrm>
            <a:off x="371475" y="3533761"/>
            <a:ext cx="12153900" cy="447675"/>
          </a:xfrm>
          <a:prstGeom prst="rect">
            <a:avLst/>
          </a:prstGeom>
          <a:solidFill>
            <a:srgbClr val="67D6B4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7020" algn="l" rtl="0" eaLnBrk="0">
              <a:lnSpc>
                <a:spcPct val="91000"/>
              </a:lnSpc>
            </a:pPr>
            <a:r>
              <a:rPr sz="1900" b="1" kern="0" spc="-1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【参考答案】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22" name="rect 1522"/>
          <p:cNvSpPr/>
          <p:nvPr/>
        </p:nvSpPr>
        <p:spPr>
          <a:xfrm>
            <a:off x="333375" y="190500"/>
            <a:ext cx="12192000" cy="390511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24" name="textbox 1524"/>
          <p:cNvSpPr/>
          <p:nvPr/>
        </p:nvSpPr>
        <p:spPr>
          <a:xfrm>
            <a:off x="327786" y="645936"/>
            <a:ext cx="4726940" cy="3879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</a:pPr>
            <a:r>
              <a:rPr sz="27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巩固提升 ★★★</a:t>
            </a:r>
            <a:r>
              <a:rPr sz="2700" kern="0" spc="-6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（参考</a:t>
            </a:r>
            <a:r>
              <a:rPr sz="27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答案）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26" name="rect 1526"/>
          <p:cNvSpPr/>
          <p:nvPr/>
        </p:nvSpPr>
        <p:spPr>
          <a:xfrm>
            <a:off x="10039350" y="209536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28" name="textbox 1528"/>
          <p:cNvSpPr/>
          <p:nvPr/>
        </p:nvSpPr>
        <p:spPr>
          <a:xfrm>
            <a:off x="7591902" y="246100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30" name="picture 15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3375" y="1076311"/>
            <a:ext cx="12192000" cy="19050"/>
          </a:xfrm>
          <a:prstGeom prst="rect">
            <a:avLst/>
          </a:prstGeom>
        </p:spPr>
      </p:pic>
      <p:pic>
        <p:nvPicPr>
          <p:cNvPr id="1532" name="picture 15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33375" y="571486"/>
            <a:ext cx="12192000" cy="9525"/>
          </a:xfrm>
          <a:prstGeom prst="rect">
            <a:avLst/>
          </a:prstGeom>
        </p:spPr>
      </p:pic>
      <p:sp>
        <p:nvSpPr>
          <p:cNvPr id="1534" name="textbox 1534"/>
          <p:cNvSpPr/>
          <p:nvPr/>
        </p:nvSpPr>
        <p:spPr>
          <a:xfrm>
            <a:off x="12560395" y="6906761"/>
            <a:ext cx="16827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56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rect 1536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538" name="table 1538"/>
          <p:cNvGraphicFramePr>
            <a:graphicFrameLocks noGrp="1"/>
          </p:cNvGraphicFramePr>
          <p:nvPr/>
        </p:nvGraphicFramePr>
        <p:xfrm>
          <a:off x="333375" y="619136"/>
          <a:ext cx="12192000" cy="2922270"/>
        </p:xfrm>
        <a:graphic>
          <a:graphicData uri="http://schemas.openxmlformats.org/drawingml/2006/table">
            <a:tbl>
              <a:tblPr/>
              <a:tblGrid>
                <a:gridCol w="2914650"/>
                <a:gridCol w="2609850"/>
                <a:gridCol w="3475989"/>
                <a:gridCol w="3191510"/>
              </a:tblGrid>
              <a:tr h="476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906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200" b="1" kern="0" spc="6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已解决的问题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717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用到的指标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5087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b="1" kern="0" spc="9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得到的证据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2352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关键结论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88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indent="10795" algn="l" rtl="0" eaLnBrk="0">
                        <a:lnSpc>
                          <a:spcPct val="9600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哪类死因的负担最</a:t>
                      </a:r>
                      <a:r>
                        <a:rPr sz="22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2200" kern="0" spc="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6535" algn="l" rtl="0" eaLnBrk="0">
                        <a:lnSpc>
                          <a:spcPct val="8700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累计死亡人数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54685" algn="l" rtl="0" eaLnBrk="0">
                        <a:lnSpc>
                          <a:spcPct val="8700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累计死亡人数对比图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23520" indent="635" algn="l" rtl="0" eaLnBrk="0">
                        <a:lnSpc>
                          <a:spcPct val="106000"/>
                        </a:lnSpc>
                      </a:pP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可预防疾病</a:t>
                      </a:r>
                      <a:r>
                        <a:rPr sz="2200" kern="0" spc="2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1115</a:t>
                      </a:r>
                      <a:r>
                        <a:rPr sz="22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</a:t>
                      </a:r>
                      <a:r>
                        <a:rPr sz="22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2200" kern="0" spc="-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</a:t>
                      </a:r>
                      <a:r>
                        <a:rPr sz="2200" kern="0" spc="-2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-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2200" kern="0" spc="-2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-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占</a:t>
                      </a:r>
                      <a:r>
                        <a:rPr sz="2200" kern="0" spc="1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-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83.93%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375" indent="1270" algn="l" rtl="0" eaLnBrk="0">
                        <a:lnSpc>
                          <a:spcPct val="9700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高死亡是否集中在个</a:t>
                      </a: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别月份？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463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年化死亡率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57860" algn="l" rtl="0" eaLnBrk="0">
                        <a:lnSpc>
                          <a:spcPct val="8800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月度堆叠柱形图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3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20980" indent="635" algn="l" rtl="0" eaLnBrk="0">
                        <a:lnSpc>
                          <a:spcPct val="101000"/>
                        </a:lnSpc>
                      </a:pP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集中在</a:t>
                      </a:r>
                      <a:r>
                        <a:rPr sz="2200" kern="0" spc="2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1854-1</a:t>
                      </a:r>
                      <a:r>
                        <a:rPr sz="22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2—</a:t>
                      </a:r>
                      <a:r>
                        <a:rPr sz="22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1855-02 三个连</a:t>
                      </a: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续冬</a:t>
                      </a:r>
                      <a:r>
                        <a:rPr sz="2200" kern="0" spc="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季月</a:t>
                      </a:r>
                      <a:r>
                        <a:rPr sz="2200" kern="0" spc="-30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2200" kern="0" spc="-5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最高</a:t>
                      </a:r>
                      <a:r>
                        <a:rPr sz="2200" kern="0" spc="2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1173.5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010" indent="317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三类死因的变化是否</a:t>
                      </a: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一致？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463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年化死亡率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4960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分面图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24790" indent="8890"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</a:pPr>
                      <a:r>
                        <a:rPr sz="2200" kern="0" spc="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峰值不在同一个月</a:t>
                      </a:r>
                      <a:r>
                        <a:rPr sz="2200" kern="0" spc="-2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22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必须分开看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540" name="rect 1540"/>
          <p:cNvSpPr/>
          <p:nvPr/>
        </p:nvSpPr>
        <p:spPr>
          <a:xfrm>
            <a:off x="333375" y="4076711"/>
            <a:ext cx="12192000" cy="685800"/>
          </a:xfrm>
          <a:prstGeom prst="rect">
            <a:avLst/>
          </a:prstGeom>
          <a:solidFill>
            <a:srgbClr val="78C8F5">
              <a:alpha val="745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42" name="textbox 1542"/>
          <p:cNvSpPr/>
          <p:nvPr/>
        </p:nvSpPr>
        <p:spPr>
          <a:xfrm>
            <a:off x="320675" y="3629014"/>
            <a:ext cx="12217400" cy="16116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88000"/>
              </a:lnSpc>
            </a:pPr>
            <a:r>
              <a:rPr sz="2500" b="1" kern="0" spc="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仍待解决：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9850" algn="l" rtl="0" eaLnBrk="0">
              <a:lnSpc>
                <a:spcPts val="3355"/>
              </a:lnSpc>
              <a:spcBef>
                <a:spcPts val="1760"/>
              </a:spcBef>
              <a:tabLst>
                <a:tab pos="256540" algn="l"/>
              </a:tabLst>
            </a:pPr>
            <a:r>
              <a:rPr sz="2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500" kern="0" spc="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如果改善医院与营地的卫生条件</a:t>
            </a:r>
            <a:r>
              <a:rPr sz="2500" kern="0" spc="-3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kern="0" spc="-6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死亡模</a:t>
            </a:r>
            <a:r>
              <a:rPr sz="2500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式是否发生变化？                                    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" algn="l" rtl="0" eaLnBrk="0">
              <a:lnSpc>
                <a:spcPct val="88000"/>
              </a:lnSpc>
              <a:spcBef>
                <a:spcPts val="5"/>
              </a:spcBef>
            </a:pP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带着假设进入第二课时：</a:t>
            </a:r>
            <a:r>
              <a:rPr sz="2500" kern="0" spc="-6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卫生改革后</a:t>
            </a:r>
            <a:r>
              <a:rPr sz="2500" kern="0" spc="-3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kern="0" spc="-6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可预防疾病的死亡水平将</a:t>
            </a:r>
            <a:r>
              <a:rPr sz="25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u="sng" kern="0" spc="50" dirty="0">
                <a:solidFill>
                  <a:srgbClr val="F3F6F9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</a:t>
            </a:r>
            <a:r>
              <a:rPr sz="25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44" name="picture 15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4076711"/>
            <a:ext cx="57150" cy="685800"/>
          </a:xfrm>
          <a:prstGeom prst="rect">
            <a:avLst/>
          </a:prstGeom>
        </p:spPr>
      </p:pic>
      <p:sp>
        <p:nvSpPr>
          <p:cNvPr id="1546" name="rect 1546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48" name="rect 1548"/>
          <p:cNvSpPr/>
          <p:nvPr/>
        </p:nvSpPr>
        <p:spPr>
          <a:xfrm>
            <a:off x="100393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50" name="textbox 1550"/>
          <p:cNvSpPr/>
          <p:nvPr/>
        </p:nvSpPr>
        <p:spPr>
          <a:xfrm>
            <a:off x="7591902" y="246125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52" name="picture 15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1554" name="textbox 1554"/>
          <p:cNvSpPr/>
          <p:nvPr/>
        </p:nvSpPr>
        <p:spPr>
          <a:xfrm>
            <a:off x="12560395" y="6906786"/>
            <a:ext cx="16827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57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rect 1556"/>
          <p:cNvSpPr/>
          <p:nvPr/>
        </p:nvSpPr>
        <p:spPr>
          <a:xfrm>
            <a:off x="0" y="6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58" name="picture 15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3095686"/>
            <a:ext cx="12192000" cy="390525"/>
          </a:xfrm>
          <a:prstGeom prst="rect">
            <a:avLst/>
          </a:prstGeom>
        </p:spPr>
      </p:pic>
      <p:sp>
        <p:nvSpPr>
          <p:cNvPr id="1560" name="rect 1560"/>
          <p:cNvSpPr/>
          <p:nvPr/>
        </p:nvSpPr>
        <p:spPr>
          <a:xfrm>
            <a:off x="10039350" y="3114736"/>
            <a:ext cx="1228725" cy="333375"/>
          </a:xfrm>
          <a:prstGeom prst="rect">
            <a:avLst/>
          </a:prstGeom>
          <a:solidFill>
            <a:srgbClr val="78C8F5">
              <a:alpha val="9647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62" name="textbox 1562"/>
          <p:cNvSpPr/>
          <p:nvPr/>
        </p:nvSpPr>
        <p:spPr>
          <a:xfrm>
            <a:off x="336358" y="3151299"/>
            <a:ext cx="12122150" cy="9226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  <a:tabLst>
                <a:tab pos="11043285" algn="l"/>
              </a:tabLst>
            </a:pPr>
            <a:r>
              <a:rPr sz="9900" strike="sngStrike" kern="0" spc="50" baseline="-800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6400" strike="sngStrike" kern="0" spc="-170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900" strike="sngStrike" kern="0" spc="50" baseline="-800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（续）</a:t>
            </a:r>
            <a:r>
              <a:rPr sz="6400" strike="sngStrike" kern="0" spc="1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6400" kern="0" spc="20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6400" strike="sngStrike" kern="0" spc="-34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6400" kern="0" spc="19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6400" strike="sngStrike" kern="0" spc="-35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6400" kern="0" spc="19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6400" strike="sngStrike" kern="0" spc="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endParaRPr sz="6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64" name="textbox 1564"/>
          <p:cNvSpPr/>
          <p:nvPr/>
        </p:nvSpPr>
        <p:spPr>
          <a:xfrm>
            <a:off x="7601935" y="3151299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</a:t>
            </a:r>
            <a:r>
              <a:rPr sz="2100" strike="sngStrike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</a:t>
            </a:r>
            <a:r>
              <a:rPr sz="2100" strike="sngStrike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strike="sngStrike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66" name="textbox 1566"/>
          <p:cNvSpPr/>
          <p:nvPr/>
        </p:nvSpPr>
        <p:spPr>
          <a:xfrm>
            <a:off x="12560395" y="6906835"/>
            <a:ext cx="16827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58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rect 1568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570" name="table 1570"/>
          <p:cNvGraphicFramePr>
            <a:graphicFrameLocks noGrp="1"/>
          </p:cNvGraphicFramePr>
          <p:nvPr/>
        </p:nvGraphicFramePr>
        <p:xfrm>
          <a:off x="333375" y="619136"/>
          <a:ext cx="12191365" cy="2598420"/>
        </p:xfrm>
        <a:graphic>
          <a:graphicData uri="http://schemas.openxmlformats.org/drawingml/2006/table">
            <a:tbl>
              <a:tblPr/>
              <a:tblGrid>
                <a:gridCol w="2181860"/>
                <a:gridCol w="3340734"/>
                <a:gridCol w="3487420"/>
                <a:gridCol w="3181350"/>
              </a:tblGrid>
              <a:tr h="476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37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b="1" kern="0" spc="7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环节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551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b="1" kern="0" spc="7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6484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200" b="1" kern="0" spc="6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当前问题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463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证据图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88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375" algn="l" rtl="0" eaLnBrk="0">
                        <a:lnSpc>
                          <a:spcPts val="2970"/>
                        </a:lnSpc>
                      </a:pP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</a:t>
                      </a:r>
                      <a:r>
                        <a:rPr sz="2200" kern="0" spc="1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2975" algn="l" rtl="0" eaLnBrk="0">
                        <a:lnSpc>
                          <a:spcPct val="8800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加入阶段维度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52780" indent="3810" algn="l" rtl="0" eaLnBrk="0">
                        <a:lnSpc>
                          <a:spcPct val="9600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卫生改革前后</a:t>
                      </a:r>
                      <a:r>
                        <a:rPr sz="2200" b="1" kern="0" spc="9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发生了</a:t>
                      </a:r>
                      <a:r>
                        <a:rPr sz="2200" b="1" kern="0" spc="7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什么变化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3360" algn="l" rtl="0" eaLnBrk="0">
                        <a:lnSpc>
                          <a:spcPct val="8700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按阶段分面对比图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375" algn="l" rtl="0" eaLnBrk="0">
                        <a:lnSpc>
                          <a:spcPts val="2970"/>
                        </a:lnSpc>
                        <a:spcBef>
                          <a:spcPts val="5"/>
                        </a:spcBef>
                      </a:pP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 4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551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换一种坐标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52780" algn="l" rtl="0" eaLnBrk="0">
                        <a:lnSpc>
                          <a:spcPct val="9500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玫瑰图适合</a:t>
                      </a:r>
                      <a:r>
                        <a:rPr sz="2200" b="1" kern="0" spc="9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分析</a:t>
                      </a: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还是</a:t>
                      </a:r>
                      <a:r>
                        <a:rPr sz="2200" b="1" kern="0" spc="5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传播</a:t>
                      </a: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2725" algn="l" rtl="0" eaLnBrk="0">
                        <a:lnSpc>
                          <a:spcPct val="90000"/>
                        </a:lnSpc>
                        <a:spcBef>
                          <a:spcPts val="5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玫瑰图与图形取舍评</a:t>
                      </a:r>
                      <a:r>
                        <a:rPr sz="22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价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7470" algn="l" rtl="0" eaLnBrk="0">
                        <a:lnSpc>
                          <a:spcPct val="8700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项目总结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3610" algn="l" rtl="0" eaLnBrk="0">
                        <a:lnSpc>
                          <a:spcPct val="8800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汇总证据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5341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证据支持怎样的</a:t>
                      </a:r>
                      <a:r>
                        <a:rPr sz="2200" b="1" kern="0" spc="9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行动</a:t>
                      </a:r>
                      <a:r>
                        <a:rPr sz="2200" b="1" kern="0" spc="5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建议</a:t>
                      </a: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4630" algn="l" rtl="0" eaLnBrk="0">
                        <a:lnSpc>
                          <a:spcPct val="8700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决策建议与结论边界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572" name="textbox 1572"/>
          <p:cNvSpPr/>
          <p:nvPr/>
        </p:nvSpPr>
        <p:spPr>
          <a:xfrm>
            <a:off x="322985" y="3317000"/>
            <a:ext cx="9201150" cy="751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</a:pPr>
            <a:r>
              <a:rPr sz="2500" kern="0" spc="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第二课时的重点：</a:t>
            </a:r>
            <a:r>
              <a:rPr sz="2500" kern="0" spc="-5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b="1" kern="0" spc="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比较阶段差异</a:t>
            </a:r>
            <a:r>
              <a:rPr sz="2500" b="1" kern="0" spc="-3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kern="0" spc="-6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</a:t>
            </a:r>
            <a:r>
              <a:rPr sz="2500" b="1" kern="0" spc="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评价不同图形的表达价</a:t>
            </a:r>
            <a:r>
              <a:rPr sz="25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</a:t>
            </a: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" algn="l" rtl="0" eaLnBrk="0">
              <a:lnSpc>
                <a:spcPts val="2580"/>
              </a:lnSpc>
              <a:spcBef>
                <a:spcPts val="515"/>
              </a:spcBef>
            </a:pPr>
            <a:r>
              <a:rPr sz="1900" kern="0" spc="9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回看提示：</a:t>
            </a:r>
            <a:r>
              <a:rPr sz="1900" kern="0" spc="-4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9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本课时会用到新</a:t>
            </a:r>
            <a:r>
              <a:rPr sz="1900" kern="0" spc="8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知探究中的「分面」「极坐标与面积编码」</a:t>
            </a:r>
            <a:r>
              <a:rPr sz="1900" kern="0" spc="-4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8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两节。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74" name="rect 1574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76" name="rect 1576"/>
          <p:cNvSpPr/>
          <p:nvPr/>
        </p:nvSpPr>
        <p:spPr>
          <a:xfrm>
            <a:off x="100393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78" name="textbox 1578"/>
          <p:cNvSpPr/>
          <p:nvPr/>
        </p:nvSpPr>
        <p:spPr>
          <a:xfrm>
            <a:off x="7591902" y="246125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80" name="picture 15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1582" name="textbox 1582"/>
          <p:cNvSpPr/>
          <p:nvPr/>
        </p:nvSpPr>
        <p:spPr>
          <a:xfrm>
            <a:off x="12560395" y="6906786"/>
            <a:ext cx="16827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59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rect 1584"/>
          <p:cNvSpPr/>
          <p:nvPr/>
        </p:nvSpPr>
        <p:spPr>
          <a:xfrm>
            <a:off x="0" y="6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586" name="table 1586"/>
          <p:cNvGraphicFramePr>
            <a:graphicFrameLocks noGrp="1"/>
          </p:cNvGraphicFramePr>
          <p:nvPr/>
        </p:nvGraphicFramePr>
        <p:xfrm>
          <a:off x="333375" y="1076386"/>
          <a:ext cx="12191999" cy="4267200"/>
        </p:xfrm>
        <a:graphic>
          <a:graphicData uri="http://schemas.openxmlformats.org/drawingml/2006/table">
            <a:tbl>
              <a:tblPr/>
              <a:tblGrid>
                <a:gridCol w="1859914"/>
                <a:gridCol w="10332084"/>
              </a:tblGrid>
              <a:tr h="26289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512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100" b="1" kern="0" spc="-8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【先想一想】任务3 的分析目</a:t>
                      </a:r>
                      <a:r>
                        <a:rPr sz="2100" b="1" kern="0" spc="-9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</a:t>
                      </a:r>
                      <a:endParaRPr sz="2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82245" algn="l" rtl="0" eaLnBrk="0">
                        <a:lnSpc>
                          <a:spcPct val="87000"/>
                        </a:lnSpc>
                        <a:spcBef>
                          <a:spcPts val="1635"/>
                        </a:spcBef>
                      </a:pPr>
                      <a:r>
                        <a:rPr sz="2100" b="1" kern="0" spc="-2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主要问题：两个阶段的月度死亡水平与死因构成有</a:t>
                      </a:r>
                      <a:r>
                        <a:rPr sz="2100" b="1" kern="0" spc="-3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什么差异？同一种死因的平均水平变化了多少？</a:t>
                      </a:r>
                      <a:endParaRPr sz="2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9705" algn="l" rtl="0" eaLnBrk="0">
                        <a:lnSpc>
                          <a:spcPct val="82000"/>
                        </a:lnSpc>
                        <a:spcBef>
                          <a:spcPts val="1795"/>
                        </a:spcBef>
                      </a:pPr>
                      <a:r>
                        <a:rPr sz="21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我的假设是：卫生改革后，</a:t>
                      </a:r>
                      <a:r>
                        <a:rPr sz="2100" u="sng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</a:t>
                      </a:r>
                      <a:r>
                        <a:rPr sz="2100" kern="0" spc="-60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1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造成的死亡会 </a:t>
                      </a:r>
                      <a:r>
                        <a:rPr sz="2100" u="sng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</a:t>
                      </a:r>
                      <a:r>
                        <a:rPr sz="21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endParaRPr sz="2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8120" algn="l" rtl="0" eaLnBrk="0">
                        <a:lnSpc>
                          <a:spcPct val="163000"/>
                        </a:lnSpc>
                      </a:pPr>
                      <a:r>
                        <a:rPr sz="2100" kern="0" spc="-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因为 </a:t>
                      </a:r>
                      <a:r>
                        <a:rPr sz="2100" u="sng" kern="0" spc="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</a:t>
                      </a:r>
                      <a:r>
                        <a:rPr sz="2100" u="sng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                </a:t>
                      </a:r>
                      <a:r>
                        <a:rPr sz="2100" kern="0" spc="-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sz="2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9705" algn="l" rtl="0" eaLnBrk="0">
                        <a:lnSpc>
                          <a:spcPct val="87000"/>
                        </a:lnSpc>
                        <a:tabLst>
                          <a:tab pos="7623810" algn="l"/>
                        </a:tabLst>
                      </a:pPr>
                      <a:r>
                        <a:rPr sz="21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我预计</a:t>
                      </a:r>
                      <a:r>
                        <a:rPr sz="2100" b="1" kern="0" spc="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变化最小</a:t>
                      </a:r>
                      <a:r>
                        <a:rPr sz="21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的是 </a:t>
                      </a:r>
                      <a:r>
                        <a:rPr sz="2100" u="sng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</a:t>
                      </a:r>
                      <a:r>
                        <a:rPr sz="21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，理由是</a:t>
                      </a:r>
                      <a:r>
                        <a:rPr sz="2100" kern="0" spc="-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100" u="sng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endParaRPr sz="2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92419"/>
                    </a:solidFill>
                  </a:tcPr>
                </a:tc>
                <a:tc h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92419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874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200" b="1" kern="0" spc="9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决策问题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1722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b="1" kern="0" spc="9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本任务的选择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1440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比较对象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24205" algn="l" rtl="0" eaLnBrk="0">
                        <a:lnSpc>
                          <a:spcPts val="2970"/>
                        </a:lnSpc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改革前（12 个月）</a:t>
                      </a:r>
                      <a:r>
                        <a:rPr sz="2200" kern="0" spc="-5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与改革后（12 个</a:t>
                      </a: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月）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375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核心指标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19125" algn="l" rtl="0" eaLnBrk="0">
                        <a:lnSpc>
                          <a:spcPts val="295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年化死亡率（每千人年）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56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144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比较方法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16585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b="1" kern="0" spc="8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分面</a:t>
                      </a:r>
                      <a:r>
                        <a:rPr sz="2200" b="1" kern="0" spc="-32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，让两个阶段共享同一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套图形结构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88" name="rect 1588"/>
          <p:cNvSpPr/>
          <p:nvPr/>
        </p:nvSpPr>
        <p:spPr>
          <a:xfrm>
            <a:off x="333375" y="19056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90" name="rect 1590"/>
          <p:cNvSpPr/>
          <p:nvPr/>
        </p:nvSpPr>
        <p:spPr>
          <a:xfrm>
            <a:off x="2809874" y="5391211"/>
            <a:ext cx="2352675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92" name="textbox 1592"/>
          <p:cNvSpPr/>
          <p:nvPr/>
        </p:nvSpPr>
        <p:spPr>
          <a:xfrm>
            <a:off x="400957" y="5323611"/>
            <a:ext cx="6474459" cy="4057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995"/>
              </a:lnSpc>
            </a:pPr>
            <a:r>
              <a:rPr sz="22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使用数据                </a:t>
            </a:r>
            <a:r>
              <a:rPr sz="2000" kern="0" spc="-2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nightingale_long</a:t>
            </a:r>
            <a:r>
              <a:rPr sz="2000" kern="0" spc="-6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2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（全部长表）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94" name="textbox 1594"/>
          <p:cNvSpPr/>
          <p:nvPr/>
        </p:nvSpPr>
        <p:spPr>
          <a:xfrm>
            <a:off x="325652" y="646010"/>
            <a:ext cx="5259070" cy="389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700" kern="0" spc="1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700" b="1" kern="0" spc="11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2700" kern="0" spc="1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700" kern="0" spc="-5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1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改革前后发生了什么</a:t>
            </a:r>
            <a:r>
              <a:rPr sz="2700" kern="0" spc="1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变化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96" name="rect 1596"/>
          <p:cNvSpPr/>
          <p:nvPr/>
        </p:nvSpPr>
        <p:spPr>
          <a:xfrm>
            <a:off x="10039350" y="20961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98" name="textbox 1598"/>
          <p:cNvSpPr/>
          <p:nvPr/>
        </p:nvSpPr>
        <p:spPr>
          <a:xfrm>
            <a:off x="7591902" y="246174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00" name="picture 16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571561"/>
            <a:ext cx="12192000" cy="9525"/>
          </a:xfrm>
          <a:prstGeom prst="rect">
            <a:avLst/>
          </a:prstGeom>
        </p:spPr>
      </p:pic>
      <p:sp>
        <p:nvSpPr>
          <p:cNvPr id="1602" name="textbox 1602"/>
          <p:cNvSpPr/>
          <p:nvPr/>
        </p:nvSpPr>
        <p:spPr>
          <a:xfrm>
            <a:off x="12559862" y="6906835"/>
            <a:ext cx="168910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60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rect 1604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06" name="rect 1606"/>
          <p:cNvSpPr/>
          <p:nvPr/>
        </p:nvSpPr>
        <p:spPr>
          <a:xfrm>
            <a:off x="352425" y="1171586"/>
            <a:ext cx="12172950" cy="2162175"/>
          </a:xfrm>
          <a:prstGeom prst="rect">
            <a:avLst/>
          </a:prstGeom>
          <a:solidFill>
            <a:srgbClr val="67D6B4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08" name="rect 1608"/>
          <p:cNvSpPr/>
          <p:nvPr/>
        </p:nvSpPr>
        <p:spPr>
          <a:xfrm>
            <a:off x="352425" y="3409961"/>
            <a:ext cx="12172950" cy="2038350"/>
          </a:xfrm>
          <a:prstGeom prst="rect">
            <a:avLst/>
          </a:prstGeom>
          <a:solidFill>
            <a:srgbClr val="FF9F87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10" name="textbox 1610"/>
          <p:cNvSpPr/>
          <p:nvPr/>
        </p:nvSpPr>
        <p:spPr>
          <a:xfrm>
            <a:off x="500534" y="1750541"/>
            <a:ext cx="11878944" cy="14039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270" algn="l" rtl="0" eaLnBrk="0">
              <a:lnSpc>
                <a:spcPct val="91000"/>
              </a:lnSpc>
            </a:pP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假设：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卫生改革后，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可预防疾病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造成的死亡会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明显下降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，因为卫生工程切断了霍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乱、痢疾、斑疹伤寒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等疾病的传播路径；而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</a:t>
            </a:r>
            <a:r>
              <a:rPr sz="2100" b="1" kern="0" spc="-2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伤</a:t>
            </a:r>
            <a:r>
              <a:rPr sz="21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来自战斗本身，预计变化最小。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0000"/>
              </a:lnSpc>
            </a:pPr>
            <a:endParaRPr sz="1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algn="l" rtl="0" eaLnBrk="0">
              <a:lnSpc>
                <a:spcPct val="89000"/>
              </a:lnSpc>
            </a:pP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为什么这样预测？</a:t>
            </a:r>
            <a:r>
              <a:rPr sz="2100" b="1" kern="0" spc="1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因为我们把”死亡原因”分成了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可被卫生条件影响的和不受其影响的——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假设必须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建立在变量的含义上，而不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是凭感觉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12" name="textbox 1612"/>
          <p:cNvSpPr/>
          <p:nvPr/>
        </p:nvSpPr>
        <p:spPr>
          <a:xfrm>
            <a:off x="498134" y="3988916"/>
            <a:ext cx="7581265" cy="1316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87000"/>
              </a:lnSpc>
            </a:pPr>
            <a:r>
              <a:rPr sz="2100" kern="0" spc="-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可以说：“</a:t>
            </a:r>
            <a:r>
              <a:rPr sz="2100" b="1" kern="0" spc="-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改革后观察到</a:t>
            </a:r>
            <a:r>
              <a:rPr sz="2100" kern="0" spc="-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可预防疾病死亡明显下降”；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635" algn="l" rtl="0" eaLnBrk="0">
              <a:lnSpc>
                <a:spcPct val="154000"/>
              </a:lnSpc>
              <a:spcBef>
                <a:spcPts val="215"/>
              </a:spcBef>
            </a:pPr>
            <a:r>
              <a:rPr sz="21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不要说：“卫生改革</a:t>
            </a:r>
            <a:r>
              <a:rPr sz="2100" b="1" kern="0" spc="-2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导致</a:t>
            </a:r>
            <a:r>
              <a:rPr sz="21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了全部下降”、“这张图</a:t>
            </a:r>
            <a:r>
              <a:rPr sz="2100" b="1" kern="0" spc="-2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证明</a:t>
            </a:r>
            <a:r>
              <a:rPr sz="21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了……”。</a:t>
            </a:r>
            <a:r>
              <a:rPr sz="2100" b="1" kern="0" spc="-2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观察到的前后差异，不等于已被证明的因果关系。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14" name="picture 16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1171586"/>
            <a:ext cx="47625" cy="2162163"/>
          </a:xfrm>
          <a:prstGeom prst="rect">
            <a:avLst/>
          </a:prstGeom>
        </p:spPr>
      </p:pic>
      <p:sp>
        <p:nvSpPr>
          <p:cNvPr id="1616" name="textbox 1616"/>
          <p:cNvSpPr/>
          <p:nvPr/>
        </p:nvSpPr>
        <p:spPr>
          <a:xfrm>
            <a:off x="371475" y="1171586"/>
            <a:ext cx="12153900" cy="447675"/>
          </a:xfrm>
          <a:prstGeom prst="rect">
            <a:avLst/>
          </a:prstGeom>
          <a:solidFill>
            <a:srgbClr val="67D6B4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7020" algn="l" rtl="0" eaLnBrk="0">
              <a:lnSpc>
                <a:spcPct val="91000"/>
              </a:lnSpc>
            </a:pPr>
            <a:r>
              <a:rPr sz="1900" b="1" kern="0" spc="-1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【参考答案】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18" name="picture 16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3409961"/>
            <a:ext cx="47625" cy="2038338"/>
          </a:xfrm>
          <a:prstGeom prst="rect">
            <a:avLst/>
          </a:prstGeom>
        </p:spPr>
      </p:pic>
      <p:sp>
        <p:nvSpPr>
          <p:cNvPr id="1620" name="textbox 1620"/>
          <p:cNvSpPr/>
          <p:nvPr/>
        </p:nvSpPr>
        <p:spPr>
          <a:xfrm>
            <a:off x="371475" y="3409961"/>
            <a:ext cx="12153900" cy="447675"/>
          </a:xfrm>
          <a:prstGeom prst="rect">
            <a:avLst/>
          </a:prstGeom>
          <a:solidFill>
            <a:srgbClr val="FF9F87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6525" algn="l" rtl="0" eaLnBrk="0">
              <a:lnSpc>
                <a:spcPct val="87000"/>
              </a:lnSpc>
              <a:spcBef>
                <a:spcPts val="5"/>
              </a:spcBef>
            </a:pP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表达红线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22" name="rect 1622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24" name="textbox 1624"/>
          <p:cNvSpPr/>
          <p:nvPr/>
        </p:nvSpPr>
        <p:spPr>
          <a:xfrm>
            <a:off x="325652" y="645961"/>
            <a:ext cx="4838700" cy="388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</a:pPr>
            <a:r>
              <a:rPr sz="27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700" b="1" kern="0" spc="-3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27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700" kern="0" spc="-5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分析目的</a:t>
            </a:r>
            <a:r>
              <a:rPr sz="2700" kern="0" spc="-6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（参</a:t>
            </a:r>
            <a:r>
              <a:rPr sz="27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考答案）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26" name="rect 1626"/>
          <p:cNvSpPr/>
          <p:nvPr/>
        </p:nvSpPr>
        <p:spPr>
          <a:xfrm>
            <a:off x="100393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28" name="textbox 1628"/>
          <p:cNvSpPr/>
          <p:nvPr/>
        </p:nvSpPr>
        <p:spPr>
          <a:xfrm>
            <a:off x="7591902" y="246125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30" name="picture 16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1076336"/>
            <a:ext cx="12192000" cy="19050"/>
          </a:xfrm>
          <a:prstGeom prst="rect">
            <a:avLst/>
          </a:prstGeom>
        </p:spPr>
      </p:pic>
      <p:pic>
        <p:nvPicPr>
          <p:cNvPr id="1632" name="picture 16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1634" name="textbox 1634"/>
          <p:cNvSpPr/>
          <p:nvPr/>
        </p:nvSpPr>
        <p:spPr>
          <a:xfrm>
            <a:off x="12559862" y="6906786"/>
            <a:ext cx="168910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61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rect 1636"/>
          <p:cNvSpPr/>
          <p:nvPr/>
        </p:nvSpPr>
        <p:spPr>
          <a:xfrm>
            <a:off x="0" y="6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38" name="rect 1638"/>
          <p:cNvSpPr/>
          <p:nvPr/>
        </p:nvSpPr>
        <p:spPr>
          <a:xfrm>
            <a:off x="8277225" y="2447986"/>
            <a:ext cx="1428750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40" name="rect 1640"/>
          <p:cNvSpPr/>
          <p:nvPr/>
        </p:nvSpPr>
        <p:spPr>
          <a:xfrm>
            <a:off x="8277225" y="2848036"/>
            <a:ext cx="2114550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42" name="rect 1642"/>
          <p:cNvSpPr/>
          <p:nvPr/>
        </p:nvSpPr>
        <p:spPr>
          <a:xfrm>
            <a:off x="8277225" y="3248086"/>
            <a:ext cx="2581275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644" name="table 1644"/>
          <p:cNvGraphicFramePr>
            <a:graphicFrameLocks noGrp="1"/>
          </p:cNvGraphicFramePr>
          <p:nvPr/>
        </p:nvGraphicFramePr>
        <p:xfrm>
          <a:off x="333375" y="1596086"/>
          <a:ext cx="12191365" cy="1977390"/>
        </p:xfrm>
        <a:graphic>
          <a:graphicData uri="http://schemas.openxmlformats.org/drawingml/2006/table">
            <a:tbl>
              <a:tblPr/>
              <a:tblGrid>
                <a:gridCol w="1692275"/>
                <a:gridCol w="5017769"/>
                <a:gridCol w="5481320"/>
              </a:tblGrid>
              <a:tr h="4044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37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b="1" kern="0" spc="7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变量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7561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视觉表达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47775" algn="l" rtl="0" eaLnBrk="0">
                        <a:lnSpc>
                          <a:spcPts val="3035"/>
                        </a:lnSpc>
                      </a:pPr>
                      <a:r>
                        <a:rPr sz="2200" b="1" kern="0" spc="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ggplot</a:t>
                      </a:r>
                      <a:r>
                        <a:rPr sz="2200" b="1" kern="0" spc="12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 写法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636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月份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73075" algn="l" rtl="0" eaLnBrk="0">
                        <a:lnSpc>
                          <a:spcPts val="297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横轴位置（月份先后）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死亡率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73710" algn="l" rtl="0" eaLnBrk="0">
                        <a:lnSpc>
                          <a:spcPts val="297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柱形高度（死亡风险高</a:t>
                      </a: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低）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94765" algn="l" rtl="0" eaLnBrk="0">
                        <a:lnSpc>
                          <a:spcPct val="89000"/>
                        </a:lnSpc>
                        <a:spcBef>
                          <a:spcPts val="0"/>
                        </a:spcBef>
                      </a:pPr>
                      <a:r>
                        <a:rPr sz="2000" kern="0" spc="-5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y</a:t>
                      </a:r>
                      <a:r>
                        <a:rPr sz="2000" kern="0" spc="14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kern="0" spc="-5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2000" kern="0" spc="9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kern="0" spc="-5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死亡率</a:t>
                      </a:r>
                      <a:endParaRPr sz="2000" dirty="0">
                        <a:latin typeface="新宋体" panose="02010609030101010101" charset="-122"/>
                        <a:ea typeface="新宋体" panose="02010609030101010101" charset="-122"/>
                        <a:cs typeface="新宋体" panose="0201060903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700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死亡原因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74980" algn="l" rtl="0" eaLnBrk="0">
                        <a:lnSpc>
                          <a:spcPts val="295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填充颜色（区分死因</a:t>
                      </a: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贡献）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87145" algn="l" rtl="0" eaLnBrk="0">
                        <a:lnSpc>
                          <a:spcPts val="2640"/>
                        </a:lnSpc>
                        <a:spcBef>
                          <a:spcPts val="0"/>
                        </a:spcBef>
                      </a:pP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fill</a:t>
                      </a:r>
                      <a:r>
                        <a:rPr sz="2000" kern="0" spc="17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死亡原因</a:t>
                      </a:r>
                      <a:endParaRPr sz="2000" dirty="0">
                        <a:latin typeface="新宋体" panose="02010609030101010101" charset="-122"/>
                        <a:ea typeface="新宋体" panose="02010609030101010101" charset="-122"/>
                        <a:cs typeface="新宋体" panose="0201060903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080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2200" b="1" kern="0" spc="3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7561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拆成左右两个小图对比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87145" algn="l" rtl="0" eaLnBrk="0">
                        <a:lnSpc>
                          <a:spcPts val="2590"/>
                        </a:lnSpc>
                        <a:spcBef>
                          <a:spcPts val="0"/>
                        </a:spcBef>
                      </a:pP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facet_wrap(~</a:t>
                      </a:r>
                      <a:r>
                        <a:rPr sz="2000" kern="0" spc="24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阶段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endParaRPr sz="20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646" name="rect 1646"/>
          <p:cNvSpPr/>
          <p:nvPr/>
        </p:nvSpPr>
        <p:spPr>
          <a:xfrm>
            <a:off x="352425" y="3657661"/>
            <a:ext cx="12172950" cy="1543050"/>
          </a:xfrm>
          <a:prstGeom prst="rect">
            <a:avLst/>
          </a:prstGeom>
          <a:solidFill>
            <a:srgbClr val="78C8F5">
              <a:alpha val="745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48" name="textbox 1648"/>
          <p:cNvSpPr/>
          <p:nvPr/>
        </p:nvSpPr>
        <p:spPr>
          <a:xfrm>
            <a:off x="500801" y="4246674"/>
            <a:ext cx="8772525" cy="7854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83000"/>
              </a:lnSpc>
            </a:pP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两个面板必须保持 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相同的纵轴尺度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相同的月份顺序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同的颜色含义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3895"/>
              </a:lnSpc>
            </a:pP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只要有一条不同，读者看到的就是两张”各自为政”的图，</a:t>
            </a:r>
            <a:r>
              <a:rPr sz="2100" kern="0" spc="-5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</a:t>
            </a:r>
            <a:r>
              <a:rPr sz="2100" kern="0" spc="-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较就不成立。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50" name="picture 16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3657661"/>
            <a:ext cx="47625" cy="1542988"/>
          </a:xfrm>
          <a:prstGeom prst="rect">
            <a:avLst/>
          </a:prstGeom>
        </p:spPr>
      </p:pic>
      <p:sp>
        <p:nvSpPr>
          <p:cNvPr id="1652" name="textbox 1652"/>
          <p:cNvSpPr/>
          <p:nvPr/>
        </p:nvSpPr>
        <p:spPr>
          <a:xfrm>
            <a:off x="371475" y="3657661"/>
            <a:ext cx="12153900" cy="447675"/>
          </a:xfrm>
          <a:prstGeom prst="rect">
            <a:avLst/>
          </a:prstGeom>
          <a:solidFill>
            <a:srgbClr val="78C8F5">
              <a:alpha val="16078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6525" algn="l" rtl="0" eaLnBrk="0">
              <a:lnSpc>
                <a:spcPct val="87000"/>
              </a:lnSpc>
            </a:pP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分面能成立的前提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54" name="rect 1654"/>
          <p:cNvSpPr/>
          <p:nvPr/>
        </p:nvSpPr>
        <p:spPr>
          <a:xfrm>
            <a:off x="333375" y="19056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56" name="textbox 1656"/>
          <p:cNvSpPr/>
          <p:nvPr/>
        </p:nvSpPr>
        <p:spPr>
          <a:xfrm>
            <a:off x="324636" y="1121714"/>
            <a:ext cx="7609205" cy="4521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355"/>
              </a:lnSpc>
            </a:pP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 2 的三个映射保持不变</a:t>
            </a:r>
            <a:r>
              <a:rPr sz="2500" kern="0" spc="-3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kern="0" spc="-6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再增加一个</a:t>
            </a:r>
            <a:r>
              <a:rPr sz="25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  <a:r>
              <a:rPr sz="25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</a:t>
            </a:r>
            <a:r>
              <a:rPr sz="25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维度：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58" name="rect 1658"/>
          <p:cNvSpPr/>
          <p:nvPr/>
        </p:nvSpPr>
        <p:spPr>
          <a:xfrm>
            <a:off x="10039350" y="20961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60" name="textbox 1660"/>
          <p:cNvSpPr/>
          <p:nvPr/>
        </p:nvSpPr>
        <p:spPr>
          <a:xfrm>
            <a:off x="7591902" y="246174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62" name="textbox 1662"/>
          <p:cNvSpPr/>
          <p:nvPr/>
        </p:nvSpPr>
        <p:spPr>
          <a:xfrm>
            <a:off x="325652" y="646010"/>
            <a:ext cx="3463290" cy="389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700" kern="0" spc="1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700" b="1" kern="0" spc="10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2700" kern="0" spc="1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700" kern="0" spc="-5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1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增加阶段映射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64" name="textbox 1664"/>
          <p:cNvSpPr/>
          <p:nvPr/>
        </p:nvSpPr>
        <p:spPr>
          <a:xfrm>
            <a:off x="8277225" y="2057461"/>
            <a:ext cx="1181100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2230" algn="l" rtl="0" eaLnBrk="0">
              <a:lnSpc>
                <a:spcPct val="85000"/>
              </a:lnSpc>
              <a:spcBef>
                <a:spcPts val="0"/>
              </a:spcBef>
            </a:pPr>
            <a:r>
              <a:rPr sz="2000" kern="0" spc="-8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x</a:t>
            </a:r>
            <a:r>
              <a:rPr sz="2000" kern="0" spc="15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000" kern="0" spc="-8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=</a:t>
            </a:r>
            <a:r>
              <a:rPr sz="2000" kern="0" spc="13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000" kern="0" spc="-80" dirty="0">
                <a:solidFill>
                  <a:srgbClr val="9BDCFF">
                    <a:alpha val="100000"/>
                  </a:srgbClr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月份</a:t>
            </a:r>
            <a:endParaRPr sz="2000" dirty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</p:txBody>
      </p:sp>
      <p:pic>
        <p:nvPicPr>
          <p:cNvPr id="1666" name="picture 16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1076386"/>
            <a:ext cx="12192000" cy="19050"/>
          </a:xfrm>
          <a:prstGeom prst="rect">
            <a:avLst/>
          </a:prstGeom>
        </p:spPr>
      </p:pic>
      <p:pic>
        <p:nvPicPr>
          <p:cNvPr id="1668" name="picture 16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571561"/>
            <a:ext cx="12192000" cy="9525"/>
          </a:xfrm>
          <a:prstGeom prst="rect">
            <a:avLst/>
          </a:prstGeom>
        </p:spPr>
      </p:pic>
      <p:sp>
        <p:nvSpPr>
          <p:cNvPr id="1670" name="textbox 1670"/>
          <p:cNvSpPr/>
          <p:nvPr/>
        </p:nvSpPr>
        <p:spPr>
          <a:xfrm>
            <a:off x="12559862" y="6906835"/>
            <a:ext cx="168910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62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rect 1672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674" name="table 1674"/>
          <p:cNvGraphicFramePr>
            <a:graphicFrameLocks noGrp="1"/>
          </p:cNvGraphicFramePr>
          <p:nvPr/>
        </p:nvGraphicFramePr>
        <p:xfrm>
          <a:off x="333375" y="1162061"/>
          <a:ext cx="12192000" cy="4991100"/>
        </p:xfrm>
        <a:graphic>
          <a:graphicData uri="http://schemas.openxmlformats.org/drawingml/2006/table">
            <a:tbl>
              <a:tblPr>
                <a:solidFill>
                  <a:srgbClr val="24292E"/>
                </a:solidFill>
              </a:tblPr>
              <a:tblGrid>
                <a:gridCol w="12192000"/>
              </a:tblGrid>
              <a:tr h="4978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" algn="l" rtl="0" eaLnBrk="0">
                        <a:lnSpc>
                          <a:spcPts val="1840"/>
                        </a:lnSpc>
                        <a:spcBef>
                          <a:spcPts val="5"/>
                        </a:spcBef>
                        <a:tabLst>
                          <a:tab pos="26289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p3</a:t>
                      </a:r>
                      <a:r>
                        <a:rPr sz="1400" kern="0" spc="1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&lt;-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ggp</a:t>
                      </a:r>
                      <a:r>
                        <a:rPr sz="1400" kern="0" spc="-1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lot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10"/>
                        </a:lnSpc>
                        <a:tabLst>
                          <a:tab pos="26352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2</a:t>
                      </a:r>
                      <a:r>
                        <a:rPr sz="1400" kern="0" spc="54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data</a:t>
                      </a:r>
                      <a:r>
                        <a:rPr sz="1400" kern="0" spc="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____,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                  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#</a:t>
                      </a:r>
                      <a:r>
                        <a:rPr sz="1400" kern="0" spc="12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提示：使用全部长表</a:t>
                      </a:r>
                      <a:endParaRPr sz="1400" dirty="0">
                        <a:latin typeface="新宋体" panose="02010609030101010101" charset="-122"/>
                        <a:ea typeface="新宋体" panose="02010609030101010101" charset="-122"/>
                        <a:cs typeface="新宋体" panose="02010609030101010101" charset="-122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2647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3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aes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x</a:t>
                      </a:r>
                      <a:r>
                        <a:rPr sz="1400" kern="0" spc="1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____,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y</a:t>
                      </a:r>
                      <a:r>
                        <a:rPr sz="1400" kern="0" spc="10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____,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fill</a:t>
                      </a:r>
                      <a:r>
                        <a:rPr sz="1400" kern="0" spc="1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__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__)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790"/>
                        </a:lnSpc>
                        <a:tabLst>
                          <a:tab pos="25527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4</a:t>
                      </a:r>
                      <a:r>
                        <a:rPr sz="1400" kern="0" spc="5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r>
                        <a:rPr sz="14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10"/>
                        </a:lnSpc>
                        <a:tabLst>
                          <a:tab pos="26670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5</a:t>
                      </a:r>
                      <a:r>
                        <a:rPr sz="1400" kern="0" spc="5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geom</a:t>
                      </a:r>
                      <a:r>
                        <a:rPr sz="1400" kern="0" spc="-1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col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()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755"/>
                        </a:lnSpc>
                        <a:tabLst>
                          <a:tab pos="26162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6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facet_wrap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~</a:t>
                      </a:r>
                      <a:r>
                        <a:rPr sz="1400" kern="0" spc="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____,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ncol</a:t>
                      </a:r>
                      <a:r>
                        <a:rPr sz="1400" kern="0" spc="10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2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14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sca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les</a:t>
                      </a:r>
                      <a:r>
                        <a:rPr sz="1400" kern="0" spc="1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9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"fixed"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770"/>
                        </a:lnSpc>
                        <a:tabLst>
                          <a:tab pos="26162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7</a:t>
                      </a:r>
                      <a:r>
                        <a:rPr sz="1400" kern="0" spc="5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scale</a:t>
                      </a:r>
                      <a:r>
                        <a:rPr sz="1400" kern="0" spc="2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fill</a:t>
                      </a:r>
                      <a:r>
                        <a:rPr sz="1400" kern="0" spc="2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manual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values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cause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colors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r>
                        <a:rPr sz="1400" kern="0" spc="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26162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8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labs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26035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9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title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9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"_______</a:t>
                      </a:r>
                      <a:r>
                        <a:rPr sz="1400" kern="0" spc="-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______________________________"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10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subtitle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20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2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两个阶段均按</a:t>
                      </a:r>
                      <a:r>
                        <a:rPr sz="1400" kern="0" spc="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4</a:t>
                      </a:r>
                      <a:r>
                        <a:rPr sz="1400" kern="0" spc="10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月至次年</a:t>
                      </a:r>
                      <a:r>
                        <a:rPr sz="1400" kern="0" spc="20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3</a:t>
                      </a:r>
                      <a:r>
                        <a:rPr sz="1400" kern="0" spc="10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月排列，纵轴尺度一致</a:t>
                      </a:r>
                      <a:r>
                        <a:rPr sz="1400" kern="0" spc="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755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11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x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0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NULL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y</a:t>
                      </a:r>
                      <a:r>
                        <a:rPr sz="1400" kern="0" spc="1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9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"_____________</a:t>
                      </a:r>
                      <a:r>
                        <a:rPr sz="1400" kern="0" spc="-2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________"</a:t>
                      </a:r>
                      <a:r>
                        <a:rPr sz="1400" kern="0" spc="-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-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fill</a:t>
                      </a:r>
                      <a:r>
                        <a:rPr sz="1400" kern="0" spc="1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9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2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-2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死亡原因</a:t>
                      </a:r>
                      <a:r>
                        <a:rPr sz="1400" kern="0" spc="-2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20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-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12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1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-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ct val="73000"/>
                        </a:lnSpc>
                        <a:spcBef>
                          <a:spcPts val="410"/>
                        </a:spcBef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13</a:t>
                      </a:r>
                      <a:r>
                        <a:rPr sz="1400" kern="0" spc="5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p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2" action="ppaction://hlinksldjump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3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930"/>
                        </a:lnSpc>
                        <a:spcBef>
                          <a:spcPts val="585"/>
                        </a:spcBef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-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14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 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ct val="85000"/>
                        </a:lnSpc>
                        <a:spcBef>
                          <a:spcPts val="570"/>
                        </a:spcBef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15</a:t>
                      </a:r>
                      <a:r>
                        <a:rPr sz="1400" kern="0" spc="5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#</a:t>
                      </a:r>
                      <a:r>
                        <a:rPr sz="1400" kern="0" spc="2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再量化两个阶段的平均死亡率与变化幅度</a:t>
                      </a:r>
                      <a:endParaRPr sz="1400" dirty="0">
                        <a:latin typeface="新宋体" panose="02010609030101010101" charset="-122"/>
                        <a:ea typeface="新宋体" panose="02010609030101010101" charset="-122"/>
                        <a:cs typeface="新宋体" panose="02010609030101010101" charset="-122"/>
                      </a:endParaRPr>
                    </a:p>
                    <a:p>
                      <a:pPr marL="9525" algn="l" rtl="0" eaLnBrk="0">
                        <a:lnSpc>
                          <a:spcPts val="1840"/>
                        </a:lnSpc>
                        <a:spcBef>
                          <a:spcPts val="155"/>
                        </a:spcBef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16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stage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summary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3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&lt;-</a:t>
                      </a:r>
                      <a:r>
                        <a:rPr sz="1400" kern="0" spc="3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nightingale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long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3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%</a:t>
                      </a:r>
                      <a:r>
                        <a:rPr sz="1400" kern="0" spc="2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&gt;%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760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17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group</a:t>
                      </a:r>
                      <a:r>
                        <a:rPr sz="1400" kern="0" spc="2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by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阶段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原因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%&gt;%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770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18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summarise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平均死亡率</a:t>
                      </a:r>
                      <a:r>
                        <a:rPr sz="1400" kern="0" spc="1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mean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(____),</a:t>
                      </a:r>
                      <a:r>
                        <a:rPr sz="1400" kern="0" spc="2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.groups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9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"drop"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%&gt;%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19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pivot</a:t>
                      </a:r>
                      <a:r>
                        <a:rPr sz="1400" kern="0" spc="2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wider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names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from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阶段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6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values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from</a:t>
                      </a:r>
                      <a:r>
                        <a:rPr sz="1400" kern="0" spc="10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6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平均死亡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率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%&gt;%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45"/>
                        </a:lnSpc>
                        <a:tabLst>
                          <a:tab pos="16383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20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-1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mutate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变化幅度</a:t>
                      </a:r>
                      <a:r>
                        <a:rPr sz="1400" kern="0" spc="1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22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改革后</a:t>
                      </a:r>
                      <a:r>
                        <a:rPr sz="1400" kern="0" spc="2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-</a:t>
                      </a:r>
                      <a:r>
                        <a:rPr sz="1400" kern="0" spc="-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改革前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r>
                        <a:rPr sz="1400" kern="0" spc="9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/</a:t>
                      </a:r>
                      <a:r>
                        <a:rPr sz="1400" kern="0" spc="12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改革前</a:t>
                      </a:r>
                      <a:r>
                        <a:rPr sz="1400" kern="0" spc="2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*</a:t>
                      </a:r>
                      <a:r>
                        <a:rPr sz="1400" kern="0" spc="1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100</a:t>
                      </a:r>
                      <a:r>
                        <a:rPr sz="1400" kern="0" spc="-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ct val="75000"/>
                        </a:lnSpc>
                        <a:spcBef>
                          <a:spcPts val="410"/>
                        </a:spcBef>
                        <a:tabLst>
                          <a:tab pos="16383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21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stage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summary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</a:tr>
            </a:tbl>
          </a:graphicData>
        </a:graphic>
      </p:graphicFrame>
      <p:sp>
        <p:nvSpPr>
          <p:cNvPr id="1676" name="rect 1676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78" name="textbox 1678"/>
          <p:cNvSpPr/>
          <p:nvPr/>
        </p:nvSpPr>
        <p:spPr>
          <a:xfrm>
            <a:off x="325652" y="645961"/>
            <a:ext cx="5556884" cy="388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</a:pPr>
            <a:r>
              <a:rPr sz="27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700" b="1" kern="0" spc="-1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27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700" kern="0" spc="-5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分面对比图</a:t>
            </a:r>
            <a:r>
              <a:rPr sz="2700" kern="0" spc="-6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（先</a:t>
            </a:r>
            <a:r>
              <a:rPr sz="27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自己补全）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80" name="rect 1680"/>
          <p:cNvSpPr/>
          <p:nvPr/>
        </p:nvSpPr>
        <p:spPr>
          <a:xfrm>
            <a:off x="100393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2" name="textbox 1682"/>
          <p:cNvSpPr/>
          <p:nvPr/>
        </p:nvSpPr>
        <p:spPr>
          <a:xfrm>
            <a:off x="7591902" y="246125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84" name="picture 16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1076336"/>
            <a:ext cx="12192000" cy="19050"/>
          </a:xfrm>
          <a:prstGeom prst="rect">
            <a:avLst/>
          </a:prstGeom>
        </p:spPr>
      </p:pic>
      <p:pic>
        <p:nvPicPr>
          <p:cNvPr id="1686" name="picture 168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1688" name="textbox 1688"/>
          <p:cNvSpPr/>
          <p:nvPr/>
        </p:nvSpPr>
        <p:spPr>
          <a:xfrm>
            <a:off x="12559862" y="6906786"/>
            <a:ext cx="168910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63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rect 1690"/>
          <p:cNvSpPr/>
          <p:nvPr/>
        </p:nvSpPr>
        <p:spPr>
          <a:xfrm>
            <a:off x="0" y="6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692" name="picture 169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1276350"/>
            <a:ext cx="8829675" cy="3771900"/>
          </a:xfrm>
          <a:prstGeom prst="rect">
            <a:avLst/>
          </a:prstGeom>
        </p:spPr>
      </p:pic>
      <p:graphicFrame>
        <p:nvGraphicFramePr>
          <p:cNvPr id="1694" name="table 1694"/>
          <p:cNvGraphicFramePr>
            <a:graphicFrameLocks noGrp="1"/>
          </p:cNvGraphicFramePr>
          <p:nvPr/>
        </p:nvGraphicFramePr>
        <p:xfrm>
          <a:off x="333375" y="5361471"/>
          <a:ext cx="12192000" cy="1494790"/>
        </p:xfrm>
        <a:graphic>
          <a:graphicData uri="http://schemas.openxmlformats.org/drawingml/2006/table">
            <a:tbl>
              <a:tblPr/>
              <a:tblGrid>
                <a:gridCol w="2674620"/>
                <a:gridCol w="4189729"/>
                <a:gridCol w="3518534"/>
                <a:gridCol w="1809114"/>
              </a:tblGrid>
              <a:tr h="3346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8740" algn="l" rtl="0" eaLnBrk="0">
                        <a:lnSpc>
                          <a:spcPct val="88000"/>
                        </a:lnSpc>
                      </a:pPr>
                      <a:r>
                        <a:rPr sz="2200" b="1" kern="0" spc="9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死亡原因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42365" algn="l" rtl="0" eaLnBrk="0">
                        <a:lnSpc>
                          <a:spcPct val="88000"/>
                        </a:lnSpc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改革前平均死亡率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1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26440" algn="l" rtl="0" eaLnBrk="0">
                        <a:lnSpc>
                          <a:spcPct val="87000"/>
                        </a:lnSpc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改革后平均死亡率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68960" algn="l" rtl="0" eaLnBrk="0">
                        <a:lnSpc>
                          <a:spcPct val="87000"/>
                        </a:lnSpc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变化幅度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28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可预防疾病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06345" algn="l" rtl="0" eaLnBrk="0">
                        <a:lnSpc>
                          <a:spcPts val="3020"/>
                        </a:lnSpc>
                      </a:pPr>
                      <a:r>
                        <a:rPr sz="2200" b="1" kern="0" spc="1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358.17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260600" algn="l" rtl="0" eaLnBrk="0">
                        <a:lnSpc>
                          <a:spcPts val="3020"/>
                        </a:lnSpc>
                      </a:pPr>
                      <a:r>
                        <a:rPr sz="2200" b="1" kern="0" spc="2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84.85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71170" algn="l" rtl="0" eaLnBrk="0">
                        <a:lnSpc>
                          <a:spcPts val="3020"/>
                        </a:lnSpc>
                      </a:pPr>
                      <a:r>
                        <a:rPr sz="2200" b="1" kern="0" spc="1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−76.31%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017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战伤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729865" algn="l" rtl="0" eaLnBrk="0">
                        <a:lnSpc>
                          <a:spcPts val="2950"/>
                        </a:lnSpc>
                      </a:pPr>
                      <a:r>
                        <a:rPr sz="2200" kern="0" spc="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25.12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313940" algn="l" rtl="0" eaLnBrk="0">
                        <a:lnSpc>
                          <a:spcPts val="2950"/>
                        </a:lnSpc>
                      </a:pPr>
                      <a:r>
                        <a:rPr sz="2200" kern="0" spc="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23.32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08025" algn="l" rtl="0" eaLnBrk="0">
                        <a:lnSpc>
                          <a:spcPts val="2950"/>
                        </a:lnSpc>
                      </a:pPr>
                      <a:r>
                        <a:rPr sz="22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−7.20%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01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其他原因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715260" algn="l" rtl="0" eaLnBrk="0">
                        <a:lnSpc>
                          <a:spcPts val="2900"/>
                        </a:lnSpc>
                      </a:pPr>
                      <a:r>
                        <a:rPr sz="22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44.41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482215" algn="l" rtl="0" eaLnBrk="0">
                        <a:lnSpc>
                          <a:spcPts val="2900"/>
                        </a:lnSpc>
                      </a:pPr>
                      <a:r>
                        <a:rPr sz="2200" kern="0" spc="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9.51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37210" algn="l" rtl="0" eaLnBrk="0">
                        <a:lnSpc>
                          <a:spcPts val="2900"/>
                        </a:lnSpc>
                      </a:pPr>
                      <a:r>
                        <a:rPr sz="2200" kern="0" spc="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−78.59%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696" name="rect 1696"/>
          <p:cNvSpPr/>
          <p:nvPr/>
        </p:nvSpPr>
        <p:spPr>
          <a:xfrm>
            <a:off x="333375" y="19056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98" name="textbox 1698"/>
          <p:cNvSpPr/>
          <p:nvPr/>
        </p:nvSpPr>
        <p:spPr>
          <a:xfrm>
            <a:off x="325652" y="646010"/>
            <a:ext cx="5198109" cy="388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</a:pPr>
            <a:r>
              <a:rPr sz="27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700" b="1" kern="0" spc="-2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27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700" kern="0" spc="-5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分面对比图</a:t>
            </a:r>
            <a:r>
              <a:rPr sz="2700" kern="0" spc="-6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（参考</a:t>
            </a:r>
            <a:r>
              <a:rPr sz="27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答案）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00" name="rect 1700"/>
          <p:cNvSpPr/>
          <p:nvPr/>
        </p:nvSpPr>
        <p:spPr>
          <a:xfrm>
            <a:off x="10039350" y="20961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02" name="textbox 1702"/>
          <p:cNvSpPr/>
          <p:nvPr/>
        </p:nvSpPr>
        <p:spPr>
          <a:xfrm>
            <a:off x="7591902" y="246174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04" name="picture 17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1076386"/>
            <a:ext cx="12192000" cy="19050"/>
          </a:xfrm>
          <a:prstGeom prst="rect">
            <a:avLst/>
          </a:prstGeom>
        </p:spPr>
      </p:pic>
      <p:pic>
        <p:nvPicPr>
          <p:cNvPr id="1706" name="picture 17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571561"/>
            <a:ext cx="12192000" cy="9525"/>
          </a:xfrm>
          <a:prstGeom prst="rect">
            <a:avLst/>
          </a:prstGeom>
        </p:spPr>
      </p:pic>
      <p:sp>
        <p:nvSpPr>
          <p:cNvPr id="1708" name="textbox 1708"/>
          <p:cNvSpPr/>
          <p:nvPr/>
        </p:nvSpPr>
        <p:spPr>
          <a:xfrm>
            <a:off x="12559862" y="6906835"/>
            <a:ext cx="168910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64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rect 1710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12" name="rect 1712"/>
          <p:cNvSpPr/>
          <p:nvPr/>
        </p:nvSpPr>
        <p:spPr>
          <a:xfrm>
            <a:off x="352425" y="1171586"/>
            <a:ext cx="12172950" cy="2533650"/>
          </a:xfrm>
          <a:prstGeom prst="rect">
            <a:avLst/>
          </a:prstGeom>
          <a:solidFill>
            <a:srgbClr val="FFD166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714" name="picture 17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1171586"/>
            <a:ext cx="47625" cy="2533638"/>
          </a:xfrm>
          <a:prstGeom prst="rect">
            <a:avLst/>
          </a:prstGeom>
        </p:spPr>
      </p:pic>
      <p:sp>
        <p:nvSpPr>
          <p:cNvPr id="1716" name="rect 1716"/>
          <p:cNvSpPr/>
          <p:nvPr/>
        </p:nvSpPr>
        <p:spPr>
          <a:xfrm>
            <a:off x="371475" y="1171586"/>
            <a:ext cx="12153900" cy="447675"/>
          </a:xfrm>
          <a:prstGeom prst="rect">
            <a:avLst/>
          </a:prstGeom>
          <a:solidFill>
            <a:srgbClr val="FFD166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18" name="textbox 1718"/>
          <p:cNvSpPr/>
          <p:nvPr/>
        </p:nvSpPr>
        <p:spPr>
          <a:xfrm>
            <a:off x="358775" y="1266366"/>
            <a:ext cx="12179300" cy="2297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tabLst>
                <a:tab pos="299720" algn="l"/>
              </a:tabLst>
            </a:pP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100" b="1" kern="0" spc="-10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【先想一想】从图中提取证据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3035" algn="l" rtl="0" eaLnBrk="0">
              <a:lnSpc>
                <a:spcPct val="87000"/>
              </a:lnSpc>
              <a:spcBef>
                <a:spcPts val="1640"/>
              </a:spcBef>
            </a:pP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卫生改革主要影响的是 </a:t>
            </a:r>
            <a:r>
              <a:rPr sz="2100" u="sng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，而不是 </a:t>
            </a:r>
            <a:r>
              <a:rPr sz="2100" u="sng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5575" algn="l" rtl="0" eaLnBrk="0">
              <a:lnSpc>
                <a:spcPct val="116000"/>
              </a:lnSpc>
              <a:spcBef>
                <a:spcPts val="1330"/>
              </a:spcBef>
            </a:pPr>
            <a:r>
              <a:rPr sz="2100" b="1" kern="0" spc="-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sz="2100" b="1" kern="0" spc="19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b="1" kern="0" spc="-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1：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可预防疾病的平均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年化死亡率由 </a:t>
            </a:r>
            <a:r>
              <a:rPr sz="2100" u="sng" kern="0" spc="-40" dirty="0">
                <a:solidFill>
                  <a:srgbClr val="F3F6F9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降到 </a:t>
            </a:r>
            <a:r>
              <a:rPr sz="2100" u="sng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（每千人年）。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5575" algn="l" rtl="0" eaLnBrk="0">
              <a:lnSpc>
                <a:spcPct val="118000"/>
              </a:lnSpc>
              <a:spcBef>
                <a:spcPts val="990"/>
              </a:spcBef>
            </a:pP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 2：</a:t>
            </a:r>
            <a:r>
              <a:rPr sz="2100" b="1" kern="0" spc="-52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战伤由 </a:t>
            </a:r>
            <a:r>
              <a:rPr sz="2100" u="sng" kern="0" spc="0" dirty="0">
                <a:solidFill>
                  <a:srgbClr val="F3F6F9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100" u="sng" kern="0" spc="-10" dirty="0">
                <a:solidFill>
                  <a:srgbClr val="F3F6F9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变为 </a:t>
            </a:r>
            <a:r>
              <a:rPr sz="2100" u="sng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，基本 </a:t>
            </a:r>
            <a:r>
              <a:rPr sz="2100" u="sng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4940" algn="l" rtl="0" eaLnBrk="0">
              <a:lnSpc>
                <a:spcPct val="88000"/>
              </a:lnSpc>
              <a:spcBef>
                <a:spcPts val="0"/>
              </a:spcBef>
            </a:pPr>
            <a:r>
              <a:rPr sz="2100" b="1" kern="0" spc="-2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局限：</a:t>
            </a:r>
            <a:r>
              <a:rPr sz="21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两阶段差异还可能受到 </a:t>
            </a:r>
            <a:r>
              <a:rPr sz="2100" u="sng" kern="0" spc="-20" dirty="0">
                <a:solidFill>
                  <a:srgbClr val="F3F6F9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</a:t>
            </a:r>
            <a:r>
              <a:rPr sz="2100" u="sng" kern="0" spc="-30" dirty="0">
                <a:solidFill>
                  <a:srgbClr val="F3F6F9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</a:t>
            </a:r>
            <a:r>
              <a:rPr sz="2100" kern="0" spc="1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的影响。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20" name="textbox 1720"/>
          <p:cNvSpPr/>
          <p:nvPr/>
        </p:nvSpPr>
        <p:spPr>
          <a:xfrm>
            <a:off x="299044" y="3800794"/>
            <a:ext cx="4338954" cy="20593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8100" algn="l" rtl="0" eaLnBrk="0">
              <a:lnSpc>
                <a:spcPct val="88000"/>
              </a:lnSpc>
            </a:pP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观察顺序：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305" algn="l" rtl="0" eaLnBrk="0">
              <a:lnSpc>
                <a:spcPts val="3355"/>
              </a:lnSpc>
              <a:spcBef>
                <a:spcPts val="755"/>
              </a:spcBef>
            </a:pP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比较两个面板的整体柱高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3355"/>
              </a:lnSpc>
              <a:spcBef>
                <a:spcPts val="695"/>
              </a:spcBef>
            </a:pP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找到变化最大的颜色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10" algn="l" rtl="0" eaLnBrk="0">
              <a:lnSpc>
                <a:spcPts val="3355"/>
              </a:lnSpc>
              <a:spcBef>
                <a:spcPts val="620"/>
              </a:spcBef>
            </a:pP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检查其他死因是否</a:t>
            </a:r>
            <a:r>
              <a:rPr sz="2500" b="1" kern="0" spc="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同步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下降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22" name="rect 1722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24" name="textbox 1724"/>
          <p:cNvSpPr/>
          <p:nvPr/>
        </p:nvSpPr>
        <p:spPr>
          <a:xfrm>
            <a:off x="325652" y="645961"/>
            <a:ext cx="3806190" cy="389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7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700" b="1" kern="0" spc="9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27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700" kern="0" spc="-5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变化发生在哪里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26" name="rect 1726"/>
          <p:cNvSpPr/>
          <p:nvPr/>
        </p:nvSpPr>
        <p:spPr>
          <a:xfrm>
            <a:off x="100393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28" name="textbox 1728"/>
          <p:cNvSpPr/>
          <p:nvPr/>
        </p:nvSpPr>
        <p:spPr>
          <a:xfrm>
            <a:off x="7591902" y="246125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30" name="picture 17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1076336"/>
            <a:ext cx="12192000" cy="19050"/>
          </a:xfrm>
          <a:prstGeom prst="rect">
            <a:avLst/>
          </a:prstGeom>
        </p:spPr>
      </p:pic>
      <p:pic>
        <p:nvPicPr>
          <p:cNvPr id="1732" name="picture 17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1734" name="textbox 1734"/>
          <p:cNvSpPr/>
          <p:nvPr/>
        </p:nvSpPr>
        <p:spPr>
          <a:xfrm>
            <a:off x="12559862" y="6906786"/>
            <a:ext cx="168910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65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rect 1736"/>
          <p:cNvSpPr/>
          <p:nvPr/>
        </p:nvSpPr>
        <p:spPr>
          <a:xfrm>
            <a:off x="0" y="6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738" name="picture 17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52425" y="1171636"/>
            <a:ext cx="12172950" cy="4772025"/>
          </a:xfrm>
          <a:prstGeom prst="rect">
            <a:avLst/>
          </a:prstGeom>
        </p:spPr>
      </p:pic>
      <p:sp>
        <p:nvSpPr>
          <p:cNvPr id="1740" name="textbox 1740"/>
          <p:cNvSpPr/>
          <p:nvPr/>
        </p:nvSpPr>
        <p:spPr>
          <a:xfrm>
            <a:off x="499734" y="1751124"/>
            <a:ext cx="11758294" cy="20885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卫生改革主要影响的是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可预防疾病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，而不是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战伤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4605" algn="l" rtl="0" eaLnBrk="0">
              <a:lnSpc>
                <a:spcPts val="2770"/>
              </a:lnSpc>
              <a:spcBef>
                <a:spcPts val="1355"/>
              </a:spcBef>
            </a:pP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sz="2100" b="1" kern="0" spc="19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1：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可预防疾病的平均年化死亡率由</a:t>
            </a:r>
            <a:r>
              <a:rPr sz="2100" kern="0" spc="1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358.17 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降到 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84.85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（每</a:t>
            </a:r>
            <a:r>
              <a:rPr sz="21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千人年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</a:t>
            </a:r>
            <a:r>
              <a:rPr sz="2100" kern="0" spc="-4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降幅约 </a:t>
            </a:r>
            <a:r>
              <a:rPr sz="2100" b="1" kern="0" spc="-2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76.31%</a:t>
            </a:r>
            <a:r>
              <a:rPr sz="21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4605" algn="l" rtl="0" eaLnBrk="0">
              <a:lnSpc>
                <a:spcPts val="2770"/>
              </a:lnSpc>
              <a:spcBef>
                <a:spcPts val="1130"/>
              </a:spcBef>
            </a:pPr>
            <a:r>
              <a:rPr sz="2100" b="1" kern="0" spc="-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 2：</a:t>
            </a:r>
            <a:r>
              <a:rPr sz="2100" b="1" kern="0" spc="-4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战伤由 </a:t>
            </a:r>
            <a:r>
              <a:rPr sz="2100" b="1" kern="0" spc="-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25.12 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变为 </a:t>
            </a:r>
            <a:r>
              <a:rPr sz="2100" b="1" kern="0" spc="-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23.32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，基本</a:t>
            </a:r>
            <a:r>
              <a:rPr sz="2100" b="1" kern="0" spc="-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持平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（仅降</a:t>
            </a:r>
            <a:r>
              <a:rPr sz="2100" kern="0" spc="1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7.20%）。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9000"/>
              </a:lnSpc>
            </a:pP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局限：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两阶段差异还可能受到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季节变化、作战强度、军队规模与兵员构成、其他并行措施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的影响，不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能完全归因于卫生改革。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42" name="textbox 1742"/>
          <p:cNvSpPr/>
          <p:nvPr/>
        </p:nvSpPr>
        <p:spPr>
          <a:xfrm>
            <a:off x="500534" y="4625960"/>
            <a:ext cx="11839575" cy="1163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64465" algn="l" rtl="0" eaLnBrk="0">
              <a:lnSpc>
                <a:spcPct val="98000"/>
              </a:lnSpc>
            </a:pP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“其他原因”降幅最大（__78.59%</a:t>
            </a:r>
            <a:r>
              <a:rPr sz="2100" kern="0" spc="-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但它的</a:t>
            </a:r>
            <a:r>
              <a:rPr sz="2100" b="1" kern="0" spc="-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绝对量很小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（44.41 → 9.51</a:t>
            </a:r>
            <a:r>
              <a:rPr sz="2100" kern="0" spc="-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对总体死亡负担的影响</a:t>
            </a:r>
            <a:r>
              <a:rPr sz="2100" kern="0" spc="-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远小于可预防疾病。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1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87000"/>
              </a:lnSpc>
            </a:pP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判断”改革主要影响了什么”时，</a:t>
            </a:r>
            <a:r>
              <a:rPr sz="2100" b="1" kern="0" spc="-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相对变化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sz="2100" b="1" kern="0" spc="-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绝对量级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必须一起看。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44" name="picture 17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1171636"/>
            <a:ext cx="47625" cy="2847913"/>
          </a:xfrm>
          <a:prstGeom prst="rect">
            <a:avLst/>
          </a:prstGeom>
        </p:spPr>
      </p:pic>
      <p:sp>
        <p:nvSpPr>
          <p:cNvPr id="1746" name="textbox 1746"/>
          <p:cNvSpPr/>
          <p:nvPr/>
        </p:nvSpPr>
        <p:spPr>
          <a:xfrm>
            <a:off x="371475" y="1171636"/>
            <a:ext cx="12153900" cy="447675"/>
          </a:xfrm>
          <a:prstGeom prst="rect">
            <a:avLst/>
          </a:prstGeom>
          <a:solidFill>
            <a:srgbClr val="67D6B4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7020" algn="l" rtl="0" eaLnBrk="0">
              <a:lnSpc>
                <a:spcPct val="91000"/>
              </a:lnSpc>
            </a:pPr>
            <a:r>
              <a:rPr sz="1900" b="1" kern="0" spc="-1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【参考答案】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48" name="picture 17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4086286"/>
            <a:ext cx="47625" cy="1857313"/>
          </a:xfrm>
          <a:prstGeom prst="rect">
            <a:avLst/>
          </a:prstGeom>
        </p:spPr>
      </p:pic>
      <p:sp>
        <p:nvSpPr>
          <p:cNvPr id="1750" name="textbox 1750"/>
          <p:cNvSpPr/>
          <p:nvPr/>
        </p:nvSpPr>
        <p:spPr>
          <a:xfrm>
            <a:off x="371475" y="4086286"/>
            <a:ext cx="12153900" cy="447675"/>
          </a:xfrm>
          <a:prstGeom prst="rect">
            <a:avLst/>
          </a:prstGeom>
          <a:solidFill>
            <a:srgbClr val="78C8F5">
              <a:alpha val="16078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7795" algn="l" rtl="0" eaLnBrk="0">
              <a:lnSpc>
                <a:spcPct val="87000"/>
              </a:lnSpc>
              <a:spcBef>
                <a:spcPts val="5"/>
              </a:spcBef>
            </a:pP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进一步说明：既要看相对变化，也要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看绝对量级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52" name="rect 1752"/>
          <p:cNvSpPr/>
          <p:nvPr/>
        </p:nvSpPr>
        <p:spPr>
          <a:xfrm>
            <a:off x="333375" y="19056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54" name="textbox 1754"/>
          <p:cNvSpPr/>
          <p:nvPr/>
        </p:nvSpPr>
        <p:spPr>
          <a:xfrm>
            <a:off x="325652" y="646010"/>
            <a:ext cx="4838700" cy="388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</a:pPr>
            <a:r>
              <a:rPr sz="27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700" b="1" kern="0" spc="-4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27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700" kern="0" spc="-4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图表解读</a:t>
            </a:r>
            <a:r>
              <a:rPr sz="2700" kern="0" spc="-6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（参考答案</a:t>
            </a:r>
            <a:r>
              <a:rPr sz="2700" kern="0" spc="-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56" name="rect 1756"/>
          <p:cNvSpPr/>
          <p:nvPr/>
        </p:nvSpPr>
        <p:spPr>
          <a:xfrm>
            <a:off x="10039350" y="20961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58" name="textbox 1758"/>
          <p:cNvSpPr/>
          <p:nvPr/>
        </p:nvSpPr>
        <p:spPr>
          <a:xfrm>
            <a:off x="7591902" y="246174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60" name="picture 17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3375" y="1076386"/>
            <a:ext cx="12192000" cy="19050"/>
          </a:xfrm>
          <a:prstGeom prst="rect">
            <a:avLst/>
          </a:prstGeom>
        </p:spPr>
      </p:pic>
      <p:pic>
        <p:nvPicPr>
          <p:cNvPr id="1762" name="picture 17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33375" y="571561"/>
            <a:ext cx="12192000" cy="9525"/>
          </a:xfrm>
          <a:prstGeom prst="rect">
            <a:avLst/>
          </a:prstGeom>
        </p:spPr>
      </p:pic>
      <p:sp>
        <p:nvSpPr>
          <p:cNvPr id="1764" name="textbox 1764"/>
          <p:cNvSpPr/>
          <p:nvPr/>
        </p:nvSpPr>
        <p:spPr>
          <a:xfrm>
            <a:off x="12559862" y="6906835"/>
            <a:ext cx="168910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66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rect 1766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768" name="table 1768"/>
          <p:cNvGraphicFramePr>
            <a:graphicFrameLocks noGrp="1"/>
          </p:cNvGraphicFramePr>
          <p:nvPr/>
        </p:nvGraphicFramePr>
        <p:xfrm>
          <a:off x="333375" y="1076336"/>
          <a:ext cx="12191365" cy="1704975"/>
        </p:xfrm>
        <a:graphic>
          <a:graphicData uri="http://schemas.openxmlformats.org/drawingml/2006/table">
            <a:tbl>
              <a:tblPr/>
              <a:tblGrid>
                <a:gridCol w="4968240"/>
                <a:gridCol w="7223125"/>
              </a:tblGrid>
              <a:tr h="92392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8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5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一半小组寻找”</a:t>
                      </a:r>
                      <a:r>
                        <a:rPr sz="2500" b="1" kern="0" spc="8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支持卫生改革有效</a:t>
                      </a:r>
                      <a:r>
                        <a:rPr sz="25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”的证据</a:t>
                      </a:r>
                      <a:r>
                        <a:rPr sz="2500" kern="0" spc="-3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5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2500" kern="0" spc="-6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5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另一半寻找”</a:t>
                      </a:r>
                      <a:r>
                        <a:rPr sz="2500" b="1" kern="0" spc="8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仍需谨慎</a:t>
                      </a:r>
                      <a:r>
                        <a:rPr sz="25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”的证据。</a:t>
                      </a:r>
                      <a:endParaRPr sz="25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375" algn="l" rtl="0" eaLnBrk="0">
                        <a:lnSpc>
                          <a:spcPct val="87000"/>
                        </a:lnSpc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支持证据</a:t>
                      </a:r>
                      <a:r>
                        <a:rPr sz="2200" b="1" kern="0" spc="2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</a:t>
                      </a:r>
                      <a:r>
                        <a:rPr sz="2200" b="1" kern="0" spc="1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           </a:t>
                      </a: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谨慎证据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2075" algn="l" rtl="0" eaLnBrk="0">
                        <a:lnSpc>
                          <a:spcPts val="2970"/>
                        </a:lnSpc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哪类死亡下降最明显？</a:t>
                      </a:r>
                      <a:r>
                        <a:rPr sz="2200" kern="0" spc="-4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降幅多少？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68655" algn="l" rtl="0" eaLnBrk="0">
                        <a:lnSpc>
                          <a:spcPts val="297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数据还缺少哪些影响因</a:t>
                      </a: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素？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79">
                <a:tc>
                  <a:txBody>
                    <a:bodyPr/>
                    <a:lstStyle/>
                    <a:p>
                      <a:pPr marL="83185" algn="l" rtl="0" eaLnBrk="0">
                        <a:lnSpc>
                          <a:spcPts val="295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两个阶段的总体水平怎</a:t>
                      </a: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样变化？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67385" algn="l" rtl="0" eaLnBrk="0">
                        <a:lnSpc>
                          <a:spcPts val="295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季节变化、</a:t>
                      </a:r>
                      <a:r>
                        <a:rPr sz="2200" kern="0" spc="-5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作战强度是</a:t>
                      </a: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否可能影响结果？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70" name="rect 1770"/>
          <p:cNvSpPr/>
          <p:nvPr/>
        </p:nvSpPr>
        <p:spPr>
          <a:xfrm>
            <a:off x="352425" y="3238511"/>
            <a:ext cx="12172950" cy="1047750"/>
          </a:xfrm>
          <a:prstGeom prst="rect">
            <a:avLst/>
          </a:prstGeom>
          <a:solidFill>
            <a:srgbClr val="FF9F87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772" name="picture 177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3238511"/>
            <a:ext cx="47625" cy="1047738"/>
          </a:xfrm>
          <a:prstGeom prst="rect">
            <a:avLst/>
          </a:prstGeom>
        </p:spPr>
      </p:pic>
      <p:sp>
        <p:nvSpPr>
          <p:cNvPr id="1774" name="textbox 1774"/>
          <p:cNvSpPr/>
          <p:nvPr/>
        </p:nvSpPr>
        <p:spPr>
          <a:xfrm>
            <a:off x="371475" y="3238511"/>
            <a:ext cx="12153900" cy="447675"/>
          </a:xfrm>
          <a:prstGeom prst="rect">
            <a:avLst/>
          </a:prstGeom>
          <a:solidFill>
            <a:srgbClr val="FF9F87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7160" algn="l" rtl="0" eaLnBrk="0">
              <a:lnSpc>
                <a:spcPct val="87000"/>
              </a:lnSpc>
              <a:spcBef>
                <a:spcPts val="0"/>
              </a:spcBef>
            </a:pP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汇报要求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76" name="rect 1776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78" name="textbox 1778"/>
          <p:cNvSpPr/>
          <p:nvPr/>
        </p:nvSpPr>
        <p:spPr>
          <a:xfrm>
            <a:off x="407090" y="2761336"/>
            <a:ext cx="10382884" cy="402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970"/>
              </a:lnSpc>
            </a:pPr>
            <a:r>
              <a:rPr sz="22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改革前后时间是否相邻、</a:t>
            </a:r>
            <a:r>
              <a:rPr sz="2200" kern="0" spc="-5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可比？         </a:t>
            </a:r>
            <a:r>
              <a:rPr sz="22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能否区分每一项卫生措施各自的作用？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80" name="textbox 1780"/>
          <p:cNvSpPr/>
          <p:nvPr/>
        </p:nvSpPr>
        <p:spPr>
          <a:xfrm>
            <a:off x="501601" y="3826191"/>
            <a:ext cx="8771890" cy="3054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每个观点必须指向图中的</a:t>
            </a:r>
            <a:r>
              <a:rPr sz="2100" b="1" kern="0" spc="-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具体位置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r>
              <a:rPr sz="2100" b="1" kern="0" spc="-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具体数据变量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，不能只说”</a:t>
            </a:r>
            <a:r>
              <a:rPr sz="2100" kern="0" spc="-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我觉得”。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82" name="rect 1782"/>
          <p:cNvSpPr/>
          <p:nvPr/>
        </p:nvSpPr>
        <p:spPr>
          <a:xfrm>
            <a:off x="100393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84" name="textbox 1784"/>
          <p:cNvSpPr/>
          <p:nvPr/>
        </p:nvSpPr>
        <p:spPr>
          <a:xfrm>
            <a:off x="7591902" y="246125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86" name="textbox 1786"/>
          <p:cNvSpPr/>
          <p:nvPr/>
        </p:nvSpPr>
        <p:spPr>
          <a:xfrm>
            <a:off x="325652" y="645961"/>
            <a:ext cx="2745104" cy="389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7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700" b="1" kern="0" spc="8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27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700" kern="0" spc="-4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寻找反证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88" name="picture 17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1790" name="textbox 1790"/>
          <p:cNvSpPr/>
          <p:nvPr/>
        </p:nvSpPr>
        <p:spPr>
          <a:xfrm>
            <a:off x="12559862" y="6906786"/>
            <a:ext cx="168910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67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rect 1792"/>
          <p:cNvSpPr/>
          <p:nvPr/>
        </p:nvSpPr>
        <p:spPr>
          <a:xfrm>
            <a:off x="0" y="6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94" name="rect 1794"/>
          <p:cNvSpPr/>
          <p:nvPr/>
        </p:nvSpPr>
        <p:spPr>
          <a:xfrm>
            <a:off x="352425" y="1171636"/>
            <a:ext cx="12172950" cy="2533650"/>
          </a:xfrm>
          <a:prstGeom prst="rect">
            <a:avLst/>
          </a:prstGeom>
          <a:solidFill>
            <a:srgbClr val="FFD166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796" name="picture 17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1171636"/>
            <a:ext cx="47625" cy="2533588"/>
          </a:xfrm>
          <a:prstGeom prst="rect">
            <a:avLst/>
          </a:prstGeom>
        </p:spPr>
      </p:pic>
      <p:sp>
        <p:nvSpPr>
          <p:cNvPr id="1798" name="rect 1798"/>
          <p:cNvSpPr/>
          <p:nvPr/>
        </p:nvSpPr>
        <p:spPr>
          <a:xfrm>
            <a:off x="371475" y="1171636"/>
            <a:ext cx="12153900" cy="447675"/>
          </a:xfrm>
          <a:prstGeom prst="rect">
            <a:avLst/>
          </a:prstGeom>
          <a:solidFill>
            <a:srgbClr val="FFD166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00" name="textbox 1800"/>
          <p:cNvSpPr/>
          <p:nvPr/>
        </p:nvSpPr>
        <p:spPr>
          <a:xfrm>
            <a:off x="358775" y="1266683"/>
            <a:ext cx="12179300" cy="22980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tabLst>
                <a:tab pos="299720" algn="l"/>
              </a:tabLst>
            </a:pP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100" b="1" kern="0" spc="-8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【先想一想】任务4 的分</a:t>
            </a:r>
            <a:r>
              <a:rPr sz="2100" b="1" kern="0" spc="-9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析目的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8750" indent="-1905" algn="l" rtl="0" eaLnBrk="0">
              <a:lnSpc>
                <a:spcPct val="155000"/>
              </a:lnSpc>
              <a:spcBef>
                <a:spcPts val="85"/>
              </a:spcBef>
            </a:pP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主要问题：面向”精确分析”与面向”公众展示”两种目的，柱形图与玫瑰图各有什么</a:t>
            </a: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优势和限制？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分析人员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，我需要图形帮我比较 </a:t>
            </a:r>
            <a:r>
              <a:rPr sz="2100" u="sng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</a:t>
            </a:r>
            <a:r>
              <a:rPr sz="2100" u="sng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8750" algn="l" rtl="0" eaLnBrk="0">
              <a:lnSpc>
                <a:spcPct val="87000"/>
              </a:lnSpc>
              <a:spcBef>
                <a:spcPts val="1605"/>
              </a:spcBef>
            </a:pP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普通公众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，我需要图形帮读者感受 </a:t>
            </a:r>
            <a:r>
              <a:rPr sz="2100" u="sng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</a:t>
            </a:r>
            <a:r>
              <a:rPr sz="2100" u="sng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2000"/>
              </a:lnSpc>
            </a:pP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4305" algn="l" rtl="0" eaLnBrk="0">
              <a:lnSpc>
                <a:spcPct val="87000"/>
              </a:lnSpc>
              <a:spcBef>
                <a:spcPts val="5"/>
              </a:spcBef>
            </a:pP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我的预判：分析报告用 </a:t>
            </a:r>
            <a:r>
              <a:rPr sz="2100" u="sng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，公众展示用 </a:t>
            </a:r>
            <a:r>
              <a:rPr sz="2100" u="sng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02" name="rect 1802"/>
          <p:cNvSpPr/>
          <p:nvPr/>
        </p:nvSpPr>
        <p:spPr>
          <a:xfrm>
            <a:off x="6334125" y="4533961"/>
            <a:ext cx="2657475" cy="3714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04" name="textbox 1804"/>
          <p:cNvSpPr/>
          <p:nvPr/>
        </p:nvSpPr>
        <p:spPr>
          <a:xfrm>
            <a:off x="358775" y="3950639"/>
            <a:ext cx="11513184" cy="1821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0" algn="l" rtl="0" eaLnBrk="0">
              <a:lnSpc>
                <a:spcPts val="3355"/>
              </a:lnSpc>
              <a:tabLst>
                <a:tab pos="337820" algn="l"/>
              </a:tabLst>
            </a:pP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1858 年</a:t>
            </a:r>
            <a:r>
              <a:rPr sz="2500" kern="0" spc="-3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kern="0" spc="-6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南丁格尔用</a:t>
            </a:r>
            <a:r>
              <a:rPr sz="2500" b="1" kern="0" spc="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两个并排的扇形图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说服了英国议会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31470" indent="-204470" algn="l" rtl="0" eaLnBrk="0">
              <a:lnSpc>
                <a:spcPct val="110000"/>
              </a:lnSpc>
              <a:spcBef>
                <a:spcPts val="620"/>
              </a:spcBef>
              <a:tabLst>
                <a:tab pos="309245" algn="l"/>
              </a:tabLst>
            </a:pP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5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本任务使用与任务</a:t>
            </a:r>
            <a:r>
              <a:rPr sz="2500" kern="0" spc="2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sz="2500" b="1" kern="0" spc="5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完全相同</a:t>
            </a:r>
            <a:r>
              <a:rPr sz="25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的数据</a:t>
            </a:r>
            <a:r>
              <a:rPr sz="25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 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nightingale</a:t>
            </a:r>
            <a:r>
              <a:rPr sz="2200" kern="0" spc="4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_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long</a:t>
            </a:r>
            <a:r>
              <a:rPr sz="2200" kern="0" spc="-36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5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kern="0" spc="-5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 个月</a:t>
            </a:r>
            <a:r>
              <a:rPr sz="2500" kern="0" spc="3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sz="2500" kern="0" spc="2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类死</a:t>
            </a:r>
            <a:r>
              <a:rPr sz="25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因）</a:t>
            </a:r>
            <a:r>
              <a:rPr sz="2500" kern="0" spc="-4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2500" kern="0" spc="-6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相同指标、</a:t>
            </a:r>
            <a:r>
              <a:rPr sz="2500" kern="0" spc="-6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相同</a:t>
            </a:r>
            <a:r>
              <a:rPr sz="25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数值范围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0" algn="l" rtl="0" eaLnBrk="0">
              <a:lnSpc>
                <a:spcPct val="88000"/>
              </a:lnSpc>
              <a:spcBef>
                <a:spcPts val="0"/>
              </a:spcBef>
              <a:tabLst>
                <a:tab pos="307975" algn="l"/>
              </a:tabLst>
            </a:pPr>
            <a:r>
              <a:rPr sz="25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500" b="1" kern="0" spc="8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本任务不是找”最好看的图”</a:t>
            </a:r>
            <a:r>
              <a:rPr sz="2500" b="1" kern="0" spc="-3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b="1" kern="0" spc="8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b="1" kern="0" spc="-6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b="1" kern="0" spc="8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而是判断”哪幅图更适合当前目的”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06" name="picture 18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71475" y="5534086"/>
            <a:ext cx="114300" cy="114300"/>
          </a:xfrm>
          <a:prstGeom prst="rect">
            <a:avLst/>
          </a:prstGeom>
        </p:spPr>
      </p:pic>
      <p:pic>
        <p:nvPicPr>
          <p:cNvPr id="1808" name="picture 18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71475" y="4638736"/>
            <a:ext cx="114300" cy="114300"/>
          </a:xfrm>
          <a:prstGeom prst="rect">
            <a:avLst/>
          </a:prstGeom>
        </p:spPr>
      </p:pic>
      <p:pic>
        <p:nvPicPr>
          <p:cNvPr id="1810" name="picture 18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71475" y="4133911"/>
            <a:ext cx="114300" cy="114300"/>
          </a:xfrm>
          <a:prstGeom prst="rect">
            <a:avLst/>
          </a:prstGeom>
        </p:spPr>
      </p:pic>
      <p:sp>
        <p:nvSpPr>
          <p:cNvPr id="1812" name="rect 1812"/>
          <p:cNvSpPr/>
          <p:nvPr/>
        </p:nvSpPr>
        <p:spPr>
          <a:xfrm>
            <a:off x="333375" y="19056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14" name="textbox 1814"/>
          <p:cNvSpPr/>
          <p:nvPr/>
        </p:nvSpPr>
        <p:spPr>
          <a:xfrm>
            <a:off x="325652" y="646010"/>
            <a:ext cx="5293359" cy="389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700" kern="0" spc="1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700" b="1" kern="0" spc="13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2700" kern="0" spc="1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700" kern="0" spc="-5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1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玫瑰图适合分析还是传播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16" name="rect 1816"/>
          <p:cNvSpPr/>
          <p:nvPr/>
        </p:nvSpPr>
        <p:spPr>
          <a:xfrm>
            <a:off x="10039350" y="20961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18" name="textbox 1818"/>
          <p:cNvSpPr/>
          <p:nvPr/>
        </p:nvSpPr>
        <p:spPr>
          <a:xfrm>
            <a:off x="7591902" y="246174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20" name="picture 18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33375" y="1076386"/>
            <a:ext cx="12192000" cy="19050"/>
          </a:xfrm>
          <a:prstGeom prst="rect">
            <a:avLst/>
          </a:prstGeom>
        </p:spPr>
      </p:pic>
      <p:pic>
        <p:nvPicPr>
          <p:cNvPr id="1822" name="picture 18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33375" y="571561"/>
            <a:ext cx="12192000" cy="9525"/>
          </a:xfrm>
          <a:prstGeom prst="rect">
            <a:avLst/>
          </a:prstGeom>
        </p:spPr>
      </p:pic>
      <p:sp>
        <p:nvSpPr>
          <p:cNvPr id="1824" name="textbox 1824"/>
          <p:cNvSpPr/>
          <p:nvPr/>
        </p:nvSpPr>
        <p:spPr>
          <a:xfrm>
            <a:off x="12559862" y="6906835"/>
            <a:ext cx="168910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68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rect 1826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828" name="picture 18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52425" y="1171586"/>
            <a:ext cx="12172950" cy="3781425"/>
          </a:xfrm>
          <a:prstGeom prst="rect">
            <a:avLst/>
          </a:prstGeom>
        </p:spPr>
      </p:pic>
      <p:sp>
        <p:nvSpPr>
          <p:cNvPr id="1830" name="textbox 1830"/>
          <p:cNvSpPr/>
          <p:nvPr/>
        </p:nvSpPr>
        <p:spPr>
          <a:xfrm>
            <a:off x="498667" y="1750274"/>
            <a:ext cx="11756390" cy="16040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415" algn="l" rtl="0" eaLnBrk="0">
              <a:lnSpc>
                <a:spcPct val="87000"/>
              </a:lnSpc>
            </a:pPr>
            <a:r>
              <a:rPr sz="2100" b="1" kern="0" spc="-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面向分析人员：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需要比较</a:t>
            </a:r>
            <a:r>
              <a:rPr sz="2100" b="1" kern="0" spc="-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各月份之间精确</a:t>
            </a:r>
            <a:r>
              <a:rPr sz="2100" b="1" kern="0" spc="-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的数值高低与差值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，以及每个月由哪类死因主导。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8415" algn="l" rtl="0" eaLnBrk="0">
              <a:lnSpc>
                <a:spcPct val="87000"/>
              </a:lnSpc>
              <a:spcBef>
                <a:spcPts val="1790"/>
              </a:spcBef>
            </a:pPr>
            <a:r>
              <a:rPr sz="2100" b="1" kern="0" spc="-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面向普通公众：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需要帮助读者感受</a:t>
            </a:r>
            <a:r>
              <a:rPr sz="2100" b="1" kern="0" spc="-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“改革前后死亡风险的</a:t>
            </a:r>
            <a:r>
              <a:rPr sz="2100" b="1" kern="0" spc="-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整体反差”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这一整体效果。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2000"/>
              </a:lnSpc>
            </a:pP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270" algn="l" rtl="0" eaLnBrk="0">
              <a:lnSpc>
                <a:spcPct val="90000"/>
              </a:lnSpc>
              <a:spcBef>
                <a:spcPts val="5"/>
              </a:spcBef>
            </a:pP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预判：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分析报告用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柱形图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（柱高与数值线性对应，不易误读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）；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公众展示可考虑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玫瑰图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（整体形状反</a:t>
            </a:r>
            <a:r>
              <a:rPr sz="21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差醒目），但必须说明扇形面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积的含义。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32" name="textbox 1832"/>
          <p:cNvSpPr/>
          <p:nvPr/>
        </p:nvSpPr>
        <p:spPr>
          <a:xfrm>
            <a:off x="498934" y="4179949"/>
            <a:ext cx="11758930" cy="5943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4445" algn="l" rtl="0" eaLnBrk="0">
              <a:lnSpc>
                <a:spcPct val="89000"/>
              </a:lnSpc>
            </a:pP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两张图必须使用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同一份数据、同一个指标、同一个数值范围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。只要有一项不同，</a:t>
            </a:r>
            <a:r>
              <a:rPr sz="2100" kern="0" spc="-5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比较就变成了”两张</a:t>
            </a:r>
            <a:r>
              <a:rPr sz="21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不同的图”，而不是”两种表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达方式”。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34" name="picture 18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1171586"/>
            <a:ext cx="47625" cy="2352663"/>
          </a:xfrm>
          <a:prstGeom prst="rect">
            <a:avLst/>
          </a:prstGeom>
        </p:spPr>
      </p:pic>
      <p:sp>
        <p:nvSpPr>
          <p:cNvPr id="1836" name="textbox 1836"/>
          <p:cNvSpPr/>
          <p:nvPr/>
        </p:nvSpPr>
        <p:spPr>
          <a:xfrm>
            <a:off x="371475" y="1171586"/>
            <a:ext cx="12153900" cy="447675"/>
          </a:xfrm>
          <a:prstGeom prst="rect">
            <a:avLst/>
          </a:prstGeom>
          <a:solidFill>
            <a:srgbClr val="67D6B4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7020" algn="l" rtl="0" eaLnBrk="0">
              <a:lnSpc>
                <a:spcPct val="91000"/>
              </a:lnSpc>
            </a:pPr>
            <a:r>
              <a:rPr sz="1900" b="1" kern="0" spc="-1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【参考答案】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38" name="picture 18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3590936"/>
            <a:ext cx="47625" cy="1362063"/>
          </a:xfrm>
          <a:prstGeom prst="rect">
            <a:avLst/>
          </a:prstGeom>
        </p:spPr>
      </p:pic>
      <p:sp>
        <p:nvSpPr>
          <p:cNvPr id="1840" name="textbox 1840"/>
          <p:cNvSpPr/>
          <p:nvPr/>
        </p:nvSpPr>
        <p:spPr>
          <a:xfrm>
            <a:off x="371475" y="3590936"/>
            <a:ext cx="12153900" cy="447675"/>
          </a:xfrm>
          <a:prstGeom prst="rect">
            <a:avLst/>
          </a:prstGeom>
          <a:solidFill>
            <a:srgbClr val="78C8F5">
              <a:alpha val="16078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065" algn="l" rtl="0" eaLnBrk="0">
              <a:lnSpc>
                <a:spcPct val="87000"/>
              </a:lnSpc>
              <a:spcBef>
                <a:spcPts val="5"/>
              </a:spcBef>
            </a:pP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公平比较的前提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42" name="rect 1842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44" name="textbox 1844"/>
          <p:cNvSpPr/>
          <p:nvPr/>
        </p:nvSpPr>
        <p:spPr>
          <a:xfrm>
            <a:off x="325652" y="645961"/>
            <a:ext cx="4872990" cy="388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</a:pPr>
            <a:r>
              <a:rPr sz="27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700" b="1" kern="0" spc="-1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27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700" kern="0" spc="-5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分析目的</a:t>
            </a:r>
            <a:r>
              <a:rPr sz="2700" kern="0" spc="-6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sz="27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参考答案）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46" name="rect 1846"/>
          <p:cNvSpPr/>
          <p:nvPr/>
        </p:nvSpPr>
        <p:spPr>
          <a:xfrm>
            <a:off x="100393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48" name="textbox 1848"/>
          <p:cNvSpPr/>
          <p:nvPr/>
        </p:nvSpPr>
        <p:spPr>
          <a:xfrm>
            <a:off x="7591902" y="246125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50" name="picture 18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3375" y="1076336"/>
            <a:ext cx="12192000" cy="19050"/>
          </a:xfrm>
          <a:prstGeom prst="rect">
            <a:avLst/>
          </a:prstGeom>
        </p:spPr>
      </p:pic>
      <p:pic>
        <p:nvPicPr>
          <p:cNvPr id="1852" name="picture 18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1854" name="textbox 1854"/>
          <p:cNvSpPr/>
          <p:nvPr/>
        </p:nvSpPr>
        <p:spPr>
          <a:xfrm>
            <a:off x="12559862" y="6906786"/>
            <a:ext cx="168910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69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rect 1856"/>
          <p:cNvSpPr/>
          <p:nvPr/>
        </p:nvSpPr>
        <p:spPr>
          <a:xfrm>
            <a:off x="0" y="6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58" name="rect 1858"/>
          <p:cNvSpPr/>
          <p:nvPr/>
        </p:nvSpPr>
        <p:spPr>
          <a:xfrm>
            <a:off x="409575" y="4295836"/>
            <a:ext cx="1790700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860" name="picture 18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52425" y="4867336"/>
            <a:ext cx="12172950" cy="1371600"/>
          </a:xfrm>
          <a:prstGeom prst="rect">
            <a:avLst/>
          </a:prstGeom>
        </p:spPr>
      </p:pic>
      <p:sp>
        <p:nvSpPr>
          <p:cNvPr id="1862" name="rect 1862"/>
          <p:cNvSpPr/>
          <p:nvPr/>
        </p:nvSpPr>
        <p:spPr>
          <a:xfrm>
            <a:off x="2457449" y="5467411"/>
            <a:ext cx="2562225" cy="2952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864" name="picture 18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791700" y="3029011"/>
            <a:ext cx="2105025" cy="333375"/>
          </a:xfrm>
          <a:prstGeom prst="rect">
            <a:avLst/>
          </a:prstGeom>
        </p:spPr>
      </p:pic>
      <p:sp>
        <p:nvSpPr>
          <p:cNvPr id="1866" name="rect 1866"/>
          <p:cNvSpPr/>
          <p:nvPr/>
        </p:nvSpPr>
        <p:spPr>
          <a:xfrm>
            <a:off x="5724525" y="3190936"/>
            <a:ext cx="2114550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868" name="table 1868"/>
          <p:cNvGraphicFramePr>
            <a:graphicFrameLocks noGrp="1"/>
          </p:cNvGraphicFramePr>
          <p:nvPr/>
        </p:nvGraphicFramePr>
        <p:xfrm>
          <a:off x="333375" y="1076386"/>
          <a:ext cx="12191365" cy="5161915"/>
        </p:xfrm>
        <a:graphic>
          <a:graphicData uri="http://schemas.openxmlformats.org/drawingml/2006/table">
            <a:tbl>
              <a:tblPr/>
              <a:tblGrid>
                <a:gridCol w="2112010"/>
                <a:gridCol w="10079355"/>
              </a:tblGrid>
              <a:tr h="476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810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b="1" kern="0" spc="9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数据或设置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3073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200" b="1" kern="0" spc="6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柱形图中的表达                       玫瑰图中</a:t>
                      </a:r>
                      <a:r>
                        <a:rPr sz="2200" b="1" kern="0" spc="5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的表达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88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6360" algn="l" rtl="0" eaLnBrk="0">
                        <a:lnSpc>
                          <a:spcPct val="87000"/>
                        </a:lnSpc>
                      </a:pP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月份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101715" indent="6350" algn="l" rtl="0" eaLnBrk="0">
                        <a:lnSpc>
                          <a:spcPct val="106000"/>
                        </a:lnSpc>
                      </a:pPr>
                      <a:r>
                        <a:rPr sz="2200" b="1" kern="0" spc="3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圆周角度</a:t>
                      </a:r>
                      <a:r>
                        <a:rPr sz="2200" kern="0" spc="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（一个圆</a:t>
                      </a:r>
                      <a:r>
                        <a:rPr sz="2200" kern="0" spc="3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</a:t>
                      </a:r>
                      <a:r>
                        <a:rPr sz="2200" kern="0" spc="2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 个</a:t>
                      </a:r>
                      <a:r>
                        <a:rPr sz="22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22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月）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700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死亡率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092825" indent="635" algn="l" rtl="0" eaLnBrk="0">
                        <a:lnSpc>
                          <a:spcPct val="104000"/>
                        </a:lnSpc>
                      </a:pPr>
                      <a:r>
                        <a:rPr sz="2200" b="1" kern="0" spc="9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扇形面积</a:t>
                      </a: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（半径按平方根缩</a:t>
                      </a:r>
                      <a:r>
                        <a:rPr sz="2200" kern="0" spc="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2200" kern="0" spc="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放）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死亡原因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31365" algn="l" rtl="0" eaLnBrk="0">
                        <a:lnSpc>
                          <a:spcPts val="5240"/>
                        </a:lnSpc>
                        <a:spcBef>
                          <a:spcPts val="0"/>
                        </a:spcBef>
                      </a:pPr>
                      <a:r>
                        <a:rPr sz="3500" kern="0" spc="-80" baseline="2800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填充颜色</a:t>
                      </a:r>
                      <a:r>
                        <a:rPr sz="2200" kern="0" spc="4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3000" kern="0" spc="-80" baseline="3200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fill</a:t>
                      </a:r>
                      <a:r>
                        <a:rPr sz="1900" kern="0" spc="19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3000" kern="0" spc="-80" baseline="3200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900" kern="0" spc="-8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3000" kern="0" spc="-80" baseline="3200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死亡原因</a:t>
                      </a:r>
                      <a:r>
                        <a:rPr sz="1900" kern="0" spc="-8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       </a:t>
                      </a:r>
                      <a:r>
                        <a:rPr sz="3500" kern="0" spc="-80" baseline="6200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填</a:t>
                      </a:r>
                      <a:r>
                        <a:rPr sz="3500" kern="0" spc="-80" baseline="-1300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sz="2200" kern="0" spc="-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</a:t>
                      </a:r>
                      <a:r>
                        <a:rPr sz="2200" kern="0" spc="-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3000" kern="0" spc="-90" baseline="7400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l</a:t>
                      </a:r>
                      <a:r>
                        <a:rPr sz="3500" kern="0" spc="-90" baseline="-1300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r>
                        <a:rPr sz="3000" kern="0" spc="-90" baseline="7400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900" kern="0" spc="14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3000" kern="0" spc="-90" baseline="7400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死亡原因</a:t>
                      </a:r>
                      <a:endParaRPr sz="3000" baseline="74000" dirty="0">
                        <a:latin typeface="新宋体" panose="02010609030101010101" charset="-122"/>
                        <a:ea typeface="新宋体" panose="02010609030101010101" charset="-122"/>
                        <a:cs typeface="新宋体" panose="02010609030101010101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398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2200" kern="0" spc="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30095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分面为左右两个小图</a:t>
                      </a:r>
                      <a:r>
                        <a:rPr sz="2200" kern="0" spc="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</a:t>
                      </a:r>
                      <a:r>
                        <a:rPr sz="2200" b="1" kern="0" spc="9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两个极坐标圆并排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59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6200" algn="l" rtl="0" eaLnBrk="0">
                        <a:lnSpc>
                          <a:spcPts val="2640"/>
                        </a:lnSpc>
                        <a:tabLst>
                          <a:tab pos="146050" algn="l"/>
                        </a:tabLst>
                      </a:pP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	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cause_colors</a:t>
                      </a:r>
                      <a:endParaRPr sz="20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3136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让同一死因在两张图中颜色一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032635" algn="l" rtl="0" eaLnBrk="0">
                        <a:lnSpc>
                          <a:spcPct val="93000"/>
                        </a:lnSpc>
                        <a:spcBef>
                          <a:spcPts val="10"/>
                        </a:spcBef>
                      </a:pP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致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5260" algn="l" rtl="0" eaLnBrk="0">
                        <a:lnSpc>
                          <a:spcPts val="2770"/>
                        </a:lnSpc>
                        <a:spcBef>
                          <a:spcPts val="0"/>
                        </a:spcBef>
                      </a:pPr>
                      <a:r>
                        <a:rPr sz="2100" b="1" kern="0" spc="-1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不要漏掉 fill</a:t>
                      </a:r>
                      <a:endParaRPr sz="2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9705" algn="l" rtl="0" eaLnBrk="0">
                        <a:lnSpc>
                          <a:spcPct val="86000"/>
                        </a:lnSpc>
                      </a:pPr>
                      <a:r>
                        <a:rPr sz="2100" kern="0" spc="-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如果玫瑰图漏掉</a:t>
                      </a:r>
                      <a:endParaRPr sz="2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FF9F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1755" algn="l" rtl="0" eaLnBrk="0">
                        <a:lnSpc>
                          <a:spcPct val="96000"/>
                        </a:lnSpc>
                      </a:pPr>
                      <a:r>
                        <a:rPr sz="18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aes</a:t>
                      </a:r>
                      <a:r>
                        <a:rPr sz="1800" kern="0" spc="2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8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fill</a:t>
                      </a:r>
                      <a:r>
                        <a:rPr sz="1800" kern="0" spc="2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800" kern="0" spc="2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800" kern="0" spc="2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800" kern="0" spc="2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死亡原因</a:t>
                      </a:r>
                      <a:r>
                        <a:rPr sz="1800" kern="0" spc="2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r>
                        <a:rPr sz="2100" kern="0" spc="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，所有扇形同色，</a:t>
                      </a:r>
                      <a:r>
                        <a:rPr sz="2100" b="1" kern="0" spc="2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看不出每个月的高死亡</a:t>
                      </a:r>
                      <a:r>
                        <a:rPr sz="2100" b="1" kern="0" spc="1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水平由哪类原因贡献</a:t>
                      </a:r>
                      <a:endParaRPr sz="2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70" name="textbox 1870"/>
          <p:cNvSpPr/>
          <p:nvPr/>
        </p:nvSpPr>
        <p:spPr>
          <a:xfrm>
            <a:off x="8822548" y="3349105"/>
            <a:ext cx="1479550" cy="3136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2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叠加成扇形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72" name="textbox 1872"/>
          <p:cNvSpPr/>
          <p:nvPr/>
        </p:nvSpPr>
        <p:spPr>
          <a:xfrm>
            <a:off x="8927317" y="3006189"/>
            <a:ext cx="1456055" cy="361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r>
              <a:rPr sz="22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充颜色</a:t>
            </a:r>
            <a:r>
              <a:rPr sz="2200" kern="0" spc="4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fil</a:t>
            </a:r>
            <a:endParaRPr sz="2000" dirty="0"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grpSp>
        <p:nvGrpSpPr>
          <p:cNvPr id="4" name="group 4"/>
          <p:cNvGrpSpPr/>
          <p:nvPr/>
        </p:nvGrpSpPr>
        <p:grpSpPr>
          <a:xfrm rot="21600000">
            <a:off x="352425" y="4867336"/>
            <a:ext cx="12172950" cy="1371600"/>
            <a:chOff x="0" y="0"/>
            <a:chExt cx="12172950" cy="1371600"/>
          </a:xfrm>
        </p:grpSpPr>
        <p:sp>
          <p:nvSpPr>
            <p:cNvPr id="1874" name="textbox 1874"/>
            <p:cNvSpPr/>
            <p:nvPr/>
          </p:nvSpPr>
          <p:spPr>
            <a:xfrm>
              <a:off x="-12700" y="-12700"/>
              <a:ext cx="12198350" cy="14109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70180" algn="l" rtl="0" eaLnBrk="0">
                <a:lnSpc>
                  <a:spcPct val="87000"/>
                </a:lnSpc>
                <a:spcBef>
                  <a:spcPts val="5"/>
                </a:spcBef>
              </a:pPr>
              <a:r>
                <a:rPr sz="2100" kern="0" spc="-70" dirty="0">
                  <a:solidFill>
                    <a:srgbClr val="F3F6F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——玫瑰图会退化成”一圈同色的柱子”。</a:t>
              </a:r>
              <a:endParaRPr sz="2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876" name="rect 1876"/>
          <p:cNvSpPr/>
          <p:nvPr/>
        </p:nvSpPr>
        <p:spPr>
          <a:xfrm>
            <a:off x="333375" y="19056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78" name="textbox 1878"/>
          <p:cNvSpPr/>
          <p:nvPr/>
        </p:nvSpPr>
        <p:spPr>
          <a:xfrm>
            <a:off x="325652" y="646010"/>
            <a:ext cx="4934584" cy="388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7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700" b="1" kern="0" spc="9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27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700" kern="0" spc="-5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坐标系改变</a:t>
            </a:r>
            <a:r>
              <a:rPr sz="2700" kern="0" spc="-3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，映射保持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80" name="textbox 1880"/>
          <p:cNvSpPr/>
          <p:nvPr/>
        </p:nvSpPr>
        <p:spPr>
          <a:xfrm>
            <a:off x="4463982" y="2418486"/>
            <a:ext cx="3478529" cy="402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970"/>
              </a:lnSpc>
            </a:pPr>
            <a:r>
              <a:rPr sz="2200" b="1" kern="0" spc="-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柱形高度</a:t>
            </a:r>
            <a:r>
              <a:rPr sz="22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（与数值成正比）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82" name="rect 1882"/>
          <p:cNvSpPr/>
          <p:nvPr/>
        </p:nvSpPr>
        <p:spPr>
          <a:xfrm>
            <a:off x="10039350" y="20961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84" name="textbox 1884"/>
          <p:cNvSpPr/>
          <p:nvPr/>
        </p:nvSpPr>
        <p:spPr>
          <a:xfrm>
            <a:off x="7591902" y="246174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86" name="textbox 1886"/>
          <p:cNvSpPr/>
          <p:nvPr/>
        </p:nvSpPr>
        <p:spPr>
          <a:xfrm>
            <a:off x="8548617" y="4294708"/>
            <a:ext cx="2921635" cy="3168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2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同上</a:t>
            </a:r>
            <a:r>
              <a:rPr sz="2200" kern="0" spc="-2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，保持两图可对照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88" name="textbox 1888"/>
          <p:cNvSpPr/>
          <p:nvPr/>
        </p:nvSpPr>
        <p:spPr>
          <a:xfrm>
            <a:off x="4462814" y="1758722"/>
            <a:ext cx="1191260" cy="319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2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横轴位置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90" name="picture 18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571561"/>
            <a:ext cx="12192000" cy="9525"/>
          </a:xfrm>
          <a:prstGeom prst="rect">
            <a:avLst/>
          </a:prstGeom>
        </p:spPr>
      </p:pic>
      <p:sp>
        <p:nvSpPr>
          <p:cNvPr id="1892" name="textbox 1892"/>
          <p:cNvSpPr/>
          <p:nvPr/>
        </p:nvSpPr>
        <p:spPr>
          <a:xfrm>
            <a:off x="12561062" y="6906835"/>
            <a:ext cx="167639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70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rect 1894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896" name="table 1896"/>
          <p:cNvGraphicFramePr>
            <a:graphicFrameLocks noGrp="1"/>
          </p:cNvGraphicFramePr>
          <p:nvPr/>
        </p:nvGraphicFramePr>
        <p:xfrm>
          <a:off x="333375" y="1162061"/>
          <a:ext cx="12192000" cy="4543425"/>
        </p:xfrm>
        <a:graphic>
          <a:graphicData uri="http://schemas.openxmlformats.org/drawingml/2006/table">
            <a:tbl>
              <a:tblPr>
                <a:solidFill>
                  <a:srgbClr val="24292E"/>
                </a:solidFill>
              </a:tblPr>
              <a:tblGrid>
                <a:gridCol w="12192000"/>
              </a:tblGrid>
              <a:tr h="4530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" algn="l" rtl="0" eaLnBrk="0">
                        <a:lnSpc>
                          <a:spcPts val="1840"/>
                        </a:lnSpc>
                        <a:spcBef>
                          <a:spcPts val="5"/>
                        </a:spcBef>
                        <a:tabLst>
                          <a:tab pos="26289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</a:t>
                      </a:r>
                      <a:r>
                        <a:rPr sz="1400" kern="0" spc="5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p4_base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&lt;-</a:t>
                      </a:r>
                      <a:r>
                        <a:rPr sz="1400" kern="0" spc="8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ggplot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10"/>
                        </a:lnSpc>
                        <a:tabLst>
                          <a:tab pos="26352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2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data</a:t>
                      </a:r>
                      <a:r>
                        <a:rPr sz="1400" kern="0" spc="1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nightingale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long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2647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3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aes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x</a:t>
                      </a:r>
                      <a:r>
                        <a:rPr sz="1400" kern="0" spc="10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0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月份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y</a:t>
                      </a:r>
                      <a:r>
                        <a:rPr sz="1400" kern="0" spc="1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7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死亡率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fill</a:t>
                      </a:r>
                      <a:r>
                        <a:rPr sz="1400" kern="0" spc="1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7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死亡原因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790"/>
                        </a:lnSpc>
                        <a:tabLst>
                          <a:tab pos="25527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4</a:t>
                      </a:r>
                      <a:r>
                        <a:rPr sz="1400" kern="0" spc="5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r>
                        <a:rPr sz="14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10"/>
                        </a:lnSpc>
                        <a:tabLst>
                          <a:tab pos="26670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5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geom_col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widt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h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1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1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colour</a:t>
                      </a:r>
                      <a:r>
                        <a:rPr sz="1400" kern="0" spc="1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9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"white"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r>
                        <a:rPr sz="14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755"/>
                        </a:lnSpc>
                        <a:tabLst>
                          <a:tab pos="26162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6</a:t>
                      </a:r>
                      <a:r>
                        <a:rPr sz="1400" kern="0" spc="5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scale</a:t>
                      </a:r>
                      <a:r>
                        <a:rPr sz="1400" kern="0" spc="2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fill</a:t>
                      </a:r>
                      <a:r>
                        <a:rPr sz="1400" kern="0" spc="2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manual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values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cause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colors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r>
                        <a:rPr sz="14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770"/>
                        </a:lnSpc>
                        <a:tabLst>
                          <a:tab pos="26162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7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facet_wrap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~</a:t>
                      </a:r>
                      <a:r>
                        <a:rPr sz="1400" kern="0" spc="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阶段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1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ncol</a:t>
                      </a:r>
                      <a:r>
                        <a:rPr sz="1400" kern="0" spc="10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2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14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scales</a:t>
                      </a:r>
                      <a:r>
                        <a:rPr sz="1400" kern="0" spc="1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9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"fixed"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r>
                        <a:rPr sz="1400" kern="0" spc="-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1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26162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8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labs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r>
                        <a:rPr sz="1400" kern="0" spc="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x</a:t>
                      </a:r>
                      <a:r>
                        <a:rPr sz="1400" kern="0" spc="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0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NULL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r>
                        <a:rPr sz="1400" kern="0" spc="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y</a:t>
                      </a:r>
                      <a:r>
                        <a:rPr sz="1400" kern="0" spc="1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9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年化死亡率（每千人年）</a:t>
                      </a:r>
                      <a:r>
                        <a:rPr sz="1400" kern="0" spc="1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45"/>
                        </a:lnSpc>
                        <a:tabLst>
                          <a:tab pos="260350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9</a:t>
                      </a:r>
                      <a:r>
                        <a:rPr sz="1400" kern="0" spc="56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title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2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改革前后各月三类死因的死亡风险（柱形表达）</a:t>
                      </a:r>
                      <a:r>
                        <a:rPr sz="1400" kern="0" spc="2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950"/>
                        </a:lnSpc>
                        <a:spcBef>
                          <a:spcPts val="410"/>
                        </a:spcBef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-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10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 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spcBef>
                          <a:spcPts val="345"/>
                        </a:spcBef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11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p4_rose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&lt;-</a:t>
                      </a:r>
                      <a:r>
                        <a:rPr sz="1400" kern="0" spc="12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p4_base</a:t>
                      </a:r>
                      <a:r>
                        <a:rPr sz="1400" kern="0" spc="7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770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12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2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____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()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r>
                        <a:rPr sz="1400" kern="0" spc="2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</a:t>
                      </a:r>
                      <a:r>
                        <a:rPr sz="1400" kern="0" spc="2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#</a:t>
                      </a:r>
                      <a:r>
                        <a:rPr sz="1400" kern="0" spc="2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填入纵轴尺度函数：使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扇形面积对应死亡率</a:t>
                      </a:r>
                      <a:endParaRPr sz="1400" dirty="0">
                        <a:latin typeface="新宋体" panose="02010609030101010101" charset="-122"/>
                        <a:ea typeface="新宋体" panose="02010609030101010101" charset="-122"/>
                        <a:cs typeface="新宋体" panose="02010609030101010101" charset="-122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13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2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____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()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+</a:t>
                      </a:r>
                      <a:r>
                        <a:rPr sz="1400" kern="0" spc="2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  </a:t>
                      </a:r>
                      <a:r>
                        <a:rPr sz="1400" kern="0" spc="2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#</a:t>
                      </a:r>
                      <a:r>
                        <a:rPr sz="1400" kern="0" spc="2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填入极坐标函数：</a:t>
                      </a:r>
                      <a:r>
                        <a:rPr sz="1400" kern="0" spc="10" dirty="0">
                          <a:solidFill>
                            <a:srgbClr val="6A737D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保留月份作为角度方向</a:t>
                      </a:r>
                      <a:endParaRPr sz="1400" dirty="0">
                        <a:latin typeface="新宋体" panose="02010609030101010101" charset="-122"/>
                        <a:ea typeface="新宋体" panose="02010609030101010101" charset="-122"/>
                        <a:cs typeface="新宋体" panose="02010609030101010101" charset="-122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14</a:t>
                      </a:r>
                      <a:r>
                        <a:rPr sz="1400" kern="0" spc="5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8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0" dirty="0">
                          <a:solidFill>
                            <a:srgbClr val="B392F0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labs</a:t>
                      </a:r>
                      <a:r>
                        <a:rPr sz="1400" kern="0" spc="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(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00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15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title</a:t>
                      </a:r>
                      <a:r>
                        <a:rPr sz="1400" kern="0" spc="3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3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3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3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3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复刻经典：南丁格尔玫瑰图（改</a:t>
                      </a:r>
                      <a:r>
                        <a:rPr sz="1400" kern="0" spc="2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革前后各月三类死因）</a:t>
                      </a:r>
                      <a:r>
                        <a:rPr sz="1400" kern="0" spc="2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45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16</a:t>
                      </a:r>
                      <a:r>
                        <a:rPr sz="1400" kern="0" spc="55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</a:t>
                      </a:r>
                      <a:r>
                        <a:rPr sz="1400" kern="0" spc="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subtitle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20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2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新宋体" panose="02010609030101010101" charset="-122"/>
                          <a:ea typeface="新宋体" panose="02010609030101010101" charset="-122"/>
                          <a:cs typeface="新宋体" panose="02010609030101010101" charset="-122"/>
                        </a:rPr>
                        <a:t>扇形面积表示月死亡率，颜色表示死亡原因</a:t>
                      </a:r>
                      <a:r>
                        <a:rPr sz="1400" kern="0" spc="20" dirty="0">
                          <a:solidFill>
                            <a:srgbClr val="9ECB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"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,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ct val="99000"/>
                        </a:lnSpc>
                        <a:spcBef>
                          <a:spcPts val="15"/>
                        </a:spcBef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-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17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2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  </a:t>
                      </a:r>
                      <a:r>
                        <a:rPr sz="1400" kern="0" spc="-3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y</a:t>
                      </a:r>
                      <a:r>
                        <a:rPr sz="1400" kern="0" spc="13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3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=</a:t>
                      </a:r>
                      <a:r>
                        <a:rPr sz="1400" kern="0" spc="100" dirty="0">
                          <a:solidFill>
                            <a:srgbClr val="F97583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1400" kern="0" spc="-30" dirty="0">
                          <a:solidFill>
                            <a:srgbClr val="79B8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NULL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ts val="1845"/>
                        </a:lnSpc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-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18</a:t>
                      </a:r>
                      <a:r>
                        <a:rPr sz="1400" kern="0" spc="50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1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  </a:t>
                      </a:r>
                      <a:r>
                        <a:rPr sz="1400" kern="0" spc="-3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)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  <a:p>
                      <a:pPr marL="9525" algn="l" rtl="0" eaLnBrk="0">
                        <a:lnSpc>
                          <a:spcPct val="74000"/>
                        </a:lnSpc>
                        <a:spcBef>
                          <a:spcPts val="410"/>
                        </a:spcBef>
                        <a:tabLst>
                          <a:tab pos="163195" algn="l"/>
                        </a:tabLst>
                      </a:pP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	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19</a:t>
                      </a:r>
                      <a:r>
                        <a:rPr sz="1400" kern="0" spc="51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  <a:hlinkClick r:id="rId1">
                            <a:extLst>
                              <a:ext uri="{DAF060AB-1E55-43B9-8AAB-6FB025537F2F}">
                                <wpsdc:hlinkClr xmlns:wpsdc="http://www.wps.cn/officeDocument/2017/drawingmlCustomData" val="E1E4E8"/>
                                <wpsdc:folHlinkClr xmlns:wpsdc="http://www.wps.cn/officeDocument/2017/drawingmlCustomData" val="E1E4E8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E1E4E8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p4_rose</a:t>
                      </a:r>
                      <a:endParaRPr sz="14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E"/>
                    </a:solidFill>
                  </a:tcPr>
                </a:tc>
              </a:tr>
            </a:tbl>
          </a:graphicData>
        </a:graphic>
      </p:graphicFrame>
      <p:sp>
        <p:nvSpPr>
          <p:cNvPr id="1898" name="rect 1898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00" name="rect 1900"/>
          <p:cNvSpPr/>
          <p:nvPr/>
        </p:nvSpPr>
        <p:spPr>
          <a:xfrm>
            <a:off x="1171574" y="5753111"/>
            <a:ext cx="942975" cy="27622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02" name="textbox 1902"/>
          <p:cNvSpPr/>
          <p:nvPr/>
        </p:nvSpPr>
        <p:spPr>
          <a:xfrm>
            <a:off x="322706" y="5724554"/>
            <a:ext cx="9700259" cy="317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295"/>
              </a:lnSpc>
            </a:pPr>
            <a:r>
              <a:rPr sz="1900" kern="0" spc="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先运行</a:t>
            </a:r>
            <a:r>
              <a:rPr sz="1900" kern="0" spc="5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4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p4_</a:t>
            </a:r>
            <a:r>
              <a:rPr sz="17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base</a:t>
            </a:r>
            <a:r>
              <a:rPr sz="1700" kern="0" spc="4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900" kern="0" spc="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看清柱形表达</a:t>
            </a:r>
            <a:r>
              <a:rPr sz="1900" kern="0" spc="-26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900" kern="0" spc="-4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</a:t>
            </a:r>
            <a:r>
              <a:rPr sz="1900" kern="0" spc="3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补全两个函数</a:t>
            </a:r>
            <a:r>
              <a:rPr sz="1900" kern="0" spc="-26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900" kern="0" spc="3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，观察”形状”变了而”数据”没变。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04" name="textbox 1904"/>
          <p:cNvSpPr/>
          <p:nvPr/>
        </p:nvSpPr>
        <p:spPr>
          <a:xfrm>
            <a:off x="325652" y="645961"/>
            <a:ext cx="4872990" cy="388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</a:pPr>
            <a:r>
              <a:rPr sz="27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700" b="1" kern="0" spc="-1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27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700" kern="0" spc="-6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玫瑰图</a:t>
            </a:r>
            <a:r>
              <a:rPr sz="2700" kern="0" spc="-6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（先自己补全</a:t>
            </a:r>
            <a:r>
              <a:rPr sz="27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06" name="rect 1906"/>
          <p:cNvSpPr/>
          <p:nvPr/>
        </p:nvSpPr>
        <p:spPr>
          <a:xfrm>
            <a:off x="100393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08" name="textbox 1908"/>
          <p:cNvSpPr/>
          <p:nvPr/>
        </p:nvSpPr>
        <p:spPr>
          <a:xfrm>
            <a:off x="7591902" y="246125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10" name="picture 19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1076336"/>
            <a:ext cx="12192000" cy="19050"/>
          </a:xfrm>
          <a:prstGeom prst="rect">
            <a:avLst/>
          </a:prstGeom>
        </p:spPr>
      </p:pic>
      <p:pic>
        <p:nvPicPr>
          <p:cNvPr id="1912" name="picture 19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1914" name="textbox 1914"/>
          <p:cNvSpPr/>
          <p:nvPr/>
        </p:nvSpPr>
        <p:spPr>
          <a:xfrm>
            <a:off x="12561062" y="6947991"/>
            <a:ext cx="167639" cy="138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71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rect 1916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18" name="rect 1918"/>
          <p:cNvSpPr/>
          <p:nvPr/>
        </p:nvSpPr>
        <p:spPr>
          <a:xfrm>
            <a:off x="409575" y="5715011"/>
            <a:ext cx="1924050" cy="333375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20" name="rect 1920"/>
          <p:cNvSpPr/>
          <p:nvPr/>
        </p:nvSpPr>
        <p:spPr>
          <a:xfrm>
            <a:off x="409575" y="6115061"/>
            <a:ext cx="2066925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922" name="table 1922"/>
          <p:cNvGraphicFramePr>
            <a:graphicFrameLocks noGrp="1"/>
          </p:cNvGraphicFramePr>
          <p:nvPr/>
        </p:nvGraphicFramePr>
        <p:xfrm>
          <a:off x="333375" y="1076336"/>
          <a:ext cx="12191999" cy="5390515"/>
        </p:xfrm>
        <a:graphic>
          <a:graphicData uri="http://schemas.openxmlformats.org/drawingml/2006/table">
            <a:tbl>
              <a:tblPr/>
              <a:tblGrid>
                <a:gridCol w="4116070"/>
                <a:gridCol w="8075929"/>
              </a:tblGrid>
              <a:tr h="458152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01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b="1" kern="0" spc="4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关键变化        </a:t>
                      </a:r>
                      <a:r>
                        <a:rPr sz="2200" b="1" kern="0" spc="3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                  作用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6200" algn="l" rtl="0" eaLnBrk="0">
                        <a:lnSpc>
                          <a:spcPts val="2640"/>
                        </a:lnSpc>
                        <a:spcBef>
                          <a:spcPts val="5"/>
                        </a:spcBef>
                        <a:tabLst>
                          <a:tab pos="146050" algn="l"/>
                        </a:tabLst>
                      </a:pP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	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coord_polar()</a:t>
                      </a:r>
                      <a:endParaRPr sz="20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59305" algn="l" rtl="0" eaLnBrk="0">
                        <a:lnSpc>
                          <a:spcPct val="88000"/>
                        </a:lnSpc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把直角坐标换成极坐标</a:t>
                      </a:r>
                      <a:r>
                        <a:rPr sz="2200" kern="0" spc="-2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2200" kern="0" spc="-50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月份变成圆周角度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6200" algn="l" rtl="0" eaLnBrk="0">
                        <a:lnSpc>
                          <a:spcPts val="2640"/>
                        </a:lnSpc>
                        <a:spcBef>
                          <a:spcPts val="0"/>
                        </a:spcBef>
                        <a:tabLst>
                          <a:tab pos="149225" algn="l"/>
                        </a:tabLst>
                      </a:pPr>
                      <a:r>
                        <a:rPr sz="2000" kern="0" spc="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	</a:t>
                      </a:r>
                      <a:r>
                        <a:rPr sz="2000" kern="0" spc="-10" dirty="0">
                          <a:solidFill>
                            <a:srgbClr val="9BDCFF">
                              <a:alpha val="100000"/>
                            </a:srgbClr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scale_y_sqrt()</a:t>
                      </a:r>
                      <a:endParaRPr sz="2000" dirty="0"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5930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纵轴平方根变换</a:t>
                      </a:r>
                      <a:r>
                        <a:rPr sz="2200" kern="0" spc="-3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，让</a:t>
                      </a:r>
                      <a:r>
                        <a:rPr sz="2200" b="1" kern="0" spc="8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扇形面积</a:t>
                      </a: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应死亡率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924" name="picture 19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1276350"/>
            <a:ext cx="9105900" cy="3733800"/>
          </a:xfrm>
          <a:prstGeom prst="rect">
            <a:avLst/>
          </a:prstGeom>
        </p:spPr>
      </p:pic>
      <p:sp>
        <p:nvSpPr>
          <p:cNvPr id="1926" name="rect 1926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28" name="rect 1928"/>
          <p:cNvSpPr/>
          <p:nvPr/>
        </p:nvSpPr>
        <p:spPr>
          <a:xfrm>
            <a:off x="409575" y="6515111"/>
            <a:ext cx="3981450" cy="323850"/>
          </a:xfrm>
          <a:prstGeom prst="rect">
            <a:avLst/>
          </a:prstGeom>
          <a:solidFill>
            <a:srgbClr val="78C8F5">
              <a:alpha val="1215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30" name="textbox 1930"/>
          <p:cNvSpPr/>
          <p:nvPr/>
        </p:nvSpPr>
        <p:spPr>
          <a:xfrm>
            <a:off x="447625" y="6447511"/>
            <a:ext cx="11279505" cy="4057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995"/>
              </a:lnSpc>
            </a:pPr>
            <a:r>
              <a:rPr sz="20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facet_wrap(~</a:t>
            </a:r>
            <a:r>
              <a:rPr sz="20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000" kern="0" spc="0" dirty="0">
                <a:solidFill>
                  <a:srgbClr val="9BDCFF">
                    <a:alpha val="100000"/>
                  </a:srgbClr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阶段</a:t>
            </a:r>
            <a:r>
              <a:rPr sz="20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,</a:t>
            </a:r>
            <a:r>
              <a:rPr sz="20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0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ncol</a:t>
            </a:r>
            <a:r>
              <a:rPr sz="20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0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=</a:t>
            </a:r>
            <a:r>
              <a:rPr sz="2000" kern="0" spc="15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0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2)</a:t>
            </a:r>
            <a:r>
              <a:rPr sz="20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</a:t>
            </a:r>
            <a:r>
              <a:rPr sz="2000" kern="0" spc="-1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</a:t>
            </a:r>
            <a:r>
              <a:rPr sz="22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两个阶段变成两个并排的圆（经典版式）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32" name="textbox 1932"/>
          <p:cNvSpPr/>
          <p:nvPr/>
        </p:nvSpPr>
        <p:spPr>
          <a:xfrm>
            <a:off x="325652" y="645961"/>
            <a:ext cx="4514215" cy="388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</a:pPr>
            <a:r>
              <a:rPr sz="27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700" b="1" kern="0" spc="-2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27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700" kern="0" spc="-6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玫瑰图</a:t>
            </a:r>
            <a:r>
              <a:rPr sz="2700" kern="0" spc="-6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（参考答</a:t>
            </a:r>
            <a:r>
              <a:rPr sz="27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案）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34" name="rect 1934"/>
          <p:cNvSpPr/>
          <p:nvPr/>
        </p:nvSpPr>
        <p:spPr>
          <a:xfrm>
            <a:off x="100393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36" name="textbox 1936"/>
          <p:cNvSpPr/>
          <p:nvPr/>
        </p:nvSpPr>
        <p:spPr>
          <a:xfrm>
            <a:off x="7591902" y="246125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38" name="picture 19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1940" name="textbox 1940"/>
          <p:cNvSpPr/>
          <p:nvPr/>
        </p:nvSpPr>
        <p:spPr>
          <a:xfrm>
            <a:off x="12561062" y="6947991"/>
            <a:ext cx="167639" cy="138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72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rect 1942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44" name="rect 1944"/>
          <p:cNvSpPr/>
          <p:nvPr/>
        </p:nvSpPr>
        <p:spPr>
          <a:xfrm>
            <a:off x="352425" y="1171586"/>
            <a:ext cx="12172950" cy="3057525"/>
          </a:xfrm>
          <a:prstGeom prst="rect">
            <a:avLst/>
          </a:prstGeom>
          <a:solidFill>
            <a:srgbClr val="FFD166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946" name="table 1946"/>
          <p:cNvGraphicFramePr>
            <a:graphicFrameLocks noGrp="1"/>
          </p:cNvGraphicFramePr>
          <p:nvPr/>
        </p:nvGraphicFramePr>
        <p:xfrm>
          <a:off x="333375" y="1076336"/>
          <a:ext cx="12191365" cy="3152139"/>
        </p:xfrm>
        <a:graphic>
          <a:graphicData uri="http://schemas.openxmlformats.org/drawingml/2006/table">
            <a:tbl>
              <a:tblPr/>
              <a:tblGrid>
                <a:gridCol w="5102859"/>
                <a:gridCol w="3764279"/>
                <a:gridCol w="3324225"/>
              </a:tblGrid>
              <a:tr h="542925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462915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8435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100" kern="0" spc="-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先目测同一阶段任意两个月的扇形大小，再查数据核对实际差</a:t>
                      </a:r>
                      <a:r>
                        <a:rPr sz="2100" kern="0" spc="-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值，然后填表。</a:t>
                      </a:r>
                      <a:endParaRPr sz="2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67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7015" algn="l" rtl="0" eaLnBrk="0">
                        <a:lnSpc>
                          <a:spcPct val="88000"/>
                        </a:lnSpc>
                      </a:pPr>
                      <a:r>
                        <a:rPr sz="19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判断标准</a:t>
                      </a:r>
                      <a:endParaRPr sz="1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76450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19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柱形图</a:t>
                      </a:r>
                      <a:endParaRPr sz="1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8359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19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玫瑰图</a:t>
                      </a:r>
                      <a:endParaRPr sz="1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4475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19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精确比较数值与差值</a:t>
                      </a:r>
                      <a:endParaRPr sz="1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73275" algn="l" rtl="0" eaLnBrk="0">
                        <a:lnSpc>
                          <a:spcPts val="125"/>
                        </a:lnSpc>
                        <a:spcBef>
                          <a:spcPts val="5"/>
                        </a:spcBef>
                      </a:pPr>
                      <a:r>
                        <a:rPr sz="19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________</a:t>
                      </a:r>
                      <a:endParaRPr sz="1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80415" algn="l" rtl="0" eaLnBrk="0">
                        <a:lnSpc>
                          <a:spcPts val="125"/>
                        </a:lnSpc>
                        <a:spcBef>
                          <a:spcPts val="5"/>
                        </a:spcBef>
                      </a:pPr>
                      <a:r>
                        <a:rPr sz="19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________</a:t>
                      </a:r>
                      <a:endParaRPr sz="1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5745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19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观察月份顺序与阶段差异</a:t>
                      </a:r>
                      <a:endParaRPr sz="1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73275" algn="l" rtl="0" eaLnBrk="0">
                        <a:lnSpc>
                          <a:spcPts val="125"/>
                        </a:lnSpc>
                        <a:spcBef>
                          <a:spcPts val="5"/>
                        </a:spcBef>
                      </a:pPr>
                      <a:r>
                        <a:rPr sz="19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________</a:t>
                      </a:r>
                      <a:endParaRPr sz="1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80415" algn="l" rtl="0" eaLnBrk="0">
                        <a:lnSpc>
                          <a:spcPts val="125"/>
                        </a:lnSpc>
                        <a:spcBef>
                          <a:spcPts val="5"/>
                        </a:spcBef>
                      </a:pPr>
                      <a:r>
                        <a:rPr sz="19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________</a:t>
                      </a:r>
                      <a:endParaRPr sz="1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019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19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判断哪类死因贡献最大</a:t>
                      </a:r>
                      <a:endParaRPr sz="1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73275" algn="l" rtl="0" eaLnBrk="0">
                        <a:lnSpc>
                          <a:spcPts val="125"/>
                        </a:lnSpc>
                        <a:spcBef>
                          <a:spcPts val="5"/>
                        </a:spcBef>
                      </a:pPr>
                      <a:r>
                        <a:rPr sz="19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________</a:t>
                      </a:r>
                      <a:endParaRPr sz="1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80415" algn="l" rtl="0" eaLnBrk="0">
                        <a:lnSpc>
                          <a:spcPts val="125"/>
                        </a:lnSpc>
                        <a:spcBef>
                          <a:spcPts val="5"/>
                        </a:spcBef>
                      </a:pPr>
                      <a:r>
                        <a:rPr sz="19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________</a:t>
                      </a:r>
                      <a:endParaRPr sz="1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781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19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吸引非专业受众</a:t>
                      </a:r>
                      <a:endParaRPr sz="1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7176135" algn="l" rtl="0" eaLnBrk="0">
                        <a:lnSpc>
                          <a:spcPts val="125"/>
                        </a:lnSpc>
                        <a:spcBef>
                          <a:spcPts val="90"/>
                        </a:spcBef>
                      </a:pPr>
                      <a:r>
                        <a:rPr sz="19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________</a:t>
                      </a:r>
                      <a:r>
                        <a:rPr sz="1900" kern="0" spc="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</a:t>
                      </a:r>
                      <a:r>
                        <a:rPr sz="1900" kern="0" spc="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</a:t>
                      </a:r>
                      <a:r>
                        <a:rPr sz="19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________</a:t>
                      </a:r>
                      <a:endParaRPr sz="1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3069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638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19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误读风险</a:t>
                      </a:r>
                      <a:endParaRPr sz="1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7176135" algn="l" rtl="0" eaLnBrk="0">
                        <a:lnSpc>
                          <a:spcPts val="480"/>
                        </a:lnSpc>
                        <a:spcBef>
                          <a:spcPts val="95"/>
                        </a:spcBef>
                      </a:pPr>
                      <a:r>
                        <a:rPr sz="19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________</a:t>
                      </a:r>
                      <a:r>
                        <a:rPr sz="1900" kern="0" spc="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</a:t>
                      </a:r>
                      <a:r>
                        <a:rPr sz="1900" kern="0" spc="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</a:t>
                      </a:r>
                      <a:r>
                        <a:rPr sz="19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________</a:t>
                      </a:r>
                      <a:endParaRPr sz="1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47625" cap="flat" cmpd="sng" algn="ctr">
                      <a:solidFill>
                        <a:srgbClr val="FFD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948" name="textbox 1948"/>
          <p:cNvSpPr/>
          <p:nvPr/>
        </p:nvSpPr>
        <p:spPr>
          <a:xfrm>
            <a:off x="371475" y="1171586"/>
            <a:ext cx="12153900" cy="447675"/>
          </a:xfrm>
          <a:prstGeom prst="rect">
            <a:avLst/>
          </a:prstGeom>
          <a:solidFill>
            <a:srgbClr val="FFD166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7020" algn="l" rtl="0" eaLnBrk="0">
              <a:lnSpc>
                <a:spcPct val="87000"/>
              </a:lnSpc>
              <a:spcBef>
                <a:spcPts val="0"/>
              </a:spcBef>
            </a:pPr>
            <a:r>
              <a:rPr sz="2100" b="1" kern="0" spc="-10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【先想一想】六个维度做判断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50" name="rect 1950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52" name="textbox 1952"/>
          <p:cNvSpPr/>
          <p:nvPr/>
        </p:nvSpPr>
        <p:spPr>
          <a:xfrm>
            <a:off x="325652" y="645961"/>
            <a:ext cx="3856990" cy="389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700" kern="0" spc="1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700" b="1" kern="0" spc="13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2700" kern="0" spc="1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700" kern="0" spc="-5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1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分析图与传</a:t>
            </a:r>
            <a:r>
              <a:rPr sz="2700" kern="0" spc="1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播图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54" name="rect 1954"/>
          <p:cNvSpPr/>
          <p:nvPr/>
        </p:nvSpPr>
        <p:spPr>
          <a:xfrm>
            <a:off x="100393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56" name="textbox 1956"/>
          <p:cNvSpPr/>
          <p:nvPr/>
        </p:nvSpPr>
        <p:spPr>
          <a:xfrm>
            <a:off x="7591902" y="246125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58" name="picture 19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1960" name="textbox 1960"/>
          <p:cNvSpPr/>
          <p:nvPr/>
        </p:nvSpPr>
        <p:spPr>
          <a:xfrm>
            <a:off x="12561062" y="6906786"/>
            <a:ext cx="167639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73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rect 1962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964" name="table 1964"/>
          <p:cNvGraphicFramePr>
            <a:graphicFrameLocks noGrp="1"/>
          </p:cNvGraphicFramePr>
          <p:nvPr/>
        </p:nvGraphicFramePr>
        <p:xfrm>
          <a:off x="333375" y="1076336"/>
          <a:ext cx="12191365" cy="2385059"/>
        </p:xfrm>
        <a:graphic>
          <a:graphicData uri="http://schemas.openxmlformats.org/drawingml/2006/table">
            <a:tbl>
              <a:tblPr/>
              <a:tblGrid>
                <a:gridCol w="3711575"/>
                <a:gridCol w="4066540"/>
                <a:gridCol w="4413250"/>
              </a:tblGrid>
              <a:tr h="476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判断标准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1165" algn="l" rtl="0" eaLnBrk="0">
                        <a:lnSpc>
                          <a:spcPct val="88000"/>
                        </a:lnSpc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柱形图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2862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玫瑰图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8105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精确比较数值与差值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4975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b="1" kern="0" spc="5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强</a:t>
                      </a:r>
                      <a:r>
                        <a:rPr sz="2200" b="1" kern="0" spc="-19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：柱高与数值线性对应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116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b="1" kern="0" spc="6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弱</a:t>
                      </a: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</a:t>
                      </a:r>
                      <a:r>
                        <a:rPr sz="2200" kern="0" spc="-3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隔了平方根换算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375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观察月份顺序与阶段差异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497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b="1" kern="0" spc="4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强</a:t>
                      </a:r>
                      <a:r>
                        <a:rPr sz="2200" b="1" kern="0" spc="-20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：横轴按月份排列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323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b="1" kern="0" spc="2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</a:t>
                      </a:r>
                      <a:r>
                        <a:rPr sz="2200" b="1" kern="0" spc="-23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：卷成圆周</a:t>
                      </a:r>
                      <a:r>
                        <a:rPr sz="2200" kern="0" spc="-30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2200" kern="0" spc="-5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起止点不直</a:t>
                      </a:r>
                      <a:r>
                        <a:rPr sz="2200" kern="0" spc="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4455" algn="l" rtl="0" eaLnBrk="0">
                        <a:lnSpc>
                          <a:spcPct val="8700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判断哪类死因贡献最大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5212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</a:t>
                      </a:r>
                      <a:r>
                        <a:rPr sz="2200" kern="0" spc="-20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：堆叠段不在同一基线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243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200" b="1" kern="0" spc="4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强</a:t>
                      </a:r>
                      <a:r>
                        <a:rPr sz="22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</a:t>
                      </a:r>
                      <a:r>
                        <a:rPr sz="2200" kern="0" spc="-5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三圈同心</a:t>
                      </a:r>
                      <a:r>
                        <a:rPr sz="2200" kern="0" spc="-30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2200" kern="0" spc="-5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4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一眼可见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3345" algn="l" rtl="0" eaLnBrk="0">
                        <a:lnSpc>
                          <a:spcPct val="87000"/>
                        </a:lnSpc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吸引非专业受众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5212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-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2435" algn="l" rtl="0" eaLnBrk="0">
                        <a:lnSpc>
                          <a:spcPct val="83000"/>
                        </a:lnSpc>
                        <a:spcBef>
                          <a:spcPts val="5"/>
                        </a:spcBef>
                      </a:pPr>
                      <a:r>
                        <a:rPr sz="2200" b="1" kern="0" spc="3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强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2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0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误读风险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2989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低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116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2200" b="1" kern="0" spc="8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</a:t>
                      </a: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</a:t>
                      </a:r>
                      <a:r>
                        <a:rPr sz="2200" kern="0" spc="-4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常把扇形当成数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值倍数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966" name="rect 1966"/>
          <p:cNvSpPr/>
          <p:nvPr/>
        </p:nvSpPr>
        <p:spPr>
          <a:xfrm>
            <a:off x="352425" y="3571886"/>
            <a:ext cx="12172950" cy="2047875"/>
          </a:xfrm>
          <a:prstGeom prst="rect">
            <a:avLst/>
          </a:prstGeom>
          <a:solidFill>
            <a:srgbClr val="67D6B4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68" name="textbox 1968"/>
          <p:cNvSpPr/>
          <p:nvPr/>
        </p:nvSpPr>
        <p:spPr>
          <a:xfrm>
            <a:off x="500000" y="4160366"/>
            <a:ext cx="11216005" cy="12941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87000"/>
              </a:lnSpc>
            </a:pPr>
            <a:r>
              <a:rPr sz="2100" b="1" kern="0" spc="-5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选作分析报告：</a:t>
            </a:r>
            <a:r>
              <a:rPr sz="2100" kern="0" spc="-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柱形图——它与数值直接对应，</a:t>
            </a:r>
            <a:r>
              <a:rPr sz="2100" kern="0" spc="-4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比较精确、不易误读。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ct val="87000"/>
              </a:lnSpc>
              <a:spcBef>
                <a:spcPts val="1705"/>
              </a:spcBef>
            </a:pPr>
            <a:r>
              <a:rPr sz="2100" b="1" kern="0" spc="-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用于公众展示：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玫瑰图——须</a:t>
            </a:r>
            <a:r>
              <a:rPr sz="2100" b="1" kern="0" spc="-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r>
              <a:rPr sz="2100" b="1" kern="0" spc="-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”面积代表死亡率、颜色代表死因”，并避免读者精确读数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0"/>
              </a:spcBef>
            </a:pPr>
            <a:r>
              <a:rPr sz="2100" b="1" kern="0" spc="-5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必须说明：</a:t>
            </a:r>
            <a:r>
              <a:rPr sz="2100" b="1" kern="0" spc="-48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图中的</a:t>
            </a:r>
            <a:r>
              <a:rPr sz="2100" b="1" kern="0" spc="-5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扇形面积</a:t>
            </a:r>
            <a:r>
              <a:rPr sz="2100" kern="0" spc="-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表示死亡率，单位为</a:t>
            </a:r>
            <a:r>
              <a:rPr sz="2100" b="1" kern="0" spc="-5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每千人年</a:t>
            </a:r>
            <a:r>
              <a:rPr sz="2100" b="1" kern="0" spc="-30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100" b="1" kern="0" spc="-5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颜色</a:t>
            </a:r>
            <a:r>
              <a:rPr sz="2100" kern="0" spc="-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表示死亡原因。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70" name="picture 19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3571886"/>
            <a:ext cx="47625" cy="2047863"/>
          </a:xfrm>
          <a:prstGeom prst="rect">
            <a:avLst/>
          </a:prstGeom>
        </p:spPr>
      </p:pic>
      <p:sp>
        <p:nvSpPr>
          <p:cNvPr id="1972" name="textbox 1972"/>
          <p:cNvSpPr/>
          <p:nvPr/>
        </p:nvSpPr>
        <p:spPr>
          <a:xfrm>
            <a:off x="371475" y="3571886"/>
            <a:ext cx="12153900" cy="447675"/>
          </a:xfrm>
          <a:prstGeom prst="rect">
            <a:avLst/>
          </a:prstGeom>
          <a:solidFill>
            <a:srgbClr val="67D6B4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7020" algn="l" rtl="0" eaLnBrk="0">
              <a:lnSpc>
                <a:spcPct val="91000"/>
              </a:lnSpc>
            </a:pPr>
            <a:r>
              <a:rPr sz="1900" b="1" kern="0" spc="-1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【参考答案】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74" name="rect 1974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76" name="textbox 1976"/>
          <p:cNvSpPr/>
          <p:nvPr/>
        </p:nvSpPr>
        <p:spPr>
          <a:xfrm>
            <a:off x="325652" y="645961"/>
            <a:ext cx="4872990" cy="388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</a:pPr>
            <a:r>
              <a:rPr sz="27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700" b="1" kern="0" spc="-2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27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700" kern="0" spc="-4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图表解读</a:t>
            </a:r>
            <a:r>
              <a:rPr sz="2700" kern="0" spc="-6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（参考答</a:t>
            </a:r>
            <a:r>
              <a:rPr sz="27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案）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78" name="rect 1978"/>
          <p:cNvSpPr/>
          <p:nvPr/>
        </p:nvSpPr>
        <p:spPr>
          <a:xfrm>
            <a:off x="100393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80" name="textbox 1980"/>
          <p:cNvSpPr/>
          <p:nvPr/>
        </p:nvSpPr>
        <p:spPr>
          <a:xfrm>
            <a:off x="7591902" y="246125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82" name="picture 19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1984" name="textbox 1984"/>
          <p:cNvSpPr/>
          <p:nvPr/>
        </p:nvSpPr>
        <p:spPr>
          <a:xfrm>
            <a:off x="12561062" y="6948391"/>
            <a:ext cx="167639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0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74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rect 1986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88" name="rect 1988"/>
          <p:cNvSpPr/>
          <p:nvPr/>
        </p:nvSpPr>
        <p:spPr>
          <a:xfrm>
            <a:off x="352425" y="3343286"/>
            <a:ext cx="12172950" cy="1047750"/>
          </a:xfrm>
          <a:prstGeom prst="rect">
            <a:avLst/>
          </a:prstGeom>
          <a:solidFill>
            <a:srgbClr val="FF9F87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90" name="textbox 1990"/>
          <p:cNvSpPr/>
          <p:nvPr/>
        </p:nvSpPr>
        <p:spPr>
          <a:xfrm>
            <a:off x="6490767" y="1214512"/>
            <a:ext cx="5963920" cy="19761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3655" algn="l" rtl="0" eaLnBrk="0">
              <a:lnSpc>
                <a:spcPct val="87000"/>
              </a:lnSpc>
            </a:pPr>
            <a:r>
              <a:rPr sz="2400" b="1" kern="0" spc="-20" dirty="0">
                <a:solidFill>
                  <a:srgbClr val="78C8F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</a:t>
            </a:r>
            <a:r>
              <a:rPr sz="2400" b="1" kern="0" spc="160" dirty="0">
                <a:solidFill>
                  <a:srgbClr val="78C8F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-2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组：玫瑰图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0480" indent="-17780" algn="l" rtl="0" eaLnBrk="0">
              <a:lnSpc>
                <a:spcPct val="92000"/>
              </a:lnSpc>
              <a:spcBef>
                <a:spcPts val="865"/>
              </a:spcBef>
            </a:pPr>
            <a:r>
              <a:rPr sz="25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观点：</a:t>
            </a:r>
            <a:r>
              <a:rPr sz="2500" kern="0" spc="-6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面向公众传播时可以优先使用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玫瑰</a:t>
            </a:r>
            <a:r>
              <a:rPr sz="2500" kern="0" spc="-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图。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5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" indent="-3175" algn="l" rtl="0" eaLnBrk="0">
              <a:lnSpc>
                <a:spcPct val="91000"/>
              </a:lnSpc>
              <a:spcBef>
                <a:spcPts val="0"/>
              </a:spcBef>
            </a:pP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请从</a:t>
            </a:r>
            <a:r>
              <a:rPr sz="2500" b="1" kern="0" spc="8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整体感知、</a:t>
            </a:r>
            <a:r>
              <a:rPr sz="2500" b="1" kern="0" spc="-59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b="1" kern="0" spc="8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注意力、</a:t>
            </a:r>
            <a:r>
              <a:rPr sz="2500" b="1" kern="0" spc="-6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b="1" kern="0" spc="8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历史语境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三个方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面提出证据。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92" name="textbox 1992"/>
          <p:cNvSpPr/>
          <p:nvPr/>
        </p:nvSpPr>
        <p:spPr>
          <a:xfrm>
            <a:off x="318236" y="1214512"/>
            <a:ext cx="5970904" cy="1638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400" b="1" kern="0" spc="20" dirty="0">
                <a:solidFill>
                  <a:srgbClr val="78C8F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</a:t>
            </a:r>
            <a:r>
              <a:rPr sz="2400" kern="0" spc="2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组：</a:t>
            </a:r>
            <a:r>
              <a:rPr sz="2400" kern="0" spc="-59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kern="0" spc="2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分面柱形图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050" algn="l" rtl="0" eaLnBrk="0">
              <a:lnSpc>
                <a:spcPct val="86000"/>
              </a:lnSpc>
              <a:spcBef>
                <a:spcPts val="900"/>
              </a:spcBef>
            </a:pPr>
            <a:r>
              <a:rPr sz="25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观点：</a:t>
            </a:r>
            <a:r>
              <a:rPr sz="2500" kern="0" spc="-6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政府分析报告应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优先使用柱形图。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780" indent="3175" algn="l" rtl="0" eaLnBrk="0">
              <a:lnSpc>
                <a:spcPct val="111000"/>
              </a:lnSpc>
              <a:spcBef>
                <a:spcPts val="35"/>
              </a:spcBef>
            </a:pP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请从</a:t>
            </a:r>
            <a:r>
              <a:rPr sz="2500" b="1" kern="0" spc="8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精确比较、</a:t>
            </a:r>
            <a:r>
              <a:rPr sz="2500" b="1" kern="0" spc="-58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b="1" kern="0" spc="8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坐标尺度、</a:t>
            </a:r>
            <a:r>
              <a:rPr sz="2500" b="1" kern="0" spc="-6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b="1" kern="0" spc="8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误读风</a:t>
            </a:r>
            <a:r>
              <a:rPr sz="2500" b="1" kern="0" spc="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险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方面提出证据。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94" name="picture 19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3343286"/>
            <a:ext cx="47625" cy="1047738"/>
          </a:xfrm>
          <a:prstGeom prst="rect">
            <a:avLst/>
          </a:prstGeom>
        </p:spPr>
      </p:pic>
      <p:sp>
        <p:nvSpPr>
          <p:cNvPr id="1996" name="textbox 1996"/>
          <p:cNvSpPr/>
          <p:nvPr/>
        </p:nvSpPr>
        <p:spPr>
          <a:xfrm>
            <a:off x="371475" y="3343286"/>
            <a:ext cx="12153900" cy="447675"/>
          </a:xfrm>
          <a:prstGeom prst="rect">
            <a:avLst/>
          </a:prstGeom>
          <a:solidFill>
            <a:srgbClr val="FF9F87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7795" algn="l" rtl="0" eaLnBrk="0">
              <a:lnSpc>
                <a:spcPct val="86000"/>
              </a:lnSpc>
            </a:pP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共同底线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98" name="rect 1998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00" name="textbox 2000"/>
          <p:cNvSpPr/>
          <p:nvPr/>
        </p:nvSpPr>
        <p:spPr>
          <a:xfrm>
            <a:off x="500534" y="3922774"/>
            <a:ext cx="8509634" cy="3028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标题、单位、</a:t>
            </a:r>
            <a:r>
              <a:rPr sz="2100" kern="0" spc="-4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图例和结</a:t>
            </a:r>
            <a:r>
              <a:rPr sz="2100" kern="0" spc="-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论边界必须完整。</a:t>
            </a:r>
            <a:r>
              <a:rPr sz="2100" b="1" kern="0" spc="-5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换图形可以，换掉严谨性不行。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02" name="rect 2002"/>
          <p:cNvSpPr/>
          <p:nvPr/>
        </p:nvSpPr>
        <p:spPr>
          <a:xfrm>
            <a:off x="100393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04" name="textbox 2004"/>
          <p:cNvSpPr/>
          <p:nvPr/>
        </p:nvSpPr>
        <p:spPr>
          <a:xfrm>
            <a:off x="7591902" y="246125"/>
            <a:ext cx="4866640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5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b="1" kern="0" spc="13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06" name="textbox 2006"/>
          <p:cNvSpPr/>
          <p:nvPr/>
        </p:nvSpPr>
        <p:spPr>
          <a:xfrm>
            <a:off x="325652" y="645961"/>
            <a:ext cx="3497579" cy="389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700" kern="0" spc="1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700" b="1" kern="0" spc="110" dirty="0">
                <a:solidFill>
                  <a:srgbClr val="F3F6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2700" kern="0" spc="1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700" kern="0" spc="-3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1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图形选择辩论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08" name="picture 20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1076336"/>
            <a:ext cx="12192000" cy="19050"/>
          </a:xfrm>
          <a:prstGeom prst="rect">
            <a:avLst/>
          </a:prstGeom>
        </p:spPr>
      </p:pic>
      <p:pic>
        <p:nvPicPr>
          <p:cNvPr id="2010" name="picture 20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2012" name="textbox 2012"/>
          <p:cNvSpPr/>
          <p:nvPr/>
        </p:nvSpPr>
        <p:spPr>
          <a:xfrm>
            <a:off x="12561062" y="6906786"/>
            <a:ext cx="167639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75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rect 2014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016" name="picture 20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3095636"/>
            <a:ext cx="12192000" cy="390525"/>
          </a:xfrm>
          <a:prstGeom prst="rect">
            <a:avLst/>
          </a:prstGeom>
        </p:spPr>
      </p:pic>
      <p:sp>
        <p:nvSpPr>
          <p:cNvPr id="2018" name="rect 2018"/>
          <p:cNvSpPr/>
          <p:nvPr/>
        </p:nvSpPr>
        <p:spPr>
          <a:xfrm>
            <a:off x="11296650" y="3114686"/>
            <a:ext cx="1228725" cy="333375"/>
          </a:xfrm>
          <a:prstGeom prst="rect">
            <a:avLst/>
          </a:prstGeom>
          <a:solidFill>
            <a:srgbClr val="78C8F5">
              <a:alpha val="94901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20" name="textbox 2020"/>
          <p:cNvSpPr/>
          <p:nvPr/>
        </p:nvSpPr>
        <p:spPr>
          <a:xfrm>
            <a:off x="336358" y="3150183"/>
            <a:ext cx="12122150" cy="911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0"/>
              </a:spcBef>
              <a:tabLst>
                <a:tab pos="11045825" algn="l"/>
              </a:tabLst>
            </a:pPr>
            <a:r>
              <a:rPr sz="9900" strike="sngStrike" kern="0" spc="50" baseline="-1300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r>
              <a:rPr sz="6400" strike="sngStrike" kern="0" spc="5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</a:t>
            </a:r>
            <a:r>
              <a:rPr sz="6400" strike="sngStrike" kern="0" spc="4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6400" kern="0" spc="19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6400" strike="sngStrike" kern="0" spc="-34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6400" kern="0" spc="19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6400" strike="sngStrike" kern="0" spc="-37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6400" kern="0" spc="19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6400" strike="sngStrike" kern="0" spc="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endParaRPr sz="6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22" name="textbox 2022"/>
          <p:cNvSpPr/>
          <p:nvPr/>
        </p:nvSpPr>
        <p:spPr>
          <a:xfrm>
            <a:off x="7589425" y="3150183"/>
            <a:ext cx="4866640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</a:t>
            </a:r>
            <a:r>
              <a:rPr sz="2100" strike="sngStrike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新知探究</a:t>
            </a:r>
            <a:r>
              <a:rPr sz="2100" strike="sngStrike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strike="sngStrike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24" name="textbox 2024"/>
          <p:cNvSpPr/>
          <p:nvPr/>
        </p:nvSpPr>
        <p:spPr>
          <a:xfrm>
            <a:off x="12561062" y="6906786"/>
            <a:ext cx="167639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76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rect 2026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2028" name="table 2028"/>
          <p:cNvGraphicFramePr>
            <a:graphicFrameLocks noGrp="1"/>
          </p:cNvGraphicFramePr>
          <p:nvPr/>
        </p:nvGraphicFramePr>
        <p:xfrm>
          <a:off x="333375" y="619136"/>
          <a:ext cx="12191365" cy="2407920"/>
        </p:xfrm>
        <a:graphic>
          <a:graphicData uri="http://schemas.openxmlformats.org/drawingml/2006/table">
            <a:tbl>
              <a:tblPr/>
              <a:tblGrid>
                <a:gridCol w="1443989"/>
                <a:gridCol w="4053840"/>
                <a:gridCol w="3458209"/>
                <a:gridCol w="3235325"/>
              </a:tblGrid>
              <a:tr h="476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37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b="1" kern="0" spc="7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574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200" b="1" kern="0" spc="9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解决的问题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482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证据图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3695" algn="l" rtl="0" eaLnBrk="0">
                        <a:lnSpc>
                          <a:spcPct val="87000"/>
                        </a:lnSpc>
                      </a:pPr>
                      <a:r>
                        <a:rPr sz="2200" b="1" kern="0" spc="9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形成的判断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375" algn="l" rtl="0" eaLnBrk="0">
                        <a:lnSpc>
                          <a:spcPts val="2970"/>
                        </a:lnSpc>
                      </a:pP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</a:t>
                      </a:r>
                      <a:r>
                        <a:rPr sz="2200" kern="0" spc="2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9075" algn="l" rtl="0" eaLnBrk="0">
                        <a:lnSpc>
                          <a:spcPts val="2970"/>
                        </a:lnSpc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哪类死因的负担最重？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673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累计死亡人数对比图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179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确定主要矛盾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79375" algn="l" rtl="0" eaLnBrk="0">
                        <a:lnSpc>
                          <a:spcPts val="2950"/>
                        </a:lnSpc>
                      </a:pP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</a:t>
                      </a:r>
                      <a:r>
                        <a:rPr sz="2200" kern="0" spc="1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8280" algn="l" rtl="0" eaLnBrk="0">
                        <a:lnSpc>
                          <a:spcPts val="295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高死亡集中在哪些月份？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9905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月度堆叠柱形图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4330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识别时间模式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37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巩固提升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10820" algn="l" rtl="0" eaLnBrk="0">
                        <a:lnSpc>
                          <a:spcPts val="295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三类死因的变化是否一致？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165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分面图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2425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分开看各自的节奏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79375" algn="l" rtl="0" eaLnBrk="0">
                        <a:lnSpc>
                          <a:spcPts val="2950"/>
                        </a:lnSpc>
                      </a:pP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</a:t>
                      </a:r>
                      <a:r>
                        <a:rPr sz="2200" kern="0" spc="1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12725" algn="l" rtl="0" eaLnBrk="0">
                        <a:lnSpc>
                          <a:spcPts val="2950"/>
                        </a:lnSpc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改革前后怎样变化？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165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分面对比图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5760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比较阶段差异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79375" algn="l" rtl="0" eaLnBrk="0">
                        <a:lnSpc>
                          <a:spcPts val="2900"/>
                        </a:lnSpc>
                      </a:pP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 4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06375" algn="l" rtl="0" eaLnBrk="0">
                        <a:lnSpc>
                          <a:spcPts val="290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玫瑰图适合什么目的？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2285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柱形图与玫瑰图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4965" algn="l" rtl="0" eaLnBrk="0">
                        <a:lnSpc>
                          <a:spcPct val="8700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评价图形选择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030" name="rect 2030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32" name="textbox 2032"/>
          <p:cNvSpPr/>
          <p:nvPr/>
        </p:nvSpPr>
        <p:spPr>
          <a:xfrm>
            <a:off x="2624158" y="3196363"/>
            <a:ext cx="7757159" cy="3187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200" b="1" kern="0" spc="8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项目结论来自多幅图的相互支持</a:t>
            </a:r>
            <a:r>
              <a:rPr sz="2200" b="1" kern="0" spc="-33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b="1" kern="0" spc="8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200" b="1" kern="0" spc="-53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b="1" kern="0" spc="8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而不是一幅”好看的图”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4" name="rect 2034"/>
          <p:cNvSpPr/>
          <p:nvPr/>
        </p:nvSpPr>
        <p:spPr>
          <a:xfrm>
            <a:off x="112966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36" name="textbox 2036"/>
          <p:cNvSpPr/>
          <p:nvPr/>
        </p:nvSpPr>
        <p:spPr>
          <a:xfrm>
            <a:off x="7591902" y="245057"/>
            <a:ext cx="4866640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38" name="picture 20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2040" name="textbox 2040"/>
          <p:cNvSpPr/>
          <p:nvPr/>
        </p:nvSpPr>
        <p:spPr>
          <a:xfrm>
            <a:off x="12561062" y="6949591"/>
            <a:ext cx="167639" cy="136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0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77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rect 2042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44" name="rect 2044"/>
          <p:cNvSpPr/>
          <p:nvPr/>
        </p:nvSpPr>
        <p:spPr>
          <a:xfrm>
            <a:off x="352425" y="704861"/>
            <a:ext cx="12172950" cy="2543175"/>
          </a:xfrm>
          <a:prstGeom prst="rect">
            <a:avLst/>
          </a:prstGeom>
          <a:solidFill>
            <a:srgbClr val="FFD166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046" name="picture 20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704861"/>
            <a:ext cx="47625" cy="2543163"/>
          </a:xfrm>
          <a:prstGeom prst="rect">
            <a:avLst/>
          </a:prstGeom>
        </p:spPr>
      </p:pic>
      <p:sp>
        <p:nvSpPr>
          <p:cNvPr id="2048" name="rect 2048"/>
          <p:cNvSpPr/>
          <p:nvPr/>
        </p:nvSpPr>
        <p:spPr>
          <a:xfrm>
            <a:off x="371475" y="704861"/>
            <a:ext cx="12153900" cy="447675"/>
          </a:xfrm>
          <a:prstGeom prst="rect">
            <a:avLst/>
          </a:prstGeom>
          <a:solidFill>
            <a:srgbClr val="FFD166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50" name="textbox 2050"/>
          <p:cNvSpPr/>
          <p:nvPr/>
        </p:nvSpPr>
        <p:spPr>
          <a:xfrm>
            <a:off x="358775" y="798574"/>
            <a:ext cx="12179300" cy="22993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tabLst>
                <a:tab pos="299720" algn="l"/>
              </a:tabLst>
            </a:pP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100" b="1" kern="0" spc="-8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【先想一想】把证据组织成一段结论</a:t>
            </a: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3035" algn="l" rtl="0" eaLnBrk="0">
              <a:lnSpc>
                <a:spcPct val="87000"/>
              </a:lnSpc>
              <a:spcBef>
                <a:spcPts val="1725"/>
              </a:spcBef>
            </a:pP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改革前，</a:t>
            </a:r>
            <a:r>
              <a:rPr sz="2100" u="sng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</a:t>
            </a:r>
            <a:r>
              <a:rPr sz="2100" kern="0" spc="-5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是士兵死亡的主要原因；改革后，</a:t>
            </a:r>
            <a:r>
              <a:rPr sz="2100" u="sng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4940" algn="l" rtl="0" eaLnBrk="0">
              <a:lnSpc>
                <a:spcPct val="87000"/>
              </a:lnSpc>
              <a:spcBef>
                <a:spcPts val="1695"/>
              </a:spcBef>
            </a:pPr>
            <a:r>
              <a:rPr sz="2100" b="1" kern="0" spc="-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建议：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有限资源应优先用于 </a:t>
            </a:r>
            <a:r>
              <a:rPr sz="2100" u="sng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100" kern="0" spc="-4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同时保留必要的战伤救治。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5575" algn="l" rtl="0" eaLnBrk="0">
              <a:lnSpc>
                <a:spcPct val="116000"/>
              </a:lnSpc>
              <a:spcBef>
                <a:spcPts val="1320"/>
              </a:spcBef>
            </a:pPr>
            <a:r>
              <a:rPr sz="2100" b="1" kern="0" spc="-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sz="2100" kern="0" spc="2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1、任务 2、任务</a:t>
            </a:r>
            <a:r>
              <a:rPr sz="2100" kern="0" spc="1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分别从 </a:t>
            </a:r>
            <a:r>
              <a:rPr sz="2100" u="sng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</a:t>
            </a:r>
            <a:r>
              <a:rPr sz="2100" kern="0" spc="-4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2100" u="sng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sz="2100" u="sng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sz="2100" kern="0" spc="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 </a:t>
            </a:r>
            <a:r>
              <a:rPr sz="2100" u="sng" kern="0" spc="-40" dirty="0">
                <a:solidFill>
                  <a:srgbClr val="F3F6F9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</a:t>
            </a:r>
            <a:r>
              <a:rPr sz="2100" kern="0" spc="-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提供支持。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2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4940" algn="l" rtl="0" eaLnBrk="0">
              <a:lnSpc>
                <a:spcPct val="88000"/>
              </a:lnSpc>
              <a:spcBef>
                <a:spcPts val="5"/>
              </a:spcBef>
            </a:pPr>
            <a:r>
              <a:rPr sz="2100" b="1" kern="0" spc="-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局限：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数据没有记录 </a:t>
            </a:r>
            <a:r>
              <a:rPr sz="2100" u="sng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100" kern="0" spc="-3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因此不能把全部变化简单归因于卫生改革。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52" name="rect 2052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54" name="textbox 2054"/>
          <p:cNvSpPr/>
          <p:nvPr/>
        </p:nvSpPr>
        <p:spPr>
          <a:xfrm>
            <a:off x="324636" y="3344915"/>
            <a:ext cx="10194290" cy="360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</a:pPr>
            <a:r>
              <a:rPr sz="25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科学表达包含两部分：</a:t>
            </a:r>
            <a:r>
              <a:rPr sz="2500" kern="0" spc="-6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b="1" kern="0" spc="2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说清证据支持什么</a:t>
            </a:r>
            <a:r>
              <a:rPr sz="2500" b="1" kern="0" spc="-42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b="1" kern="0" spc="2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b="1" kern="0" spc="-6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b="1" kern="0" spc="2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也说清证据不能证明什么。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56" name="rect 2056"/>
          <p:cNvSpPr/>
          <p:nvPr/>
        </p:nvSpPr>
        <p:spPr>
          <a:xfrm>
            <a:off x="112966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58" name="textbox 2058"/>
          <p:cNvSpPr/>
          <p:nvPr/>
        </p:nvSpPr>
        <p:spPr>
          <a:xfrm>
            <a:off x="7591902" y="245057"/>
            <a:ext cx="4866640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60" name="picture 20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619136"/>
            <a:ext cx="12192000" cy="19050"/>
          </a:xfrm>
          <a:prstGeom prst="rect">
            <a:avLst/>
          </a:prstGeom>
        </p:spPr>
      </p:pic>
      <p:pic>
        <p:nvPicPr>
          <p:cNvPr id="2062" name="picture 20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2064" name="textbox 2064"/>
          <p:cNvSpPr/>
          <p:nvPr/>
        </p:nvSpPr>
        <p:spPr>
          <a:xfrm>
            <a:off x="12561062" y="6906786"/>
            <a:ext cx="167639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78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rect 2066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2068" name="table 2068"/>
          <p:cNvGraphicFramePr>
            <a:graphicFrameLocks noGrp="1"/>
          </p:cNvGraphicFramePr>
          <p:nvPr/>
        </p:nvGraphicFramePr>
        <p:xfrm>
          <a:off x="333375" y="619136"/>
          <a:ext cx="12192000" cy="4666615"/>
        </p:xfrm>
        <a:graphic>
          <a:graphicData uri="http://schemas.openxmlformats.org/drawingml/2006/table">
            <a:tbl>
              <a:tblPr/>
              <a:tblGrid>
                <a:gridCol w="12192000"/>
              </a:tblGrid>
              <a:tr h="533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67D6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41332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6690" indent="-8255" algn="l" rtl="0" eaLnBrk="0">
                        <a:lnSpc>
                          <a:spcPct val="107000"/>
                        </a:lnSpc>
                        <a:spcBef>
                          <a:spcPts val="5"/>
                        </a:spcBef>
                      </a:pPr>
                      <a:r>
                        <a:rPr sz="2100" b="1" kern="0" spc="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结论：</a:t>
                      </a:r>
                      <a:r>
                        <a:rPr sz="21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改革前（1854 年 4 月—18</a:t>
                      </a:r>
                      <a:r>
                        <a:rPr sz="2100" kern="0" spc="-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55 年 3 月）英军死亡负担以</a:t>
                      </a:r>
                      <a:r>
                        <a:rPr sz="2100" b="1" kern="0" spc="-1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可预防疾病</a:t>
                      </a:r>
                      <a:r>
                        <a:rPr sz="2100" kern="0" spc="-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为主，共</a:t>
                      </a:r>
                      <a:r>
                        <a:rPr sz="2100" kern="0" spc="1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100" b="1" kern="0" spc="-1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11157 </a:t>
                      </a:r>
                      <a:r>
                        <a:rPr sz="2100" kern="0" spc="-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人，占</a:t>
                      </a:r>
                      <a:r>
                        <a:rPr sz="21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2100" b="1" kern="0" spc="-2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83.93%</a:t>
                      </a:r>
                      <a:r>
                        <a:rPr sz="2100" kern="0" spc="-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；死亡风险在冬季高度集中，</a:t>
                      </a:r>
                      <a:r>
                        <a:rPr sz="2100" kern="0" spc="-40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100" kern="0" spc="-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1855 年</a:t>
                      </a:r>
                      <a:r>
                        <a:rPr sz="2100" kern="0" spc="2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100" kern="0" spc="-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月的月合计年化死</a:t>
                      </a:r>
                      <a:r>
                        <a:rPr sz="2100" kern="0" spc="-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亡率达</a:t>
                      </a:r>
                      <a:r>
                        <a:rPr sz="2100" kern="0" spc="20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100" b="1" kern="0" spc="-3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1173.5</a:t>
                      </a:r>
                      <a:r>
                        <a:rPr sz="2100" kern="0" spc="-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（每千人年）。</a:t>
                      </a:r>
                      <a:endParaRPr sz="2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89230" indent="-8255" algn="l" rtl="0" eaLnBrk="0">
                        <a:lnSpc>
                          <a:spcPct val="102000"/>
                        </a:lnSpc>
                        <a:spcBef>
                          <a:spcPts val="970"/>
                        </a:spcBef>
                      </a:pPr>
                      <a:r>
                        <a:rPr sz="2100" b="1" kern="0" spc="-1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证据：</a:t>
                      </a:r>
                      <a:r>
                        <a:rPr sz="2100" kern="0" spc="-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改革前后对比，可预防疾病的平均年化死亡率由</a:t>
                      </a:r>
                      <a:r>
                        <a:rPr sz="2100" kern="0" spc="1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100" b="1" kern="0" spc="-1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358.17 </a:t>
                      </a:r>
                      <a:r>
                        <a:rPr sz="2100" kern="0" spc="-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降至 </a:t>
                      </a:r>
                      <a:r>
                        <a:rPr sz="2100" b="1" kern="0" spc="-1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84.85</a:t>
                      </a:r>
                      <a:r>
                        <a:rPr sz="2100" kern="0" spc="-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，降</a:t>
                      </a:r>
                      <a:r>
                        <a:rPr sz="2100" kern="0" spc="-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幅约</a:t>
                      </a:r>
                      <a:r>
                        <a:rPr sz="2100" kern="0" spc="2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100" b="1" kern="0" spc="-2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76.31%</a:t>
                      </a:r>
                      <a:r>
                        <a:rPr sz="2100" kern="0" spc="-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；同期</a:t>
                      </a:r>
                      <a:r>
                        <a:rPr sz="21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100" kern="0" spc="-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战伤仅由 25.12 变为 23.32（__7.2</a:t>
                      </a:r>
                      <a:r>
                        <a:rPr sz="2100" kern="0" spc="-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0%</a:t>
                      </a:r>
                      <a:r>
                        <a:rPr sz="2100" kern="0" spc="-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），</a:t>
                      </a:r>
                      <a:r>
                        <a:rPr sz="2100" kern="0" spc="-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基本持平。</a:t>
                      </a:r>
                      <a:endParaRPr sz="2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80975" indent="-635" algn="l" rtl="0" eaLnBrk="0">
                        <a:lnSpc>
                          <a:spcPct val="91000"/>
                        </a:lnSpc>
                        <a:spcBef>
                          <a:spcPts val="1570"/>
                        </a:spcBef>
                      </a:pPr>
                      <a:r>
                        <a:rPr sz="2100" b="1" kern="0" spc="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建议：</a:t>
                      </a:r>
                      <a:r>
                        <a:rPr sz="21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应优先重视</a:t>
                      </a:r>
                      <a:r>
                        <a:rPr sz="2100" b="1" kern="0" spc="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病区环境卫生与疾病防控</a:t>
                      </a:r>
                      <a:r>
                        <a:rPr sz="21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，并继续监测季节性疾病高发月份；战</a:t>
                      </a:r>
                      <a:r>
                        <a:rPr sz="2100" kern="0" spc="-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伤救治需单独安排 </a:t>
                      </a:r>
                      <a:r>
                        <a:rPr sz="2100" kern="0" spc="-1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资源。</a:t>
                      </a:r>
                      <a:endParaRPr sz="2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84150" indent="7620" algn="l" rtl="0" eaLnBrk="0">
                        <a:lnSpc>
                          <a:spcPct val="89000"/>
                        </a:lnSpc>
                        <a:spcBef>
                          <a:spcPts val="1805"/>
                        </a:spcBef>
                      </a:pPr>
                      <a:r>
                        <a:rPr sz="2100" b="1" kern="0" spc="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图形选择：</a:t>
                      </a:r>
                      <a:r>
                        <a:rPr sz="21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分析用</a:t>
                      </a:r>
                      <a:r>
                        <a:rPr sz="2100" b="1" kern="0" spc="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分面堆叠柱形图</a:t>
                      </a:r>
                      <a:r>
                        <a:rPr sz="21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（柱高与数值直接对应</a:t>
                      </a:r>
                      <a:r>
                        <a:rPr sz="2100" kern="0" spc="-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）；</a:t>
                      </a:r>
                      <a:r>
                        <a:rPr sz="21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公</a:t>
                      </a:r>
                      <a:r>
                        <a:rPr sz="2100" kern="0" spc="-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众传播可考虑</a:t>
                      </a:r>
                      <a:r>
                        <a:rPr sz="2100" b="1" kern="0" spc="-1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玫瑰图</a:t>
                      </a:r>
                      <a:r>
                        <a:rPr sz="2100" kern="0" spc="-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，但须说明扇形</a:t>
                      </a:r>
                      <a:r>
                        <a:rPr sz="21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100" kern="0" spc="-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面积的含义。</a:t>
                      </a:r>
                      <a:endParaRPr sz="2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9705" indent="635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2100" b="1" kern="0" spc="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局限：</a:t>
                      </a:r>
                      <a:r>
                        <a:rPr sz="21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数据缺少气温、营地密度、兵员构成等信息，也缺少平行对照，两阶段差异不能完</a:t>
                      </a:r>
                      <a:r>
                        <a:rPr sz="2100" kern="0" spc="-1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全归因于卫</a:t>
                      </a:r>
                      <a:r>
                        <a:rPr sz="21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100" kern="0" spc="-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生改革。</a:t>
                      </a:r>
                      <a:endParaRPr sz="2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47625" cap="flat" cmpd="sng" algn="ctr">
                      <a:solidFill>
                        <a:srgbClr val="67D6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92521"/>
                    </a:solidFill>
                  </a:tcPr>
                </a:tc>
              </a:tr>
            </a:tbl>
          </a:graphicData>
        </a:graphic>
      </p:graphicFrame>
      <p:sp>
        <p:nvSpPr>
          <p:cNvPr id="2070" name="textbox 2070"/>
          <p:cNvSpPr/>
          <p:nvPr/>
        </p:nvSpPr>
        <p:spPr>
          <a:xfrm>
            <a:off x="371475" y="704861"/>
            <a:ext cx="12153900" cy="447675"/>
          </a:xfrm>
          <a:prstGeom prst="rect">
            <a:avLst/>
          </a:prstGeom>
          <a:solidFill>
            <a:srgbClr val="67D6B4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7020" algn="l" rtl="0" eaLnBrk="0">
              <a:lnSpc>
                <a:spcPts val="2770"/>
              </a:lnSpc>
            </a:pPr>
            <a:r>
              <a:rPr sz="2100" b="1" kern="0" spc="-12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【参考答案】约</a:t>
            </a:r>
            <a:r>
              <a:rPr sz="2100" b="1" kern="0" spc="25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b="1" kern="0" spc="-12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240 字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72" name="rect 2072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74" name="rect 2074"/>
          <p:cNvSpPr/>
          <p:nvPr/>
        </p:nvSpPr>
        <p:spPr>
          <a:xfrm>
            <a:off x="112966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76" name="textbox 2076"/>
          <p:cNvSpPr/>
          <p:nvPr/>
        </p:nvSpPr>
        <p:spPr>
          <a:xfrm>
            <a:off x="7591902" y="245057"/>
            <a:ext cx="4866640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78" name="picture 207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2080" name="textbox 2080"/>
          <p:cNvSpPr/>
          <p:nvPr/>
        </p:nvSpPr>
        <p:spPr>
          <a:xfrm>
            <a:off x="12561062" y="6906786"/>
            <a:ext cx="167639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79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rect 2082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2084" name="table 2084"/>
          <p:cNvGraphicFramePr>
            <a:graphicFrameLocks noGrp="1"/>
          </p:cNvGraphicFramePr>
          <p:nvPr/>
        </p:nvGraphicFramePr>
        <p:xfrm>
          <a:off x="333375" y="619136"/>
          <a:ext cx="12192000" cy="2818765"/>
        </p:xfrm>
        <a:graphic>
          <a:graphicData uri="http://schemas.openxmlformats.org/drawingml/2006/table">
            <a:tbl>
              <a:tblPr/>
              <a:tblGrid>
                <a:gridCol w="12192000"/>
              </a:tblGrid>
              <a:tr h="476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49020" algn="l" rtl="0" eaLnBrk="0">
                        <a:lnSpc>
                          <a:spcPct val="87000"/>
                        </a:lnSpc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步骤</a:t>
                      </a:r>
                      <a:r>
                        <a:rPr sz="2200" b="1" kern="0" spc="65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本项目中的决定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485900" algn="l" rtl="0" eaLnBrk="0">
                        <a:lnSpc>
                          <a:spcPts val="297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r>
                        <a:rPr sz="2200" kern="0" spc="5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从公共卫生决策中提出真实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问题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1472565" algn="l" rtl="0" eaLnBrk="0">
                        <a:lnSpc>
                          <a:spcPts val="295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r>
                        <a:rPr sz="2200" kern="0" spc="6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认识数据并选择可比较的</a:t>
                      </a:r>
                      <a:r>
                        <a:rPr sz="2200" b="1" kern="0" spc="8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1475740" algn="l" rtl="0" eaLnBrk="0">
                        <a:lnSpc>
                          <a:spcPts val="2950"/>
                        </a:lnSpc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r>
                        <a:rPr sz="2200" kern="0" spc="6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建立</a:t>
                      </a:r>
                      <a:r>
                        <a:rPr sz="2200" b="1" kern="0" spc="7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变量 → 视觉通道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的映射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1457960" algn="l" rtl="0" eaLnBrk="0">
                        <a:lnSpc>
                          <a:spcPts val="2950"/>
                        </a:lnSpc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r>
                        <a:rPr sz="2200" kern="0" spc="5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 </a:t>
                      </a:r>
                      <a:r>
                        <a:rPr sz="2200" kern="0" spc="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ggplot</a:t>
                      </a: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r>
                        <a:rPr sz="2200" kern="0" spc="1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图层</a:t>
                      </a:r>
                      <a:r>
                        <a:rPr sz="2200" b="1" kern="0" spc="9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构建图形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1480185" algn="l" rtl="0" eaLnBrk="0">
                        <a:lnSpc>
                          <a:spcPts val="295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</a:t>
                      </a:r>
                      <a:r>
                        <a:rPr sz="2200" kern="0" spc="60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从图中提取</a:t>
                      </a:r>
                      <a:r>
                        <a:rPr sz="2200" b="1" kern="0" spc="8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证据</a:t>
                      </a: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并检验自己的预测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1472565" algn="l" rtl="0" eaLnBrk="0">
                        <a:lnSpc>
                          <a:spcPts val="2950"/>
                        </a:lnSpc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</a:t>
                      </a:r>
                      <a:r>
                        <a:rPr sz="2200" kern="0" spc="3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比较不同</a:t>
                      </a:r>
                      <a:r>
                        <a:rPr sz="2200" b="1" kern="0" spc="70" dirty="0">
                          <a:solidFill>
                            <a:srgbClr val="FFD16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图形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的表达价值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86" name="rect 2086"/>
          <p:cNvSpPr/>
          <p:nvPr/>
        </p:nvSpPr>
        <p:spPr>
          <a:xfrm>
            <a:off x="352425" y="3895736"/>
            <a:ext cx="12172950" cy="1047750"/>
          </a:xfrm>
          <a:prstGeom prst="rect">
            <a:avLst/>
          </a:prstGeom>
          <a:solidFill>
            <a:srgbClr val="78C8F5">
              <a:alpha val="745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088" name="picture 20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3895736"/>
            <a:ext cx="47625" cy="1047738"/>
          </a:xfrm>
          <a:prstGeom prst="rect">
            <a:avLst/>
          </a:prstGeom>
        </p:spPr>
      </p:pic>
      <p:sp>
        <p:nvSpPr>
          <p:cNvPr id="2090" name="rect 2090"/>
          <p:cNvSpPr/>
          <p:nvPr/>
        </p:nvSpPr>
        <p:spPr>
          <a:xfrm>
            <a:off x="371475" y="3895736"/>
            <a:ext cx="12153900" cy="447675"/>
          </a:xfrm>
          <a:prstGeom prst="rect">
            <a:avLst/>
          </a:prstGeom>
          <a:solidFill>
            <a:srgbClr val="78C8F5">
              <a:alpha val="1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92" name="textbox 2092"/>
          <p:cNvSpPr/>
          <p:nvPr/>
        </p:nvSpPr>
        <p:spPr>
          <a:xfrm>
            <a:off x="500454" y="3418561"/>
            <a:ext cx="6392545" cy="13773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04290" algn="l" rtl="0" eaLnBrk="0">
              <a:lnSpc>
                <a:spcPts val="2970"/>
              </a:lnSpc>
            </a:pPr>
            <a:r>
              <a:rPr sz="22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sz="2200" kern="0" spc="5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</a:t>
            </a:r>
            <a:r>
              <a:rPr sz="2200" b="1" kern="0" spc="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r>
              <a:rPr sz="2200" b="1" kern="0" spc="-3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200" kern="0" spc="-3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同时说明局限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3590"/>
              </a:lnSpc>
            </a:pPr>
            <a:r>
              <a:rPr sz="2100" b="1" kern="0" spc="-3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710"/>
              </a:lnSpc>
            </a:pPr>
            <a:r>
              <a:rPr sz="2100" kern="0" spc="-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ggplot2 提</a:t>
            </a:r>
            <a:r>
              <a:rPr sz="2100" kern="0" spc="-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供绘图规则，</a:t>
            </a:r>
            <a:r>
              <a:rPr sz="2100" b="1" kern="0" spc="-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分析目的决定使用哪些规则</a:t>
            </a:r>
            <a:r>
              <a:rPr sz="2100" kern="0" spc="-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94" name="rect 2094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96" name="rect 2096"/>
          <p:cNvSpPr/>
          <p:nvPr/>
        </p:nvSpPr>
        <p:spPr>
          <a:xfrm>
            <a:off x="112966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98" name="textbox 2098"/>
          <p:cNvSpPr/>
          <p:nvPr/>
        </p:nvSpPr>
        <p:spPr>
          <a:xfrm>
            <a:off x="7591902" y="245057"/>
            <a:ext cx="4866640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00" name="picture 21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-228600" y="4874271"/>
            <a:ext cx="12192000" cy="9525"/>
          </a:xfrm>
          <a:prstGeom prst="rect">
            <a:avLst/>
          </a:prstGeom>
        </p:spPr>
      </p:pic>
      <p:sp>
        <p:nvSpPr>
          <p:cNvPr id="2102" name="textbox 2102"/>
          <p:cNvSpPr/>
          <p:nvPr/>
        </p:nvSpPr>
        <p:spPr>
          <a:xfrm>
            <a:off x="12560262" y="6906786"/>
            <a:ext cx="16827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80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rect 2104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06" name="rect 2106"/>
          <p:cNvSpPr/>
          <p:nvPr/>
        </p:nvSpPr>
        <p:spPr>
          <a:xfrm>
            <a:off x="352425" y="3552836"/>
            <a:ext cx="12172950" cy="1847850"/>
          </a:xfrm>
          <a:prstGeom prst="rect">
            <a:avLst/>
          </a:prstGeom>
          <a:solidFill>
            <a:srgbClr val="FF9F87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08" name="textbox 2108"/>
          <p:cNvSpPr/>
          <p:nvPr/>
        </p:nvSpPr>
        <p:spPr>
          <a:xfrm>
            <a:off x="501067" y="4132858"/>
            <a:ext cx="11490325" cy="1100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kern="0" spc="-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 AI 本身</a:t>
            </a:r>
            <a:r>
              <a:rPr sz="2100" b="1" kern="0" spc="-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不加分</a:t>
            </a:r>
            <a:r>
              <a:rPr sz="2100" b="1" kern="0" spc="-3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100" b="1" kern="0" spc="-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能否</a:t>
            </a:r>
            <a:r>
              <a:rPr sz="2100" b="1" kern="0" spc="-8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核验</a:t>
            </a:r>
            <a:r>
              <a:rPr sz="2100" kern="0" spc="-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才加分。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4000"/>
              </a:lnSpc>
            </a:pP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2540" algn="l" rtl="0" eaLnBrk="0">
              <a:lnSpc>
                <a:spcPct val="92000"/>
              </a:lnSpc>
              <a:spcBef>
                <a:spcPts val="5"/>
              </a:spcBef>
            </a:pPr>
            <a:r>
              <a:rPr sz="2100" b="1" kern="0" spc="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可选提示词：</a:t>
            </a:r>
            <a:r>
              <a:rPr sz="21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”请检查我的图表、数值与结论，指出单位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2100" kern="0" spc="-5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-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比较范围、面积编码和因果措辞上的问</a:t>
            </a:r>
            <a:r>
              <a:rPr sz="21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题，最多两处，并给出核验方法，不要</a:t>
            </a:r>
            <a:r>
              <a:rPr sz="2100" kern="0" spc="3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补充我未提供的数值。”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10" name="textbox 2110"/>
          <p:cNvSpPr/>
          <p:nvPr/>
        </p:nvSpPr>
        <p:spPr>
          <a:xfrm>
            <a:off x="6454775" y="757312"/>
            <a:ext cx="4279265" cy="24885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0800" algn="l" rtl="0" eaLnBrk="0">
              <a:lnSpc>
                <a:spcPct val="87000"/>
              </a:lnSpc>
            </a:pPr>
            <a:r>
              <a:rPr sz="2400" kern="0" spc="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必须由你完成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0" algn="l" rtl="0" eaLnBrk="0">
              <a:lnSpc>
                <a:spcPct val="87000"/>
              </a:lnSpc>
              <a:spcBef>
                <a:spcPts val="755"/>
              </a:spcBef>
              <a:tabLst>
                <a:tab pos="328295" algn="l"/>
              </a:tabLst>
            </a:pP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明确分析目的、</a:t>
            </a:r>
            <a:r>
              <a:rPr sz="2500" kern="0" spc="-6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选择指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0" algn="l" rtl="0" eaLnBrk="0">
              <a:lnSpc>
                <a:spcPct val="132000"/>
              </a:lnSpc>
              <a:spcBef>
                <a:spcPts val="315"/>
              </a:spcBef>
              <a:tabLst>
                <a:tab pos="307975" algn="l"/>
                <a:tab pos="311150" algn="l"/>
              </a:tabLst>
            </a:pP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5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设计变量与视觉通道的映射</a:t>
            </a: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5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解释关键代码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0" algn="l" rtl="0" eaLnBrk="0">
              <a:lnSpc>
                <a:spcPct val="87000"/>
              </a:lnSpc>
              <a:spcBef>
                <a:spcPts val="5"/>
              </a:spcBef>
              <a:tabLst>
                <a:tab pos="309245" algn="l"/>
              </a:tabLst>
            </a:pP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5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核验图形与结论是否一致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12" name="picture 21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467475" y="3009911"/>
            <a:ext cx="114300" cy="114300"/>
          </a:xfrm>
          <a:prstGeom prst="rect">
            <a:avLst/>
          </a:prstGeom>
        </p:spPr>
      </p:pic>
      <p:pic>
        <p:nvPicPr>
          <p:cNvPr id="2114" name="picture 21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467475" y="2505086"/>
            <a:ext cx="114300" cy="114300"/>
          </a:xfrm>
          <a:prstGeom prst="rect">
            <a:avLst/>
          </a:prstGeom>
        </p:spPr>
      </p:pic>
      <p:pic>
        <p:nvPicPr>
          <p:cNvPr id="2116" name="picture 21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467475" y="1990736"/>
            <a:ext cx="114300" cy="114300"/>
          </a:xfrm>
          <a:prstGeom prst="rect">
            <a:avLst/>
          </a:prstGeom>
        </p:spPr>
      </p:pic>
      <p:pic>
        <p:nvPicPr>
          <p:cNvPr id="2118" name="picture 21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467475" y="1485911"/>
            <a:ext cx="114300" cy="114300"/>
          </a:xfrm>
          <a:prstGeom prst="rect">
            <a:avLst/>
          </a:prstGeom>
        </p:spPr>
      </p:pic>
      <p:sp>
        <p:nvSpPr>
          <p:cNvPr id="2120" name="textbox 2120"/>
          <p:cNvSpPr/>
          <p:nvPr/>
        </p:nvSpPr>
        <p:spPr>
          <a:xfrm>
            <a:off x="318236" y="757312"/>
            <a:ext cx="4319904" cy="19837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400" b="1" kern="0" spc="0" dirty="0">
                <a:solidFill>
                  <a:srgbClr val="78C8F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</a:t>
            </a:r>
            <a:r>
              <a:rPr sz="2400" b="1" kern="0" spc="180" dirty="0">
                <a:solidFill>
                  <a:srgbClr val="78C8F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5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可以帮你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7005" algn="l" rtl="0" eaLnBrk="0">
              <a:lnSpc>
                <a:spcPct val="86000"/>
              </a:lnSpc>
              <a:spcBef>
                <a:spcPts val="750"/>
              </a:spcBef>
              <a:tabLst>
                <a:tab pos="348615" algn="l"/>
              </a:tabLst>
            </a:pP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5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解释报错和函数参数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7005" algn="l" rtl="0" eaLnBrk="0">
              <a:lnSpc>
                <a:spcPts val="3950"/>
              </a:lnSpc>
              <a:tabLst>
                <a:tab pos="361950" algn="l"/>
              </a:tabLst>
            </a:pP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比较两段代码的差异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7005" algn="l" rtl="0" eaLnBrk="0">
              <a:lnSpc>
                <a:spcPct val="88000"/>
              </a:lnSpc>
              <a:tabLst>
                <a:tab pos="349250" algn="l"/>
              </a:tabLst>
            </a:pP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提出标签、</a:t>
            </a:r>
            <a:r>
              <a:rPr sz="2500" kern="0" spc="-5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配色和布局建议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22" name="picture 21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71475" y="2505086"/>
            <a:ext cx="114300" cy="114300"/>
          </a:xfrm>
          <a:prstGeom prst="rect">
            <a:avLst/>
          </a:prstGeom>
        </p:spPr>
      </p:pic>
      <p:pic>
        <p:nvPicPr>
          <p:cNvPr id="2124" name="picture 21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71475" y="1990736"/>
            <a:ext cx="114300" cy="114300"/>
          </a:xfrm>
          <a:prstGeom prst="rect">
            <a:avLst/>
          </a:prstGeom>
        </p:spPr>
      </p:pic>
      <p:pic>
        <p:nvPicPr>
          <p:cNvPr id="2126" name="picture 21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71475" y="1485911"/>
            <a:ext cx="114300" cy="114300"/>
          </a:xfrm>
          <a:prstGeom prst="rect">
            <a:avLst/>
          </a:prstGeom>
        </p:spPr>
      </p:pic>
      <p:pic>
        <p:nvPicPr>
          <p:cNvPr id="2128" name="picture 21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33375" y="3552836"/>
            <a:ext cx="47625" cy="1847838"/>
          </a:xfrm>
          <a:prstGeom prst="rect">
            <a:avLst/>
          </a:prstGeom>
        </p:spPr>
      </p:pic>
      <p:sp>
        <p:nvSpPr>
          <p:cNvPr id="2130" name="textbox 2130"/>
          <p:cNvSpPr/>
          <p:nvPr/>
        </p:nvSpPr>
        <p:spPr>
          <a:xfrm>
            <a:off x="371475" y="3552836"/>
            <a:ext cx="12153900" cy="447675"/>
          </a:xfrm>
          <a:prstGeom prst="rect">
            <a:avLst/>
          </a:prstGeom>
          <a:solidFill>
            <a:srgbClr val="FF9F87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5255" algn="l" rtl="0" eaLnBrk="0">
              <a:lnSpc>
                <a:spcPct val="86000"/>
              </a:lnSpc>
              <a:spcBef>
                <a:spcPts val="5"/>
              </a:spcBef>
            </a:pPr>
            <a:r>
              <a:rPr sz="2100" b="1" kern="0" spc="-1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使用原则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32" name="rect 2132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34" name="rect 2134"/>
          <p:cNvSpPr/>
          <p:nvPr/>
        </p:nvSpPr>
        <p:spPr>
          <a:xfrm>
            <a:off x="112966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36" name="textbox 2136"/>
          <p:cNvSpPr/>
          <p:nvPr/>
        </p:nvSpPr>
        <p:spPr>
          <a:xfrm>
            <a:off x="7591902" y="245057"/>
            <a:ext cx="4866640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38" name="picture 21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33375" y="619136"/>
            <a:ext cx="12192000" cy="19050"/>
          </a:xfrm>
          <a:prstGeom prst="rect">
            <a:avLst/>
          </a:prstGeom>
        </p:spPr>
      </p:pic>
      <p:pic>
        <p:nvPicPr>
          <p:cNvPr id="2140" name="picture 21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2142" name="textbox 2142"/>
          <p:cNvSpPr/>
          <p:nvPr/>
        </p:nvSpPr>
        <p:spPr>
          <a:xfrm>
            <a:off x="12560262" y="6906786"/>
            <a:ext cx="16827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81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rect 2144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2146" name="table 2146"/>
          <p:cNvGraphicFramePr>
            <a:graphicFrameLocks noGrp="1"/>
          </p:cNvGraphicFramePr>
          <p:nvPr/>
        </p:nvGraphicFramePr>
        <p:xfrm>
          <a:off x="333375" y="619136"/>
          <a:ext cx="12191365" cy="2037715"/>
        </p:xfrm>
        <a:graphic>
          <a:graphicData uri="http://schemas.openxmlformats.org/drawingml/2006/table">
            <a:tbl>
              <a:tblPr/>
              <a:tblGrid>
                <a:gridCol w="3368675"/>
                <a:gridCol w="8822690"/>
              </a:tblGrid>
              <a:tr h="476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28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评价维度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57300" algn="l" rtl="0" eaLnBrk="0">
                        <a:lnSpc>
                          <a:spcPct val="87000"/>
                        </a:lnSpc>
                      </a:pP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权重</a:t>
                      </a:r>
                      <a:r>
                        <a:rPr sz="2200" b="1" kern="0" spc="61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b="1" kern="0" spc="80" dirty="0">
                          <a:solidFill>
                            <a:srgbClr val="78C8F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评价证据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78C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问题与分析目的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65555" algn="l" rtl="0" eaLnBrk="0">
                        <a:lnSpc>
                          <a:spcPts val="2970"/>
                        </a:lnSpc>
                      </a:pP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15%</a:t>
                      </a:r>
                      <a:r>
                        <a:rPr sz="2200" kern="0" spc="6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每个任务的分析设计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37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指标与数据映射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52220" algn="l" rtl="0" eaLnBrk="0">
                        <a:lnSpc>
                          <a:spcPts val="2950"/>
                        </a:lnSpc>
                      </a:pP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20%</a:t>
                      </a:r>
                      <a:r>
                        <a:rPr sz="2200" kern="0" spc="5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变量—视觉通道映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射表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747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代码与图形表达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52220" algn="l" rtl="0" eaLnBrk="0">
                        <a:lnSpc>
                          <a:spcPts val="2950"/>
                        </a:lnSpc>
                      </a:pP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25%</a:t>
                      </a:r>
                      <a:r>
                        <a:rPr sz="2200" kern="0" spc="58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可运行代码、</a:t>
                      </a:r>
                      <a:r>
                        <a:rPr sz="2200" kern="0" spc="-52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7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标题</a:t>
                      </a: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sz="2200" kern="0" spc="-50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单位和图例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4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010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2200" kern="0" spc="9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证据与结论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52220" algn="l" rtl="0" eaLnBrk="0">
                        <a:lnSpc>
                          <a:spcPts val="2950"/>
                        </a:lnSpc>
                      </a:pP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25%  图表解读、</a:t>
                      </a:r>
                      <a:r>
                        <a:rPr sz="2200" kern="0" spc="-46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200" kern="0" spc="50" dirty="0">
                          <a:solidFill>
                            <a:srgbClr val="F3F6F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建议与局限</a:t>
                      </a:r>
                      <a:endParaRPr sz="2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48" name="rect 2148"/>
          <p:cNvSpPr/>
          <p:nvPr/>
        </p:nvSpPr>
        <p:spPr>
          <a:xfrm>
            <a:off x="1657349" y="3143261"/>
            <a:ext cx="742950" cy="361950"/>
          </a:xfrm>
          <a:prstGeom prst="rect">
            <a:avLst/>
          </a:prstGeom>
          <a:solidFill>
            <a:srgbClr val="78C8F5">
              <a:alpha val="11764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50" name="textbox 2150"/>
          <p:cNvSpPr/>
          <p:nvPr/>
        </p:nvSpPr>
        <p:spPr>
          <a:xfrm>
            <a:off x="324966" y="2637511"/>
            <a:ext cx="12113259" cy="1263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8265" algn="l" rtl="0" eaLnBrk="0">
              <a:lnSpc>
                <a:spcPts val="2970"/>
              </a:lnSpc>
            </a:pPr>
            <a:r>
              <a:rPr sz="22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协作、</a:t>
            </a:r>
            <a:r>
              <a:rPr sz="2200" kern="0" spc="-5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反思与责任                          15%  互动记录、</a:t>
            </a:r>
            <a:r>
              <a:rPr sz="2200" kern="0" spc="-5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22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核验日志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240" indent="-2540" algn="l" rtl="0" eaLnBrk="0">
              <a:lnSpc>
                <a:spcPct val="106000"/>
              </a:lnSpc>
              <a:spcBef>
                <a:spcPts val="415"/>
              </a:spcBef>
            </a:pPr>
            <a:r>
              <a:rPr sz="2500" b="1" kern="0" spc="5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提交物：</a:t>
            </a:r>
            <a:r>
              <a:rPr sz="2500" b="1" kern="0" spc="24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kern="0" spc="5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.</a:t>
            </a:r>
            <a:r>
              <a:rPr sz="2200" kern="0" spc="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qmd</a:t>
            </a:r>
            <a:r>
              <a:rPr sz="2200" kern="0" spc="50" dirty="0">
                <a:solidFill>
                  <a:srgbClr val="9BDCFF">
                    <a:alpha val="100000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25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源文件、</a:t>
            </a:r>
            <a:r>
              <a:rPr sz="2500" kern="0" spc="-60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渲染后的</a:t>
            </a:r>
            <a:r>
              <a:rPr sz="2500" kern="0" spc="2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HTML</a:t>
            </a:r>
            <a:r>
              <a:rPr sz="25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2500" kern="0" spc="-6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项目指导书（空白版</a:t>
            </a:r>
            <a:r>
              <a:rPr sz="2500" kern="0" spc="3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sz="2500" kern="0" spc="2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内容版）</a:t>
            </a:r>
            <a:r>
              <a:rPr sz="2500" kern="0" spc="-6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 </a:t>
            </a: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2500" kern="0" spc="4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使</a:t>
            </a:r>
            <a:r>
              <a:rPr sz="2500" kern="0" spc="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用记录。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52" name="rect 2152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54" name="rect 2154"/>
          <p:cNvSpPr/>
          <p:nvPr/>
        </p:nvSpPr>
        <p:spPr>
          <a:xfrm>
            <a:off x="112966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56" name="textbox 2156"/>
          <p:cNvSpPr/>
          <p:nvPr/>
        </p:nvSpPr>
        <p:spPr>
          <a:xfrm>
            <a:off x="7591902" y="245057"/>
            <a:ext cx="4866640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58" name="picture 21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2160" name="textbox 2160"/>
          <p:cNvSpPr/>
          <p:nvPr/>
        </p:nvSpPr>
        <p:spPr>
          <a:xfrm>
            <a:off x="12560262" y="6906786"/>
            <a:ext cx="16827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82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2" name="rect 2162"/>
          <p:cNvSpPr/>
          <p:nvPr/>
        </p:nvSpPr>
        <p:spPr>
          <a:xfrm>
            <a:off x="0" y="11"/>
            <a:ext cx="12858750" cy="7219950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64" name="textbox 2164"/>
          <p:cNvSpPr/>
          <p:nvPr/>
        </p:nvSpPr>
        <p:spPr>
          <a:xfrm>
            <a:off x="282537" y="2283715"/>
            <a:ext cx="8977630" cy="3803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5880" algn="l" rtl="0" eaLnBrk="0">
              <a:lnSpc>
                <a:spcPts val="3355"/>
              </a:lnSpc>
            </a:pPr>
            <a:r>
              <a:rPr sz="25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迁移要求（顺序不能颠倒</a:t>
            </a:r>
            <a:r>
              <a:rPr sz="2500" kern="0" spc="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sz="2500" kern="0" spc="-6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3815" algn="l" rtl="0" eaLnBrk="0">
              <a:lnSpc>
                <a:spcPts val="3355"/>
              </a:lnSpc>
              <a:spcBef>
                <a:spcPts val="1745"/>
              </a:spcBef>
            </a:pP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先写</a:t>
            </a:r>
            <a:r>
              <a:rPr sz="2500" b="1" kern="0" spc="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分析目的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sz="2500" b="1" kern="0" spc="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目标受众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" algn="l" rtl="0" eaLnBrk="0">
              <a:lnSpc>
                <a:spcPts val="3355"/>
              </a:lnSpc>
              <a:spcBef>
                <a:spcPts val="695"/>
              </a:spcBef>
            </a:pP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选择</a:t>
            </a:r>
            <a:r>
              <a:rPr sz="2500" b="1" kern="0" spc="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总量、</a:t>
            </a:r>
            <a:r>
              <a:rPr sz="2500" b="1" kern="0" spc="-4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b="1" kern="0" spc="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比例或增长率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中的哪一个作为指标</a:t>
            </a:r>
            <a:r>
              <a:rPr sz="2500" kern="0" spc="-35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500" kern="0" spc="-62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并说明理由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3020" algn="l" rtl="0" eaLnBrk="0">
              <a:lnSpc>
                <a:spcPts val="3355"/>
              </a:lnSpc>
              <a:spcBef>
                <a:spcPts val="620"/>
              </a:spcBef>
            </a:pP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完成</a:t>
            </a:r>
            <a:r>
              <a:rPr sz="2500" b="1" kern="0" spc="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变量—视觉通道映射表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3355"/>
              </a:lnSpc>
              <a:spcBef>
                <a:spcPts val="620"/>
              </a:spcBef>
            </a:pP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用柱形图或分面图</a:t>
            </a:r>
            <a:r>
              <a:rPr sz="2500" b="1" kern="0" spc="8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构建证据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8100" algn="l" rtl="0" eaLnBrk="0">
              <a:lnSpc>
                <a:spcPts val="3355"/>
              </a:lnSpc>
              <a:spcBef>
                <a:spcPts val="695"/>
              </a:spcBef>
            </a:pP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写出</a:t>
            </a:r>
            <a:r>
              <a:rPr sz="2500" b="1" kern="0" spc="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结论、</a:t>
            </a:r>
            <a:r>
              <a:rPr sz="2500" b="1" kern="0" spc="-62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b="1" kern="0" spc="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</a:t>
            </a:r>
            <a:r>
              <a:rPr sz="2500" b="1" kern="0" spc="5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议和局限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9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43425" algn="l" rtl="0" eaLnBrk="0">
              <a:lnSpc>
                <a:spcPct val="87000"/>
              </a:lnSpc>
              <a:spcBef>
                <a:spcPts val="5"/>
              </a:spcBef>
            </a:pPr>
            <a:r>
              <a:rPr sz="2200" b="1" kern="0" spc="9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分析设计先于代码和图形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66" name="rect 2166"/>
          <p:cNvSpPr/>
          <p:nvPr/>
        </p:nvSpPr>
        <p:spPr>
          <a:xfrm>
            <a:off x="333375" y="1171586"/>
            <a:ext cx="12192000" cy="1066800"/>
          </a:xfrm>
          <a:prstGeom prst="rect">
            <a:avLst/>
          </a:prstGeom>
          <a:solidFill>
            <a:srgbClr val="78C8F5">
              <a:alpha val="745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68" name="textbox 2168"/>
          <p:cNvSpPr/>
          <p:nvPr/>
        </p:nvSpPr>
        <p:spPr>
          <a:xfrm>
            <a:off x="566198" y="1283590"/>
            <a:ext cx="11574780" cy="866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3175" algn="l" rtl="0" eaLnBrk="0">
              <a:lnSpc>
                <a:spcPct val="110000"/>
              </a:lnSpc>
            </a:pPr>
            <a:r>
              <a:rPr sz="2500" kern="0" spc="1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宁波舟山港不同货物类型的吞吐量有何差异？近年来港口</a:t>
            </a:r>
            <a:r>
              <a:rPr sz="2500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货运结构发生了怎样的</a:t>
            </a:r>
            <a:r>
              <a:rPr sz="2500" kern="0" spc="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变化？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70" name="rect 2170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72" name="rect 2172"/>
          <p:cNvSpPr/>
          <p:nvPr/>
        </p:nvSpPr>
        <p:spPr>
          <a:xfrm>
            <a:off x="112966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74" name="textbox 2174"/>
          <p:cNvSpPr/>
          <p:nvPr/>
        </p:nvSpPr>
        <p:spPr>
          <a:xfrm>
            <a:off x="7591902" y="245057"/>
            <a:ext cx="4866640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76" name="textbox 2176"/>
          <p:cNvSpPr/>
          <p:nvPr/>
        </p:nvSpPr>
        <p:spPr>
          <a:xfrm>
            <a:off x="325296" y="726200"/>
            <a:ext cx="2267585" cy="356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</a:pPr>
            <a:r>
              <a:rPr sz="2500" kern="0" spc="-1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新的真实问题：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78" name="picture 217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3375" y="619136"/>
            <a:ext cx="12192000" cy="19050"/>
          </a:xfrm>
          <a:prstGeom prst="rect">
            <a:avLst/>
          </a:prstGeom>
        </p:spPr>
      </p:pic>
      <p:pic>
        <p:nvPicPr>
          <p:cNvPr id="2180" name="picture 21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pic>
        <p:nvPicPr>
          <p:cNvPr id="2182" name="picture 21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3375" y="1171586"/>
            <a:ext cx="57150" cy="1066800"/>
          </a:xfrm>
          <a:prstGeom prst="rect">
            <a:avLst/>
          </a:prstGeom>
        </p:spPr>
      </p:pic>
      <p:sp>
        <p:nvSpPr>
          <p:cNvPr id="2184" name="textbox 2184"/>
          <p:cNvSpPr/>
          <p:nvPr/>
        </p:nvSpPr>
        <p:spPr>
          <a:xfrm>
            <a:off x="12560262" y="6906786"/>
            <a:ext cx="16827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83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rect 2186"/>
          <p:cNvSpPr/>
          <p:nvPr/>
        </p:nvSpPr>
        <p:spPr>
          <a:xfrm>
            <a:off x="0" y="11"/>
            <a:ext cx="12858750" cy="7219938"/>
          </a:xfrm>
          <a:prstGeom prst="rect">
            <a:avLst/>
          </a:prstGeom>
          <a:solidFill>
            <a:srgbClr val="1111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88" name="textbox 2188"/>
          <p:cNvSpPr/>
          <p:nvPr/>
        </p:nvSpPr>
        <p:spPr>
          <a:xfrm>
            <a:off x="299044" y="874015"/>
            <a:ext cx="12196444" cy="52984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305" algn="l" rtl="0" eaLnBrk="0">
              <a:lnSpc>
                <a:spcPts val="3355"/>
              </a:lnSpc>
            </a:pP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什么是 </a:t>
            </a: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ggplot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2500" kern="0" spc="21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2500" b="1" kern="0" spc="6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图形语法</a:t>
            </a:r>
            <a:r>
              <a:rPr sz="2500" kern="0" spc="6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？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3355"/>
              </a:lnSpc>
              <a:spcBef>
                <a:spcPts val="695"/>
              </a:spcBef>
            </a:pP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为什么图形选择必须从</a:t>
            </a:r>
            <a:r>
              <a:rPr sz="2500" b="1" kern="0" spc="8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  <a:r>
              <a:rPr sz="2500" b="1" kern="0" spc="7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析目的</a:t>
            </a:r>
            <a:r>
              <a:rPr sz="2500" kern="0" spc="7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出发？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10" algn="l" rtl="0" eaLnBrk="0">
              <a:lnSpc>
                <a:spcPts val="3355"/>
              </a:lnSpc>
              <a:spcBef>
                <a:spcPts val="620"/>
              </a:spcBef>
            </a:pP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南丁格尔案例说明数据可视化怎样</a:t>
            </a:r>
            <a:r>
              <a:rPr sz="2500" b="1" kern="0" spc="8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影响公共决策</a:t>
            </a: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？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4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0005" algn="l" rtl="0" eaLnBrk="0">
              <a:lnSpc>
                <a:spcPct val="87000"/>
              </a:lnSpc>
              <a:spcBef>
                <a:spcPts val="760"/>
              </a:spcBef>
            </a:pPr>
            <a:r>
              <a:rPr sz="2500" kern="0" spc="8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请在出口卡上写下：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4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6690" algn="l" rtl="0" eaLnBrk="0">
              <a:lnSpc>
                <a:spcPct val="86000"/>
              </a:lnSpc>
              <a:spcBef>
                <a:spcPts val="760"/>
              </a:spcBef>
              <a:tabLst>
                <a:tab pos="365125" algn="l"/>
              </a:tabLst>
            </a:pP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5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今天最重要的</a:t>
            </a:r>
            <a:r>
              <a:rPr sz="2500" b="1" kern="0" spc="9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一项收获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86690" algn="l" rtl="0" eaLnBrk="0">
              <a:lnSpc>
                <a:spcPts val="4050"/>
              </a:lnSpc>
              <a:tabLst>
                <a:tab pos="368300" algn="l"/>
              </a:tabLst>
            </a:pP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5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仍然不确定的</a:t>
            </a:r>
            <a:r>
              <a:rPr sz="2500" b="1" kern="0" spc="9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一个问题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86690" algn="l" rtl="0" eaLnBrk="0">
              <a:lnSpc>
                <a:spcPct val="87000"/>
              </a:lnSpc>
              <a:spcBef>
                <a:spcPts val="1370"/>
              </a:spcBef>
              <a:tabLst>
                <a:tab pos="371475" algn="l"/>
              </a:tabLst>
            </a:pPr>
            <a:r>
              <a:rPr sz="2500" kern="0" spc="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500" kern="0" spc="90" dirty="0">
                <a:solidFill>
                  <a:srgbClr val="F3F6F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下一次项目中准备改进的</a:t>
            </a:r>
            <a:r>
              <a:rPr sz="2500" b="1" kern="0" spc="9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一项做法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3975" algn="l" rtl="0" eaLnBrk="0">
              <a:lnSpc>
                <a:spcPts val="5310"/>
              </a:lnSpc>
            </a:pPr>
            <a:r>
              <a:rPr sz="2500" b="1" kern="0" spc="50" dirty="0">
                <a:solidFill>
                  <a:srgbClr val="FFD1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回到那条链：</a:t>
            </a:r>
            <a:endParaRPr sz="2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ct val="88000"/>
              </a:lnSpc>
              <a:spcBef>
                <a:spcPts val="1430"/>
              </a:spcBef>
            </a:pPr>
            <a:r>
              <a:rPr sz="2200" b="1" kern="0" spc="7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真实问题</a:t>
            </a:r>
            <a:r>
              <a:rPr sz="2200" b="1" kern="0" spc="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200" b="1" kern="0" spc="7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 明确分析目的  →</a:t>
            </a:r>
            <a:r>
              <a:rPr sz="2200" b="1" kern="0" spc="65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b="1" kern="0" spc="7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选择指标</a:t>
            </a:r>
            <a:r>
              <a:rPr sz="2200" b="1" kern="0" spc="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200" b="1" kern="0" spc="7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sz="2200" b="1" kern="0" spc="63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b="1" kern="0" spc="7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建立映射</a:t>
            </a:r>
            <a:r>
              <a:rPr sz="2200" b="1" kern="0" spc="1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200" b="1" kern="0" spc="7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sz="2200" b="1" kern="0" spc="61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b="1" kern="0" spc="7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构建图形</a:t>
            </a:r>
            <a:r>
              <a:rPr sz="2200" b="1" kern="0" spc="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200" b="1" kern="0" spc="7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sz="2200" b="1" kern="0" spc="62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b="1" kern="0" spc="6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解读证据</a:t>
            </a:r>
            <a:r>
              <a:rPr sz="2200" b="1" kern="0" spc="1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200" b="1" kern="0" spc="6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sz="2200" b="1" kern="0" spc="61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b="1" kern="0" spc="6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形成建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989955" algn="l" rtl="0" eaLnBrk="0">
              <a:lnSpc>
                <a:spcPct val="87000"/>
              </a:lnSpc>
              <a:spcBef>
                <a:spcPts val="620"/>
              </a:spcBef>
            </a:pPr>
            <a:r>
              <a:rPr sz="2200" b="1" kern="0" spc="40" dirty="0">
                <a:solidFill>
                  <a:srgbClr val="78C8F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议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90" name="picture 219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71475" y="4419611"/>
            <a:ext cx="114300" cy="114300"/>
          </a:xfrm>
          <a:prstGeom prst="rect">
            <a:avLst/>
          </a:prstGeom>
        </p:spPr>
      </p:pic>
      <p:pic>
        <p:nvPicPr>
          <p:cNvPr id="2192" name="picture 21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71475" y="3914786"/>
            <a:ext cx="114300" cy="114300"/>
          </a:xfrm>
          <a:prstGeom prst="rect">
            <a:avLst/>
          </a:prstGeom>
        </p:spPr>
      </p:pic>
      <p:pic>
        <p:nvPicPr>
          <p:cNvPr id="2194" name="picture 21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71475" y="3400436"/>
            <a:ext cx="114300" cy="114300"/>
          </a:xfrm>
          <a:prstGeom prst="rect">
            <a:avLst/>
          </a:prstGeom>
        </p:spPr>
      </p:pic>
      <p:sp>
        <p:nvSpPr>
          <p:cNvPr id="2196" name="rect 2196"/>
          <p:cNvSpPr/>
          <p:nvPr/>
        </p:nvSpPr>
        <p:spPr>
          <a:xfrm>
            <a:off x="333375" y="190511"/>
            <a:ext cx="12192000" cy="390525"/>
          </a:xfrm>
          <a:prstGeom prst="rect">
            <a:avLst/>
          </a:prstGeom>
          <a:solidFill>
            <a:srgbClr val="10182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98" name="rect 2198"/>
          <p:cNvSpPr/>
          <p:nvPr/>
        </p:nvSpPr>
        <p:spPr>
          <a:xfrm>
            <a:off x="11296650" y="209561"/>
            <a:ext cx="1228725" cy="333375"/>
          </a:xfrm>
          <a:prstGeom prst="rect">
            <a:avLst/>
          </a:prstGeom>
          <a:solidFill>
            <a:srgbClr val="78C8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00" name="textbox 2200"/>
          <p:cNvSpPr/>
          <p:nvPr/>
        </p:nvSpPr>
        <p:spPr>
          <a:xfrm>
            <a:off x="7591902" y="245057"/>
            <a:ext cx="4866640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  新知探究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kern="0" spc="1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项目任务</a:t>
            </a:r>
            <a:r>
              <a:rPr sz="2100" kern="0" spc="140" dirty="0">
                <a:solidFill>
                  <a:srgbClr val="B8C3C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100" b="1" kern="0" spc="10" dirty="0">
                <a:solidFill>
                  <a:srgbClr val="07131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02" name="picture 22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3375" y="619136"/>
            <a:ext cx="12192000" cy="19050"/>
          </a:xfrm>
          <a:prstGeom prst="rect">
            <a:avLst/>
          </a:prstGeom>
        </p:spPr>
      </p:pic>
      <p:pic>
        <p:nvPicPr>
          <p:cNvPr id="2204" name="picture 220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33375" y="571511"/>
            <a:ext cx="12192000" cy="9525"/>
          </a:xfrm>
          <a:prstGeom prst="rect">
            <a:avLst/>
          </a:prstGeom>
        </p:spPr>
      </p:pic>
      <p:sp>
        <p:nvSpPr>
          <p:cNvPr id="2206" name="textbox 2206"/>
          <p:cNvSpPr/>
          <p:nvPr/>
        </p:nvSpPr>
        <p:spPr>
          <a:xfrm>
            <a:off x="12560262" y="6906786"/>
            <a:ext cx="16827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84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30516</Words>
  <Application>WPS 演示</Application>
  <PresentationFormat/>
  <Paragraphs>2595</Paragraphs>
  <Slides>84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84</vt:i4>
      </vt:variant>
    </vt:vector>
  </HeadingPairs>
  <TitlesOfParts>
    <vt:vector size="95" baseType="lpstr">
      <vt:lpstr>Arial</vt:lpstr>
      <vt:lpstr>宋体</vt:lpstr>
      <vt:lpstr>Wingdings</vt:lpstr>
      <vt:lpstr>Arial</vt:lpstr>
      <vt:lpstr>微软雅黑</vt:lpstr>
      <vt:lpstr>Consolas</vt:lpstr>
      <vt:lpstr>Arial Unicode MS</vt:lpstr>
      <vt:lpstr>Calibri</vt:lpstr>
      <vt:lpstr>新宋体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 ggplot2绘图基础</dc:title>
  <dc:creator/>
  <cp:lastModifiedBy>qian</cp:lastModifiedBy>
  <cp:revision>1</cp:revision>
  <dcterms:created xsi:type="dcterms:W3CDTF">2026-09-21T05:56:36Z</dcterms:created>
  <dcterms:modified xsi:type="dcterms:W3CDTF">2026-09-21T05:56:36Z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2026-09-21T12:00:47Z</vt:filetime>
  </property>
  <property fmtid="{D5CDD505-2E9C-101B-9397-08002B2CF9AE}" pid="4" name="KSOProductBuildVer">
    <vt:lpwstr>2052-12.1.0.28505</vt:lpwstr>
  </property>
  <property fmtid="{D5CDD505-2E9C-101B-9397-08002B2CF9AE}" pid="5" name="ICV">
    <vt:lpwstr>84F01DE464854A0799733E2781C23460_12</vt:lpwstr>
  </property>
</Properties>
</file>